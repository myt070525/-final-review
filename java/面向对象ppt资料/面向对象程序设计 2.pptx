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handoutMasterIdLst>
    <p:handoutMasterId r:id="rId27"/>
  </p:handoutMasterIdLst>
  <p:sldIdLst>
    <p:sldId id="256" r:id="rId3"/>
    <p:sldId id="311" r:id="rId4"/>
    <p:sldId id="312" r:id="rId5"/>
    <p:sldId id="264" r:id="rId6"/>
    <p:sldId id="280" r:id="rId7"/>
    <p:sldId id="268" r:id="rId8"/>
    <p:sldId id="269" r:id="rId9"/>
    <p:sldId id="313" r:id="rId10"/>
    <p:sldId id="270" r:id="rId11"/>
    <p:sldId id="271" r:id="rId12"/>
    <p:sldId id="272" r:id="rId13"/>
    <p:sldId id="274" r:id="rId14"/>
    <p:sldId id="275" r:id="rId15"/>
    <p:sldId id="314" r:id="rId16"/>
    <p:sldId id="315" r:id="rId17"/>
    <p:sldId id="321" r:id="rId19"/>
    <p:sldId id="317" r:id="rId20"/>
    <p:sldId id="348" r:id="rId21"/>
    <p:sldId id="350" r:id="rId22"/>
    <p:sldId id="276" r:id="rId23"/>
    <p:sldId id="286" r:id="rId24"/>
    <p:sldId id="351" r:id="rId25"/>
    <p:sldId id="258" r:id="rId26"/>
  </p:sldIdLst>
  <p:sldSz cx="9144000" cy="6858000" type="screen4x3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234" userDrawn="1">
          <p15:clr>
            <a:srgbClr val="A4A3A4"/>
          </p15:clr>
        </p15:guide>
        <p15:guide id="3" orient="horz" pos="4065" userDrawn="1">
          <p15:clr>
            <a:srgbClr val="A4A3A4"/>
          </p15:clr>
        </p15:guide>
        <p15:guide id="4" orient="horz" pos="466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  <p15:guide id="6" orient="horz" pos="684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pos="5465" userDrawn="1">
          <p15:clr>
            <a:srgbClr val="A4A3A4"/>
          </p15:clr>
        </p15:guide>
        <p15:guide id="9" pos="2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200"/>
    <a:srgbClr val="C06000"/>
    <a:srgbClr val="039ABD"/>
    <a:srgbClr val="1D8DA3"/>
    <a:srgbClr val="099AB7"/>
    <a:srgbClr val="33CCFF"/>
    <a:srgbClr val="CCFFFF"/>
    <a:srgbClr val="F3B10D"/>
    <a:srgbClr val="CCFF66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howGuides="1">
      <p:cViewPr varScale="1">
        <p:scale>
          <a:sx n="89" d="100"/>
          <a:sy n="89" d="100"/>
        </p:scale>
        <p:origin x="1238" y="-106"/>
      </p:cViewPr>
      <p:guideLst>
        <p:guide orient="horz" pos="2160"/>
        <p:guide orient="horz" pos="4234"/>
        <p:guide orient="horz" pos="4065"/>
        <p:guide orient="horz" pos="466"/>
        <p:guide orient="horz" pos="4020"/>
        <p:guide orient="horz" pos="684"/>
        <p:guide pos="2880"/>
        <p:guide pos="5465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454" y="2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5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19548-F454-4331-83C2-8A7F164E39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5D8A-A620-4ACE-B1CF-F6E9B44ECD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E75B1-D996-41EC-AA92-8E0F9339A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BB548-4544-46A5-8423-F94A584A16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110 0100.01   1.10010001 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 2^6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11656" b="3263"/>
          <a:stretch>
            <a:fillRect/>
          </a:stretch>
        </p:blipFill>
        <p:spPr bwMode="auto">
          <a:xfrm flipV="1">
            <a:off x="3111190" y="-1"/>
            <a:ext cx="6057842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11"/>
          <p:cNvSpPr>
            <a:spLocks noChangeArrowheads="1"/>
          </p:cNvSpPr>
          <p:nvPr userDrawn="1"/>
        </p:nvSpPr>
        <p:spPr bwMode="auto">
          <a:xfrm>
            <a:off x="19228" y="6886078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2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-17285" y="5876800"/>
            <a:ext cx="3059832" cy="50452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9000"/>
                </a:schemeClr>
              </a:gs>
              <a:gs pos="100000">
                <a:schemeClr val="bg1">
                  <a:lumMod val="75000"/>
                  <a:alpha val="48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0" indent="35560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468313" y="2132856"/>
            <a:ext cx="6047903" cy="639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8314" y="2952936"/>
            <a:ext cx="6047292" cy="3722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内容占位符 8"/>
          <p:cNvSpPr>
            <a:spLocks noGrp="1"/>
          </p:cNvSpPr>
          <p:nvPr>
            <p:ph sz="quarter" idx="12" hasCustomPrompt="1"/>
          </p:nvPr>
        </p:nvSpPr>
        <p:spPr>
          <a:xfrm>
            <a:off x="468312" y="981075"/>
            <a:ext cx="8207376" cy="5400675"/>
          </a:xfrm>
        </p:spPr>
        <p:txBody>
          <a:bodyPr/>
          <a:lstStyle>
            <a:lvl1pPr>
              <a:lnSpc>
                <a:spcPct val="120000"/>
              </a:lnSpc>
              <a:buClr>
                <a:srgbClr val="7030A0"/>
              </a:buClr>
              <a:buSzPct val="70000"/>
              <a:buFont typeface="Wingdings" panose="05000000000000000000" pitchFamily="2" charset="2"/>
              <a:buChar char="n"/>
              <a:defRPr sz="2600" baseline="0"/>
            </a:lvl1pPr>
            <a:lvl2pPr marL="742950" indent="-285750">
              <a:buFont typeface="Wingdings" panose="05000000000000000000" pitchFamily="2" charset="2"/>
              <a:buChar char="l"/>
              <a:defRPr sz="2200"/>
            </a:lvl2pPr>
            <a:lvl3pPr>
              <a:defRPr sz="1600"/>
            </a:lvl3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7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配色方案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日期占位符 5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8" name="灯片编号占位符 5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741702" y="1398826"/>
            <a:ext cx="7672274" cy="4811474"/>
            <a:chOff x="468311" y="1227376"/>
            <a:chExt cx="8219055" cy="5154374"/>
          </a:xfrm>
        </p:grpSpPr>
        <p:sp>
          <p:nvSpPr>
            <p:cNvPr id="6" name="矩形 5"/>
            <p:cNvSpPr/>
            <p:nvPr userDrawn="1"/>
          </p:nvSpPr>
          <p:spPr bwMode="auto">
            <a:xfrm>
              <a:off x="7477213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266666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 bwMode="auto">
            <a:xfrm>
              <a:off x="468314" y="2816932"/>
              <a:ext cx="2606725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0" name="左大括号 9"/>
            <p:cNvSpPr/>
            <p:nvPr userDrawn="1"/>
          </p:nvSpPr>
          <p:spPr>
            <a:xfrm rot="5400000">
              <a:off x="4342637" y="-2230069"/>
              <a:ext cx="454784" cy="820343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 userDrawn="1"/>
          </p:nvSpPr>
          <p:spPr bwMode="auto">
            <a:xfrm>
              <a:off x="468313" y="256490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椭圆 11"/>
            <p:cNvSpPr/>
            <p:nvPr userDrawn="1"/>
          </p:nvSpPr>
          <p:spPr bwMode="auto">
            <a:xfrm>
              <a:off x="1169203" y="256490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3" name="椭圆 12"/>
            <p:cNvSpPr/>
            <p:nvPr userDrawn="1"/>
          </p:nvSpPr>
          <p:spPr bwMode="auto">
            <a:xfrm>
              <a:off x="1870093" y="256490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4" name="椭圆 13"/>
            <p:cNvSpPr/>
            <p:nvPr userDrawn="1"/>
          </p:nvSpPr>
          <p:spPr bwMode="auto">
            <a:xfrm>
              <a:off x="2570983" y="256490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5" name="椭圆 14"/>
            <p:cNvSpPr/>
            <p:nvPr userDrawn="1"/>
          </p:nvSpPr>
          <p:spPr bwMode="auto">
            <a:xfrm>
              <a:off x="3271873" y="256490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6" name="椭圆 15"/>
            <p:cNvSpPr/>
            <p:nvPr userDrawn="1"/>
          </p:nvSpPr>
          <p:spPr bwMode="auto">
            <a:xfrm>
              <a:off x="3972763" y="256490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7" name="椭圆 16"/>
            <p:cNvSpPr/>
            <p:nvPr userDrawn="1"/>
          </p:nvSpPr>
          <p:spPr bwMode="auto">
            <a:xfrm>
              <a:off x="4673653" y="2564904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8" name="椭圆 17"/>
            <p:cNvSpPr/>
            <p:nvPr userDrawn="1"/>
          </p:nvSpPr>
          <p:spPr bwMode="auto">
            <a:xfrm>
              <a:off x="5374543" y="2564904"/>
              <a:ext cx="504056" cy="5040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9" name="椭圆 18"/>
            <p:cNvSpPr/>
            <p:nvPr userDrawn="1"/>
          </p:nvSpPr>
          <p:spPr bwMode="auto">
            <a:xfrm>
              <a:off x="6075433" y="2564904"/>
              <a:ext cx="504056" cy="50405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9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0" name="椭圆 19"/>
            <p:cNvSpPr/>
            <p:nvPr userDrawn="1"/>
          </p:nvSpPr>
          <p:spPr bwMode="auto">
            <a:xfrm>
              <a:off x="6776323" y="2564904"/>
              <a:ext cx="504056" cy="50405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10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1" name="椭圆 20"/>
            <p:cNvSpPr/>
            <p:nvPr userDrawn="1"/>
          </p:nvSpPr>
          <p:spPr bwMode="auto">
            <a:xfrm>
              <a:off x="7477213" y="256490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椭圆 21"/>
            <p:cNvSpPr/>
            <p:nvPr userDrawn="1"/>
          </p:nvSpPr>
          <p:spPr bwMode="auto">
            <a:xfrm>
              <a:off x="8178102" y="256490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3" name="左大括号 22"/>
            <p:cNvSpPr/>
            <p:nvPr userDrawn="1"/>
          </p:nvSpPr>
          <p:spPr>
            <a:xfrm rot="5400000">
              <a:off x="3736233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左大括号 23"/>
            <p:cNvSpPr/>
            <p:nvPr userDrawn="1"/>
          </p:nvSpPr>
          <p:spPr>
            <a:xfrm rot="5400000">
              <a:off x="5887737" y="1050984"/>
              <a:ext cx="227392" cy="255789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大括号 24"/>
            <p:cNvSpPr/>
            <p:nvPr userDrawn="1"/>
          </p:nvSpPr>
          <p:spPr>
            <a:xfrm rot="5400000">
              <a:off x="7941572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左大括号 25"/>
            <p:cNvSpPr/>
            <p:nvPr userDrawn="1"/>
          </p:nvSpPr>
          <p:spPr>
            <a:xfrm rot="5400000">
              <a:off x="1605452" y="1079093"/>
              <a:ext cx="227392" cy="250167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左大括号 26"/>
            <p:cNvSpPr/>
            <p:nvPr userDrawn="1"/>
          </p:nvSpPr>
          <p:spPr>
            <a:xfrm rot="5400000" flipH="1">
              <a:off x="4342828" y="632797"/>
              <a:ext cx="415982" cy="81650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内容占位符 4"/>
            <p:cNvSpPr txBox="1"/>
            <p:nvPr userDrawn="1"/>
          </p:nvSpPr>
          <p:spPr>
            <a:xfrm>
              <a:off x="468314" y="5008949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</a:rPr>
                <a:t>2003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8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1305749" y="1916832"/>
              <a:ext cx="889987" cy="2779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文字与背景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 userDrawn="1"/>
          </p:nvSpPr>
          <p:spPr>
            <a:xfrm>
              <a:off x="3555616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常用色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5707120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辅助色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 userDrawn="1"/>
          </p:nvSpPr>
          <p:spPr>
            <a:xfrm>
              <a:off x="7729242" y="1916832"/>
              <a:ext cx="588623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链接色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3" name="直接连接符 32"/>
            <p:cNvCxnSpPr>
              <a:stCxn id="11" idx="7"/>
              <a:endCxn id="11" idx="3"/>
            </p:cNvCxnSpPr>
            <p:nvPr userDrawn="1"/>
          </p:nvCxnSpPr>
          <p:spPr>
            <a:xfrm flipH="1">
              <a:off x="54213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12" idx="7"/>
              <a:endCxn id="12" idx="3"/>
            </p:cNvCxnSpPr>
            <p:nvPr userDrawn="1"/>
          </p:nvCxnSpPr>
          <p:spPr>
            <a:xfrm flipH="1">
              <a:off x="124302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7"/>
              <a:endCxn id="13" idx="3"/>
            </p:cNvCxnSpPr>
            <p:nvPr userDrawn="1"/>
          </p:nvCxnSpPr>
          <p:spPr>
            <a:xfrm flipH="1">
              <a:off x="194391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14" idx="7"/>
              <a:endCxn id="14" idx="3"/>
            </p:cNvCxnSpPr>
            <p:nvPr userDrawn="1"/>
          </p:nvCxnSpPr>
          <p:spPr>
            <a:xfrm flipH="1">
              <a:off x="264480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 userDrawn="1"/>
          </p:nvSpPr>
          <p:spPr>
            <a:xfrm>
              <a:off x="468314" y="5610918"/>
              <a:ext cx="8203430" cy="77083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7843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800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配色规则：</a:t>
              </a:r>
              <a:endParaRPr lang="en-US" altLang="zh-CN" sz="800" b="1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通常情况下，配色方案中的前四种色彩文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——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“字与背景色”固定不变。常用色与模板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/logo/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企业标准色一致。辅助色可根据对色彩的要求进行调整。链接色可根据需求进行调整。</a:t>
              </a:r>
              <a:endParaRPr lang="en-US" altLang="zh-CN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配色方案的编辑：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07/10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菜单中 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颜色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中修改；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03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格式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幻灯片设计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endParaRPr lang="zh-CN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8" name="椭圆 37"/>
            <p:cNvSpPr/>
            <p:nvPr userDrawn="1"/>
          </p:nvSpPr>
          <p:spPr bwMode="auto">
            <a:xfrm>
              <a:off x="468313" y="377881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9" name="椭圆 38"/>
            <p:cNvSpPr/>
            <p:nvPr userDrawn="1"/>
          </p:nvSpPr>
          <p:spPr bwMode="auto">
            <a:xfrm>
              <a:off x="1169203" y="377881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0" name="椭圆 39"/>
            <p:cNvSpPr/>
            <p:nvPr userDrawn="1"/>
          </p:nvSpPr>
          <p:spPr bwMode="auto">
            <a:xfrm>
              <a:off x="1870093" y="377881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1" name="椭圆 40"/>
            <p:cNvSpPr/>
            <p:nvPr userDrawn="1"/>
          </p:nvSpPr>
          <p:spPr bwMode="auto">
            <a:xfrm>
              <a:off x="2570983" y="377881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42" name="直接连接符 41"/>
            <p:cNvCxnSpPr>
              <a:stCxn id="38" idx="7"/>
              <a:endCxn id="38" idx="3"/>
            </p:cNvCxnSpPr>
            <p:nvPr userDrawn="1"/>
          </p:nvCxnSpPr>
          <p:spPr>
            <a:xfrm flipH="1">
              <a:off x="54213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39" idx="7"/>
              <a:endCxn id="39" idx="3"/>
            </p:cNvCxnSpPr>
            <p:nvPr userDrawn="1"/>
          </p:nvCxnSpPr>
          <p:spPr>
            <a:xfrm flipH="1">
              <a:off x="124302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40" idx="7"/>
              <a:endCxn id="40" idx="3"/>
            </p:cNvCxnSpPr>
            <p:nvPr userDrawn="1"/>
          </p:nvCxnSpPr>
          <p:spPr>
            <a:xfrm flipH="1">
              <a:off x="194391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41" idx="7"/>
              <a:endCxn id="41" idx="3"/>
            </p:cNvCxnSpPr>
            <p:nvPr userDrawn="1"/>
          </p:nvCxnSpPr>
          <p:spPr>
            <a:xfrm flipH="1">
              <a:off x="264480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 userDrawn="1"/>
          </p:nvSpPr>
          <p:spPr bwMode="auto">
            <a:xfrm>
              <a:off x="3271873" y="377881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7" name="椭圆 46"/>
            <p:cNvSpPr/>
            <p:nvPr userDrawn="1"/>
          </p:nvSpPr>
          <p:spPr bwMode="auto">
            <a:xfrm>
              <a:off x="3972763" y="377881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8" name="椭圆 47"/>
            <p:cNvSpPr/>
            <p:nvPr userDrawn="1"/>
          </p:nvSpPr>
          <p:spPr bwMode="auto">
            <a:xfrm>
              <a:off x="7477213" y="377881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9" name="椭圆 48"/>
            <p:cNvSpPr/>
            <p:nvPr userDrawn="1"/>
          </p:nvSpPr>
          <p:spPr bwMode="auto">
            <a:xfrm>
              <a:off x="8178102" y="377881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9" name="内容占位符 4"/>
            <p:cNvSpPr txBox="1"/>
            <p:nvPr userDrawn="1"/>
          </p:nvSpPr>
          <p:spPr>
            <a:xfrm>
              <a:off x="468314" y="1227376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zh-CN" sz="1600" b="1" dirty="0" smtClean="0">
                  <a:solidFill>
                    <a:schemeClr val="bg1">
                      <a:lumMod val="50000"/>
                    </a:schemeClr>
                  </a:solidFill>
                </a:rPr>
                <a:t>2007/2010</a:t>
              </a:r>
              <a:r>
                <a:rPr lang="zh-CN" altLang="en-US" sz="1600" b="1" dirty="0" smtClean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12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9" r="33230" b="6423"/>
          <a:stretch>
            <a:fillRect/>
          </a:stretch>
        </p:blipFill>
        <p:spPr bwMode="auto">
          <a:xfrm>
            <a:off x="3851921" y="0"/>
            <a:ext cx="529208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1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0" y="5886624"/>
            <a:ext cx="3347367" cy="50452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49000"/>
                </a:schemeClr>
              </a:gs>
              <a:gs pos="0">
                <a:schemeClr val="accent1"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355600" indent="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3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20205" b="3263"/>
          <a:stretch>
            <a:fillRect/>
          </a:stretch>
        </p:blipFill>
        <p:spPr bwMode="auto">
          <a:xfrm rot="10800000" flipH="1" flipV="1">
            <a:off x="5353149" y="765173"/>
            <a:ext cx="3790851" cy="609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梯形 34"/>
          <p:cNvSpPr/>
          <p:nvPr userDrawn="1"/>
        </p:nvSpPr>
        <p:spPr bwMode="auto">
          <a:xfrm rot="16200000">
            <a:off x="4178903" y="-4199923"/>
            <a:ext cx="786193" cy="9144000"/>
          </a:xfrm>
          <a:prstGeom prst="trapezoid">
            <a:avLst>
              <a:gd name="adj" fmla="val 0"/>
            </a:avLst>
          </a:prstGeom>
          <a:gradFill flip="none" rotWithShape="1">
            <a:gsLst>
              <a:gs pos="73000">
                <a:srgbClr val="FFFF00">
                  <a:lumMod val="0"/>
                  <a:lumOff val="100000"/>
                  <a:alpha val="47000"/>
                </a:srgbClr>
              </a:gs>
              <a:gs pos="90000">
                <a:srgbClr val="039ABD">
                  <a:alpha val="12000"/>
                </a:srgbClr>
              </a:gs>
              <a:gs pos="100000">
                <a:srgbClr val="92D050">
                  <a:lumMod val="0"/>
                  <a:alpha val="0"/>
                </a:srgbClr>
              </a:gs>
              <a:gs pos="47000">
                <a:srgbClr val="92D050">
                  <a:alpha val="0"/>
                </a:srgbClr>
              </a:gs>
              <a:gs pos="9000">
                <a:srgbClr val="FFC000">
                  <a:alpha val="59000"/>
                </a:srgbClr>
              </a:gs>
            </a:gsLst>
            <a:lin ang="5400000" scaled="0"/>
            <a:tileRect/>
          </a:gradFill>
          <a:ln>
            <a:noFill/>
          </a:ln>
          <a:effectLst>
            <a:outerShdw blurRad="381000" dist="1143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 bwMode="auto">
          <a:xfrm>
            <a:off x="0" y="765175"/>
            <a:ext cx="8675688" cy="56165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53188"/>
            <a:ext cx="2895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"/>
          </p:nvPr>
        </p:nvSpPr>
        <p:spPr>
          <a:xfrm flipH="1">
            <a:off x="468313" y="981076"/>
            <a:ext cx="8207375" cy="5400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/>
            <a:endParaRPr lang="en-US" altLang="zh-CN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530976" y="6453188"/>
            <a:ext cx="2133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68313" y="6453188"/>
            <a:ext cx="1007343" cy="26828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7" name="Picture 2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2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65968"/>
            <a:ext cx="8666164" cy="12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77838" y="188641"/>
            <a:ext cx="7078190" cy="349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j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j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5265" y="2045970"/>
            <a:ext cx="5723255" cy="639445"/>
          </a:xfrm>
        </p:spPr>
        <p:txBody>
          <a:bodyPr>
            <a:noAutofit/>
          </a:bodyPr>
          <a:lstStyle/>
          <a:p>
            <a:pPr marL="342900" lvl="0" indent="-342900" fontAlgn="base">
              <a:lnSpc>
                <a:spcPct val="110000"/>
              </a:lnSpc>
              <a:spcAft>
                <a:spcPct val="0"/>
              </a:spcAft>
            </a:pPr>
            <a:r>
              <a:rPr lang="zh-CN" altLang="en-US" sz="5400" kern="0" dirty="0">
                <a:solidFill>
                  <a:srgbClr val="C00000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面向对象程序设计</a:t>
            </a:r>
            <a:endParaRPr lang="zh-CN" altLang="en-US" sz="5400" kern="0" dirty="0">
              <a:solidFill>
                <a:srgbClr val="C00000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87624" y="3284984"/>
            <a:ext cx="5616624" cy="576064"/>
          </a:xfrm>
        </p:spPr>
        <p:txBody>
          <a:bodyPr>
            <a:noAutofit/>
          </a:bodyPr>
          <a:lstStyle/>
          <a:p>
            <a:r>
              <a:rPr lang="zh-CN" altLang="en-US" sz="3600" b="1" dirty="0" smtClean="0"/>
              <a:t>第</a:t>
            </a:r>
            <a:r>
              <a:rPr lang="en-US" altLang="zh-CN" sz="3600" b="1" dirty="0" smtClean="0"/>
              <a:t>2</a:t>
            </a:r>
            <a:r>
              <a:rPr lang="zh-CN" altLang="en-US" sz="3600" b="1" dirty="0" smtClean="0"/>
              <a:t>章  </a:t>
            </a:r>
            <a:r>
              <a:rPr lang="en-US" altLang="zh-CN" sz="3600" b="1" dirty="0" smtClean="0"/>
              <a:t>Java</a:t>
            </a:r>
            <a:r>
              <a:rPr lang="zh-CN" altLang="en-US" sz="3600" b="1" dirty="0" smtClean="0"/>
              <a:t>基本程序设计</a:t>
            </a:r>
            <a:endParaRPr lang="zh-CN" altLang="en-US" sz="3600" b="1" dirty="0" smtClean="0"/>
          </a:p>
        </p:txBody>
      </p:sp>
      <p:sp>
        <p:nvSpPr>
          <p:cNvPr id="5" name="矩形 4"/>
          <p:cNvSpPr/>
          <p:nvPr/>
        </p:nvSpPr>
        <p:spPr>
          <a:xfrm>
            <a:off x="8172400" y="16351"/>
            <a:ext cx="64807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423863" y="296863"/>
            <a:ext cx="8334375" cy="417512"/>
          </a:xfrm>
        </p:spPr>
        <p:txBody>
          <a:bodyPr vert="horz" wrap="square" lIns="92075" tIns="46038" rIns="92075" bIns="46038" anchor="ctr"/>
          <a:p>
            <a:r>
              <a:rPr lang="zh-CN" altLang="en-US" sz="4000" dirty="0">
                <a:ea typeface="宋体" panose="02010600030101010101" pitchFamily="2" charset="-122"/>
              </a:rPr>
              <a:t>从控制台读取输入</a:t>
            </a:r>
            <a:endParaRPr lang="zh-CN" altLang="en-US" sz="4000" dirty="0">
              <a:ea typeface="宋体" panose="02010600030101010101" pitchFamily="2" charset="-122"/>
            </a:endParaRPr>
          </a:p>
        </p:txBody>
      </p:sp>
      <p:sp>
        <p:nvSpPr>
          <p:cNvPr id="12292" name="Text Box 3"/>
          <p:cNvSpPr txBox="1"/>
          <p:nvPr/>
        </p:nvSpPr>
        <p:spPr>
          <a:xfrm>
            <a:off x="914400" y="1524000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dirty="0">
              <a:ea typeface="宋体" panose="02010600030101010101" pitchFamily="2" charset="-122"/>
            </a:endParaRPr>
          </a:p>
        </p:txBody>
      </p:sp>
      <p:sp>
        <p:nvSpPr>
          <p:cNvPr id="12293" name="Text Box 4"/>
          <p:cNvSpPr txBox="1"/>
          <p:nvPr/>
        </p:nvSpPr>
        <p:spPr>
          <a:xfrm>
            <a:off x="228600" y="990600"/>
            <a:ext cx="8763000" cy="5046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创建一个Scanner类型的对象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spcBef>
                <a:spcPct val="50000"/>
              </a:spcBef>
              <a:buClr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Scanner input = new Scanner(System.in);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使用方法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next()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、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nextLine()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nextByte()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nextShort()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、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nextInt()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 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nextLong()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nextFloat()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nextDouble()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nextBoolean()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来获取一个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 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byte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 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short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long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double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 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boolean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的值。例如：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spcBef>
                <a:spcPct val="50000"/>
              </a:spcBef>
              <a:buClr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System.out.print("Enter a double value: ");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spcBef>
                <a:spcPct val="0"/>
              </a:spcBef>
              <a:buClr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Scanner input = new Scanner(System.in);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>
              <a:spcBef>
                <a:spcPct val="0"/>
              </a:spcBef>
              <a:buClr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double d = input.nextDouble();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p>
            <a:r>
              <a:rPr lang="zh-CN" altLang="en-US" sz="2000"/>
              <a:t>Java 提供了包机制，用于区别类名的命名空间。</a:t>
            </a:r>
            <a:endParaRPr lang="zh-CN" altLang="en-US" sz="2000"/>
          </a:p>
          <a:p>
            <a:pPr lvl="1"/>
            <a:r>
              <a:rPr lang="zh-CN" altLang="en-US" sz="2000"/>
              <a:t>把功能相似或相关的类或接口组织在同一个包中，方便类的查找和使用。</a:t>
            </a:r>
            <a:endParaRPr lang="zh-CN" altLang="en-US" sz="2000"/>
          </a:p>
          <a:p>
            <a:pPr lvl="1"/>
            <a:r>
              <a:rPr lang="zh-CN" altLang="en-US" sz="2000"/>
              <a:t>如同文件夹一样，包也采用了树形目录的存储方式。同一个包中的类名字是不同的，不同的包中的类的名字是可以相同的。</a:t>
            </a:r>
            <a:endParaRPr lang="zh-CN" altLang="en-US" sz="2000"/>
          </a:p>
          <a:p>
            <a:pPr lvl="1"/>
            <a:r>
              <a:rPr lang="zh-CN" altLang="en-US" sz="2000"/>
              <a:t>包限定了访问权限，拥有包访问权限的类才能访问某个包中的类</a:t>
            </a:r>
            <a:endParaRPr lang="zh-CN" altLang="en-US" sz="2000"/>
          </a:p>
          <a:p>
            <a:pPr lvl="1"/>
            <a:endParaRPr lang="zh-CN" altLang="en-US" sz="2000"/>
          </a:p>
          <a:p>
            <a:pPr lvl="0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明确导入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java.util.Scanner;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通配符导入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java.util.*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通配符导入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是否会降低Java代码的执行效率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绝对不会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那么是否总是使用通配符导入？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等类不需要导入？ 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java.lang包是默认导入的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标识符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为程序中的各个元素（类、方法、变量等）进行命名，这种命名的记号，就是标识符（</a:t>
            </a:r>
            <a:r>
              <a:rPr lang="en-US" altLang="zh-CN" dirty="0"/>
              <a:t>Identifier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一般地，在</a:t>
            </a:r>
            <a:r>
              <a:rPr lang="en-US" altLang="zh-CN" dirty="0"/>
              <a:t>Java </a:t>
            </a:r>
            <a:r>
              <a:rPr lang="zh-CN" altLang="en-US" dirty="0"/>
              <a:t>中标识符是以字母、下划线（</a:t>
            </a:r>
            <a:r>
              <a:rPr lang="en-US" altLang="zh-CN" dirty="0"/>
              <a:t>_</a:t>
            </a:r>
            <a:r>
              <a:rPr lang="zh-CN" altLang="en-US" dirty="0"/>
              <a:t>）、美元符号（</a:t>
            </a:r>
            <a:r>
              <a:rPr lang="en-US" altLang="zh-CN" dirty="0"/>
              <a:t>$</a:t>
            </a:r>
            <a:r>
              <a:rPr lang="zh-CN" altLang="en-US" dirty="0"/>
              <a:t>）等开始的一个字符序列，后面可以跟字母、下划线、美元符号、数字等字符，不能包含运算符和一些特殊字符，如</a:t>
            </a:r>
            <a:r>
              <a:rPr lang="en-US" altLang="zh-CN" dirty="0"/>
              <a:t>#</a:t>
            </a:r>
            <a:r>
              <a:rPr lang="zh-CN" altLang="en-US" dirty="0"/>
              <a:t>、*等。</a:t>
            </a:r>
            <a:endParaRPr lang="zh-CN" altLang="en-US" dirty="0"/>
          </a:p>
          <a:p>
            <a:r>
              <a:rPr lang="en-US" altLang="zh-CN" dirty="0"/>
              <a:t>Java</a:t>
            </a:r>
            <a:r>
              <a:rPr lang="zh-CN" altLang="en-US" dirty="0"/>
              <a:t>语言使用</a:t>
            </a:r>
            <a:r>
              <a:rPr lang="en-US" altLang="zh-CN" dirty="0"/>
              <a:t>Unicode </a:t>
            </a:r>
            <a:r>
              <a:rPr lang="zh-CN" altLang="en-US" dirty="0"/>
              <a:t>字符集，一般用</a:t>
            </a:r>
            <a:r>
              <a:rPr lang="en-US" altLang="zh-CN" dirty="0"/>
              <a:t>16</a:t>
            </a:r>
            <a:r>
              <a:rPr lang="zh-CN" altLang="en-US" dirty="0"/>
              <a:t>位二进制表示一个字符，并且在</a:t>
            </a:r>
            <a:r>
              <a:rPr lang="en-US" altLang="zh-CN" dirty="0"/>
              <a:t>0~255</a:t>
            </a:r>
            <a:r>
              <a:rPr lang="zh-CN" altLang="en-US" dirty="0"/>
              <a:t>编码区与</a:t>
            </a:r>
            <a:r>
              <a:rPr lang="en-US" altLang="zh-CN" dirty="0"/>
              <a:t>ASCII</a:t>
            </a:r>
            <a:r>
              <a:rPr lang="zh-CN" altLang="en-US" dirty="0"/>
              <a:t>字符集是兼容的。</a:t>
            </a:r>
            <a:endParaRPr lang="zh-CN" altLang="en-US" dirty="0"/>
          </a:p>
          <a:p>
            <a:r>
              <a:rPr lang="zh-CN" altLang="en-US" dirty="0"/>
              <a:t>一些合法的标识符：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Body</a:t>
            </a:r>
            <a:r>
              <a:rPr lang="zh-CN" altLang="en-US" dirty="0"/>
              <a:t>，</a:t>
            </a:r>
            <a:r>
              <a:rPr lang="en-US" altLang="zh-CN" dirty="0"/>
              <a:t>_test</a:t>
            </a:r>
            <a:r>
              <a:rPr lang="zh-CN" altLang="en-US" dirty="0"/>
              <a:t>，</a:t>
            </a:r>
            <a:r>
              <a:rPr lang="en-US" altLang="zh-CN" dirty="0"/>
              <a:t>$</a:t>
            </a:r>
            <a:r>
              <a:rPr lang="en-US" altLang="zh-CN" dirty="0" smtClean="0"/>
              <a:t>hello       </a:t>
            </a:r>
            <a:endParaRPr lang="en-US" altLang="zh-CN" dirty="0"/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关键字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Java </a:t>
            </a:r>
            <a:r>
              <a:rPr lang="zh-CN" altLang="en-US" dirty="0"/>
              <a:t>不允许对关键字赋予别的含义。所有的关键字都是</a:t>
            </a:r>
            <a:r>
              <a:rPr lang="zh-CN" altLang="en-US" b="1" dirty="0"/>
              <a:t>小写</a:t>
            </a:r>
            <a:r>
              <a:rPr lang="zh-CN" altLang="en-US" dirty="0"/>
              <a:t>的，如果被大写，就不是关键字了。</a:t>
            </a:r>
            <a:endParaRPr lang="zh-CN" altLang="en-US" dirty="0"/>
          </a:p>
          <a:p>
            <a:pPr lvl="1"/>
            <a:r>
              <a:rPr lang="en-US" altLang="zh-CN" b="1" dirty="0"/>
              <a:t>byte   short  </a:t>
            </a:r>
            <a:r>
              <a:rPr lang="en-US" altLang="zh-CN" b="1" dirty="0" err="1"/>
              <a:t>int</a:t>
            </a:r>
            <a:r>
              <a:rPr lang="en-US" altLang="zh-CN" b="1" dirty="0"/>
              <a:t>   long  float  double  char   </a:t>
            </a:r>
            <a:r>
              <a:rPr lang="en-US" altLang="zh-CN" b="1" dirty="0" err="1"/>
              <a:t>boolean</a:t>
            </a:r>
            <a:endParaRPr lang="en-US" altLang="zh-CN" dirty="0"/>
          </a:p>
          <a:p>
            <a:pPr lvl="1"/>
            <a:r>
              <a:rPr lang="en-US" altLang="zh-CN" b="1" dirty="0"/>
              <a:t>if  else  switch  case  default  do  while  for  break  </a:t>
            </a:r>
            <a:r>
              <a:rPr lang="en-US" altLang="zh-CN" b="1" dirty="0" smtClean="0"/>
              <a:t>continue  return   void</a:t>
            </a:r>
            <a:endParaRPr lang="en-US" altLang="zh-CN" dirty="0"/>
          </a:p>
          <a:p>
            <a:pPr lvl="1"/>
            <a:r>
              <a:rPr lang="en-US" altLang="zh-CN" b="1" dirty="0" smtClean="0"/>
              <a:t>private   </a:t>
            </a:r>
            <a:r>
              <a:rPr lang="en-US" altLang="zh-CN" b="1" dirty="0"/>
              <a:t>public  protected   final  static   abstract   synchronized   volatile</a:t>
            </a:r>
            <a:endParaRPr lang="en-US" altLang="zh-CN" dirty="0"/>
          </a:p>
          <a:p>
            <a:pPr lvl="1"/>
            <a:r>
              <a:rPr lang="en-US" altLang="zh-CN" b="1" dirty="0"/>
              <a:t>try  catch  finally  throw  throws</a:t>
            </a:r>
            <a:endParaRPr lang="en-US" altLang="zh-CN" dirty="0"/>
          </a:p>
          <a:p>
            <a:pPr lvl="1"/>
            <a:r>
              <a:rPr lang="en-US" altLang="zh-CN" b="1" dirty="0"/>
              <a:t>new  extends  implements  class  </a:t>
            </a:r>
            <a:r>
              <a:rPr lang="en-US" altLang="zh-CN" b="1" dirty="0" err="1"/>
              <a:t>instanceof</a:t>
            </a:r>
            <a:r>
              <a:rPr lang="en-US" altLang="zh-CN" b="1" dirty="0"/>
              <a:t>  this  super</a:t>
            </a:r>
            <a:endParaRPr lang="en-US" altLang="zh-CN" dirty="0"/>
          </a:p>
          <a:p>
            <a:pPr lvl="1"/>
            <a:r>
              <a:rPr lang="en-US" altLang="zh-CN" b="1" dirty="0"/>
              <a:t>false   true    </a:t>
            </a:r>
            <a:r>
              <a:rPr lang="en-US" altLang="zh-CN" b="1" dirty="0" smtClean="0"/>
              <a:t>null  </a:t>
            </a:r>
            <a:r>
              <a:rPr lang="en-US" altLang="zh-CN" b="1" dirty="0"/>
              <a:t>package   import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常量</a:t>
            </a:r>
            <a:r>
              <a:rPr lang="zh-CN" altLang="en-US" dirty="0"/>
              <a:t>和变量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/>
              <a:t>[</a:t>
            </a:r>
            <a:r>
              <a:rPr lang="zh-CN" altLang="en-US" sz="2000" dirty="0"/>
              <a:t>修饰符</a:t>
            </a:r>
            <a:r>
              <a:rPr lang="en-US" altLang="zh-CN" sz="2000" dirty="0"/>
              <a:t>] </a:t>
            </a:r>
            <a:r>
              <a:rPr lang="en-US" altLang="zh-CN" sz="2000" b="1" dirty="0"/>
              <a:t>&lt;</a:t>
            </a:r>
            <a:r>
              <a:rPr lang="zh-CN" altLang="en-US" sz="2000" b="1" dirty="0"/>
              <a:t>类型名</a:t>
            </a:r>
            <a:r>
              <a:rPr lang="en-US" altLang="zh-CN" sz="2000" b="1" dirty="0"/>
              <a:t>&gt;  &lt;</a:t>
            </a:r>
            <a:r>
              <a:rPr lang="zh-CN" altLang="en-US" sz="2000" b="1" dirty="0"/>
              <a:t>变量名</a:t>
            </a:r>
            <a:r>
              <a:rPr lang="en-US" altLang="zh-CN" sz="2000" b="1" dirty="0"/>
              <a:t>&gt; </a:t>
            </a:r>
            <a:r>
              <a:rPr lang="en-US" altLang="zh-CN" sz="2000" dirty="0"/>
              <a:t>[=&lt;</a:t>
            </a:r>
            <a:r>
              <a:rPr lang="zh-CN" altLang="en-US" sz="2000" dirty="0"/>
              <a:t>初值</a:t>
            </a:r>
            <a:r>
              <a:rPr lang="en-US" altLang="zh-CN" sz="2000" dirty="0"/>
              <a:t>&gt;][,&lt;</a:t>
            </a:r>
            <a:r>
              <a:rPr lang="zh-CN" altLang="en-US" sz="2000" dirty="0"/>
              <a:t>变量名</a:t>
            </a:r>
            <a:r>
              <a:rPr lang="en-US" altLang="zh-CN" sz="2000" dirty="0"/>
              <a:t>&gt;[=&lt;</a:t>
            </a:r>
            <a:r>
              <a:rPr lang="zh-CN" altLang="en-US" sz="2000" dirty="0"/>
              <a:t>初值</a:t>
            </a:r>
            <a:r>
              <a:rPr lang="en-US" altLang="zh-CN" sz="2000" dirty="0"/>
              <a:t>&gt;]….]</a:t>
            </a:r>
            <a:r>
              <a:rPr lang="zh-CN" altLang="en-US" sz="2000" dirty="0"/>
              <a:t>；</a:t>
            </a:r>
            <a:endParaRPr lang="zh-CN" altLang="en-US" sz="2000" dirty="0"/>
          </a:p>
          <a:p>
            <a:pPr>
              <a:lnSpc>
                <a:spcPct val="90000"/>
              </a:lnSpc>
            </a:pPr>
            <a:endParaRPr lang="zh-CN" altLang="en-US" sz="2500" dirty="0" smtClean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500" dirty="0" smtClean="0">
                <a:latin typeface="Times New Roman" panose="02020603050405020304" pitchFamily="18" charset="0"/>
              </a:rPr>
              <a:t>例如：</a:t>
            </a:r>
            <a:endParaRPr lang="zh-CN" altLang="en-US" sz="2500" dirty="0" smtClean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1"/>
            <a:r>
              <a:rPr lang="en-US" altLang="zh-CN" sz="2400" dirty="0"/>
              <a:t>public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j=5</a:t>
            </a:r>
            <a:r>
              <a:rPr lang="zh-CN" altLang="en-US" sz="2400" dirty="0"/>
              <a:t>，</a:t>
            </a:r>
            <a:r>
              <a:rPr lang="en-US" altLang="zh-CN" sz="2400" dirty="0"/>
              <a:t>k=4;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endParaRPr lang="zh-CN" altLang="en-US" sz="2100" dirty="0" smtClean="0">
              <a:latin typeface="Times New Roman" panose="02020603050405020304" pitchFamily="18" charset="0"/>
            </a:endParaRPr>
          </a:p>
          <a:p>
            <a:pPr>
              <a:buClr>
                <a:schemeClr val="folHlink"/>
              </a:buClr>
              <a:buSzPct val="60000"/>
            </a:pPr>
            <a:r>
              <a:rPr lang="zh-CN" altLang="en-US" dirty="0" smtClean="0">
                <a:solidFill>
                  <a:srgbClr val="C00000"/>
                </a:solidFill>
              </a:rPr>
              <a:t>注意</a:t>
            </a:r>
            <a:r>
              <a:rPr lang="zh-CN" altLang="en-US" dirty="0" smtClean="0"/>
              <a:t>：</a:t>
            </a:r>
            <a:r>
              <a:rPr lang="zh-CN" altLang="en-US" dirty="0"/>
              <a:t>在一个作用域中，变量名应该是唯一的。在一个作用域中，如果有多个同名的变量可以访问，则按照“邻近”原则，在当前域中定义的变量隐藏其它同名的变量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buClr>
                <a:schemeClr val="folHlink"/>
              </a:buClr>
              <a:buSzPct val="60000"/>
            </a:pPr>
            <a:r>
              <a:rPr lang="zh-CN" altLang="en-US" dirty="0" smtClean="0"/>
              <a:t>常量： </a:t>
            </a:r>
            <a:r>
              <a:rPr lang="en-US" altLang="zh-CN" b="1" dirty="0"/>
              <a:t>final</a:t>
            </a:r>
            <a:r>
              <a:rPr lang="en-US" altLang="zh-CN" dirty="0"/>
              <a:t>  double PI</a:t>
            </a:r>
            <a:r>
              <a:rPr lang="en-US" altLang="zh-CN" dirty="0" smtClean="0"/>
              <a:t>=3.1415926;</a:t>
            </a:r>
            <a:endParaRPr lang="en-US" altLang="zh-CN" dirty="0" smtClean="0"/>
          </a:p>
          <a:p>
            <a:pPr lvl="1">
              <a:buClr>
                <a:schemeClr val="folHlink"/>
              </a:buClr>
              <a:buSzPct val="60000"/>
            </a:pPr>
            <a:r>
              <a:rPr lang="zh-CN" altLang="en-US" sz="2200" dirty="0" smtClean="0"/>
              <a:t>常量必须在同一条语句中声明和赋值</a:t>
            </a:r>
            <a:endParaRPr lang="en-US" altLang="zh-CN" dirty="0"/>
          </a:p>
          <a:p>
            <a:pPr>
              <a:buClr>
                <a:schemeClr val="folHlink"/>
              </a:buClr>
              <a:buSzPct val="60000"/>
            </a:pPr>
            <a:endParaRPr lang="zh-CN" altLang="en-US" dirty="0"/>
          </a:p>
          <a:p>
            <a:pPr marL="0" indent="0">
              <a:buClr>
                <a:schemeClr val="folHlink"/>
              </a:buClr>
              <a:buSzPct val="60000"/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变量的作用域和使用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fontAlgn="base"/>
            <a:endParaRPr lang="zh-CN" altLang="zh-CN" dirty="0" smtClean="0"/>
          </a:p>
          <a:p>
            <a:endParaRPr lang="zh-CN" altLang="en-US" dirty="0"/>
          </a:p>
        </p:txBody>
      </p:sp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14" y="1556792"/>
            <a:ext cx="8119137" cy="34563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命名习惯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500" dirty="0" smtClean="0">
                <a:latin typeface="Times New Roman" panose="02020603050405020304" pitchFamily="18" charset="0"/>
              </a:rPr>
              <a:t>使用小写字母命名变量和方法，如果一个名字包括多个单词，将他们连在一起</a:t>
            </a:r>
            <a:r>
              <a:rPr lang="en-US" altLang="zh-CN" sz="2500" dirty="0" smtClean="0">
                <a:latin typeface="Times New Roman" panose="02020603050405020304" pitchFamily="18" charset="0"/>
              </a:rPr>
              <a:t>,</a:t>
            </a:r>
            <a:r>
              <a:rPr lang="zh-CN" altLang="zh-CN" sz="2500" dirty="0" smtClean="0">
                <a:latin typeface="Times New Roman" panose="02020603050405020304" pitchFamily="18" charset="0"/>
              </a:rPr>
              <a:t>例如</a:t>
            </a:r>
            <a:r>
              <a:rPr lang="zh-CN" altLang="en-US" sz="250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500" dirty="0" smtClean="0">
                <a:latin typeface="Times New Roman" panose="02020603050405020304" pitchFamily="18" charset="0"/>
              </a:rPr>
              <a:t>studentName</a:t>
            </a:r>
            <a:endParaRPr lang="en-US" altLang="zh-CN" sz="2500" dirty="0" smtClean="0">
              <a:latin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500" dirty="0" smtClean="0">
                <a:latin typeface="Times New Roman" panose="02020603050405020304" pitchFamily="18" charset="0"/>
              </a:rPr>
              <a:t>类名首字母大写 例如 </a:t>
            </a:r>
            <a:r>
              <a:rPr lang="en-US" altLang="zh-CN" sz="2500" dirty="0" smtClean="0">
                <a:latin typeface="Times New Roman" panose="02020603050405020304" pitchFamily="18" charset="0"/>
              </a:rPr>
              <a:t>ComputerArea</a:t>
            </a:r>
            <a:endParaRPr lang="en-US" altLang="zh-CN" sz="2500" dirty="0" smtClean="0">
              <a:latin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500" dirty="0" smtClean="0">
                <a:latin typeface="Times New Roman" panose="02020603050405020304" pitchFamily="18" charset="0"/>
              </a:rPr>
              <a:t>大写常量中的所有字母，两个单词用下划线连接，两个单词用下划线连接，例如 </a:t>
            </a:r>
            <a:r>
              <a:rPr lang="en-US" altLang="zh-CN" sz="2500" dirty="0" smtClean="0">
                <a:latin typeface="Times New Roman" panose="02020603050405020304" pitchFamily="18" charset="0"/>
              </a:rPr>
              <a:t>MAX_VALUE</a:t>
            </a:r>
            <a:endParaRPr lang="zh-CN" altLang="en-US" sz="2500" dirty="0" smtClean="0">
              <a:latin typeface="Times New Roman" panose="02020603050405020304" pitchFamily="18" charset="0"/>
            </a:endParaRPr>
          </a:p>
          <a:p>
            <a:pPr>
              <a:buClr>
                <a:schemeClr val="folHlink"/>
              </a:buClr>
              <a:buSzPct val="60000"/>
            </a:pPr>
            <a:endParaRPr lang="zh-CN" altLang="en-US" dirty="0"/>
          </a:p>
          <a:p>
            <a:pPr marL="0" indent="0">
              <a:buClr>
                <a:schemeClr val="folHlink"/>
              </a:buClr>
              <a:buSzPct val="60000"/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基本数据类型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>
          <a:xfrm>
            <a:off x="478472" y="1029335"/>
            <a:ext cx="8207376" cy="5400675"/>
          </a:xfrm>
        </p:spPr>
        <p:txBody>
          <a:bodyPr>
            <a:normAutofit/>
          </a:bodyPr>
          <a:lstStyle/>
          <a:p>
            <a:r>
              <a:rPr lang="zh-CN" altLang="en-US" dirty="0"/>
              <a:t>两类：基本数据类型（</a:t>
            </a:r>
            <a:r>
              <a:rPr lang="en-US" altLang="zh-CN" dirty="0"/>
              <a:t>Primitive Type</a:t>
            </a:r>
            <a:r>
              <a:rPr lang="zh-CN" altLang="en-US" dirty="0"/>
              <a:t>）和引用类型</a:t>
            </a:r>
            <a:r>
              <a:rPr lang="en-US" altLang="zh-CN" dirty="0"/>
              <a:t>(Reference Type)</a:t>
            </a:r>
            <a:endParaRPr lang="en-US" altLang="zh-CN" dirty="0"/>
          </a:p>
        </p:txBody>
      </p:sp>
      <p:pic>
        <p:nvPicPr>
          <p:cNvPr id="1026" name="Picture 2" descr="C:\Users\yangrl\AppData\Local\Temp\ksohtml\wpsABE.tmp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79"/>
          <a:stretch>
            <a:fillRect/>
          </a:stretch>
        </p:blipFill>
        <p:spPr bwMode="auto">
          <a:xfrm>
            <a:off x="233045" y="2039620"/>
            <a:ext cx="8677275" cy="422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布尔类型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en-US" dirty="0"/>
              <a:t>布尔型数据类型用关键字</a:t>
            </a:r>
            <a:r>
              <a:rPr lang="en-US" altLang="zh-CN" b="1" dirty="0" err="1"/>
              <a:t>boolean</a:t>
            </a:r>
            <a:r>
              <a:rPr lang="zh-CN" altLang="en-US" dirty="0"/>
              <a:t>表示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只有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两个值</a:t>
            </a:r>
            <a:endParaRPr lang="zh-CN" altLang="en-US" dirty="0"/>
          </a:p>
          <a:p>
            <a:pPr lvl="1">
              <a:lnSpc>
                <a:spcPct val="90000"/>
              </a:lnSpc>
            </a:pPr>
            <a:endParaRPr lang="en-US" altLang="zh-CN" dirty="0" smtClean="0">
              <a:latin typeface="Verdana" panose="020B0604030504040204" pitchFamily="34" charset="0"/>
            </a:endParaRPr>
          </a:p>
          <a:p>
            <a:endParaRPr lang="en-US" altLang="zh-CN" dirty="0" smtClean="0"/>
          </a:p>
          <a:p>
            <a:r>
              <a:rPr lang="zh-CN" altLang="en-US" dirty="0"/>
              <a:t>例如：  </a:t>
            </a:r>
            <a:r>
              <a:rPr lang="en-US" altLang="zh-CN" dirty="0" err="1"/>
              <a:t>boolean</a:t>
            </a:r>
            <a:r>
              <a:rPr lang="en-US" altLang="zh-CN" dirty="0"/>
              <a:t> b=false;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字符类型变量用</a:t>
            </a:r>
            <a:r>
              <a:rPr lang="en-US" altLang="zh-CN" b="1" dirty="0"/>
              <a:t>char</a:t>
            </a:r>
            <a:r>
              <a:rPr lang="zh-CN" altLang="en-US" dirty="0"/>
              <a:t>表示，在</a:t>
            </a:r>
            <a:r>
              <a:rPr lang="en-US" altLang="zh-CN" dirty="0"/>
              <a:t>Java</a:t>
            </a:r>
            <a:r>
              <a:rPr lang="zh-CN" altLang="en-US" dirty="0"/>
              <a:t>虚拟机中一般用</a:t>
            </a:r>
            <a:r>
              <a:rPr lang="en-US" altLang="zh-CN" dirty="0"/>
              <a:t>16</a:t>
            </a:r>
            <a:r>
              <a:rPr lang="zh-CN" altLang="en-US" dirty="0"/>
              <a:t>位表示一个</a:t>
            </a:r>
            <a:r>
              <a:rPr lang="en-US" altLang="zh-CN" dirty="0"/>
              <a:t>char</a:t>
            </a:r>
            <a:r>
              <a:rPr lang="zh-CN" altLang="en-US" dirty="0"/>
              <a:t>值，范围为</a:t>
            </a:r>
            <a:r>
              <a:rPr lang="en-US" altLang="zh-CN" dirty="0"/>
              <a:t>0~65535</a:t>
            </a:r>
            <a:r>
              <a:rPr lang="zh-CN" altLang="en-US" dirty="0"/>
              <a:t>。字符型变量定义格式如下：</a:t>
            </a:r>
            <a:endParaRPr lang="zh-CN" altLang="en-US" dirty="0"/>
          </a:p>
          <a:p>
            <a:pPr lvl="1"/>
            <a:r>
              <a:rPr lang="en-US" altLang="zh-CN" dirty="0" smtClean="0"/>
              <a:t>char a=‘a’; //任意字母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char b=‘中’; //任意单个中文字符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char c=111; //整数 0-65535 输出字符编码表中对应的字符</a:t>
            </a:r>
            <a:endParaRPr lang="en-US" altLang="zh-CN" dirty="0" smtClean="0"/>
          </a:p>
          <a:p>
            <a:r>
              <a:rPr lang="en-US" altLang="zh-CN" dirty="0"/>
              <a:t>Java</a:t>
            </a:r>
            <a:r>
              <a:rPr lang="zh-CN" altLang="en-US" dirty="0"/>
              <a:t>的字符型数据不同于整数，但是可以和整数在一起</a:t>
            </a:r>
            <a:r>
              <a:rPr lang="zh-CN" altLang="en-US" dirty="0" smtClean="0"/>
              <a:t>运算</a:t>
            </a:r>
            <a:endParaRPr lang="zh-CN" altLang="en-US" dirty="0"/>
          </a:p>
          <a:p>
            <a:pPr lvl="1"/>
            <a:r>
              <a:rPr sz="2400"/>
              <a:t>int m=‘a’+‘b’;    </a:t>
            </a:r>
            <a:endParaRPr sz="2400"/>
          </a:p>
          <a:p>
            <a:pPr lvl="1"/>
            <a:r>
              <a:rPr sz="2400" dirty="0"/>
              <a:t>char m=‘a’+1; </a:t>
            </a:r>
            <a:endParaRPr sz="2400" dirty="0"/>
          </a:p>
          <a:p>
            <a:pPr lvl="1"/>
            <a:r>
              <a:rPr lang="en-US" altLang="zh-CN" sz="2400" dirty="0" err="1"/>
              <a:t>int</a:t>
            </a:r>
            <a:r>
              <a:rPr lang="en-US" altLang="zh-CN" sz="2400" dirty="0"/>
              <a:t> j=’a’;  //</a:t>
            </a:r>
            <a:r>
              <a:rPr lang="zh-CN" altLang="en-US" sz="2400" dirty="0"/>
              <a:t>由字符向整数，自动类型转换</a:t>
            </a:r>
            <a:endParaRPr lang="zh-CN" altLang="en-US" sz="2400" dirty="0"/>
          </a:p>
          <a:p>
            <a:pPr lvl="1"/>
            <a:r>
              <a:rPr lang="en-US" altLang="zh-CN" sz="2400" dirty="0"/>
              <a:t>char c=(char)(</a:t>
            </a:r>
            <a:r>
              <a:rPr lang="en-US" altLang="zh-CN" sz="2400" dirty="0" err="1"/>
              <a:t>i+one+j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r>
              <a:rPr lang="en-US" altLang="zh-CN" dirty="0"/>
              <a:t>Java</a:t>
            </a:r>
            <a:r>
              <a:rPr lang="zh-CN" altLang="en-US" dirty="0"/>
              <a:t>提供了转义字符，以反斜杠（</a:t>
            </a:r>
            <a:r>
              <a:rPr lang="en-US" altLang="zh-CN" dirty="0"/>
              <a:t>\</a:t>
            </a:r>
            <a:r>
              <a:rPr lang="zh-CN" altLang="en-US" dirty="0"/>
              <a:t>）</a:t>
            </a:r>
            <a:r>
              <a:rPr lang="zh-CN" altLang="en-US" dirty="0" smtClean="0"/>
              <a:t>开头</a:t>
            </a:r>
            <a:endParaRPr lang="zh-CN" altLang="en-US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数据类型的表示范围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fontAlgn="base"/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863956" y="5089782"/>
            <a:ext cx="6588364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kern="100" dirty="0">
                <a:latin typeface="+mn-ea"/>
              </a:rPr>
              <a:t>一个整数数字隐含为</a:t>
            </a:r>
            <a:r>
              <a:rPr lang="en-US" altLang="zh-CN" sz="2400" kern="100" dirty="0" err="1">
                <a:latin typeface="+mn-ea"/>
              </a:rPr>
              <a:t>int</a:t>
            </a:r>
            <a:r>
              <a:rPr lang="zh-CN" altLang="en-US" sz="2400" kern="100" dirty="0">
                <a:latin typeface="+mn-ea"/>
              </a:rPr>
              <a:t>型，在表示</a:t>
            </a:r>
            <a:r>
              <a:rPr lang="en-US" altLang="zh-CN" sz="2400" kern="100" dirty="0">
                <a:latin typeface="+mn-ea"/>
              </a:rPr>
              <a:t>long</a:t>
            </a:r>
            <a:r>
              <a:rPr lang="zh-CN" altLang="en-US" sz="2400" kern="100" dirty="0">
                <a:latin typeface="+mn-ea"/>
              </a:rPr>
              <a:t>型常量时，需要在数字后面加上后缀</a:t>
            </a:r>
            <a:r>
              <a:rPr lang="en-US" altLang="zh-CN" sz="2400" kern="100" dirty="0">
                <a:latin typeface="+mn-ea"/>
              </a:rPr>
              <a:t>L</a:t>
            </a:r>
            <a:r>
              <a:rPr lang="zh-CN" altLang="en-US" sz="2400" kern="100" dirty="0">
                <a:latin typeface="+mn-ea"/>
              </a:rPr>
              <a:t>。</a:t>
            </a:r>
            <a:endParaRPr lang="zh-CN" altLang="en-US" sz="2400" kern="1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7340"/>
            <a:ext cx="8935085" cy="3432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浮点类型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标准计数法：由整数部分、小数点和小数部分组成，</a:t>
            </a:r>
            <a:endParaRPr lang="en-US" altLang="zh-CN" smtClean="0"/>
          </a:p>
          <a:p>
            <a:pPr lvl="1"/>
            <a:r>
              <a:rPr lang="zh-CN" altLang="en-US" smtClean="0"/>
              <a:t>如</a:t>
            </a:r>
            <a:r>
              <a:rPr lang="en-US" altLang="zh-CN" smtClean="0"/>
              <a:t>2.0</a:t>
            </a:r>
            <a:r>
              <a:rPr lang="zh-CN" altLang="en-US" smtClean="0"/>
              <a:t>，</a:t>
            </a:r>
            <a:r>
              <a:rPr lang="en-US" altLang="zh-CN" smtClean="0"/>
              <a:t>345.789</a:t>
            </a:r>
            <a:r>
              <a:rPr lang="zh-CN" altLang="en-US" smtClean="0"/>
              <a:t>。</a:t>
            </a:r>
            <a:endParaRPr lang="zh-CN" altLang="en-US" smtClean="0"/>
          </a:p>
          <a:p>
            <a:r>
              <a:rPr lang="zh-CN" altLang="en-US" smtClean="0"/>
              <a:t>科学计数法：由十进制数、小数点、小数和指数构成，指数部分由字母</a:t>
            </a:r>
            <a:r>
              <a:rPr lang="en-US" altLang="zh-CN" smtClean="0"/>
              <a:t>E</a:t>
            </a:r>
            <a:r>
              <a:rPr lang="zh-CN" altLang="en-US" smtClean="0"/>
              <a:t>或</a:t>
            </a:r>
            <a:r>
              <a:rPr lang="en-US" altLang="zh-CN" smtClean="0"/>
              <a:t>e</a:t>
            </a:r>
            <a:r>
              <a:rPr lang="zh-CN" altLang="en-US" smtClean="0"/>
              <a:t>跟上正负号的整数表示，</a:t>
            </a:r>
            <a:endParaRPr lang="en-US" altLang="zh-CN" smtClean="0"/>
          </a:p>
          <a:p>
            <a:pPr lvl="1"/>
            <a:r>
              <a:rPr lang="zh-CN" altLang="en-US" smtClean="0"/>
              <a:t>例如，</a:t>
            </a:r>
            <a:r>
              <a:rPr lang="en-US" altLang="zh-CN" smtClean="0"/>
              <a:t>345.789</a:t>
            </a:r>
            <a:r>
              <a:rPr lang="zh-CN" altLang="en-US" smtClean="0"/>
              <a:t>，可以表示成</a:t>
            </a:r>
            <a:r>
              <a:rPr lang="en-US" altLang="zh-CN" smtClean="0"/>
              <a:t>3.45789E+2</a:t>
            </a:r>
            <a:r>
              <a:rPr lang="zh-CN" altLang="en-US" smtClean="0"/>
              <a:t>；</a:t>
            </a:r>
            <a:endParaRPr lang="zh-CN" altLang="en-US" smtClean="0"/>
          </a:p>
          <a:p>
            <a:pPr fontAlgn="base"/>
            <a:endParaRPr lang="zh-CN" altLang="zh-CN" smtClean="0"/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15345" y="5373216"/>
            <a:ext cx="60456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2400" kern="100" dirty="0">
                <a:latin typeface="+mn-ea"/>
              </a:rPr>
              <a:t>在一个浮点数后加字母</a:t>
            </a:r>
            <a:r>
              <a:rPr lang="en-US" altLang="zh-CN" sz="2400" kern="100" dirty="0">
                <a:latin typeface="+mn-ea"/>
              </a:rPr>
              <a:t>F</a:t>
            </a:r>
            <a:r>
              <a:rPr lang="zh-CN" altLang="en-US" sz="2400" kern="100" dirty="0">
                <a:latin typeface="+mn-ea"/>
              </a:rPr>
              <a:t>或</a:t>
            </a:r>
            <a:r>
              <a:rPr lang="en-US" altLang="zh-CN" sz="2400" kern="100" dirty="0">
                <a:latin typeface="+mn-ea"/>
              </a:rPr>
              <a:t>f</a:t>
            </a:r>
            <a:r>
              <a:rPr lang="zh-CN" altLang="en-US" sz="2400" kern="100" dirty="0">
                <a:latin typeface="+mn-ea"/>
              </a:rPr>
              <a:t>，表示</a:t>
            </a:r>
            <a:r>
              <a:rPr lang="en-US" altLang="zh-CN" sz="2400" kern="100" dirty="0">
                <a:latin typeface="+mn-ea"/>
              </a:rPr>
              <a:t>float</a:t>
            </a:r>
            <a:r>
              <a:rPr lang="zh-CN" altLang="en-US" sz="2400" kern="100" dirty="0">
                <a:latin typeface="+mn-ea"/>
              </a:rPr>
              <a:t>型。</a:t>
            </a:r>
            <a:endParaRPr lang="zh-CN" altLang="en-US" sz="2400" kern="1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570" y="3669030"/>
            <a:ext cx="6920865" cy="1704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IEEE 754 (</a:t>
            </a:r>
            <a:r>
              <a:rPr lang="zh-CN" altLang="en-US"/>
              <a:t>补充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pic>
        <p:nvPicPr>
          <p:cNvPr id="8" name="内容占位符 7"/>
          <p:cNvPicPr>
            <a:picLocks noChangeAspect="1"/>
          </p:cNvPicPr>
          <p:nvPr>
            <p:ph sz="quarter" idx="12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155" y="1037590"/>
            <a:ext cx="8207375" cy="13855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3720" y="2641600"/>
            <a:ext cx="776986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endParaRPr lang="zh-CN" altLang="en-US" sz="3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单精度浮点数字长32位</a:t>
            </a:r>
            <a:r>
              <a:rPr lang="en-US" altLang="zh-CN" sz="3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:1</a:t>
            </a:r>
            <a:r>
              <a:rPr lang="zh-CN" altLang="zh-CN" sz="3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位符号位；</a:t>
            </a:r>
            <a:r>
              <a:rPr lang="zh-CN" altLang="en-US" sz="3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尾数长度23；指数长度8,指数偏移量127；</a:t>
            </a:r>
            <a:endParaRPr lang="zh-CN" altLang="en-US" sz="3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双精度浮点数字长64位：</a:t>
            </a:r>
            <a:r>
              <a:rPr lang="en-US" altLang="zh-CN" sz="3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3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位符号位；</a:t>
            </a:r>
            <a:r>
              <a:rPr lang="zh-CN" altLang="en-US" sz="32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尾数长度52，指数长度11，指数偏移量1023</a:t>
            </a:r>
            <a:endParaRPr lang="zh-CN" altLang="en-US" sz="32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IEEE 754 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3" name="内容占位符 2"/>
          <p:cNvSpPr/>
          <p:nvPr>
            <p:ph sz="quarter" idx="12"/>
          </p:nvPr>
        </p:nvSpPr>
        <p:spPr/>
        <p:txBody>
          <a:bodyPr/>
          <a:p>
            <a:r>
              <a:rPr lang="en-US" altLang="zh-CN" sz="3200"/>
              <a:t>100.25   </a:t>
            </a:r>
            <a:r>
              <a:rPr lang="zh-CN" altLang="zh-CN" sz="3200"/>
              <a:t>表示为 </a:t>
            </a:r>
            <a:endParaRPr lang="en-US" altLang="zh-CN" sz="3200"/>
          </a:p>
          <a:p>
            <a:r>
              <a:rPr lang="en-US" altLang="zh-CN" sz="3200"/>
              <a:t>0 10000101  </a:t>
            </a:r>
            <a:r>
              <a:rPr lang="en-US" altLang="zh-CN" sz="3200">
                <a:sym typeface="+mn-ea"/>
              </a:rPr>
              <a:t>10010001000000000000000</a:t>
            </a:r>
            <a:endParaRPr lang="en-US" altLang="zh-CN"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580073" y="92393"/>
            <a:ext cx="7772400" cy="611187"/>
          </a:xfrm>
        </p:spPr>
        <p:txBody>
          <a:bodyPr vert="horz" wrap="square" lIns="92075" tIns="46038" rIns="92075" bIns="46038" anchor="ctr"/>
          <a:p>
            <a:r>
              <a:rPr lang="zh-CN" altLang="en-US" sz="3200" dirty="0">
                <a:ea typeface="宋体" panose="02010600030101010101" pitchFamily="2" charset="-122"/>
              </a:rPr>
              <a:t>数值运算符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20484" name="Rectangle 3"/>
          <p:cNvSpPr/>
          <p:nvPr/>
        </p:nvSpPr>
        <p:spPr>
          <a:xfrm>
            <a:off x="0" y="2674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ea typeface="宋体" panose="02010600030101010101" pitchFamily="2" charset="-122"/>
            </a:endParaRPr>
          </a:p>
        </p:txBody>
      </p:sp>
      <p:graphicFrame>
        <p:nvGraphicFramePr>
          <p:cNvPr id="20485" name="Object 4"/>
          <p:cNvGraphicFramePr>
            <a:graphicFrameLocks noChangeAspect="1"/>
          </p:cNvGraphicFramePr>
          <p:nvPr/>
        </p:nvGraphicFramePr>
        <p:xfrm>
          <a:off x="349885" y="803910"/>
          <a:ext cx="8443913" cy="374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414395" imgH="1510665" progId="Word.Picture.8">
                  <p:embed/>
                </p:oleObj>
              </mc:Choice>
              <mc:Fallback>
                <p:oleObj name="" r:id="rId1" imgW="3414395" imgH="1510665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9885" y="803910"/>
                        <a:ext cx="8443913" cy="374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685800" y="4545965"/>
            <a:ext cx="7772400" cy="2000885"/>
          </a:xfrm>
        </p:spPr>
        <p:txBody>
          <a:bodyPr vert="horz" wrap="square" lIns="92075" tIns="46038" rIns="92075" bIns="46038" anchor="t">
            <a:noAutofit/>
          </a:bodyPr>
          <a:p>
            <a:pPr algn="just">
              <a:lnSpc>
                <a:spcPct val="90000"/>
              </a:lnSpc>
              <a:spcAft>
                <a:spcPct val="25000"/>
              </a:spcAft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/ 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的结果是整数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90000"/>
              </a:lnSpc>
              <a:spcAft>
                <a:spcPct val="25000"/>
              </a:spcAft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5.0 / 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的结果是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double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型值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2.5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90000"/>
              </a:lnSpc>
              <a:spcAft>
                <a:spcPct val="25000"/>
              </a:spcAft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5 % 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的结果是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（除法的余数）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228600" y="1085850"/>
            <a:ext cx="8686800" cy="2876550"/>
          </a:xfrm>
        </p:spPr>
        <p:txBody>
          <a:bodyPr vert="horz" wrap="square" lIns="92075" tIns="46038" rIns="92075" bIns="46038" anchor="t">
            <a:normAutofit lnSpcReduction="10000"/>
          </a:bodyPr>
          <a:p>
            <a:pPr>
              <a:spcBef>
                <a:spcPct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余数运算在程序设计中非常有用。例如：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一个偶数%2结果总是0而奇数%2结果总是1。所以你可以使用这个特性来判定一个数是偶数还是奇数。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假设今天是星期六，你和你的朋友们准备10天后在车站见面。那么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天后是星期几呢? 可以使用下面的表达式发现那一天是星期二: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0"/>
              </a:spcBef>
            </a:pPr>
            <a:endParaRPr lang="zh-CN" altLang="en-US" sz="248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0"/>
              </a:spcBef>
            </a:pPr>
            <a:endParaRPr lang="zh-CN" altLang="en-US" sz="248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0"/>
              </a:spcBef>
            </a:pPr>
            <a:endParaRPr lang="zh-CN" altLang="en-US" sz="248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0"/>
              </a:spcBef>
            </a:pPr>
            <a:endParaRPr lang="zh-CN" altLang="en-US" sz="248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0"/>
              </a:spcBef>
            </a:pPr>
            <a:endParaRPr lang="zh-CN" altLang="en-US" sz="248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spcBef>
                <a:spcPct val="0"/>
              </a:spcBef>
            </a:pPr>
            <a:endParaRPr lang="zh-CN" altLang="en-US" sz="248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533" name="Rectangle 4"/>
          <p:cNvSpPr/>
          <p:nvPr/>
        </p:nvSpPr>
        <p:spPr>
          <a:xfrm>
            <a:off x="2190750" y="2881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ea typeface="宋体" panose="02010600030101010101" pitchFamily="2" charset="-122"/>
            </a:endParaRPr>
          </a:p>
        </p:txBody>
      </p:sp>
      <p:sp>
        <p:nvSpPr>
          <p:cNvPr id="22534" name="Rectangle 5"/>
          <p:cNvSpPr/>
          <p:nvPr/>
        </p:nvSpPr>
        <p:spPr>
          <a:xfrm>
            <a:off x="-323850" y="271875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ea typeface="宋体" panose="02010600030101010101" pitchFamily="2" charset="-122"/>
            </a:endParaRPr>
          </a:p>
        </p:txBody>
      </p:sp>
      <p:graphicFrame>
        <p:nvGraphicFramePr>
          <p:cNvPr id="22535" name="Object 6"/>
          <p:cNvGraphicFramePr>
            <a:graphicFrameLocks noChangeAspect="1"/>
          </p:cNvGraphicFramePr>
          <p:nvPr/>
        </p:nvGraphicFramePr>
        <p:xfrm>
          <a:off x="408305" y="3400108"/>
          <a:ext cx="8064500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4762500" imgH="1090930" progId="Word.Picture.8">
                  <p:embed/>
                </p:oleObj>
              </mc:Choice>
              <mc:Fallback>
                <p:oleObj name="" r:id="rId1" imgW="4762500" imgH="1090930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8305" y="3400108"/>
                        <a:ext cx="8064500" cy="184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54685" y="5541645"/>
            <a:ext cx="772414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20000"/>
              </a:lnSpc>
            </a:pPr>
            <a:r>
              <a:rPr lang="zh-CN" altLang="zh-CN" sz="24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书 示例</a:t>
            </a:r>
            <a:r>
              <a:rPr lang="en-US" altLang="zh-CN" sz="24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2.12 </a:t>
            </a:r>
            <a:r>
              <a:rPr lang="zh-CN" altLang="en-US" sz="24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显示当前时间   </a:t>
            </a:r>
            <a:r>
              <a:rPr lang="en-US" altLang="zh-CN" sz="24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System.curreentTimeMIllis()</a:t>
            </a:r>
            <a:r>
              <a:rPr lang="en-US" altLang="zh-CN" sz="1600" dirty="0" err="1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1600" dirty="0" err="1" smtClean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quarter" idx="12"/>
            <p:custDataLst>
              <p:tags r:id="rId1"/>
            </p:custDataLst>
          </p:nvPr>
        </p:nvGraphicFramePr>
        <p:xfrm>
          <a:off x="1764209" y="1152525"/>
          <a:ext cx="6984775" cy="45984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8516"/>
                <a:gridCol w="1153732"/>
                <a:gridCol w="2119115"/>
                <a:gridCol w="1655074"/>
              </a:tblGrid>
              <a:tr h="608253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kern="100">
                          <a:effectLst/>
                          <a:latin typeface="+mn-ea"/>
                          <a:ea typeface="+mn-ea"/>
                        </a:rPr>
                        <a:t>++</a:t>
                      </a:r>
                      <a:endParaRPr lang="zh-CN" altLang="en-US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++op1,op1++</a:t>
                      </a:r>
                      <a:endParaRPr lang="en-US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kern="100">
                          <a:effectLst/>
                          <a:latin typeface="+mn-ea"/>
                          <a:ea typeface="+mn-ea"/>
                        </a:rPr>
                        <a:t>自增</a:t>
                      </a:r>
                      <a:endParaRPr lang="zh-CN" altLang="en-US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/>
                </a:tc>
              </a:tr>
              <a:tr h="60825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kern="100">
                          <a:effectLst/>
                          <a:latin typeface="+mn-ea"/>
                          <a:ea typeface="+mn-ea"/>
                        </a:rPr>
                        <a:t>--</a:t>
                      </a:r>
                      <a:endParaRPr lang="zh-CN" altLang="en-US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--op1, op1++</a:t>
                      </a:r>
                      <a:endParaRPr lang="en-US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kern="100">
                          <a:effectLst/>
                          <a:latin typeface="+mn-ea"/>
                          <a:ea typeface="+mn-ea"/>
                        </a:rPr>
                        <a:t>自减</a:t>
                      </a:r>
                      <a:endParaRPr lang="zh-CN" altLang="en-US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/>
                </a:tc>
              </a:tr>
            </a:tbl>
          </a:graphicData>
        </a:graphic>
      </p:graphicFrame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内容占位符 3"/>
          <p:cNvSpPr>
            <a:spLocks noGrp="1"/>
          </p:cNvSpPr>
          <p:nvPr/>
        </p:nvSpPr>
        <p:spPr>
          <a:xfrm>
            <a:off x="467995" y="2519045"/>
            <a:ext cx="8207375" cy="3613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Clr>
                <a:srgbClr val="7030A0"/>
              </a:buClr>
              <a:buSzPct val="70000"/>
              <a:buFont typeface="Wingdings" panose="05000000000000000000" pitchFamily="2" charset="2"/>
              <a:buChar char="n"/>
              <a:defRPr sz="2600" kern="1200" baseline="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增强赋值运算符</a:t>
            </a: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128569" y="3453899"/>
          <a:ext cx="6264910" cy="2548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6144"/>
                <a:gridCol w="2376264"/>
                <a:gridCol w="2592288"/>
              </a:tblGrid>
              <a:tr h="381635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运算符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示例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含义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38227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+=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count += 3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count = count + 3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46688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-=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count -= 3 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count = count - 3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38187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*=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count *= 3 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count = count * 3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381877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/=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count /= 3 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count = count / 3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55372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%=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count %= 3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count = count % 3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位运算符</a:t>
            </a:r>
            <a:endParaRPr lang="zh-CN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zh-CN" dirty="0"/>
              <a:t>所有的数在</a:t>
            </a:r>
            <a:r>
              <a:rPr lang="en-US" altLang="zh-CN" dirty="0"/>
              <a:t>Java</a:t>
            </a:r>
            <a:r>
              <a:rPr lang="zh-CN" altLang="zh-CN" dirty="0"/>
              <a:t>虚拟机中都会转换为补码二进制表示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5" name="矩形 4"/>
          <p:cNvSpPr/>
          <p:nvPr/>
        </p:nvSpPr>
        <p:spPr>
          <a:xfrm>
            <a:off x="755576" y="1772816"/>
            <a:ext cx="770485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 kern="100" dirty="0">
                <a:latin typeface="+mn-ea"/>
                <a:cs typeface="宋体" panose="02010600030101010101" pitchFamily="2" charset="-122"/>
              </a:rPr>
              <a:t>例如：</a:t>
            </a:r>
            <a:endParaRPr lang="zh-CN" altLang="zh-CN" sz="2000" kern="100" dirty="0">
              <a:latin typeface="+mn-ea"/>
              <a:cs typeface="宋体" panose="02010600030101010101" pitchFamily="2" charset="-122"/>
            </a:endParaRPr>
          </a:p>
          <a:p>
            <a:pPr indent="493395" algn="just">
              <a:spcAft>
                <a:spcPts val="0"/>
              </a:spcAft>
            </a:pPr>
            <a:r>
              <a:rPr lang="zh-CN" altLang="zh-CN" sz="2000" kern="100" dirty="0">
                <a:latin typeface="+mn-ea"/>
              </a:rPr>
              <a:t>整数</a:t>
            </a:r>
            <a:r>
              <a:rPr lang="en-US" altLang="zh-CN" sz="2000" kern="100" dirty="0">
                <a:latin typeface="+mn-ea"/>
              </a:rPr>
              <a:t>1</a:t>
            </a:r>
            <a:r>
              <a:rPr lang="zh-CN" altLang="zh-CN" sz="2000" kern="100" dirty="0">
                <a:latin typeface="+mn-ea"/>
              </a:rPr>
              <a:t>表示为补码二进制为</a:t>
            </a:r>
            <a:r>
              <a:rPr lang="en-US" altLang="zh-CN" sz="2000" kern="100" dirty="0">
                <a:latin typeface="+mn-ea"/>
              </a:rPr>
              <a:t> </a:t>
            </a:r>
            <a:endParaRPr lang="en-US" altLang="zh-CN" sz="2000" kern="100" dirty="0" smtClean="0">
              <a:latin typeface="+mn-ea"/>
            </a:endParaRPr>
          </a:p>
          <a:p>
            <a:pPr indent="493395" algn="just">
              <a:spcAft>
                <a:spcPts val="0"/>
              </a:spcAft>
            </a:pPr>
            <a:r>
              <a:rPr lang="en-US" altLang="zh-CN" sz="2000" kern="100" dirty="0" smtClean="0">
                <a:latin typeface="+mn-ea"/>
              </a:rPr>
              <a:t>00000000 </a:t>
            </a:r>
            <a:r>
              <a:rPr lang="en-US" altLang="zh-CN" sz="2000" kern="100" dirty="0">
                <a:latin typeface="+mn-ea"/>
              </a:rPr>
              <a:t>00000000 00000000 00000001</a:t>
            </a:r>
            <a:r>
              <a:rPr lang="zh-CN" altLang="zh-CN" sz="2000" kern="100" dirty="0">
                <a:latin typeface="+mn-ea"/>
              </a:rPr>
              <a:t>（</a:t>
            </a:r>
            <a:r>
              <a:rPr lang="en-US" altLang="zh-CN" sz="2000" kern="100" dirty="0">
                <a:latin typeface="+mn-ea"/>
              </a:rPr>
              <a:t>4</a:t>
            </a:r>
            <a:r>
              <a:rPr lang="zh-CN" altLang="zh-CN" sz="2000" kern="100" dirty="0">
                <a:latin typeface="+mn-ea"/>
              </a:rPr>
              <a:t>个字节） </a:t>
            </a:r>
            <a:endParaRPr lang="zh-CN" altLang="zh-CN" sz="2000" kern="100" dirty="0">
              <a:latin typeface="+mn-ea"/>
            </a:endParaRPr>
          </a:p>
          <a:p>
            <a:pPr indent="493395" algn="just">
              <a:spcAft>
                <a:spcPts val="0"/>
              </a:spcAft>
            </a:pPr>
            <a:r>
              <a:rPr lang="zh-CN" altLang="zh-CN" sz="2000" kern="100" dirty="0">
                <a:latin typeface="+mn-ea"/>
              </a:rPr>
              <a:t>整数</a:t>
            </a:r>
            <a:r>
              <a:rPr lang="en-US" altLang="zh-CN" sz="2000" kern="100" dirty="0">
                <a:latin typeface="+mn-ea"/>
              </a:rPr>
              <a:t>-1</a:t>
            </a:r>
            <a:r>
              <a:rPr lang="zh-CN" altLang="zh-CN" sz="2000" kern="100" dirty="0">
                <a:latin typeface="+mn-ea"/>
              </a:rPr>
              <a:t>表示为补码二进制</a:t>
            </a:r>
            <a:r>
              <a:rPr lang="zh-CN" altLang="zh-CN" sz="2000" kern="100" dirty="0" smtClean="0">
                <a:latin typeface="+mn-ea"/>
              </a:rPr>
              <a:t>为</a:t>
            </a:r>
            <a:endParaRPr lang="en-US" altLang="zh-CN" sz="2000" kern="100" dirty="0" smtClean="0">
              <a:latin typeface="+mn-ea"/>
            </a:endParaRPr>
          </a:p>
          <a:p>
            <a:pPr indent="493395" algn="just">
              <a:spcAft>
                <a:spcPts val="0"/>
              </a:spcAft>
            </a:pPr>
            <a:r>
              <a:rPr lang="en-US" altLang="zh-CN" sz="2000" kern="100" dirty="0" smtClean="0">
                <a:latin typeface="+mn-ea"/>
              </a:rPr>
              <a:t>11111111 </a:t>
            </a:r>
            <a:r>
              <a:rPr lang="en-US" altLang="zh-CN" sz="2000" kern="100" dirty="0">
                <a:latin typeface="+mn-ea"/>
              </a:rPr>
              <a:t>11111111 11111111 11111111  </a:t>
            </a:r>
            <a:r>
              <a:rPr lang="zh-CN" altLang="zh-CN" sz="2000" kern="100" dirty="0">
                <a:latin typeface="+mn-ea"/>
              </a:rPr>
              <a:t>（</a:t>
            </a:r>
            <a:r>
              <a:rPr lang="en-US" altLang="zh-CN" sz="2000" kern="100" dirty="0">
                <a:latin typeface="+mn-ea"/>
              </a:rPr>
              <a:t>4</a:t>
            </a:r>
            <a:r>
              <a:rPr lang="zh-CN" altLang="zh-CN" sz="2000" kern="100" dirty="0">
                <a:latin typeface="+mn-ea"/>
              </a:rPr>
              <a:t>个字节）</a:t>
            </a:r>
            <a:endParaRPr lang="zh-CN" altLang="zh-CN" sz="2000" kern="100" dirty="0">
              <a:latin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07526" y="3682342"/>
          <a:ext cx="7164873" cy="24991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961"/>
                <a:gridCol w="1876514"/>
                <a:gridCol w="4435398"/>
              </a:tblGrid>
              <a:tr h="26946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运算符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986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示例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511810"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含义 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3207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&amp;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 &amp; Op2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使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和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按位相与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26946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|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 | Op2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使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和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按位相或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26946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~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796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~Op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对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按位取反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3528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^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 ^ Op2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使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和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按位异或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3047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&lt;&lt;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 &lt;&lt; Op2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使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左移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右补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2726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&gt;&gt;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 &gt;&gt; Op2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使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右移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左边补充符号位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  <a:tr h="4234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&gt;&gt;&gt; 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Op1 &gt;&gt;&gt;  Op2</a:t>
                      </a:r>
                      <a:endParaRPr lang="zh-CN" sz="18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使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Op1</a:t>
                      </a: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无符号右移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Op2</a:t>
                      </a: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左边始终补添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0)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各类型数据间的相互转换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自动</a:t>
            </a:r>
            <a:r>
              <a:rPr lang="zh-CN" altLang="en-US" dirty="0" smtClean="0"/>
              <a:t>类型转换</a:t>
            </a:r>
            <a:endParaRPr lang="en-US" altLang="zh-CN" dirty="0" smtClean="0"/>
          </a:p>
          <a:p>
            <a:pPr lvl="0"/>
            <a:endParaRPr lang="en-US" altLang="zh-CN" dirty="0"/>
          </a:p>
          <a:p>
            <a:pPr lvl="0"/>
            <a:endParaRPr lang="en-US" altLang="zh-CN" dirty="0" smtClean="0"/>
          </a:p>
          <a:p>
            <a:pPr lvl="0"/>
            <a:r>
              <a:rPr lang="zh-CN" altLang="sv-SE" sz="2400" dirty="0"/>
              <a:t>拓宽类型</a:t>
            </a:r>
            <a:endParaRPr lang="zh-CN" altLang="sv-SE" sz="2400" dirty="0"/>
          </a:p>
          <a:p>
            <a:pPr lvl="1"/>
            <a:r>
              <a:rPr lang="zh-CN" altLang="sv-SE" sz="2030" dirty="0"/>
              <a:t>小范围的变量转换为大范围的变量</a:t>
            </a:r>
            <a:endParaRPr lang="zh-CN" altLang="sv-SE" sz="2030" dirty="0"/>
          </a:p>
          <a:p>
            <a:pPr lvl="1"/>
            <a:r>
              <a:rPr lang="zh-CN" altLang="sv-SE" sz="2030" dirty="0"/>
              <a:t>自动转换  </a:t>
            </a:r>
            <a:r>
              <a:rPr lang="en-US" altLang="zh-CN" sz="2030" dirty="0"/>
              <a:t>double d=3;         </a:t>
            </a:r>
            <a:r>
              <a:rPr lang="en-US" altLang="zh-CN" sz="2030" dirty="0"/>
              <a:t>3*4.5</a:t>
            </a:r>
            <a:endParaRPr lang="zh-CN" altLang="sv-SE" sz="2030" dirty="0"/>
          </a:p>
          <a:p>
            <a:pPr lvl="0"/>
            <a:r>
              <a:rPr lang="sv-SE" altLang="zh-CN" sz="2395" dirty="0"/>
              <a:t> </a:t>
            </a:r>
            <a:r>
              <a:rPr lang="zh-CN" altLang="sv-SE" sz="2395" dirty="0"/>
              <a:t>缩窄类型</a:t>
            </a:r>
            <a:endParaRPr lang="zh-CN" altLang="sv-SE" sz="2395" dirty="0"/>
          </a:p>
          <a:p>
            <a:pPr lvl="1"/>
            <a:r>
              <a:rPr lang="zh-CN" altLang="sv-SE" sz="2025" dirty="0">
                <a:sym typeface="+mn-ea"/>
              </a:rPr>
              <a:t>大范围的变量转换为小范围的变量</a:t>
            </a:r>
            <a:endParaRPr lang="zh-CN" altLang="sv-SE" sz="2025" dirty="0">
              <a:sym typeface="+mn-ea"/>
            </a:endParaRPr>
          </a:p>
          <a:p>
            <a:pPr lvl="1"/>
            <a:r>
              <a:rPr lang="zh-CN" altLang="sv-SE" sz="2025" dirty="0">
                <a:sym typeface="+mn-ea"/>
              </a:rPr>
              <a:t>必须显示转换  </a:t>
            </a:r>
            <a:r>
              <a:rPr lang="en-US" altLang="zh-CN" sz="2025" dirty="0">
                <a:sym typeface="+mn-ea"/>
              </a:rPr>
              <a:t>(int)4.5           (double)1/2</a:t>
            </a:r>
            <a:endParaRPr lang="sv-SE" altLang="zh-CN" sz="2025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3568" y="1628800"/>
            <a:ext cx="77768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/>
            <a:r>
              <a:rPr lang="zh-CN" altLang="en-US" sz="2000" b="1" kern="100" dirty="0">
                <a:latin typeface="+mn-ea"/>
                <a:cs typeface="宋体" panose="02010600030101010101" pitchFamily="2" charset="-122"/>
              </a:rPr>
              <a:t>低</a:t>
            </a:r>
            <a:r>
              <a:rPr lang="en-US" altLang="zh-CN" sz="2000" b="1" kern="100" dirty="0">
                <a:latin typeface="+mn-ea"/>
                <a:cs typeface="宋体" panose="02010600030101010101" pitchFamily="2" charset="-122"/>
              </a:rPr>
              <a:t>——————————————————————&gt;</a:t>
            </a:r>
            <a:r>
              <a:rPr lang="zh-CN" altLang="en-US" sz="2000" b="1" kern="100" dirty="0">
                <a:latin typeface="+mn-ea"/>
                <a:cs typeface="宋体" panose="02010600030101010101" pitchFamily="2" charset="-122"/>
              </a:rPr>
              <a:t>高</a:t>
            </a:r>
            <a:endParaRPr lang="en-US" altLang="zh-CN" sz="2000" b="1" kern="100" dirty="0">
              <a:latin typeface="+mn-ea"/>
              <a:cs typeface="宋体" panose="02010600030101010101" pitchFamily="2" charset="-122"/>
            </a:endParaRPr>
          </a:p>
          <a:p>
            <a:pPr indent="266700" algn="just"/>
            <a:r>
              <a:rPr lang="en-US" altLang="zh-CN" sz="2000" b="1" kern="100" dirty="0">
                <a:latin typeface="+mn-ea"/>
                <a:cs typeface="宋体" panose="02010600030101010101" pitchFamily="2" charset="-122"/>
              </a:rPr>
              <a:t>byte</a:t>
            </a:r>
            <a:r>
              <a:rPr lang="zh-CN" altLang="en-US" sz="2000" b="1" kern="100" dirty="0"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sz="2000" b="1" kern="100" dirty="0">
                <a:latin typeface="+mn-ea"/>
                <a:cs typeface="宋体" panose="02010600030101010101" pitchFamily="2" charset="-122"/>
              </a:rPr>
              <a:t>short</a:t>
            </a:r>
            <a:r>
              <a:rPr lang="zh-CN" altLang="en-US" sz="2000" b="1" kern="100" dirty="0">
                <a:latin typeface="+mn-ea"/>
                <a:cs typeface="宋体" panose="02010600030101010101" pitchFamily="2" charset="-122"/>
              </a:rPr>
              <a:t>，</a:t>
            </a:r>
            <a:r>
              <a:rPr lang="en-US" altLang="zh-CN" sz="2000" b="1" kern="100" dirty="0" smtClean="0">
                <a:latin typeface="+mn-ea"/>
                <a:cs typeface="宋体" panose="02010600030101010101" pitchFamily="2" charset="-122"/>
              </a:rPr>
              <a:t>char—&gt; </a:t>
            </a:r>
            <a:r>
              <a:rPr lang="en-US" altLang="zh-CN" sz="2000" b="1" kern="100" dirty="0" err="1" smtClean="0">
                <a:latin typeface="+mn-ea"/>
                <a:cs typeface="宋体" panose="02010600030101010101" pitchFamily="2" charset="-122"/>
              </a:rPr>
              <a:t>int</a:t>
            </a:r>
            <a:r>
              <a:rPr lang="en-US" altLang="zh-CN" sz="2000" b="1" kern="100" dirty="0" smtClean="0">
                <a:latin typeface="+mn-ea"/>
                <a:cs typeface="宋体" panose="02010600030101010101" pitchFamily="2" charset="-122"/>
              </a:rPr>
              <a:t>—&gt; long—&gt; float—&gt; </a:t>
            </a:r>
            <a:r>
              <a:rPr lang="en-US" altLang="zh-CN" sz="2000" b="1" kern="100" dirty="0">
                <a:latin typeface="+mn-ea"/>
                <a:cs typeface="宋体" panose="02010600030101010101" pitchFamily="2" charset="-122"/>
              </a:rPr>
              <a:t>double</a:t>
            </a:r>
            <a:endParaRPr lang="en-US" altLang="zh-CN" sz="2000" b="1" kern="100" dirty="0">
              <a:latin typeface="+mn-ea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表达式</a:t>
            </a:r>
            <a:endParaRPr lang="zh-CN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zh-CN" dirty="0" smtClean="0"/>
              <a:t>表达式是</a:t>
            </a:r>
            <a:r>
              <a:rPr lang="zh-CN" altLang="zh-CN" dirty="0"/>
              <a:t>由运算符和操作数组成的符号序列。它根据运算符的</a:t>
            </a:r>
            <a:r>
              <a:rPr lang="zh-CN" altLang="zh-CN" b="1" dirty="0"/>
              <a:t>优先级别和结合性</a:t>
            </a:r>
            <a:r>
              <a:rPr lang="zh-CN" altLang="zh-CN" dirty="0"/>
              <a:t>，首先执行指定的计算再返回</a:t>
            </a:r>
            <a:r>
              <a:rPr lang="zh-CN" altLang="zh-CN" dirty="0" smtClean="0"/>
              <a:t>某个</a:t>
            </a:r>
            <a:r>
              <a:rPr lang="zh-CN" altLang="zh-CN" dirty="0"/>
              <a:t>值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在对表达式进行运算时，遵循一定的规则，要按运算符的优先级</a:t>
            </a:r>
            <a:r>
              <a:rPr lang="zh-CN" altLang="zh-CN" b="1" dirty="0"/>
              <a:t>从高到低</a:t>
            </a:r>
            <a:r>
              <a:rPr lang="zh-CN" altLang="zh-CN" dirty="0"/>
              <a:t>进行，同级的运算符则按从</a:t>
            </a:r>
            <a:r>
              <a:rPr lang="zh-CN" altLang="zh-CN" b="1" dirty="0"/>
              <a:t>左到右</a:t>
            </a:r>
            <a:r>
              <a:rPr lang="zh-CN" altLang="zh-CN" dirty="0" smtClean="0"/>
              <a:t>的</a:t>
            </a:r>
            <a:endParaRPr lang="en-US" altLang="zh-CN" dirty="0" smtClean="0"/>
          </a:p>
          <a:p>
            <a:r>
              <a:rPr lang="zh-CN" altLang="zh-CN" dirty="0"/>
              <a:t>在表达式中，为了使表达式的结构更清晰，可以显示的用（）标明运算次序，括号中的表达式首先被计算。</a:t>
            </a:r>
            <a:r>
              <a:rPr lang="zh-CN" altLang="zh-CN" dirty="0" smtClean="0"/>
              <a:t>方向</a:t>
            </a:r>
            <a:r>
              <a:rPr lang="zh-CN" altLang="zh-CN" dirty="0"/>
              <a:t>进行。</a:t>
            </a:r>
            <a:endParaRPr lang="zh-CN" altLang="zh-CN" dirty="0"/>
          </a:p>
        </p:txBody>
      </p:sp>
      <p:sp>
        <p:nvSpPr>
          <p:cNvPr id="6" name="矩形 5"/>
          <p:cNvSpPr/>
          <p:nvPr/>
        </p:nvSpPr>
        <p:spPr>
          <a:xfrm>
            <a:off x="971984" y="5661248"/>
            <a:ext cx="720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9060" indent="266700" algn="just">
              <a:spcAft>
                <a:spcPts val="0"/>
              </a:spcAft>
            </a:pP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（（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x&lt;y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&amp;&amp;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x&gt;10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||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（（（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y&gt;0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x&lt;50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y&gt;50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常见错误和陷阱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2"/>
          </p:nvPr>
        </p:nvSpPr>
        <p:spPr/>
        <p:txBody>
          <a:bodyPr/>
          <a:p>
            <a:r>
              <a:rPr lang="zh-CN" altLang="en-US"/>
              <a:t>为未声明、未初始化的变量和未使用的变量；</a:t>
            </a:r>
            <a:endParaRPr lang="zh-CN" altLang="en-US"/>
          </a:p>
          <a:p>
            <a:r>
              <a:rPr lang="zh-CN" altLang="en-US"/>
              <a:t>整数溢出；</a:t>
            </a:r>
            <a:endParaRPr lang="zh-CN" altLang="en-US"/>
          </a:p>
          <a:p>
            <a:r>
              <a:rPr lang="zh-CN" altLang="en-US"/>
              <a:t>取整错误</a:t>
            </a:r>
            <a:endParaRPr lang="zh-CN" altLang="en-US"/>
          </a:p>
          <a:p>
            <a:pPr lvl="1"/>
            <a:r>
              <a:rPr lang="en-US" altLang="zh-CN"/>
              <a:t>System.out.println(1.0-0.1-0.1-0.1-0.1-0.1)</a:t>
            </a:r>
            <a:endParaRPr lang="en-US" altLang="zh-CN"/>
          </a:p>
          <a:p>
            <a:pPr lvl="0"/>
            <a:r>
              <a:rPr lang="zh-CN" altLang="zh-CN"/>
              <a:t>超出预期的整数除法</a:t>
            </a:r>
            <a:endParaRPr lang="zh-CN" altLang="zh-CN"/>
          </a:p>
          <a:p>
            <a:pPr lvl="0"/>
            <a:r>
              <a:rPr lang="zh-CN" altLang="zh-CN"/>
              <a:t>冗余的输入对象</a:t>
            </a:r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2843808" y="2916658"/>
            <a:ext cx="4752528" cy="728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4400" dirty="0" smtClean="0">
                <a:solidFill>
                  <a:schemeClr val="tx1"/>
                </a:solidFill>
              </a:rPr>
              <a:t>本节课程结束！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2182,&quot;width&quot;:12925}"/>
</p:tagLst>
</file>

<file path=ppt/tags/tag2.xml><?xml version="1.0" encoding="utf-8"?>
<p:tagLst xmlns:p="http://schemas.openxmlformats.org/presentationml/2006/main">
  <p:tag name="KSO_WM_UNIT_TABLE_BEAUTIFY" val="smartTable{27c28450-c83d-4bd0-a33d-5379620f632d}"/>
</p:tagLst>
</file>

<file path=ppt/tags/tag3.xml><?xml version="1.0" encoding="utf-8"?>
<p:tagLst xmlns:p="http://schemas.openxmlformats.org/presentationml/2006/main">
  <p:tag name="KSO_WM_UNIT_TABLE_BEAUTIFY" val="smartTable{1cba3fee-3f45-461f-b7cc-e0b755dece86}"/>
</p:tagLst>
</file>

<file path=ppt/tags/tag4.xml><?xml version="1.0" encoding="utf-8"?>
<p:tagLst xmlns:p="http://schemas.openxmlformats.org/presentationml/2006/main">
  <p:tag name="KSO_WM_UNIT_TABLE_BEAUTIFY" val="smartTable{9cc0fdf8-3e58-4579-a731-bf601327d8a9}"/>
</p:tagLst>
</file>

<file path=ppt/tags/tag5.xml><?xml version="1.0" encoding="utf-8"?>
<p:tagLst xmlns:p="http://schemas.openxmlformats.org/presentationml/2006/main">
  <p:tag name="KSO_WPP_MARK_KEY" val="f3ce6488-6b36-4958-a349-6968f0fe2f9f"/>
  <p:tag name="COMMONDATA" val="eyJoZGlkIjoiMDQ5MTU2ZTc1NWM5MmVmN2NjNGZiZmE3NjI4MWI4NjAifQ=="/>
</p:tagLst>
</file>

<file path=ppt/theme/theme1.xml><?xml version="1.0" encoding="utf-8"?>
<a:theme xmlns:a="http://schemas.openxmlformats.org/drawingml/2006/main" name="由Nordri®（www.nordridesign.com ） 设计提供">
  <a:themeElements>
    <a:clrScheme name="自定义 56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FFC000"/>
      </a:accent1>
      <a:accent2>
        <a:srgbClr val="6DAA2D"/>
      </a:accent2>
      <a:accent3>
        <a:srgbClr val="5F5F5F"/>
      </a:accent3>
      <a:accent4>
        <a:srgbClr val="777777"/>
      </a:accent4>
      <a:accent5>
        <a:srgbClr val="B2B2B2"/>
      </a:accent5>
      <a:accent6>
        <a:srgbClr val="DDDDDD"/>
      </a:accent6>
      <a:hlink>
        <a:srgbClr val="0070C0"/>
      </a:hlink>
      <a:folHlink>
        <a:srgbClr val="7030A0"/>
      </a:folHlink>
    </a:clrScheme>
    <a:fontScheme name="Nordri开发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1910E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1600" dirty="0" err="1" smtClean="0">
            <a:solidFill>
              <a:prstClr val="black"/>
            </a:solidFill>
            <a:latin typeface="Arial" panose="020B0604020202020204" pitchFamily="34" charset="0"/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4112</Words>
  <Application>WPS 演示</Application>
  <PresentationFormat>全屏显示(4:3)</PresentationFormat>
  <Paragraphs>343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黑体</vt:lpstr>
      <vt:lpstr>方正正大黑简体</vt:lpstr>
      <vt:lpstr>Calibri</vt:lpstr>
      <vt:lpstr>Monotype Sorts</vt:lpstr>
      <vt:lpstr>Wingdings</vt:lpstr>
      <vt:lpstr>Times New Roman</vt:lpstr>
      <vt:lpstr>Verdana</vt:lpstr>
      <vt:lpstr>Arial Unicode MS</vt:lpstr>
      <vt:lpstr>由Nordri®（www.nordridesign.com ） 设计提供</vt:lpstr>
      <vt:lpstr>Word.Picture.8</vt:lpstr>
      <vt:lpstr>Word.Picture.8</vt:lpstr>
      <vt:lpstr>面向对象程序设计</vt:lpstr>
      <vt:lpstr>从控制台读取输入</vt:lpstr>
      <vt:lpstr>PowerPoint 演示文稿</vt:lpstr>
      <vt:lpstr>标识符</vt:lpstr>
      <vt:lpstr>关键字</vt:lpstr>
      <vt:lpstr>常量和变量</vt:lpstr>
      <vt:lpstr>变量的作用域和使用</vt:lpstr>
      <vt:lpstr>命名习惯</vt:lpstr>
      <vt:lpstr>基本数据类型</vt:lpstr>
      <vt:lpstr>布尔类型</vt:lpstr>
      <vt:lpstr>字符类型</vt:lpstr>
      <vt:lpstr>数据类型的表示范围</vt:lpstr>
      <vt:lpstr>浮点类型</vt:lpstr>
      <vt:lpstr>IEEE 754 (补充)</vt:lpstr>
      <vt:lpstr>IEEE 754 </vt:lpstr>
      <vt:lpstr>数值运算符</vt:lpstr>
      <vt:lpstr>PowerPoint 演示文稿</vt:lpstr>
      <vt:lpstr>PowerPoint 演示文稿</vt:lpstr>
      <vt:lpstr>位运算符</vt:lpstr>
      <vt:lpstr>各类型数据间的相互转换</vt:lpstr>
      <vt:lpstr>表达式</vt:lpstr>
      <vt:lpstr>常见错误和陷阱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Java程序设计</dc:title>
  <dc:creator>yangrl</dc:creator>
  <dc:description>Nordri® 
专注于有效的信息传递设计
www.nordridesign.com</dc:description>
  <dc:subject>PPT模板/图示</dc:subject>
  <cp:lastModifiedBy>大灰很</cp:lastModifiedBy>
  <cp:revision>192</cp:revision>
  <dcterms:created xsi:type="dcterms:W3CDTF">2017-02-24T02:44:00Z</dcterms:created>
  <dcterms:modified xsi:type="dcterms:W3CDTF">2026-03-10T00:52:24Z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280499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  <property fmtid="{D5CDD505-2E9C-101B-9397-08002B2CF9AE}" pid="5" name="KSOProductBuildVer">
    <vt:lpwstr>2052-12.1.0.25225</vt:lpwstr>
  </property>
  <property fmtid="{D5CDD505-2E9C-101B-9397-08002B2CF9AE}" pid="6" name="ICV">
    <vt:lpwstr>67EB55964A77493DBD91D2FC18ADD054</vt:lpwstr>
  </property>
</Properties>
</file>