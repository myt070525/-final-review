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3"/>
  </p:handoutMasterIdLst>
  <p:sldIdLst>
    <p:sldId id="256" r:id="rId3"/>
    <p:sldId id="1130" r:id="rId5"/>
    <p:sldId id="1293" r:id="rId6"/>
    <p:sldId id="1326" r:id="rId7"/>
    <p:sldId id="1131" r:id="rId8"/>
    <p:sldId id="1132" r:id="rId9"/>
    <p:sldId id="1134" r:id="rId10"/>
    <p:sldId id="1135" r:id="rId11"/>
    <p:sldId id="1136" r:id="rId12"/>
    <p:sldId id="1137" r:id="rId13"/>
    <p:sldId id="1359" r:id="rId14"/>
    <p:sldId id="1140" r:id="rId15"/>
    <p:sldId id="1141" r:id="rId16"/>
    <p:sldId id="1363" r:id="rId17"/>
    <p:sldId id="1364" r:id="rId18"/>
    <p:sldId id="1365" r:id="rId19"/>
    <p:sldId id="1366" r:id="rId20"/>
    <p:sldId id="1367" r:id="rId21"/>
    <p:sldId id="1368"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p:cViewPr varScale="1">
        <p:scale>
          <a:sx n="114" d="100"/>
          <a:sy n="114" d="100"/>
        </p:scale>
        <p:origin x="-1542" y="60"/>
      </p:cViewPr>
      <p:guideLst>
        <p:guide orient="horz" pos="2160"/>
        <p:guide orient="horz" pos="4234"/>
        <p:guide orient="horz" pos="4065"/>
        <p:guide orient="horz" pos="617"/>
        <p:guide pos="2808"/>
        <p:guide pos="5424"/>
        <p:guide pos="336"/>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79"/>
        <p:guide pos="210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lvl="0">
              <a:buNone/>
            </a:pPr>
            <a:endParaRPr dirty="0">
              <a:latin typeface="Times New Roman" panose="02020603050405020304" pitchFamily="18" charset="0"/>
            </a:endParaRPr>
          </a:p>
        </p:txBody>
      </p:sp>
      <p:sp>
        <p:nvSpPr>
          <p:cNvPr id="5" name="灯片编号占位符 4"/>
          <p:cNvSpPr>
            <a:spLocks noGrp="1"/>
          </p:cNvSpPr>
          <p:nvPr>
            <p:ph type="sldNum" sz="quarter" idx="11"/>
          </p:nvPr>
        </p:nvSpPr>
        <p:spPr/>
        <p:txBody>
          <a:bodyPr/>
          <a:p>
            <a:pPr lvl="0">
              <a:buNone/>
            </a:pPr>
            <a:fld id="{9A0DB2DC-4C9A-4742-B13C-FB6460FD3503}" type="slidenum">
              <a:rPr lang="en-US" dirty="0">
                <a:latin typeface="Times New Roman" panose="02020603050405020304" pitchFamily="18" charset="0"/>
              </a:rPr>
            </a:fld>
            <a:endParaRPr 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3.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6390" y="2209165"/>
            <a:ext cx="4479925" cy="639445"/>
          </a:xfrm>
        </p:spPr>
        <p:txBody>
          <a:bodyPr>
            <a:noAutofit/>
          </a:bodyPr>
          <a:lstStyle/>
          <a:p>
            <a:pPr marL="342900" lvl="0" indent="-342900" fontAlgn="base">
              <a:lnSpc>
                <a:spcPct val="110000"/>
              </a:lnSpc>
              <a:spcAft>
                <a:spcPct val="0"/>
              </a:spcAft>
            </a:pPr>
            <a:r>
              <a:rPr lang="zh-CN" altLang="en-US" sz="4000" b="0" u="none" kern="0" dirty="0">
                <a:solidFill>
                  <a:srgbClr val="000000"/>
                </a:solidFill>
                <a:latin typeface="Arial" panose="020B0604020202020204" pitchFamily="34" charset="0"/>
                <a:ea typeface="微软雅黑" panose="020B0503020204020204" pitchFamily="34" charset="-122"/>
              </a:rPr>
              <a:t>面向对象程序设计</a:t>
            </a:r>
            <a:endParaRPr lang="zh-CN" altLang="en-US" sz="4000" b="0" u="none" kern="0" dirty="0">
              <a:solidFill>
                <a:srgbClr val="000000"/>
              </a:solidFill>
              <a:latin typeface="Arial" panose="020B0604020202020204" pitchFamily="34" charset="0"/>
              <a:ea typeface="微软雅黑" panose="020B0503020204020204" pitchFamily="34" charset="-122"/>
            </a:endParaRPr>
          </a:p>
        </p:txBody>
      </p:sp>
      <p:sp>
        <p:nvSpPr>
          <p:cNvPr id="3" name="副标题 2"/>
          <p:cNvSpPr>
            <a:spLocks noGrp="1"/>
          </p:cNvSpPr>
          <p:nvPr>
            <p:ph type="subTitle" idx="1"/>
          </p:nvPr>
        </p:nvSpPr>
        <p:spPr>
          <a:xfrm>
            <a:off x="772160" y="3084830"/>
            <a:ext cx="3589020" cy="1221105"/>
          </a:xfrm>
        </p:spPr>
        <p:txBody>
          <a:bodyPr>
            <a:noAutofit/>
          </a:bodyPr>
          <a:lstStyle/>
          <a:p>
            <a:r>
              <a:rPr lang="zh-CN" altLang="en-US" sz="2800" u="none" dirty="0" smtClean="0">
                <a:solidFill>
                  <a:srgbClr val="000000"/>
                </a:solidFill>
                <a:latin typeface="微软雅黑" panose="020B0503020204020204" pitchFamily="34" charset="-122"/>
              </a:rPr>
              <a:t>第</a:t>
            </a:r>
            <a:r>
              <a:rPr lang="en-US" altLang="zh-CN" sz="2800" u="none" dirty="0" smtClean="0">
                <a:solidFill>
                  <a:srgbClr val="000000"/>
                </a:solidFill>
                <a:latin typeface="微软雅黑" panose="020B0503020204020204" pitchFamily="34" charset="-122"/>
              </a:rPr>
              <a:t>11</a:t>
            </a:r>
            <a:r>
              <a:rPr lang="zh-CN" altLang="en-US" sz="2800" u="none" dirty="0" smtClean="0">
                <a:solidFill>
                  <a:srgbClr val="000000"/>
                </a:solidFill>
                <a:latin typeface="微软雅黑" panose="020B0503020204020204" pitchFamily="34" charset="-122"/>
              </a:rPr>
              <a:t>章 </a:t>
            </a:r>
            <a:r>
              <a:rPr lang="en-US" altLang="zh-CN" sz="2800" u="none" dirty="0" smtClean="0">
                <a:solidFill>
                  <a:srgbClr val="000000"/>
                </a:solidFill>
                <a:latin typeface="微软雅黑" panose="020B0503020204020204" pitchFamily="34" charset="-122"/>
              </a:rPr>
              <a:t>-</a:t>
            </a:r>
            <a:r>
              <a:rPr lang="zh-CN" altLang="en-US" sz="2800" u="none" dirty="0" smtClean="0">
                <a:solidFill>
                  <a:srgbClr val="000000"/>
                </a:solidFill>
                <a:latin typeface="微软雅黑" panose="020B0503020204020204" pitchFamily="34" charset="-122"/>
              </a:rPr>
              <a:t>多态</a:t>
            </a:r>
            <a:endParaRPr lang="zh-CN" altLang="en-US" sz="28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1747" name="Rectangle 2"/>
          <p:cNvSpPr>
            <a:spLocks noGrp="1"/>
          </p:cNvSpPr>
          <p:nvPr>
            <p:ph type="title"/>
          </p:nvPr>
        </p:nvSpPr>
        <p:spPr>
          <a:xfrm>
            <a:off x="228600" y="0"/>
            <a:ext cx="8763000" cy="685800"/>
          </a:xfrm>
        </p:spPr>
        <p:txBody>
          <a:bodyPr vert="horz" wrap="square" lIns="92075" tIns="46038" rIns="92075" bIns="46038" anchor="ctr"/>
          <a:lstStyle/>
          <a:p>
            <a:r>
              <a:rPr lang="zh-CN" altLang="en-US" b="0" dirty="0">
                <a:latin typeface="微软雅黑" panose="020B0503020204020204" pitchFamily="34" charset="-122"/>
                <a:ea typeface="微软雅黑" panose="020B0503020204020204" pitchFamily="34" charset="-122"/>
              </a:rPr>
              <a:t>多态</a:t>
            </a:r>
            <a:endParaRPr lang="en-US" altLang="zh-CN" b="0" dirty="0">
              <a:latin typeface="微软雅黑" panose="020B0503020204020204" pitchFamily="34" charset="-122"/>
              <a:ea typeface="微软雅黑" panose="020B0503020204020204" pitchFamily="34" charset="-122"/>
            </a:endParaRPr>
          </a:p>
        </p:txBody>
      </p:sp>
      <p:sp>
        <p:nvSpPr>
          <p:cNvPr id="324617" name="Text Box 9"/>
          <p:cNvSpPr txBox="1"/>
          <p:nvPr/>
        </p:nvSpPr>
        <p:spPr>
          <a:xfrm>
            <a:off x="228600" y="753110"/>
            <a:ext cx="8155940" cy="5077460"/>
          </a:xfrm>
          <a:prstGeom prst="rect">
            <a:avLst/>
          </a:prstGeom>
          <a:noFill/>
          <a:ln w="12700">
            <a:noFill/>
          </a:ln>
        </p:spPr>
        <p:txBody>
          <a:bodyPr wrap="square">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nSpc>
                <a:spcPct val="150000"/>
              </a:lnSpc>
              <a:spcBef>
                <a:spcPts val="0"/>
              </a:spcBef>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多态意味着父类的变量可以指向子类对象</a:t>
            </a:r>
            <a:endParaRPr lang="zh-CN" altLang="en-US" sz="2400" dirty="0">
              <a:latin typeface="微软雅黑" panose="020B0503020204020204" pitchFamily="34" charset="-122"/>
              <a:ea typeface="微软雅黑" panose="020B0503020204020204" pitchFamily="34" charset="-122"/>
            </a:endParaRPr>
          </a:p>
          <a:p>
            <a:pPr marL="0" lvl="0" indent="0">
              <a:lnSpc>
                <a:spcPct val="150000"/>
              </a:lnSpc>
              <a:spcBef>
                <a:spcPts val="0"/>
              </a:spcBef>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子类型 、 父类型</a:t>
            </a:r>
            <a:endParaRPr lang="zh-CN" altLang="en-US" sz="2400" dirty="0">
              <a:latin typeface="微软雅黑" panose="020B0503020204020204" pitchFamily="34" charset="-122"/>
              <a:ea typeface="微软雅黑" panose="020B0503020204020204" pitchFamily="34" charset="-122"/>
            </a:endParaRPr>
          </a:p>
          <a:p>
            <a:pPr lvl="1" indent="0">
              <a:lnSpc>
                <a:spcPct val="150000"/>
              </a:lnSpc>
              <a:spcBef>
                <a:spcPts val="0"/>
              </a:spcBef>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编程语言理论中，子类型可以替换父类型。</a:t>
            </a:r>
            <a:endParaRPr lang="zh-CN" altLang="en-US" sz="2400" dirty="0">
              <a:latin typeface="微软雅黑" panose="020B0503020204020204" pitchFamily="34" charset="-122"/>
              <a:ea typeface="微软雅黑" panose="020B0503020204020204" pitchFamily="34" charset="-122"/>
            </a:endParaRPr>
          </a:p>
          <a:p>
            <a:pPr lvl="1" indent="0">
              <a:lnSpc>
                <a:spcPct val="150000"/>
              </a:lnSpc>
              <a:spcBef>
                <a:spcPts val="0"/>
              </a:spcBef>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一个类定义了一个类型，子类定义的类型称为子类型，父类定义的类称为父类型</a:t>
            </a:r>
            <a:endParaRPr lang="zh-CN" altLang="en-US" sz="2400" dirty="0">
              <a:latin typeface="微软雅黑" panose="020B0503020204020204" pitchFamily="34" charset="-122"/>
              <a:ea typeface="微软雅黑" panose="020B0503020204020204" pitchFamily="34" charset="-122"/>
            </a:endParaRPr>
          </a:p>
          <a:p>
            <a:pPr lvl="1" indent="0">
              <a:lnSpc>
                <a:spcPct val="150000"/>
              </a:lnSpc>
              <a:spcBef>
                <a:spcPts val="0"/>
              </a:spcBef>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long 是 int 的子类型</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由于基本类型不是类，</a:t>
            </a:r>
            <a:r>
              <a:rPr lang="zh-CN" altLang="en-US" sz="2400" dirty="0">
                <a:latin typeface="微软雅黑" panose="020B0503020204020204" pitchFamily="34" charset="-122"/>
                <a:ea typeface="微软雅黑" panose="020B0503020204020204" pitchFamily="34" charset="-122"/>
              </a:rPr>
              <a:t>long 不是 int 的子类.</a:t>
            </a:r>
            <a:endParaRPr lang="zh-CN" altLang="en-US" sz="2400" dirty="0">
              <a:latin typeface="微软雅黑" panose="020B0503020204020204" pitchFamily="34" charset="-122"/>
              <a:ea typeface="微软雅黑" panose="020B0503020204020204" pitchFamily="34" charset="-122"/>
            </a:endParaRPr>
          </a:p>
          <a:p>
            <a:pPr marL="0" lvl="0" indent="0">
              <a:lnSpc>
                <a:spcPct val="150000"/>
              </a:lnSpc>
              <a:spcBef>
                <a:spcPts val="0"/>
              </a:spcBef>
              <a:buSzTx/>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子类的对象可以用在任何需要使用父类对象的地方。可以将子类的实例传需要父类型的参数</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7"/>
                                        </p:tgtEl>
                                        <p:attrNameLst>
                                          <p:attrName>style.visibility</p:attrName>
                                        </p:attrNameLst>
                                      </p:cBhvr>
                                      <p:to>
                                        <p:strVal val="visible"/>
                                      </p:to>
                                    </p:set>
                                    <p:anim calcmode="lin" valueType="num">
                                      <p:cBhvr additive="base">
                                        <p:cTn id="7" dur="500" fill="hold"/>
                                        <p:tgtEl>
                                          <p:spTgt spid="324617"/>
                                        </p:tgtEl>
                                        <p:attrNameLst>
                                          <p:attrName>ppt_x</p:attrName>
                                        </p:attrNameLst>
                                      </p:cBhvr>
                                      <p:tavLst>
                                        <p:tav tm="0">
                                          <p:val>
                                            <p:strVal val="0-#ppt_w/2"/>
                                          </p:val>
                                        </p:tav>
                                        <p:tav tm="100000">
                                          <p:val>
                                            <p:strVal val="#ppt_x"/>
                                          </p:val>
                                        </p:tav>
                                      </p:tavLst>
                                    </p:anim>
                                    <p:anim calcmode="lin" valueType="num">
                                      <p:cBhvr additive="base">
                                        <p:cTn id="8" dur="500" fill="hold"/>
                                        <p:tgtEl>
                                          <p:spTgt spid="3246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
        <p:nvSpPr>
          <p:cNvPr id="31748" name="Text Box 5"/>
          <p:cNvSpPr txBox="1"/>
          <p:nvPr/>
        </p:nvSpPr>
        <p:spPr>
          <a:xfrm>
            <a:off x="84773" y="1173480"/>
            <a:ext cx="3962400" cy="539305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public class PolymorphismDemo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public static void main(String[] args)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m(new GraduateStudent());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m(new Student());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m(new Person());</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m(new Object());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public static void m(Object x)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System.out.println(x.toString());</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class GraduateStudent extends Student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class Student extends Person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public String toString()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return "Student";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class Person extends Object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public String toString()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return "Person";</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  }</a:t>
            </a:r>
            <a:endParaRPr lang="en-US" altLang="zh-CN" sz="1300" b="1" dirty="0">
              <a:solidFill>
                <a:schemeClr val="tx1"/>
              </a:solidFill>
              <a:latin typeface="微软雅黑" panose="020B0503020204020204" pitchFamily="34" charset="-122"/>
              <a:ea typeface="微软雅黑" panose="020B0503020204020204" pitchFamily="34" charset="-122"/>
            </a:endParaRPr>
          </a:p>
          <a:p>
            <a:pPr marL="0" lvl="0" indent="0">
              <a:lnSpc>
                <a:spcPct val="50000"/>
              </a:lnSpc>
              <a:spcBef>
                <a:spcPct val="50000"/>
              </a:spcBef>
              <a:buClrTx/>
              <a:buSzTx/>
              <a:buFontTx/>
              <a:buNone/>
            </a:pPr>
            <a:r>
              <a:rPr lang="en-US" altLang="zh-CN" sz="1300" b="1" dirty="0">
                <a:solidFill>
                  <a:schemeClr val="tx1"/>
                </a:solidFill>
                <a:latin typeface="微软雅黑" panose="020B0503020204020204" pitchFamily="34" charset="-122"/>
                <a:ea typeface="微软雅黑" panose="020B0503020204020204" pitchFamily="34" charset="-122"/>
              </a:rPr>
              <a:t>}</a:t>
            </a:r>
            <a:endParaRPr lang="en-US" altLang="zh-CN" sz="1300" b="1" dirty="0">
              <a:solidFill>
                <a:schemeClr val="tx1"/>
              </a:solidFill>
              <a:latin typeface="微软雅黑" panose="020B0503020204020204" pitchFamily="34" charset="-122"/>
              <a:ea typeface="微软雅黑" panose="020B0503020204020204" pitchFamily="34" charset="-122"/>
            </a:endParaRPr>
          </a:p>
        </p:txBody>
      </p:sp>
      <p:sp>
        <p:nvSpPr>
          <p:cNvPr id="324615" name="Text Box 7"/>
          <p:cNvSpPr txBox="1"/>
          <p:nvPr/>
        </p:nvSpPr>
        <p:spPr>
          <a:xfrm>
            <a:off x="4571365" y="1466215"/>
            <a:ext cx="3276600" cy="108775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nSpc>
                <a:spcPct val="120000"/>
              </a:lnSpc>
              <a:spcBef>
                <a:spcPct val="50000"/>
              </a:spcBef>
              <a:buClrTx/>
              <a:buSzTx/>
              <a:buFont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方法</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采用一个对象类型的参数。你可以使用任何对象来调用它。</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4618" name="Rectangle 10"/>
          <p:cNvSpPr>
            <a:spLocks noGrp="1"/>
          </p:cNvSpPr>
          <p:nvPr>
            <p:ph idx="1"/>
          </p:nvPr>
        </p:nvSpPr>
        <p:spPr>
          <a:xfrm>
            <a:off x="3787140" y="3828415"/>
            <a:ext cx="4982210" cy="2625090"/>
          </a:xfrm>
        </p:spPr>
        <p:txBody>
          <a:bodyPr vert="horz" wrap="square" lIns="92075" tIns="46038" rIns="92075" bIns="46038" anchor="t">
            <a:normAutofit lnSpcReduction="10000"/>
          </a:bodyPr>
          <a:lstStyle/>
          <a:p>
            <a:pPr marL="0" indent="0">
              <a:lnSpc>
                <a:spcPct val="120000"/>
              </a:lnSpc>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当执行方法</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m(Object x)</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时，调用参数</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toString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方法。</a:t>
            </a:r>
            <a:r>
              <a:rPr lang="en-US" altLang="zh-CN" u="sng" dirty="0">
                <a:latin typeface="微软雅黑" panose="020B0503020204020204" pitchFamily="34" charset="-122"/>
                <a:ea typeface="微软雅黑" panose="020B0503020204020204" pitchFamily="34" charset="-122"/>
                <a:cs typeface="微软雅黑" panose="020B0503020204020204" pitchFamily="34" charset="-122"/>
              </a:rPr>
              <a:t>x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GraduateStudent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Person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的实例。类</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GraduateStudent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Person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都有它自己对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toString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方法的实现。使用哪个实现是由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虚拟机在运行时动态决定的。这个功能被称为动态绑定（</a:t>
            </a:r>
            <a:r>
              <a:rPr lang="en-US" altLang="zh-CN" i="1" dirty="0">
                <a:latin typeface="微软雅黑" panose="020B0503020204020204" pitchFamily="34" charset="-122"/>
                <a:ea typeface="微软雅黑" panose="020B0503020204020204" pitchFamily="34" charset="-122"/>
                <a:cs typeface="微软雅黑" panose="020B0503020204020204" pitchFamily="34" charset="-122"/>
              </a:rPr>
              <a:t>dynamic binding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78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78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4616" name="Line 8"/>
          <p:cNvSpPr/>
          <p:nvPr/>
        </p:nvSpPr>
        <p:spPr>
          <a:xfrm flipH="1">
            <a:off x="2359025" y="2111375"/>
            <a:ext cx="2133600" cy="0"/>
          </a:xfrm>
          <a:prstGeom prst="line">
            <a:avLst/>
          </a:prstGeom>
          <a:ln w="12700" cap="flat" cmpd="sng">
            <a:solidFill>
              <a:srgbClr val="FF0000"/>
            </a:solidFill>
            <a:prstDash val="solid"/>
            <a:headEnd type="none" w="sm" len="sm"/>
            <a:tailEnd type="stealth"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5"/>
                                        </p:tgtEl>
                                        <p:attrNameLst>
                                          <p:attrName>style.visibility</p:attrName>
                                        </p:attrNameLst>
                                      </p:cBhvr>
                                      <p:to>
                                        <p:strVal val="visible"/>
                                      </p:to>
                                    </p:set>
                                    <p:anim calcmode="lin" valueType="num">
                                      <p:cBhvr additive="base">
                                        <p:cTn id="7" dur="500" fill="hold"/>
                                        <p:tgtEl>
                                          <p:spTgt spid="324615"/>
                                        </p:tgtEl>
                                        <p:attrNameLst>
                                          <p:attrName>ppt_x</p:attrName>
                                        </p:attrNameLst>
                                      </p:cBhvr>
                                      <p:tavLst>
                                        <p:tav tm="0">
                                          <p:val>
                                            <p:strVal val="0-#ppt_w/2"/>
                                          </p:val>
                                        </p:tav>
                                        <p:tav tm="100000">
                                          <p:val>
                                            <p:strVal val="#ppt_x"/>
                                          </p:val>
                                        </p:tav>
                                      </p:tavLst>
                                    </p:anim>
                                    <p:anim calcmode="lin" valueType="num">
                                      <p:cBhvr additive="base">
                                        <p:cTn id="8" dur="500" fill="hold"/>
                                        <p:tgtEl>
                                          <p:spTgt spid="3246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4618">
                                            <p:txEl>
                                              <p:pRg st="0" end="0"/>
                                            </p:txEl>
                                          </p:spTgt>
                                        </p:tgtEl>
                                        <p:attrNameLst>
                                          <p:attrName>style.visibility</p:attrName>
                                        </p:attrNameLst>
                                      </p:cBhvr>
                                      <p:to>
                                        <p:strVal val="visible"/>
                                      </p:to>
                                    </p:set>
                                    <p:anim calcmode="lin" valueType="num">
                                      <p:cBhvr additive="base">
                                        <p:cTn id="13" dur="500" fill="hold"/>
                                        <p:tgtEl>
                                          <p:spTgt spid="324618">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46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24616"/>
                                        </p:tgtEl>
                                        <p:attrNameLst>
                                          <p:attrName>style.visibility</p:attrName>
                                        </p:attrNameLst>
                                      </p:cBhvr>
                                      <p:to>
                                        <p:strVal val="visible"/>
                                      </p:to>
                                    </p:set>
                                    <p:anim calcmode="lin" valueType="num">
                                      <p:cBhvr additive="base">
                                        <p:cTn id="19" dur="500" fill="hold"/>
                                        <p:tgtEl>
                                          <p:spTgt spid="324616"/>
                                        </p:tgtEl>
                                        <p:attrNameLst>
                                          <p:attrName>ppt_x</p:attrName>
                                        </p:attrNameLst>
                                      </p:cBhvr>
                                      <p:tavLst>
                                        <p:tav tm="0">
                                          <p:val>
                                            <p:strVal val="0-#ppt_w/2"/>
                                          </p:val>
                                        </p:tav>
                                        <p:tav tm="100000">
                                          <p:val>
                                            <p:strVal val="#ppt_x"/>
                                          </p:val>
                                        </p:tav>
                                      </p:tavLst>
                                    </p:anim>
                                    <p:anim calcmode="lin" valueType="num">
                                      <p:cBhvr additive="base">
                                        <p:cTn id="20" dur="500" fill="hold"/>
                                        <p:tgtEl>
                                          <p:spTgt spid="3246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5" grpId="0"/>
      <p:bldP spid="32461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p>
            <a:pPr indent="0" fontAlgn="auto">
              <a:lnSpc>
                <a:spcPct val="200000"/>
              </a:lnSpc>
              <a:spcBef>
                <a:spcPts val="0"/>
              </a:spcBef>
            </a:pPr>
            <a:r>
              <a:rPr lang="zh-CN" altLang="en-US">
                <a:latin typeface="微软雅黑" panose="020B0503020204020204" pitchFamily="34" charset="-122"/>
                <a:ea typeface="微软雅黑" panose="020B0503020204020204" pitchFamily="34" charset="-122"/>
                <a:cs typeface="微软雅黑" panose="020B0503020204020204" pitchFamily="34" charset="-122"/>
              </a:rPr>
              <a:t>声明类型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lvl="0" indent="0" fontAlgn="auto">
              <a:lnSpc>
                <a:spcPct val="200000"/>
              </a:lnSpc>
              <a:spcBef>
                <a:spcPts val="0"/>
              </a:spcBef>
            </a:pPr>
            <a:r>
              <a:rPr lang="zh-CN" altLang="en-US">
                <a:latin typeface="微软雅黑" panose="020B0503020204020204" pitchFamily="34" charset="-122"/>
                <a:ea typeface="微软雅黑" panose="020B0503020204020204" pitchFamily="34" charset="-122"/>
                <a:cs typeface="微软雅黑" panose="020B0503020204020204" pitchFamily="34" charset="-122"/>
              </a:rPr>
              <a:t>实际类型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200000"/>
              </a:lnSpc>
              <a:spcBef>
                <a:spcPts val="0"/>
              </a:spcBef>
            </a:pPr>
            <a:r>
              <a:rPr lang="zh-CN" altLang="zh-CN">
                <a:latin typeface="微软雅黑" panose="020B0503020204020204" pitchFamily="34" charset="-122"/>
                <a:ea typeface="微软雅黑" panose="020B0503020204020204" pitchFamily="34" charset="-122"/>
                <a:cs typeface="微软雅黑" panose="020B0503020204020204" pitchFamily="34" charset="-122"/>
              </a:rPr>
              <a:t>例如 </a:t>
            </a:r>
            <a:r>
              <a:rPr lang="en-US" altLang="zh-CN">
                <a:latin typeface="微软雅黑" panose="020B0503020204020204" pitchFamily="34" charset="-122"/>
                <a:ea typeface="微软雅黑" panose="020B0503020204020204" pitchFamily="34" charset="-122"/>
                <a:cs typeface="微软雅黑" panose="020B0503020204020204" pitchFamily="34" charset="-122"/>
              </a:rPr>
              <a:t>Object o=new GeometricObject() ;</a:t>
            </a:r>
            <a:r>
              <a:rPr lang="zh-CN" altLang="zh-CN">
                <a:latin typeface="微软雅黑" panose="020B0503020204020204" pitchFamily="34" charset="-122"/>
                <a:ea typeface="微软雅黑" panose="020B0503020204020204" pitchFamily="34" charset="-122"/>
                <a:cs typeface="微软雅黑" panose="020B0503020204020204" pitchFamily="34" charset="-122"/>
              </a:rPr>
              <a:t>对象</a:t>
            </a:r>
            <a:r>
              <a:rPr lang="en-US" altLang="zh-CN">
                <a:latin typeface="微软雅黑" panose="020B0503020204020204" pitchFamily="34" charset="-122"/>
                <a:ea typeface="微软雅黑" panose="020B0503020204020204" pitchFamily="34" charset="-122"/>
                <a:cs typeface="微软雅黑" panose="020B0503020204020204" pitchFamily="34" charset="-122"/>
              </a:rPr>
              <a:t>o</a:t>
            </a:r>
            <a:r>
              <a:rPr lang="zh-CN" altLang="en-US">
                <a:latin typeface="微软雅黑" panose="020B0503020204020204" pitchFamily="34" charset="-122"/>
                <a:ea typeface="微软雅黑" panose="020B0503020204020204" pitchFamily="34" charset="-122"/>
                <a:cs typeface="微软雅黑" panose="020B0503020204020204" pitchFamily="34" charset="-122"/>
              </a:rPr>
              <a:t>的声明类型是</a:t>
            </a:r>
            <a:r>
              <a:rPr lang="en-US" altLang="zh-CN">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a:latin typeface="微软雅黑" panose="020B0503020204020204" pitchFamily="34" charset="-122"/>
                <a:ea typeface="微软雅黑" panose="020B0503020204020204" pitchFamily="34" charset="-122"/>
                <a:cs typeface="微软雅黑" panose="020B0503020204020204" pitchFamily="34" charset="-122"/>
              </a:rPr>
              <a:t>，实际类型是</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GeometricObject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fontAlgn="auto">
              <a:lnSpc>
                <a:spcPct val="200000"/>
              </a:lnSpc>
              <a:spcBef>
                <a:spcPts val="0"/>
              </a:spcBef>
              <a:buNone/>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o</a:t>
            </a:r>
            <a:r>
              <a:rPr lang="zh-CN" altLang="zh-CN">
                <a:latin typeface="微软雅黑" panose="020B0503020204020204" pitchFamily="34" charset="-122"/>
                <a:ea typeface="微软雅黑" panose="020B0503020204020204" pitchFamily="34" charset="-122"/>
                <a:cs typeface="微软雅黑" panose="020B0503020204020204" pitchFamily="34" charset="-122"/>
                <a:sym typeface="+mn-ea"/>
              </a:rPr>
              <a:t>调用哪个方法由实际类型决定，这称为动态绑定。</a:t>
            </a:r>
            <a:endParaRPr lang="zh-CN" altLang="zh-CN">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
        <p:nvSpPr>
          <p:cNvPr id="32771" name="Rectangle 2"/>
          <p:cNvSpPr>
            <a:spLocks noGrp="1"/>
          </p:cNvSpPr>
          <p:nvPr>
            <p:ph type="title"/>
          </p:nvPr>
        </p:nvSpPr>
        <p:spPr>
          <a:xfrm>
            <a:off x="228600" y="149860"/>
            <a:ext cx="2762885" cy="457200"/>
          </a:xfrm>
        </p:spPr>
        <p:txBody>
          <a:bodyPr vert="horz" wrap="square" lIns="92075" tIns="46038" rIns="92075" bIns="46038" anchor="ctr"/>
          <a:p>
            <a:r>
              <a:rPr lang="zh-CN" altLang="en-US" sz="4000" b="0" dirty="0">
                <a:latin typeface="微软雅黑" panose="020B0503020204020204" pitchFamily="34" charset="-122"/>
                <a:ea typeface="微软雅黑" panose="020B0503020204020204" pitchFamily="34" charset="-122"/>
              </a:rPr>
              <a:t>动态绑定</a:t>
            </a:r>
            <a:endParaRPr lang="en-US" altLang="zh-CN" sz="4000" b="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2772" name="Rectangle 3"/>
          <p:cNvSpPr>
            <a:spLocks noGrp="1"/>
          </p:cNvSpPr>
          <p:nvPr>
            <p:ph idx="1"/>
          </p:nvPr>
        </p:nvSpPr>
        <p:spPr>
          <a:xfrm>
            <a:off x="228600" y="990600"/>
            <a:ext cx="8534400" cy="3505200"/>
          </a:xfrm>
        </p:spPr>
        <p:txBody>
          <a:bodyPr vert="horz" wrap="square" lIns="92075" tIns="46038" rIns="92075" bIns="46038" anchor="t"/>
          <a:lstStyle/>
          <a:p>
            <a:pPr marL="0" indent="0">
              <a:lnSpc>
                <a:spcPct val="120000"/>
              </a:lnSpc>
              <a:buNone/>
            </a:pPr>
            <a:r>
              <a:rPr lang="zh-CN" altLang="en-US" sz="2400" dirty="0">
                <a:ea typeface="宋体" panose="02010600030101010101" pitchFamily="2" charset="-122"/>
              </a:rPr>
              <a:t>动态绑定工作机制如下：假设对象</a:t>
            </a:r>
            <a:r>
              <a:rPr lang="en-US" altLang="zh-CN" sz="2400" dirty="0">
                <a:ea typeface="宋体" panose="02010600030101010101" pitchFamily="2" charset="-122"/>
              </a:rPr>
              <a:t>o</a:t>
            </a:r>
            <a:r>
              <a:rPr lang="zh-CN" altLang="en-US" sz="2400" dirty="0">
                <a:ea typeface="宋体" panose="02010600030101010101" pitchFamily="2" charset="-122"/>
              </a:rPr>
              <a:t>是类</a:t>
            </a:r>
            <a:r>
              <a:rPr lang="en-US" altLang="zh-CN" sz="2400" dirty="0">
                <a:ea typeface="宋体" panose="02010600030101010101" pitchFamily="2" charset="-122"/>
              </a:rPr>
              <a:t>C</a:t>
            </a:r>
            <a:r>
              <a:rPr lang="en-US" altLang="zh-CN" sz="2400" baseline="-30000" dirty="0">
                <a:ea typeface="宋体" panose="02010600030101010101" pitchFamily="2" charset="-122"/>
              </a:rPr>
              <a:t>1</a:t>
            </a:r>
            <a:r>
              <a:rPr lang="zh-CN" altLang="en-US" sz="2400" dirty="0">
                <a:ea typeface="宋体" panose="02010600030101010101" pitchFamily="2" charset="-122"/>
              </a:rPr>
              <a:t>、 </a:t>
            </a:r>
            <a:r>
              <a:rPr lang="en-US" altLang="zh-CN" sz="2400" dirty="0">
                <a:ea typeface="宋体" panose="02010600030101010101" pitchFamily="2" charset="-122"/>
              </a:rPr>
              <a:t>C</a:t>
            </a:r>
            <a:r>
              <a:rPr lang="en-US" altLang="zh-CN" sz="2400" baseline="-30000" dirty="0">
                <a:ea typeface="宋体" panose="02010600030101010101" pitchFamily="2" charset="-122"/>
              </a:rPr>
              <a:t>2</a:t>
            </a:r>
            <a:r>
              <a:rPr lang="zh-CN" altLang="en-US" sz="2400" dirty="0">
                <a:ea typeface="宋体" panose="02010600030101010101" pitchFamily="2" charset="-122"/>
              </a:rPr>
              <a:t>、 </a:t>
            </a:r>
            <a:r>
              <a:rPr lang="en-US" altLang="zh-CN" sz="2400" dirty="0">
                <a:ea typeface="宋体" panose="02010600030101010101" pitchFamily="2" charset="-122"/>
              </a:rPr>
              <a:t>...</a:t>
            </a:r>
            <a:r>
              <a:rPr lang="zh-CN" altLang="en-US" sz="2400" dirty="0">
                <a:ea typeface="宋体" panose="02010600030101010101" pitchFamily="2" charset="-122"/>
              </a:rPr>
              <a:t>、</a:t>
            </a:r>
            <a:r>
              <a:rPr lang="en-US" altLang="zh-CN" sz="2400" dirty="0">
                <a:ea typeface="宋体" panose="02010600030101010101" pitchFamily="2" charset="-122"/>
              </a:rPr>
              <a:t>C</a:t>
            </a:r>
            <a:r>
              <a:rPr lang="en-US" altLang="zh-CN" sz="2400" baseline="-30000" dirty="0">
                <a:ea typeface="宋体" panose="02010600030101010101" pitchFamily="2" charset="-122"/>
              </a:rPr>
              <a:t>n-1 </a:t>
            </a:r>
            <a:r>
              <a:rPr lang="zh-CN" altLang="en-US" sz="2400" dirty="0">
                <a:ea typeface="宋体" panose="02010600030101010101" pitchFamily="2" charset="-122"/>
              </a:rPr>
              <a:t>、</a:t>
            </a:r>
            <a:r>
              <a:rPr lang="en-US" altLang="zh-CN" sz="2400" dirty="0">
                <a:ea typeface="宋体" panose="02010600030101010101" pitchFamily="2" charset="-122"/>
              </a:rPr>
              <a:t>C</a:t>
            </a:r>
            <a:r>
              <a:rPr lang="en-US" altLang="zh-CN" sz="2400" baseline="-30000" dirty="0">
                <a:ea typeface="宋体" panose="02010600030101010101" pitchFamily="2" charset="-122"/>
              </a:rPr>
              <a:t>n</a:t>
            </a:r>
            <a:r>
              <a:rPr lang="zh-CN" altLang="en-US" sz="2400" dirty="0">
                <a:ea typeface="宋体" panose="02010600030101010101" pitchFamily="2" charset="-122"/>
              </a:rPr>
              <a:t>的实例，其中</a:t>
            </a:r>
            <a:r>
              <a:rPr lang="en-US" altLang="zh-CN" sz="2400" dirty="0">
                <a:ea typeface="宋体" panose="02010600030101010101" pitchFamily="2" charset="-122"/>
              </a:rPr>
              <a:t>C</a:t>
            </a:r>
            <a:r>
              <a:rPr lang="en-US" altLang="zh-CN" sz="2400" baseline="-30000" dirty="0">
                <a:ea typeface="宋体" panose="02010600030101010101" pitchFamily="2" charset="-122"/>
              </a:rPr>
              <a:t>1</a:t>
            </a:r>
            <a:r>
              <a:rPr lang="en-US" altLang="zh-CN" sz="2400" dirty="0">
                <a:ea typeface="宋体" panose="02010600030101010101" pitchFamily="2" charset="-122"/>
              </a:rPr>
              <a:t> </a:t>
            </a:r>
            <a:r>
              <a:rPr lang="zh-CN" altLang="en-US" sz="2400" dirty="0">
                <a:ea typeface="宋体" panose="02010600030101010101" pitchFamily="2" charset="-122"/>
              </a:rPr>
              <a:t>是</a:t>
            </a:r>
            <a:r>
              <a:rPr lang="en-US" altLang="zh-CN" sz="2400" dirty="0">
                <a:ea typeface="宋体" panose="02010600030101010101" pitchFamily="2" charset="-122"/>
              </a:rPr>
              <a:t>C</a:t>
            </a:r>
            <a:r>
              <a:rPr lang="en-US" altLang="zh-CN" sz="2400" baseline="-30000" dirty="0">
                <a:ea typeface="宋体" panose="02010600030101010101" pitchFamily="2" charset="-122"/>
              </a:rPr>
              <a:t>2</a:t>
            </a:r>
            <a:r>
              <a:rPr lang="zh-CN" altLang="en-US" sz="2400" dirty="0">
                <a:ea typeface="宋体" panose="02010600030101010101" pitchFamily="2" charset="-122"/>
              </a:rPr>
              <a:t>的子类，</a:t>
            </a:r>
            <a:r>
              <a:rPr lang="en-US" altLang="zh-CN" sz="2400" dirty="0">
                <a:ea typeface="宋体" panose="02010600030101010101" pitchFamily="2" charset="-122"/>
              </a:rPr>
              <a:t> C</a:t>
            </a:r>
            <a:r>
              <a:rPr lang="en-US" altLang="zh-CN" sz="2400" baseline="-30000" dirty="0">
                <a:ea typeface="宋体" panose="02010600030101010101" pitchFamily="2" charset="-122"/>
              </a:rPr>
              <a:t>2</a:t>
            </a:r>
            <a:r>
              <a:rPr lang="en-US" altLang="zh-CN" sz="2400" dirty="0">
                <a:ea typeface="宋体" panose="02010600030101010101" pitchFamily="2" charset="-122"/>
              </a:rPr>
              <a:t> </a:t>
            </a:r>
            <a:r>
              <a:rPr lang="zh-CN" altLang="en-US" sz="2400" dirty="0">
                <a:ea typeface="宋体" panose="02010600030101010101" pitchFamily="2" charset="-122"/>
              </a:rPr>
              <a:t>是</a:t>
            </a:r>
            <a:r>
              <a:rPr lang="en-US" altLang="zh-CN" sz="2400" dirty="0">
                <a:ea typeface="宋体" panose="02010600030101010101" pitchFamily="2" charset="-122"/>
              </a:rPr>
              <a:t>C</a:t>
            </a:r>
            <a:r>
              <a:rPr lang="en-US" altLang="zh-CN" sz="2400" baseline="-30000" dirty="0">
                <a:ea typeface="宋体" panose="02010600030101010101" pitchFamily="2" charset="-122"/>
              </a:rPr>
              <a:t>3</a:t>
            </a:r>
            <a:r>
              <a:rPr lang="zh-CN" altLang="en-US" sz="2400" dirty="0">
                <a:ea typeface="宋体" panose="02010600030101010101" pitchFamily="2" charset="-122"/>
              </a:rPr>
              <a:t>的子类，</a:t>
            </a:r>
            <a:r>
              <a:rPr lang="en-US" altLang="zh-CN" sz="2400" dirty="0">
                <a:ea typeface="宋体" panose="02010600030101010101" pitchFamily="2" charset="-122"/>
              </a:rPr>
              <a:t> ..., C</a:t>
            </a:r>
            <a:r>
              <a:rPr lang="en-US" altLang="zh-CN" sz="2400" baseline="-30000" dirty="0">
                <a:ea typeface="宋体" panose="02010600030101010101" pitchFamily="2" charset="-122"/>
              </a:rPr>
              <a:t>n-1</a:t>
            </a:r>
            <a:r>
              <a:rPr lang="en-US" altLang="zh-CN" sz="2400" dirty="0">
                <a:ea typeface="宋体" panose="02010600030101010101" pitchFamily="2" charset="-122"/>
              </a:rPr>
              <a:t> </a:t>
            </a:r>
            <a:r>
              <a:rPr lang="zh-CN" altLang="en-US" sz="2400" dirty="0">
                <a:ea typeface="宋体" panose="02010600030101010101" pitchFamily="2" charset="-122"/>
              </a:rPr>
              <a:t>是</a:t>
            </a:r>
            <a:r>
              <a:rPr lang="en-US" altLang="zh-CN" sz="2400" dirty="0">
                <a:ea typeface="宋体" panose="02010600030101010101" pitchFamily="2" charset="-122"/>
              </a:rPr>
              <a:t>C</a:t>
            </a:r>
            <a:r>
              <a:rPr lang="en-US" altLang="zh-CN" sz="2400" baseline="-30000" dirty="0">
                <a:ea typeface="宋体" panose="02010600030101010101" pitchFamily="2" charset="-122"/>
              </a:rPr>
              <a:t>n</a:t>
            </a:r>
            <a:r>
              <a:rPr lang="zh-CN" altLang="en-US" sz="2400" dirty="0">
                <a:ea typeface="宋体" panose="02010600030101010101" pitchFamily="2" charset="-122"/>
              </a:rPr>
              <a:t>的子类。也就是说，</a:t>
            </a:r>
            <a:r>
              <a:rPr lang="en-US" altLang="zh-CN" sz="2400" dirty="0">
                <a:ea typeface="宋体" panose="02010600030101010101" pitchFamily="2" charset="-122"/>
              </a:rPr>
              <a:t>C</a:t>
            </a:r>
            <a:r>
              <a:rPr lang="en-US" altLang="zh-CN" sz="2400" baseline="-30000" dirty="0">
                <a:ea typeface="宋体" panose="02010600030101010101" pitchFamily="2" charset="-122"/>
              </a:rPr>
              <a:t>n</a:t>
            </a:r>
            <a:r>
              <a:rPr lang="zh-CN" altLang="en-US" sz="2400" dirty="0">
                <a:ea typeface="宋体" panose="02010600030101010101" pitchFamily="2" charset="-122"/>
              </a:rPr>
              <a:t>是最通用的类，</a:t>
            </a:r>
            <a:r>
              <a:rPr lang="en-US" altLang="zh-CN" sz="2400" dirty="0">
                <a:ea typeface="宋体" panose="02010600030101010101" pitchFamily="2" charset="-122"/>
              </a:rPr>
              <a:t>C</a:t>
            </a:r>
            <a:r>
              <a:rPr lang="en-US" altLang="zh-CN" sz="2400" baseline="-30000" dirty="0">
                <a:ea typeface="宋体" panose="02010600030101010101" pitchFamily="2" charset="-122"/>
              </a:rPr>
              <a:t>1</a:t>
            </a:r>
            <a:r>
              <a:rPr lang="zh-CN" altLang="en-US" sz="2400" dirty="0">
                <a:ea typeface="宋体" panose="02010600030101010101" pitchFamily="2" charset="-122"/>
              </a:rPr>
              <a:t>是最特殊的类。在</a:t>
            </a:r>
            <a:r>
              <a:rPr lang="en-US" altLang="zh-CN" sz="2400" dirty="0">
                <a:ea typeface="宋体" panose="02010600030101010101" pitchFamily="2" charset="-122"/>
              </a:rPr>
              <a:t>Java</a:t>
            </a:r>
            <a:r>
              <a:rPr lang="zh-CN" altLang="en-US" sz="2400" dirty="0">
                <a:ea typeface="宋体" panose="02010600030101010101" pitchFamily="2" charset="-122"/>
              </a:rPr>
              <a:t>中，</a:t>
            </a:r>
            <a:r>
              <a:rPr lang="en-US" altLang="zh-CN" sz="2400" dirty="0">
                <a:ea typeface="宋体" panose="02010600030101010101" pitchFamily="2" charset="-122"/>
              </a:rPr>
              <a:t>C</a:t>
            </a:r>
            <a:r>
              <a:rPr lang="en-US" altLang="zh-CN" sz="2400" baseline="-30000" dirty="0">
                <a:ea typeface="宋体" panose="02010600030101010101" pitchFamily="2" charset="-122"/>
              </a:rPr>
              <a:t>n</a:t>
            </a:r>
            <a:r>
              <a:rPr lang="zh-CN" altLang="en-US" sz="2400" dirty="0">
                <a:ea typeface="宋体" panose="02010600030101010101" pitchFamily="2" charset="-122"/>
              </a:rPr>
              <a:t>是</a:t>
            </a:r>
            <a:r>
              <a:rPr lang="en-US" altLang="zh-CN" sz="2400" dirty="0">
                <a:ea typeface="宋体" panose="02010600030101010101" pitchFamily="2" charset="-122"/>
              </a:rPr>
              <a:t>Object</a:t>
            </a:r>
            <a:r>
              <a:rPr lang="zh-CN" altLang="en-US" sz="2400" dirty="0">
                <a:ea typeface="宋体" panose="02010600030101010101" pitchFamily="2" charset="-122"/>
              </a:rPr>
              <a:t>类。如果对象</a:t>
            </a:r>
            <a:r>
              <a:rPr lang="en-US" altLang="zh-CN" sz="2400" dirty="0">
                <a:ea typeface="宋体" panose="02010600030101010101" pitchFamily="2" charset="-122"/>
              </a:rPr>
              <a:t>o</a:t>
            </a:r>
            <a:r>
              <a:rPr lang="zh-CN" altLang="en-US" sz="2400" dirty="0">
                <a:ea typeface="宋体" panose="02010600030101010101" pitchFamily="2" charset="-122"/>
              </a:rPr>
              <a:t>调用一个方法</a:t>
            </a:r>
            <a:r>
              <a:rPr lang="en-US" altLang="zh-CN" sz="2400" dirty="0">
                <a:ea typeface="宋体" panose="02010600030101010101" pitchFamily="2" charset="-122"/>
              </a:rPr>
              <a:t>p</a:t>
            </a:r>
            <a:r>
              <a:rPr lang="zh-CN" altLang="en-US" sz="2400" dirty="0">
                <a:ea typeface="宋体" panose="02010600030101010101" pitchFamily="2" charset="-122"/>
              </a:rPr>
              <a:t>，那么</a:t>
            </a:r>
            <a:r>
              <a:rPr lang="en-US" altLang="zh-CN" sz="2400" dirty="0">
                <a:ea typeface="宋体" panose="02010600030101010101" pitchFamily="2" charset="-122"/>
              </a:rPr>
              <a:t>Java</a:t>
            </a:r>
            <a:r>
              <a:rPr lang="zh-CN" altLang="en-US" sz="2400" dirty="0">
                <a:ea typeface="宋体" panose="02010600030101010101" pitchFamily="2" charset="-122"/>
              </a:rPr>
              <a:t>虚拟机会依次在类</a:t>
            </a:r>
            <a:r>
              <a:rPr lang="en-US" altLang="zh-CN" sz="2400" dirty="0">
                <a:ea typeface="宋体" panose="02010600030101010101" pitchFamily="2" charset="-122"/>
              </a:rPr>
              <a:t>C</a:t>
            </a:r>
            <a:r>
              <a:rPr lang="en-US" altLang="zh-CN" sz="2400" baseline="-30000" dirty="0">
                <a:ea typeface="宋体" panose="02010600030101010101" pitchFamily="2" charset="-122"/>
              </a:rPr>
              <a:t>1</a:t>
            </a:r>
            <a:r>
              <a:rPr lang="zh-CN" altLang="en-US" sz="2400" dirty="0">
                <a:ea typeface="宋体" panose="02010600030101010101" pitchFamily="2" charset="-122"/>
              </a:rPr>
              <a:t>、 </a:t>
            </a:r>
            <a:r>
              <a:rPr lang="en-US" altLang="zh-CN" sz="2400" dirty="0">
                <a:ea typeface="宋体" panose="02010600030101010101" pitchFamily="2" charset="-122"/>
              </a:rPr>
              <a:t>C</a:t>
            </a:r>
            <a:r>
              <a:rPr lang="en-US" altLang="zh-CN" sz="2400" baseline="-30000" dirty="0">
                <a:ea typeface="宋体" panose="02010600030101010101" pitchFamily="2" charset="-122"/>
              </a:rPr>
              <a:t>2</a:t>
            </a:r>
            <a:r>
              <a:rPr lang="zh-CN" altLang="en-US" sz="2400" dirty="0">
                <a:ea typeface="宋体" panose="02010600030101010101" pitchFamily="2" charset="-122"/>
              </a:rPr>
              <a:t>、 </a:t>
            </a:r>
            <a:r>
              <a:rPr lang="en-US" altLang="zh-CN" sz="2400" dirty="0">
                <a:ea typeface="宋体" panose="02010600030101010101" pitchFamily="2" charset="-122"/>
              </a:rPr>
              <a:t>...</a:t>
            </a:r>
            <a:r>
              <a:rPr lang="zh-CN" altLang="en-US" sz="2400" dirty="0">
                <a:ea typeface="宋体" panose="02010600030101010101" pitchFamily="2" charset="-122"/>
              </a:rPr>
              <a:t>、</a:t>
            </a:r>
            <a:r>
              <a:rPr lang="en-US" altLang="zh-CN" sz="2400" dirty="0">
                <a:ea typeface="宋体" panose="02010600030101010101" pitchFamily="2" charset="-122"/>
              </a:rPr>
              <a:t>C</a:t>
            </a:r>
            <a:r>
              <a:rPr lang="en-US" altLang="zh-CN" sz="2400" baseline="-30000" dirty="0">
                <a:ea typeface="宋体" panose="02010600030101010101" pitchFamily="2" charset="-122"/>
              </a:rPr>
              <a:t>n-1</a:t>
            </a:r>
            <a:r>
              <a:rPr lang="zh-CN" altLang="en-US" sz="2400" baseline="-30000" dirty="0">
                <a:ea typeface="宋体" panose="02010600030101010101" pitchFamily="2" charset="-122"/>
              </a:rPr>
              <a:t> </a:t>
            </a:r>
            <a:r>
              <a:rPr lang="zh-CN" altLang="en-US" sz="2400" dirty="0">
                <a:ea typeface="宋体" panose="02010600030101010101" pitchFamily="2" charset="-122"/>
              </a:rPr>
              <a:t>、</a:t>
            </a:r>
            <a:r>
              <a:rPr lang="zh-CN" altLang="en-US" sz="2400" baseline="-30000" dirty="0">
                <a:ea typeface="宋体" panose="02010600030101010101" pitchFamily="2" charset="-122"/>
              </a:rPr>
              <a:t> </a:t>
            </a:r>
            <a:r>
              <a:rPr lang="en-US" altLang="zh-CN" sz="2400" dirty="0">
                <a:ea typeface="宋体" panose="02010600030101010101" pitchFamily="2" charset="-122"/>
              </a:rPr>
              <a:t>C</a:t>
            </a:r>
            <a:r>
              <a:rPr lang="en-US" altLang="zh-CN" sz="2400" baseline="-30000" dirty="0">
                <a:ea typeface="宋体" panose="02010600030101010101" pitchFamily="2" charset="-122"/>
              </a:rPr>
              <a:t>n</a:t>
            </a:r>
            <a:r>
              <a:rPr lang="zh-CN" altLang="en-US" sz="2400" dirty="0">
                <a:ea typeface="宋体" panose="02010600030101010101" pitchFamily="2" charset="-122"/>
              </a:rPr>
              <a:t>中查找方法</a:t>
            </a:r>
            <a:r>
              <a:rPr lang="en-US" altLang="zh-CN" sz="2400" dirty="0">
                <a:ea typeface="宋体" panose="02010600030101010101" pitchFamily="2" charset="-122"/>
              </a:rPr>
              <a:t>p</a:t>
            </a:r>
            <a:r>
              <a:rPr lang="zh-CN" altLang="en-US" sz="2400" dirty="0">
                <a:ea typeface="宋体" panose="02010600030101010101" pitchFamily="2" charset="-122"/>
              </a:rPr>
              <a:t>的实现，直到找到为止。一旦找到一个实现，就停止查找并调用这个第一次找到的实现。 </a:t>
            </a:r>
            <a:endParaRPr lang="en-US" altLang="zh-CN" sz="2400" dirty="0">
              <a:ea typeface="宋体" panose="02010600030101010101" pitchFamily="2" charset="-122"/>
            </a:endParaRPr>
          </a:p>
        </p:txBody>
      </p:sp>
      <p:graphicFrame>
        <p:nvGraphicFramePr>
          <p:cNvPr id="32773" name="Object 4"/>
          <p:cNvGraphicFramePr>
            <a:graphicFrameLocks noChangeAspect="1"/>
          </p:cNvGraphicFramePr>
          <p:nvPr/>
        </p:nvGraphicFramePr>
        <p:xfrm>
          <a:off x="-1587" y="4343400"/>
          <a:ext cx="9147175" cy="2063750"/>
        </p:xfrm>
        <a:graphic>
          <a:graphicData uri="http://schemas.openxmlformats.org/presentationml/2006/ole">
            <mc:AlternateContent xmlns:mc="http://schemas.openxmlformats.org/markup-compatibility/2006">
              <mc:Choice xmlns:v="urn:schemas-microsoft-com:vml" Requires="v">
                <p:oleObj spid="_x0000_s6153" name="" r:id="rId1" imgW="3725545" imgH="857885" progId="Word.Picture.8">
                  <p:embed/>
                </p:oleObj>
              </mc:Choice>
              <mc:Fallback>
                <p:oleObj name="" r:id="rId1" imgW="3725545" imgH="857885" progId="Word.Picture.8">
                  <p:embed/>
                  <p:pic>
                    <p:nvPicPr>
                      <p:cNvPr id="0" name="图片 3077"/>
                      <p:cNvPicPr/>
                      <p:nvPr/>
                    </p:nvPicPr>
                    <p:blipFill>
                      <a:blip r:embed="rId2"/>
                      <a:stretch>
                        <a:fillRect/>
                      </a:stretch>
                    </p:blipFill>
                    <p:spPr>
                      <a:xfrm>
                        <a:off x="-1587" y="4343400"/>
                        <a:ext cx="9147175" cy="20637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3795" name="Rectangle 2"/>
          <p:cNvSpPr>
            <a:spLocks noGrp="1"/>
          </p:cNvSpPr>
          <p:nvPr>
            <p:ph type="title"/>
          </p:nvPr>
        </p:nvSpPr>
        <p:spPr>
          <a:xfrm>
            <a:off x="124460" y="200025"/>
            <a:ext cx="4206240" cy="457200"/>
          </a:xfrm>
        </p:spPr>
        <p:txBody>
          <a:bodyPr vert="horz" wrap="square" lIns="92075" tIns="46038" rIns="92075" bIns="46038" anchor="ctr"/>
          <a:lstStyle/>
          <a:p>
            <a:r>
              <a:rPr lang="zh-CN" altLang="en-US" sz="4000" b="0" dirty="0">
                <a:latin typeface="微软雅黑" panose="020B0503020204020204" pitchFamily="34" charset="-122"/>
                <a:ea typeface="微软雅黑" panose="020B0503020204020204" pitchFamily="34" charset="-122"/>
              </a:rPr>
              <a:t>方法匹配和绑定</a:t>
            </a:r>
            <a:endParaRPr lang="en-US" altLang="zh-CN" sz="4000" b="0" dirty="0">
              <a:latin typeface="微软雅黑" panose="020B0503020204020204" pitchFamily="34" charset="-122"/>
              <a:ea typeface="微软雅黑" panose="020B0503020204020204" pitchFamily="34" charset="-122"/>
            </a:endParaRPr>
          </a:p>
        </p:txBody>
      </p:sp>
      <p:sp>
        <p:nvSpPr>
          <p:cNvPr id="33796" name="Rectangle 3"/>
          <p:cNvSpPr>
            <a:spLocks noGrp="1"/>
          </p:cNvSpPr>
          <p:nvPr>
            <p:ph idx="1"/>
          </p:nvPr>
        </p:nvSpPr>
        <p:spPr>
          <a:xfrm>
            <a:off x="381000" y="1371600"/>
            <a:ext cx="8458200" cy="4267200"/>
          </a:xfrm>
        </p:spPr>
        <p:txBody>
          <a:bodyPr vert="horz" wrap="square" lIns="92075" tIns="46038" rIns="92075" bIns="46038" anchor="t">
            <a:normAutofit/>
          </a:bodyPr>
          <a:lstStyle/>
          <a:p>
            <a:pPr>
              <a:lnSpc>
                <a:spcPct val="120000"/>
              </a:lnSpc>
              <a:buClr>
                <a:srgbClr val="7030A0"/>
              </a:buClr>
              <a:buFont typeface="Wingdings" panose="05000000000000000000" charset="0"/>
              <a:buChar char="n"/>
            </a:pPr>
            <a:r>
              <a:rPr lang="zh-CN" altLang="en-US" sz="2220" b="1" dirty="0">
                <a:latin typeface="微软雅黑" panose="020B0503020204020204" pitchFamily="34" charset="-122"/>
                <a:ea typeface="微软雅黑" panose="020B0503020204020204" pitchFamily="34" charset="-122"/>
                <a:cs typeface="微软雅黑" panose="020B0503020204020204" pitchFamily="34" charset="-122"/>
              </a:rPr>
              <a:t>匹配方法的签名和绑定方法的实现是两个独立的事情。</a:t>
            </a:r>
            <a:endParaRPr lang="zh-CN" altLang="en-US" sz="2220" b="1"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0000"/>
              </a:lnSpc>
              <a:spcBef>
                <a:spcPts val="0"/>
              </a:spcBef>
              <a:buClr>
                <a:srgbClr val="7030A0"/>
              </a:buClr>
              <a:buFont typeface="Wingdings" panose="05000000000000000000" charset="0"/>
              <a:buChar char="l"/>
            </a:pP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引用变量的声明类型决定了编译时匹配哪个方法。编译器会在编译时，根据参数类型、参数个数和参数顺序找到匹配的方法。例如</a:t>
            </a:r>
            <a:r>
              <a:rPr lang="en-US" altLang="zh-CN" sz="2220">
                <a:latin typeface="微软雅黑" panose="020B0503020204020204" pitchFamily="34" charset="-122"/>
                <a:ea typeface="微软雅黑" panose="020B0503020204020204" pitchFamily="34" charset="-122"/>
                <a:cs typeface="微软雅黑" panose="020B0503020204020204" pitchFamily="34" charset="-122"/>
                <a:sym typeface="+mn-ea"/>
              </a:rPr>
              <a:t>Object o=new GeometricObject()</a:t>
            </a:r>
            <a:r>
              <a:rPr lang="zh-CN" altLang="en-US" sz="2220">
                <a:latin typeface="微软雅黑" panose="020B0503020204020204" pitchFamily="34" charset="-122"/>
                <a:ea typeface="微软雅黑" panose="020B0503020204020204" pitchFamily="34" charset="-122"/>
                <a:cs typeface="微软雅黑" panose="020B0503020204020204" pitchFamily="34" charset="-122"/>
                <a:sym typeface="+mn-ea"/>
              </a:rPr>
              <a:t>； 若</a:t>
            </a:r>
            <a:r>
              <a:rPr lang="en-US" altLang="zh-CN" sz="2220">
                <a:latin typeface="微软雅黑" panose="020B0503020204020204" pitchFamily="34" charset="-122"/>
                <a:ea typeface="微软雅黑" panose="020B0503020204020204" pitchFamily="34" charset="-122"/>
                <a:cs typeface="微软雅黑" panose="020B0503020204020204" pitchFamily="34" charset="-122"/>
                <a:sym typeface="+mn-ea"/>
              </a:rPr>
              <a:t>GeometricObject</a:t>
            </a:r>
            <a:r>
              <a:rPr lang="zh-CN" altLang="en-US" sz="2220">
                <a:latin typeface="微软雅黑" panose="020B0503020204020204" pitchFamily="34" charset="-122"/>
                <a:ea typeface="微软雅黑" panose="020B0503020204020204" pitchFamily="34" charset="-122"/>
                <a:cs typeface="微软雅黑" panose="020B0503020204020204" pitchFamily="34" charset="-122"/>
                <a:sym typeface="+mn-ea"/>
              </a:rPr>
              <a:t>中有</a:t>
            </a:r>
            <a:r>
              <a:rPr lang="en-US" altLang="zh-CN" sz="2220">
                <a:latin typeface="微软雅黑" panose="020B0503020204020204" pitchFamily="34" charset="-122"/>
                <a:ea typeface="微软雅黑" panose="020B0503020204020204" pitchFamily="34" charset="-122"/>
                <a:cs typeface="微软雅黑" panose="020B0503020204020204" pitchFamily="34" charset="-122"/>
                <a:sym typeface="+mn-ea"/>
              </a:rPr>
              <a:t>getArea()</a:t>
            </a:r>
            <a:r>
              <a:rPr lang="zh-CN" altLang="en-US" sz="2220">
                <a:latin typeface="微软雅黑" panose="020B0503020204020204" pitchFamily="34" charset="-122"/>
                <a:ea typeface="微软雅黑" panose="020B0503020204020204" pitchFamily="34" charset="-122"/>
                <a:cs typeface="微软雅黑" panose="020B0503020204020204" pitchFamily="34" charset="-122"/>
                <a:sym typeface="+mn-ea"/>
              </a:rPr>
              <a:t>方法， </a:t>
            </a:r>
            <a:r>
              <a:rPr lang="en-US" altLang="zh-CN" sz="2220">
                <a:latin typeface="微软雅黑" panose="020B0503020204020204" pitchFamily="34" charset="-122"/>
                <a:ea typeface="微软雅黑" panose="020B0503020204020204" pitchFamily="34" charset="-122"/>
                <a:cs typeface="微软雅黑" panose="020B0503020204020204" pitchFamily="34" charset="-122"/>
                <a:sym typeface="+mn-ea"/>
              </a:rPr>
              <a:t>o.getArea()</a:t>
            </a:r>
            <a:r>
              <a:rPr lang="zh-CN" altLang="zh-CN" sz="2220">
                <a:latin typeface="微软雅黑" panose="020B0503020204020204" pitchFamily="34" charset="-122"/>
                <a:ea typeface="微软雅黑" panose="020B0503020204020204" pitchFamily="34" charset="-122"/>
                <a:cs typeface="微软雅黑" panose="020B0503020204020204" pitchFamily="34" charset="-122"/>
                <a:sym typeface="+mn-ea"/>
              </a:rPr>
              <a:t>会编译错处，因为</a:t>
            </a:r>
            <a:r>
              <a:rPr lang="en-US" altLang="zh-CN" sz="2220">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altLang="en-US" sz="2220">
                <a:latin typeface="微软雅黑" panose="020B0503020204020204" pitchFamily="34" charset="-122"/>
                <a:ea typeface="微软雅黑" panose="020B0503020204020204" pitchFamily="34" charset="-122"/>
                <a:cs typeface="微软雅黑" panose="020B0503020204020204" pitchFamily="34" charset="-122"/>
                <a:sym typeface="+mn-ea"/>
              </a:rPr>
              <a:t>中无法找到和</a:t>
            </a:r>
            <a:r>
              <a:rPr lang="en-US" altLang="zh-CN" sz="2220">
                <a:latin typeface="微软雅黑" panose="020B0503020204020204" pitchFamily="34" charset="-122"/>
                <a:ea typeface="微软雅黑" panose="020B0503020204020204" pitchFamily="34" charset="-122"/>
                <a:cs typeface="微软雅黑" panose="020B0503020204020204" pitchFamily="34" charset="-122"/>
                <a:sym typeface="+mn-ea"/>
              </a:rPr>
              <a:t>getArea()</a:t>
            </a:r>
            <a:r>
              <a:rPr lang="zh-CN" altLang="en-US" sz="2220">
                <a:latin typeface="微软雅黑" panose="020B0503020204020204" pitchFamily="34" charset="-122"/>
                <a:ea typeface="微软雅黑" panose="020B0503020204020204" pitchFamily="34" charset="-122"/>
                <a:cs typeface="微软雅黑" panose="020B0503020204020204" pitchFamily="34" charset="-122"/>
                <a:sym typeface="+mn-ea"/>
              </a:rPr>
              <a:t>匹配的方法。</a:t>
            </a:r>
            <a:endParaRPr lang="zh-CN" altLang="en-US" sz="222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0000"/>
              </a:lnSpc>
              <a:spcBef>
                <a:spcPts val="0"/>
              </a:spcBef>
              <a:buClr>
                <a:srgbClr val="7030A0"/>
              </a:buClr>
              <a:buFont typeface="Wingdings" panose="05000000000000000000" charset="0"/>
              <a:buChar char="l"/>
            </a:pP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一个方法可能在几个子类中都被实现。</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虚拟机在运行时动态绑定方法的实现，这是由变量的实际类型决定的。</a:t>
            </a:r>
            <a:endParaRPr lang="en-US" altLang="zh-CN" sz="222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5843" name="Rectangle 2"/>
          <p:cNvSpPr>
            <a:spLocks noGrp="1"/>
          </p:cNvSpPr>
          <p:nvPr>
            <p:ph type="title"/>
          </p:nvPr>
        </p:nvSpPr>
        <p:spPr>
          <a:xfrm>
            <a:off x="228600" y="57150"/>
            <a:ext cx="7772400" cy="609600"/>
          </a:xfrm>
        </p:spPr>
        <p:txBody>
          <a:bodyPr vert="horz" wrap="square" lIns="92075" tIns="46038" rIns="92075" bIns="46038" anchor="ctr"/>
          <a:lstStyle/>
          <a:p>
            <a:r>
              <a:rPr lang="zh-CN" altLang="en-US" b="0" dirty="0">
                <a:latin typeface="微软雅黑" panose="020B0503020204020204" pitchFamily="34" charset="-122"/>
                <a:ea typeface="微软雅黑" panose="020B0503020204020204" pitchFamily="34" charset="-122"/>
              </a:rPr>
              <a:t>对象转换</a:t>
            </a:r>
            <a:endParaRPr lang="en-US" altLang="zh-CN" b="0" dirty="0">
              <a:latin typeface="微软雅黑" panose="020B0503020204020204" pitchFamily="34" charset="-122"/>
              <a:ea typeface="微软雅黑" panose="020B0503020204020204" pitchFamily="34" charset="-122"/>
            </a:endParaRPr>
          </a:p>
        </p:txBody>
      </p:sp>
      <p:sp>
        <p:nvSpPr>
          <p:cNvPr id="35844" name="Rectangle 3"/>
          <p:cNvSpPr>
            <a:spLocks noGrp="1"/>
          </p:cNvSpPr>
          <p:nvPr>
            <p:ph idx="1"/>
          </p:nvPr>
        </p:nvSpPr>
        <p:spPr>
          <a:xfrm>
            <a:off x="228600" y="990600"/>
            <a:ext cx="8686800" cy="4648200"/>
          </a:xfrm>
        </p:spPr>
        <p:txBody>
          <a:bodyPr vert="horz" wrap="square" lIns="92075" tIns="46038" rIns="92075" bIns="46038" anchor="t"/>
          <a:lstStyle/>
          <a:p>
            <a:pPr marL="0" indent="0" defTabSz="914400">
              <a:lnSpc>
                <a:spcPct val="120000"/>
              </a:lnSpc>
              <a:buNone/>
              <a:tabLst>
                <a:tab pos="57150" algn="l"/>
                <a:tab pos="28575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可以使用转换把一种类类型的对象转换为继承体系结构中的另一种类类型的对象。在上一节中，语句</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defTabSz="914400">
              <a:lnSpc>
                <a:spcPct val="120000"/>
              </a:lnSpc>
              <a:buNone/>
              <a:tabLst>
                <a:tab pos="57150" algn="l"/>
                <a:tab pos="28575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m(new Student());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defTabSz="914400">
              <a:lnSpc>
                <a:spcPct val="120000"/>
              </a:lnSpc>
              <a:spcBef>
                <a:spcPct val="0"/>
              </a:spcBef>
              <a:buClrTx/>
              <a:buSzTx/>
              <a:buFontTx/>
              <a:buNone/>
              <a:tabLst>
                <a:tab pos="57150" algn="l"/>
                <a:tab pos="285750" algn="l"/>
              </a:tabLst>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120000"/>
              </a:lnSpc>
              <a:spcBef>
                <a:spcPct val="0"/>
              </a:spcBef>
              <a:buClrTx/>
              <a:buSzTx/>
              <a:buFontTx/>
              <a:buNone/>
              <a:tabLst>
                <a:tab pos="57150" algn="l"/>
                <a:tab pos="28575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将对象</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new 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赋值给一个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类型的参数。这条语句等价于</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80000"/>
              </a:lnSpc>
              <a:spcBef>
                <a:spcPct val="0"/>
              </a:spcBef>
              <a:buClrTx/>
              <a:buSzTx/>
              <a:buFontTx/>
              <a:buNone/>
              <a:tabLst>
                <a:tab pos="57150" algn="l"/>
                <a:tab pos="285750" algn="l"/>
              </a:tabLst>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defTabSz="914400">
              <a:lnSpc>
                <a:spcPct val="80000"/>
              </a:lnSpc>
              <a:buNone/>
              <a:tabLst>
                <a:tab pos="57150" algn="l"/>
                <a:tab pos="28575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Object o = new Student(); </a:t>
            </a:r>
            <a:r>
              <a:rPr lang="en-US" altLang="zh-CN" sz="2400" dirty="0">
                <a:solidFill>
                  <a:srgbClr val="99CC00"/>
                </a:solidFill>
                <a:latin typeface="微软雅黑" panose="020B0503020204020204" pitchFamily="34" charset="-122"/>
                <a:ea typeface="微软雅黑" panose="020B0503020204020204" pitchFamily="34" charset="-122"/>
                <a:cs typeface="微软雅黑" panose="020B0503020204020204" pitchFamily="34" charset="-122"/>
              </a:rPr>
              <a:t>// Implicit casting</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defTabSz="914400">
              <a:lnSpc>
                <a:spcPct val="80000"/>
              </a:lnSpc>
              <a:buNone/>
              <a:tabLst>
                <a:tab pos="57150" algn="l"/>
                <a:tab pos="28575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m(o);</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0756" name="Text Box 4"/>
          <p:cNvSpPr txBox="1"/>
          <p:nvPr/>
        </p:nvSpPr>
        <p:spPr>
          <a:xfrm>
            <a:off x="3581400" y="5486400"/>
            <a:ext cx="5105400" cy="92202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语句</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Object o = new Student()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被称为隐式转换</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(implicit casting)</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，是合法的，因为</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的实例自动地就是</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的实例。</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0757" name="Line 5"/>
          <p:cNvSpPr/>
          <p:nvPr/>
        </p:nvSpPr>
        <p:spPr>
          <a:xfrm flipH="1" flipV="1">
            <a:off x="2362200" y="4800600"/>
            <a:ext cx="1752600" cy="685800"/>
          </a:xfrm>
          <a:prstGeom prst="line">
            <a:avLst/>
          </a:prstGeom>
          <a:ln w="12700" cap="flat" cmpd="sng">
            <a:solidFill>
              <a:srgbClr val="FF0000"/>
            </a:solidFill>
            <a:prstDash val="solid"/>
            <a:headEnd type="none" w="sm" len="sm"/>
            <a:tailEnd type="stealth"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 calcmode="lin" valueType="num">
                                      <p:cBhvr additive="base">
                                        <p:cTn id="7" dur="500" fill="hold"/>
                                        <p:tgtEl>
                                          <p:spTgt spid="330756"/>
                                        </p:tgtEl>
                                        <p:attrNameLst>
                                          <p:attrName>ppt_x</p:attrName>
                                        </p:attrNameLst>
                                      </p:cBhvr>
                                      <p:tavLst>
                                        <p:tav tm="0">
                                          <p:val>
                                            <p:strVal val="0-#ppt_w/2"/>
                                          </p:val>
                                        </p:tav>
                                        <p:tav tm="100000">
                                          <p:val>
                                            <p:strVal val="#ppt_x"/>
                                          </p:val>
                                        </p:tav>
                                      </p:tavLst>
                                    </p:anim>
                                    <p:anim calcmode="lin" valueType="num">
                                      <p:cBhvr additive="base">
                                        <p:cTn id="8" dur="500" fill="hold"/>
                                        <p:tgtEl>
                                          <p:spTgt spid="3307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30757"/>
                                        </p:tgtEl>
                                        <p:attrNameLst>
                                          <p:attrName>style.visibility</p:attrName>
                                        </p:attrNameLst>
                                      </p:cBhvr>
                                      <p:to>
                                        <p:strVal val="visible"/>
                                      </p:to>
                                    </p:set>
                                    <p:anim calcmode="lin" valueType="num">
                                      <p:cBhvr additive="base">
                                        <p:cTn id="13" dur="500" fill="hold"/>
                                        <p:tgtEl>
                                          <p:spTgt spid="330757"/>
                                        </p:tgtEl>
                                        <p:attrNameLst>
                                          <p:attrName>ppt_x</p:attrName>
                                        </p:attrNameLst>
                                      </p:cBhvr>
                                      <p:tavLst>
                                        <p:tav tm="0">
                                          <p:val>
                                            <p:strVal val="0-#ppt_w/2"/>
                                          </p:val>
                                        </p:tav>
                                        <p:tav tm="100000">
                                          <p:val>
                                            <p:strVal val="#ppt_x"/>
                                          </p:val>
                                        </p:tav>
                                      </p:tavLst>
                                    </p:anim>
                                    <p:anim calcmode="lin" valueType="num">
                                      <p:cBhvr additive="base">
                                        <p:cTn id="14" dur="500" fill="hold"/>
                                        <p:tgtEl>
                                          <p:spTgt spid="3307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6868" name="Rectangle 3"/>
          <p:cNvSpPr>
            <a:spLocks noGrp="1"/>
          </p:cNvSpPr>
          <p:nvPr>
            <p:ph idx="1"/>
          </p:nvPr>
        </p:nvSpPr>
        <p:spPr>
          <a:xfrm>
            <a:off x="228600" y="1066800"/>
            <a:ext cx="8686800" cy="5410200"/>
          </a:xfrm>
        </p:spPr>
        <p:txBody>
          <a:bodyPr vert="horz" wrap="square" lIns="92075" tIns="46038" rIns="92075" bIns="46038" anchor="t">
            <a:normAutofit lnSpcReduction="20000"/>
          </a:bodyPr>
          <a:lstStyle/>
          <a:p>
            <a:pPr marL="0" indent="0" defTabSz="914400">
              <a:lnSpc>
                <a:spcPct val="80000"/>
              </a:lnSpc>
              <a:spcBef>
                <a:spcPct val="0"/>
              </a:spcBef>
              <a:buNone/>
              <a:tabLst>
                <a:tab pos="57150" algn="l"/>
                <a:tab pos="28575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假设想使用下面的语句把对象引用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赋值给</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类型的变量：</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80000"/>
              </a:lnSpc>
              <a:spcBef>
                <a:spcPct val="0"/>
              </a:spcBef>
              <a:buNone/>
              <a:tabLst>
                <a:tab pos="57150" algn="l"/>
                <a:tab pos="285750" algn="l"/>
              </a:tabLst>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defTabSz="914400">
              <a:lnSpc>
                <a:spcPct val="80000"/>
              </a:lnSpc>
              <a:buNone/>
              <a:tabLst>
                <a:tab pos="57150" algn="l"/>
                <a:tab pos="28575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Student b = o;</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80000"/>
              </a:lnSpc>
              <a:spcBef>
                <a:spcPct val="0"/>
              </a:spcBef>
              <a:buClrTx/>
              <a:buSzTx/>
              <a:buFontTx/>
              <a:buNone/>
              <a:tabLst>
                <a:tab pos="57150" algn="l"/>
                <a:tab pos="28575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120000"/>
              </a:lnSpc>
              <a:spcBef>
                <a:spcPct val="0"/>
              </a:spcBef>
              <a:buClrTx/>
              <a:buSzTx/>
              <a:buFontTx/>
              <a:buNone/>
              <a:tabLst>
                <a:tab pos="57150" algn="l"/>
                <a:tab pos="285750" algn="l"/>
              </a:tabLs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在这种情况下，就会发生编译错误。为什么语句</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Object o = new Student()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可以运行，而语句</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Student b = o</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就不行呢？原因是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对象总是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的实例，但是，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对象不一定是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的实例。即使可以看到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实际上是一个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的对象，但是编译器还没有聪明到懂得这一点。为了告诉编译器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就是一个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对象，就要使用显式转换（</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explicit casting</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）。它的语法与基本类型转换的语法很类似，用圆括弧把目标对象的类型括住，然后放到要转换的对象前面，如下所示：</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defTabSz="914400">
              <a:lnSpc>
                <a:spcPct val="80000"/>
              </a:lnSpc>
              <a:spcBef>
                <a:spcPct val="0"/>
              </a:spcBef>
              <a:buClrTx/>
              <a:buSzTx/>
              <a:buFontTx/>
              <a:buNone/>
              <a:tabLst>
                <a:tab pos="57150" algn="l"/>
                <a:tab pos="285750" algn="l"/>
              </a:tabLst>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628650" lvl="1" indent="-171450" defTabSz="914400">
              <a:lnSpc>
                <a:spcPct val="80000"/>
              </a:lnSpc>
              <a:buNone/>
              <a:tabLst>
                <a:tab pos="57150" algn="l"/>
                <a:tab pos="285750"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 b = (Student)o; // Explicit casting</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7891" name="Rectangle 2"/>
          <p:cNvSpPr>
            <a:spLocks noGrp="1"/>
          </p:cNvSpPr>
          <p:nvPr>
            <p:ph type="title"/>
          </p:nvPr>
        </p:nvSpPr>
        <p:spPr>
          <a:xfrm>
            <a:off x="144145" y="0"/>
            <a:ext cx="7772400" cy="818515"/>
          </a:xfrm>
        </p:spPr>
        <p:txBody>
          <a:bodyPr vert="horz" wrap="square" lIns="92075" tIns="46038" rIns="92075" bIns="46038" anchor="ctr"/>
          <a:lstStyle/>
          <a:p>
            <a:r>
              <a:rPr lang="zh-CN" altLang="en-US" b="0" dirty="0">
                <a:latin typeface="微软雅黑" panose="020B0503020204020204" pitchFamily="34" charset="-122"/>
                <a:ea typeface="微软雅黑" panose="020B0503020204020204" pitchFamily="34" charset="-122"/>
              </a:rPr>
              <a:t>将一个父类转换为子类</a:t>
            </a:r>
            <a:endParaRPr lang="en-US" altLang="zh-CN" b="0" dirty="0">
              <a:latin typeface="微软雅黑" panose="020B0503020204020204" pitchFamily="34" charset="-122"/>
              <a:ea typeface="微软雅黑" panose="020B0503020204020204" pitchFamily="34" charset="-122"/>
            </a:endParaRPr>
          </a:p>
        </p:txBody>
      </p:sp>
      <p:sp>
        <p:nvSpPr>
          <p:cNvPr id="37892" name="Rectangle 3"/>
          <p:cNvSpPr>
            <a:spLocks noGrp="1"/>
          </p:cNvSpPr>
          <p:nvPr>
            <p:ph idx="1"/>
          </p:nvPr>
        </p:nvSpPr>
        <p:spPr>
          <a:xfrm>
            <a:off x="304800" y="1752600"/>
            <a:ext cx="8839200" cy="3962400"/>
          </a:xfrm>
        </p:spPr>
        <p:txBody>
          <a:bodyPr vert="horz" wrap="square" lIns="92075" tIns="46038" rIns="92075" bIns="46038" anchor="t">
            <a:normAutofit lnSpcReduction="20000"/>
          </a:bodyPr>
          <a:lstStyle/>
          <a:p>
            <a:pPr marL="0" indent="0">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当把一个父类的实例转换为它的子类变量时，必须使用转换记号“（子类名）”进行显式转换。下面的转换不可能总会成功。</a:t>
            </a:r>
            <a:endParaRPr lang="en-US" altLang="zh-CN" sz="3600" dirty="0">
              <a:latin typeface="微软雅黑" panose="020B0503020204020204" pitchFamily="34" charset="-122"/>
              <a:ea typeface="微软雅黑" panose="020B0503020204020204" pitchFamily="34" charset="-122"/>
              <a:cs typeface="微软雅黑" panose="020B0503020204020204" pitchFamily="34" charset="-122"/>
            </a:endParaRPr>
          </a:p>
          <a:p>
            <a:pPr lvl="1">
              <a:spcBef>
                <a:spcPct val="10000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Apple x = (Apple)fruit;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spcBef>
                <a:spcPct val="10000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Orange x = (Orange)fruit;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1" indent="0" algn="l" fontAlgn="auto">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0" algn="l" fontAlgn="auto">
              <a:lnSpc>
                <a:spcPct val="150000"/>
              </a:lnSpc>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水果类</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Fruit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是苹果类</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Apple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和橘子类</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Orange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的父类。苹果是水果，所以，总是可以将</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Apple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的实例安全地赋值给</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Fruit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变量。但是，水果不一定是苹果，所以，必须进行显式转换才能将</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Fruit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的实例赋值给</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Apple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的变量</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8915" name="Rectangle 2"/>
          <p:cNvSpPr>
            <a:spLocks noGrp="1"/>
          </p:cNvSpPr>
          <p:nvPr>
            <p:ph type="title"/>
          </p:nvPr>
        </p:nvSpPr>
        <p:spPr>
          <a:xfrm>
            <a:off x="67310" y="0"/>
            <a:ext cx="7772400" cy="803275"/>
          </a:xfrm>
        </p:spPr>
        <p:txBody>
          <a:bodyPr vert="horz" wrap="square" lIns="92075" tIns="46038" rIns="92075" bIns="46038" anchor="ctr"/>
          <a:lstStyle/>
          <a:p>
            <a:r>
              <a:rPr lang="en-US" altLang="zh-CN" sz="4200" dirty="0">
                <a:latin typeface="Courier New" panose="02070309020205020404" charset="0"/>
                <a:ea typeface="宋体" panose="02010600030101010101" pitchFamily="2" charset="-122"/>
              </a:rPr>
              <a:t>Instanceof</a:t>
            </a:r>
            <a:r>
              <a:rPr lang="zh-CN" altLang="en-US" sz="4200" dirty="0">
                <a:latin typeface="Courier New" panose="02070309020205020404" charset="0"/>
                <a:ea typeface="宋体" panose="02010600030101010101" pitchFamily="2" charset="-122"/>
              </a:rPr>
              <a:t>运算符</a:t>
            </a:r>
            <a:endParaRPr lang="en-US" altLang="zh-CN" dirty="0">
              <a:ea typeface="宋体" panose="02010600030101010101" pitchFamily="2" charset="-122"/>
            </a:endParaRPr>
          </a:p>
        </p:txBody>
      </p:sp>
      <p:sp>
        <p:nvSpPr>
          <p:cNvPr id="38916" name="Rectangle 3"/>
          <p:cNvSpPr>
            <a:spLocks noGrp="1"/>
          </p:cNvSpPr>
          <p:nvPr>
            <p:ph idx="1"/>
          </p:nvPr>
        </p:nvSpPr>
        <p:spPr>
          <a:xfrm>
            <a:off x="609600" y="1371600"/>
            <a:ext cx="8153400" cy="4495800"/>
          </a:xfrm>
        </p:spPr>
        <p:txBody>
          <a:bodyPr vert="horz" wrap="square" lIns="92075" tIns="46038" rIns="92075" bIns="46038" anchor="t"/>
          <a:lstStyle/>
          <a:p>
            <a:pPr marL="0" indent="0">
              <a:lnSpc>
                <a:spcPct val="120000"/>
              </a:lnSpc>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instanceof</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运算符来检测一个对象是否是一个类的实例：</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80000"/>
              </a:lnSpc>
              <a:buNone/>
            </a:pPr>
            <a:endParaRPr lang="en-US" altLang="zh-CN" sz="2200" dirty="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Object myObject = new Circle();</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 // Some lines of code</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 Perform casting if myObject is an instance of Circle */</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if (myObject instanceof Circle) {</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  System.out.println("The circle diameter is " + </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    ((Circle)myObject).getDiameter());</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  ...</a:t>
            </a:r>
            <a:endParaRPr lang="en-US" altLang="zh-CN" sz="2000" dirty="0">
              <a:latin typeface="Courier New" panose="02070309020205020404" charset="0"/>
              <a:ea typeface="宋体" panose="02010600030101010101" pitchFamily="2" charset="-122"/>
            </a:endParaRPr>
          </a:p>
          <a:p>
            <a:pPr lvl="1">
              <a:lnSpc>
                <a:spcPct val="80000"/>
              </a:lnSpc>
              <a:buNone/>
            </a:pPr>
            <a:r>
              <a:rPr lang="en-US" altLang="zh-CN" sz="2000" dirty="0">
                <a:latin typeface="Courier New" panose="02070309020205020404" charset="0"/>
                <a:ea typeface="宋体" panose="02010600030101010101" pitchFamily="2" charset="-122"/>
              </a:rPr>
              <a:t>}</a:t>
            </a:r>
            <a:endParaRPr lang="en-US" altLang="zh-CN" sz="2000" dirty="0">
              <a:latin typeface="Courier New" panose="020703090202050204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p>
            <a:r>
              <a:rPr lang="zh-CN" altLang="en-US"/>
              <a:t>多态的作用：增强程序的可扩充性，降低客户类与实现的耦合。</a:t>
            </a:r>
            <a:endParaRPr lang="zh-CN" altLang="en-US"/>
          </a:p>
          <a:p>
            <a:pPr lvl="1"/>
            <a:r>
              <a:rPr lang="zh-CN" altLang="en-US" sz="2200"/>
              <a:t>示例：</a:t>
            </a:r>
            <a:r>
              <a:rPr lang="en-US" altLang="zh-CN" sz="2200"/>
              <a:t>Log</a:t>
            </a:r>
            <a:r>
              <a:rPr lang="zh-CN" altLang="en-US" sz="2200"/>
              <a:t>类</a:t>
            </a:r>
            <a:endParaRPr lang="zh-CN" altLang="en-US"/>
          </a:p>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5" name="图片 4"/>
          <p:cNvPicPr>
            <a:picLocks noChangeAspect="1"/>
          </p:cNvPicPr>
          <p:nvPr>
            <p:custDataLst>
              <p:tags r:id="rId1"/>
            </p:custDataLst>
          </p:nvPr>
        </p:nvPicPr>
        <p:blipFill>
          <a:blip r:embed="rId2"/>
          <a:stretch>
            <a:fillRect/>
          </a:stretch>
        </p:blipFill>
        <p:spPr>
          <a:xfrm>
            <a:off x="2171065" y="2872740"/>
            <a:ext cx="4452620" cy="233108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1987" name="Rectangle 2"/>
          <p:cNvSpPr>
            <a:spLocks noGrp="1"/>
          </p:cNvSpPr>
          <p:nvPr>
            <p:ph type="title"/>
          </p:nvPr>
        </p:nvSpPr>
        <p:spPr>
          <a:xfrm>
            <a:off x="109855" y="0"/>
            <a:ext cx="7772400" cy="685800"/>
          </a:xfrm>
        </p:spPr>
        <p:txBody>
          <a:bodyPr vert="horz" wrap="square" lIns="92075" tIns="46038" rIns="92075" bIns="46038" anchor="ctr"/>
          <a:lstStyle/>
          <a:p>
            <a:r>
              <a:rPr lang="en-US" altLang="zh-CN" sz="4200" b="0" dirty="0">
                <a:latin typeface="微软雅黑" panose="020B0503020204020204" pitchFamily="34" charset="-122"/>
                <a:ea typeface="微软雅黑" panose="020B0503020204020204" pitchFamily="34" charset="-122"/>
                <a:cs typeface="微软雅黑" panose="020B0503020204020204" pitchFamily="34" charset="-122"/>
              </a:rPr>
              <a:t>equals</a:t>
            </a:r>
            <a:r>
              <a:rPr lang="zh-CN" altLang="en-US" sz="4200" b="0" dirty="0">
                <a:latin typeface="微软雅黑" panose="020B0503020204020204" pitchFamily="34" charset="-122"/>
                <a:ea typeface="微软雅黑" panose="020B0503020204020204" pitchFamily="34" charset="-122"/>
                <a:cs typeface="微软雅黑" panose="020B0503020204020204" pitchFamily="34" charset="-122"/>
              </a:rPr>
              <a:t>方法</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988" name="Rectangle 3"/>
          <p:cNvSpPr>
            <a:spLocks noGrp="1"/>
          </p:cNvSpPr>
          <p:nvPr>
            <p:ph idx="1"/>
          </p:nvPr>
        </p:nvSpPr>
        <p:spPr>
          <a:xfrm>
            <a:off x="304800" y="1066800"/>
            <a:ext cx="8610600" cy="2082165"/>
          </a:xfrm>
        </p:spPr>
        <p:txBody>
          <a:bodyPr vert="horz" wrap="square" lIns="92075" tIns="46038" rIns="92075" bIns="46038" anchor="t">
            <a:noAutofit/>
          </a:bodyPr>
          <a:lstStyle/>
          <a:p>
            <a:pPr marL="0" indent="0" fontAlgn="auto">
              <a:lnSpc>
                <a:spcPct val="150000"/>
              </a:lnSpc>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比较运算符</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用来比较两个基本数据类型的值是否相等，或者判断两个对象是否具有相同的引用。</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50000"/>
              </a:lnSpc>
              <a:spcBef>
                <a:spcPts val="0"/>
              </a:spcBef>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equals()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方法比较两个对象的内容。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equals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方法的默认实现如下所示：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989" name="Rectangle 4"/>
          <p:cNvSpPr/>
          <p:nvPr/>
        </p:nvSpPr>
        <p:spPr>
          <a:xfrm>
            <a:off x="1252855" y="3241675"/>
            <a:ext cx="6629400" cy="110426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75000"/>
              </a:spcBef>
              <a:buNone/>
            </a:pPr>
            <a:r>
              <a:rPr lang="en-US" altLang="zh-CN" sz="2400" dirty="0">
                <a:latin typeface="Courier New" panose="02070309020205020404" charset="0"/>
                <a:ea typeface="宋体" panose="02010600030101010101" pitchFamily="2" charset="-122"/>
              </a:rPr>
              <a:t>public boolean equals(Object obj) {</a:t>
            </a:r>
            <a:endParaRPr lang="en-US" altLang="zh-CN" sz="2400" dirty="0">
              <a:latin typeface="Courier New" panose="02070309020205020404" charset="0"/>
              <a:ea typeface="宋体" panose="02010600030101010101" pitchFamily="2" charset="-122"/>
            </a:endParaRPr>
          </a:p>
          <a:p>
            <a:pPr marL="0" lvl="0" indent="0">
              <a:lnSpc>
                <a:spcPct val="0"/>
              </a:lnSpc>
              <a:spcBef>
                <a:spcPct val="75000"/>
              </a:spcBef>
              <a:buNone/>
            </a:pPr>
            <a:r>
              <a:rPr lang="en-US" altLang="zh-CN" sz="2400" dirty="0">
                <a:latin typeface="Courier New" panose="02070309020205020404" charset="0"/>
                <a:ea typeface="宋体" panose="02010600030101010101" pitchFamily="2" charset="-122"/>
              </a:rPr>
              <a:t>  return (this == obj);</a:t>
            </a:r>
            <a:endParaRPr lang="en-US" altLang="zh-CN" sz="2400" dirty="0">
              <a:latin typeface="Courier New" panose="02070309020205020404" charset="0"/>
              <a:ea typeface="宋体" panose="02010600030101010101" pitchFamily="2" charset="-122"/>
            </a:endParaRPr>
          </a:p>
          <a:p>
            <a:pPr marL="0" lvl="0" indent="0">
              <a:lnSpc>
                <a:spcPct val="0"/>
              </a:lnSpc>
              <a:spcBef>
                <a:spcPct val="75000"/>
              </a:spcBef>
              <a:buNone/>
            </a:pPr>
            <a:r>
              <a:rPr lang="en-US" altLang="zh-CN" sz="2400" dirty="0">
                <a:latin typeface="Courier New" panose="02070309020205020404" charset="0"/>
                <a:ea typeface="宋体" panose="02010600030101010101" pitchFamily="2" charset="-122"/>
              </a:rPr>
              <a:t>}</a:t>
            </a:r>
            <a:endParaRPr lang="en-US" altLang="zh-CN" sz="2400" dirty="0">
              <a:latin typeface="Courier New" panose="02070309020205020404" charset="0"/>
              <a:ea typeface="宋体" panose="02010600030101010101" pitchFamily="2" charset="-122"/>
            </a:endParaRPr>
          </a:p>
        </p:txBody>
      </p:sp>
      <p:sp>
        <p:nvSpPr>
          <p:cNvPr id="2" name="文本框 1"/>
          <p:cNvSpPr txBox="1"/>
          <p:nvPr/>
        </p:nvSpPr>
        <p:spPr>
          <a:xfrm>
            <a:off x="468630" y="4773930"/>
            <a:ext cx="7781925" cy="1014730"/>
          </a:xfrm>
          <a:prstGeom prst="rect">
            <a:avLst/>
          </a:prstGeom>
          <a:noFill/>
        </p:spPr>
        <p:txBody>
          <a:bodyPr wrap="square" rtlCol="0" anchor="t">
            <a:spAutoFit/>
          </a:bodyPr>
          <a:p>
            <a:pPr marL="0" lvl="0" indent="0" fontAlgn="auto">
              <a:lnSpc>
                <a:spcPct val="150000"/>
              </a:lnSpc>
              <a:spcBef>
                <a:spcPts val="0"/>
              </a:spcBef>
              <a:buClrTx/>
              <a:buSzTx/>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如果想让</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equals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方法能够判断两个对象是否具有相同的内容，可以在定义这些对象的类时，覆盖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Circle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类中的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equals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方法。</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1990" name="Rectangle 6"/>
          <p:cNvSpPr/>
          <p:nvPr/>
        </p:nvSpPr>
        <p:spPr>
          <a:xfrm>
            <a:off x="520065" y="2320290"/>
            <a:ext cx="2286000" cy="127190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nSpc>
                <a:spcPct val="120000"/>
              </a:lnSpc>
              <a:spcBef>
                <a:spcPct val="0"/>
              </a:spcBef>
              <a:buNone/>
            </a:pPr>
            <a:r>
              <a:rPr lang="zh-CN" altLang="en-US" sz="2000" dirty="0">
                <a:latin typeface="Courier New" panose="02070309020205020404" charset="0"/>
                <a:ea typeface="宋体" panose="02010600030101010101" pitchFamily="2" charset="-122"/>
              </a:rPr>
              <a:t>例如：</a:t>
            </a:r>
            <a:r>
              <a:rPr lang="en-US" altLang="zh-CN" sz="2000" dirty="0">
                <a:latin typeface="Courier New" panose="02070309020205020404" charset="0"/>
                <a:ea typeface="宋体" panose="02010600030101010101" pitchFamily="2" charset="-122"/>
              </a:rPr>
              <a:t>Circle</a:t>
            </a:r>
            <a:r>
              <a:rPr lang="zh-CN" altLang="en-US" sz="2000" dirty="0">
                <a:latin typeface="Courier New" panose="02070309020205020404" charset="0"/>
                <a:ea typeface="宋体" panose="02010600030101010101" pitchFamily="2" charset="-122"/>
              </a:rPr>
              <a:t>类中的</a:t>
            </a:r>
            <a:r>
              <a:rPr lang="en-US" altLang="zh-CN" sz="2000" dirty="0">
                <a:latin typeface="Courier New" panose="02070309020205020404" charset="0"/>
                <a:ea typeface="宋体" panose="02010600030101010101" pitchFamily="2" charset="-122"/>
              </a:rPr>
              <a:t>equals</a:t>
            </a:r>
            <a:r>
              <a:rPr lang="zh-CN" altLang="en-US" sz="2000" dirty="0">
                <a:latin typeface="Courier New" panose="02070309020205020404" charset="0"/>
                <a:ea typeface="宋体" panose="02010600030101010101" pitchFamily="2" charset="-122"/>
              </a:rPr>
              <a:t>方法被覆盖。</a:t>
            </a:r>
            <a:endParaRPr lang="en-US" altLang="zh-CN" sz="2000" dirty="0">
              <a:latin typeface="Courier New" panose="02070309020205020404" charset="0"/>
              <a:ea typeface="宋体" panose="02010600030101010101" pitchFamily="2" charset="-122"/>
            </a:endParaRPr>
          </a:p>
        </p:txBody>
      </p:sp>
      <p:sp>
        <p:nvSpPr>
          <p:cNvPr id="41991" name="Rectangle 7"/>
          <p:cNvSpPr/>
          <p:nvPr/>
        </p:nvSpPr>
        <p:spPr>
          <a:xfrm>
            <a:off x="3181350" y="2133600"/>
            <a:ext cx="5334000" cy="25908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None/>
            </a:pPr>
            <a:r>
              <a:rPr lang="en-US" altLang="zh-CN" sz="1600" dirty="0">
                <a:latin typeface="Courier New" panose="02070309020205020404" charset="0"/>
                <a:ea typeface="宋体" panose="02010600030101010101" pitchFamily="2" charset="-122"/>
              </a:rPr>
              <a:t>public boolean equals(Object o) {</a:t>
            </a:r>
            <a:endParaRPr lang="en-US" altLang="zh-CN" sz="1600" dirty="0">
              <a:latin typeface="Courier New" panose="02070309020205020404" charset="0"/>
              <a:ea typeface="宋体" panose="02010600030101010101" pitchFamily="2" charset="-122"/>
            </a:endParaRPr>
          </a:p>
          <a:p>
            <a:pPr marL="0" lvl="0" indent="0">
              <a:spcBef>
                <a:spcPct val="0"/>
              </a:spcBef>
              <a:buNone/>
            </a:pPr>
            <a:r>
              <a:rPr lang="en-US" altLang="zh-CN" sz="1600" dirty="0">
                <a:latin typeface="Courier New" panose="02070309020205020404" charset="0"/>
                <a:ea typeface="宋体" panose="02010600030101010101" pitchFamily="2" charset="-122"/>
              </a:rPr>
              <a:t>  if (o instanceof Circle) {</a:t>
            </a:r>
            <a:endParaRPr lang="en-US" altLang="zh-CN" sz="1600" dirty="0">
              <a:latin typeface="Courier New" panose="02070309020205020404" charset="0"/>
              <a:ea typeface="宋体" panose="02010600030101010101" pitchFamily="2" charset="-122"/>
            </a:endParaRPr>
          </a:p>
          <a:p>
            <a:pPr marL="0" lvl="0" indent="0">
              <a:spcBef>
                <a:spcPct val="0"/>
              </a:spcBef>
              <a:buNone/>
            </a:pPr>
            <a:r>
              <a:rPr lang="en-US" altLang="zh-CN" sz="1600" dirty="0">
                <a:latin typeface="Courier New" panose="02070309020205020404" charset="0"/>
                <a:ea typeface="宋体" panose="02010600030101010101" pitchFamily="2" charset="-122"/>
              </a:rPr>
              <a:t>    return radius == ((Circle)o).radius;</a:t>
            </a:r>
            <a:endParaRPr lang="en-US" altLang="zh-CN" sz="1600" dirty="0">
              <a:latin typeface="Courier New" panose="02070309020205020404" charset="0"/>
              <a:ea typeface="宋体" panose="02010600030101010101" pitchFamily="2" charset="-122"/>
            </a:endParaRPr>
          </a:p>
          <a:p>
            <a:pPr marL="0" lvl="0" indent="0">
              <a:spcBef>
                <a:spcPct val="0"/>
              </a:spcBef>
              <a:buNone/>
            </a:pPr>
            <a:r>
              <a:rPr lang="en-US" altLang="zh-CN" sz="1600" dirty="0">
                <a:latin typeface="Courier New" panose="02070309020205020404" charset="0"/>
                <a:ea typeface="宋体" panose="02010600030101010101" pitchFamily="2" charset="-122"/>
              </a:rPr>
              <a:t>  }</a:t>
            </a:r>
            <a:endParaRPr lang="en-US" altLang="zh-CN" sz="1600" dirty="0">
              <a:latin typeface="Courier New" panose="02070309020205020404" charset="0"/>
              <a:ea typeface="宋体" panose="02010600030101010101" pitchFamily="2" charset="-122"/>
            </a:endParaRPr>
          </a:p>
          <a:p>
            <a:pPr marL="0" lvl="0" indent="0">
              <a:spcBef>
                <a:spcPct val="0"/>
              </a:spcBef>
              <a:buNone/>
            </a:pPr>
            <a:r>
              <a:rPr lang="en-US" altLang="zh-CN" sz="1600" dirty="0">
                <a:latin typeface="Courier New" panose="02070309020205020404" charset="0"/>
                <a:ea typeface="宋体" panose="02010600030101010101" pitchFamily="2" charset="-122"/>
              </a:rPr>
              <a:t>  else</a:t>
            </a:r>
            <a:endParaRPr lang="en-US" altLang="zh-CN" sz="1600" dirty="0">
              <a:latin typeface="Courier New" panose="02070309020205020404" charset="0"/>
              <a:ea typeface="宋体" panose="02010600030101010101" pitchFamily="2" charset="-122"/>
            </a:endParaRPr>
          </a:p>
          <a:p>
            <a:pPr marL="0" lvl="0" indent="0">
              <a:spcBef>
                <a:spcPct val="0"/>
              </a:spcBef>
              <a:buNone/>
            </a:pPr>
            <a:r>
              <a:rPr lang="en-US" altLang="zh-CN" sz="1600" dirty="0">
                <a:latin typeface="Courier New" panose="02070309020205020404" charset="0"/>
                <a:ea typeface="宋体" panose="02010600030101010101" pitchFamily="2" charset="-122"/>
              </a:rPr>
              <a:t>    return false;</a:t>
            </a:r>
            <a:endParaRPr lang="en-US" altLang="zh-CN" sz="1600" dirty="0">
              <a:latin typeface="Courier New" panose="02070309020205020404" charset="0"/>
              <a:ea typeface="宋体" panose="02010600030101010101" pitchFamily="2" charset="-122"/>
            </a:endParaRPr>
          </a:p>
          <a:p>
            <a:pPr marL="0" lvl="0" indent="0">
              <a:spcBef>
                <a:spcPct val="0"/>
              </a:spcBef>
              <a:buNone/>
            </a:pPr>
            <a:r>
              <a:rPr lang="en-US" altLang="zh-CN" sz="1600" dirty="0">
                <a:latin typeface="Courier New" panose="02070309020205020404" charset="0"/>
                <a:ea typeface="宋体" panose="02010600030101010101" pitchFamily="2" charset="-122"/>
              </a:rPr>
              <a:t>}</a:t>
            </a:r>
            <a:r>
              <a:rPr lang="en-US" altLang="zh-CN" sz="1500" dirty="0">
                <a:latin typeface="Courier New" panose="02070309020205020404" charset="0"/>
                <a:ea typeface="宋体" panose="02010600030101010101" pitchFamily="2" charset="-122"/>
              </a:rPr>
              <a:t> </a:t>
            </a:r>
            <a:endParaRPr lang="en-US" altLang="zh-CN" sz="1500" dirty="0">
              <a:latin typeface="Courier New" panose="020703090202050204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Java-</a:t>
            </a:r>
            <a:r>
              <a:rPr lang="zh-CN" altLang="en-US" dirty="0" smtClean="0"/>
              <a:t>泛型</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lstStyle/>
          <a:p>
            <a:r>
              <a:rPr lang="zh-CN" altLang="zh-CN" dirty="0" smtClean="0"/>
              <a:t>泛型，即</a:t>
            </a:r>
            <a:r>
              <a:rPr lang="en-US" altLang="zh-CN" dirty="0" smtClean="0"/>
              <a:t>“</a:t>
            </a:r>
            <a:r>
              <a:rPr lang="zh-CN" altLang="zh-CN" dirty="0" smtClean="0"/>
              <a:t>参数化类型</a:t>
            </a:r>
            <a:r>
              <a:rPr lang="en-US" altLang="zh-CN" dirty="0" smtClean="0"/>
              <a:t>”</a:t>
            </a:r>
            <a:r>
              <a:rPr lang="zh-CN" altLang="zh-CN" dirty="0" smtClean="0"/>
              <a:t>。</a:t>
            </a:r>
            <a:endParaRPr lang="en-US" altLang="zh-CN" dirty="0" smtClean="0"/>
          </a:p>
          <a:p>
            <a:pPr>
              <a:lnSpc>
                <a:spcPct val="90000"/>
              </a:lnSpc>
            </a:pPr>
            <a:r>
              <a:rPr lang="zh-CN" altLang="en-GB" dirty="0" smtClean="0">
                <a:solidFill>
                  <a:srgbClr val="000000"/>
                </a:solidFill>
              </a:rPr>
              <a:t>泛型相当于类中一种特殊的类型，这种类型的特点是在实例化该类时可指定为某个具体的实际类型。</a:t>
            </a:r>
            <a:endParaRPr lang="en-US" altLang="zh-CN" dirty="0" smtClean="0">
              <a:solidFill>
                <a:srgbClr val="000000"/>
              </a:solidFill>
            </a:endParaRPr>
          </a:p>
          <a:p>
            <a:pPr>
              <a:lnSpc>
                <a:spcPct val="90000"/>
              </a:lnSpc>
            </a:pPr>
            <a:endParaRPr lang="en-US" altLang="zh-CN" dirty="0" smtClean="0">
              <a:solidFill>
                <a:srgbClr val="000000"/>
              </a:solidFill>
            </a:endParaRPr>
          </a:p>
          <a:p>
            <a:pPr>
              <a:lnSpc>
                <a:spcPct val="90000"/>
              </a:lnSpc>
            </a:pPr>
            <a:r>
              <a:rPr lang="zh-CN" altLang="en-GB" dirty="0" smtClean="0">
                <a:solidFill>
                  <a:srgbClr val="000000"/>
                </a:solidFill>
              </a:rPr>
              <a:t>声明泛型类的格式如下：</a:t>
            </a:r>
            <a:endParaRPr lang="zh-CN" altLang="en-GB" dirty="0" smtClean="0">
              <a:solidFill>
                <a:srgbClr val="000000"/>
              </a:solidFill>
            </a:endParaRPr>
          </a:p>
          <a:p>
            <a:pPr>
              <a:lnSpc>
                <a:spcPct val="90000"/>
              </a:lnSpc>
              <a:buNone/>
            </a:pPr>
            <a:r>
              <a:rPr lang="zh-CN" altLang="en-GB" dirty="0" smtClean="0">
                <a:solidFill>
                  <a:srgbClr val="000000"/>
                </a:solidFill>
              </a:rPr>
              <a:t>    </a:t>
            </a:r>
            <a:r>
              <a:rPr lang="en-GB" altLang="zh-CN" sz="2200" dirty="0" smtClean="0">
                <a:solidFill>
                  <a:srgbClr val="000000"/>
                </a:solidFill>
              </a:rPr>
              <a:t>[</a:t>
            </a:r>
            <a:r>
              <a:rPr lang="zh-CN" altLang="en-GB" sz="2200" dirty="0" smtClean="0">
                <a:solidFill>
                  <a:srgbClr val="000000"/>
                </a:solidFill>
              </a:rPr>
              <a:t>访问修饰符</a:t>
            </a:r>
            <a:r>
              <a:rPr lang="en-GB" altLang="zh-CN" sz="2200" dirty="0" smtClean="0">
                <a:solidFill>
                  <a:srgbClr val="000000"/>
                </a:solidFill>
              </a:rPr>
              <a:t>]  class </a:t>
            </a:r>
            <a:r>
              <a:rPr lang="zh-CN" altLang="en-GB" sz="2200" dirty="0" smtClean="0">
                <a:solidFill>
                  <a:srgbClr val="000000"/>
                </a:solidFill>
              </a:rPr>
              <a:t>类名</a:t>
            </a:r>
            <a:r>
              <a:rPr lang="en-GB" altLang="zh-CN" sz="2200" dirty="0" smtClean="0">
                <a:solidFill>
                  <a:srgbClr val="000000"/>
                </a:solidFill>
              </a:rPr>
              <a:t>&lt;</a:t>
            </a:r>
            <a:r>
              <a:rPr lang="zh-CN" altLang="en-GB" sz="2200" dirty="0" smtClean="0">
                <a:solidFill>
                  <a:srgbClr val="000000"/>
                </a:solidFill>
              </a:rPr>
              <a:t>泛型</a:t>
            </a:r>
            <a:r>
              <a:rPr lang="en-GB" altLang="zh-CN" sz="2200" dirty="0" smtClean="0">
                <a:solidFill>
                  <a:srgbClr val="000000"/>
                </a:solidFill>
              </a:rPr>
              <a:t>1,</a:t>
            </a:r>
            <a:r>
              <a:rPr lang="zh-CN" altLang="en-GB" sz="2200" dirty="0" smtClean="0">
                <a:solidFill>
                  <a:srgbClr val="000000"/>
                </a:solidFill>
              </a:rPr>
              <a:t>泛型</a:t>
            </a:r>
            <a:r>
              <a:rPr lang="en-GB" altLang="zh-CN" sz="2200" dirty="0" smtClean="0">
                <a:solidFill>
                  <a:srgbClr val="000000"/>
                </a:solidFill>
              </a:rPr>
              <a:t>2,…&gt;{</a:t>
            </a:r>
            <a:endParaRPr lang="en-GB" altLang="zh-CN" sz="2200" dirty="0" smtClean="0">
              <a:solidFill>
                <a:srgbClr val="000000"/>
              </a:solidFill>
            </a:endParaRPr>
          </a:p>
          <a:p>
            <a:pPr>
              <a:lnSpc>
                <a:spcPct val="90000"/>
              </a:lnSpc>
              <a:buNone/>
            </a:pPr>
            <a:r>
              <a:rPr lang="en-GB" altLang="zh-CN" sz="2200" dirty="0" smtClean="0">
                <a:solidFill>
                  <a:srgbClr val="000000"/>
                </a:solidFill>
              </a:rPr>
              <a:t>        </a:t>
            </a:r>
            <a:r>
              <a:rPr lang="zh-CN" altLang="en-GB" sz="2200" dirty="0" smtClean="0">
                <a:solidFill>
                  <a:srgbClr val="000000"/>
                </a:solidFill>
              </a:rPr>
              <a:t>泛型</a:t>
            </a:r>
            <a:r>
              <a:rPr lang="en-GB" altLang="zh-CN" sz="2200" dirty="0" smtClean="0">
                <a:solidFill>
                  <a:srgbClr val="000000"/>
                </a:solidFill>
              </a:rPr>
              <a:t>1  </a:t>
            </a:r>
            <a:r>
              <a:rPr lang="zh-CN" altLang="en-GB" sz="2200" dirty="0" smtClean="0">
                <a:solidFill>
                  <a:srgbClr val="000000"/>
                </a:solidFill>
              </a:rPr>
              <a:t>泛型成员</a:t>
            </a:r>
            <a:r>
              <a:rPr lang="en-GB" altLang="zh-CN" sz="2200" dirty="0" smtClean="0">
                <a:solidFill>
                  <a:srgbClr val="000000"/>
                </a:solidFill>
              </a:rPr>
              <a:t>1;</a:t>
            </a:r>
            <a:endParaRPr lang="en-GB" altLang="zh-CN" sz="2200" dirty="0" smtClean="0">
              <a:solidFill>
                <a:srgbClr val="000000"/>
              </a:solidFill>
            </a:endParaRPr>
          </a:p>
          <a:p>
            <a:pPr>
              <a:lnSpc>
                <a:spcPct val="90000"/>
              </a:lnSpc>
              <a:buNone/>
            </a:pPr>
            <a:r>
              <a:rPr lang="zh-CN" altLang="en-GB" sz="2200" dirty="0" smtClean="0">
                <a:solidFill>
                  <a:srgbClr val="000000"/>
                </a:solidFill>
              </a:rPr>
              <a:t>        泛型</a:t>
            </a:r>
            <a:r>
              <a:rPr lang="en-GB" altLang="zh-CN" sz="2200" dirty="0" smtClean="0">
                <a:solidFill>
                  <a:srgbClr val="000000"/>
                </a:solidFill>
              </a:rPr>
              <a:t>2  </a:t>
            </a:r>
            <a:r>
              <a:rPr lang="zh-CN" altLang="en-GB" sz="2200" dirty="0" smtClean="0">
                <a:solidFill>
                  <a:srgbClr val="000000"/>
                </a:solidFill>
              </a:rPr>
              <a:t>泛型成员</a:t>
            </a:r>
            <a:r>
              <a:rPr lang="en-GB" altLang="zh-CN" sz="2200" dirty="0" smtClean="0">
                <a:solidFill>
                  <a:srgbClr val="000000"/>
                </a:solidFill>
              </a:rPr>
              <a:t>2;</a:t>
            </a:r>
            <a:endParaRPr lang="en-GB" altLang="zh-CN" sz="2200" dirty="0" smtClean="0">
              <a:solidFill>
                <a:srgbClr val="000000"/>
              </a:solidFill>
            </a:endParaRPr>
          </a:p>
          <a:p>
            <a:pPr>
              <a:lnSpc>
                <a:spcPct val="90000"/>
              </a:lnSpc>
              <a:buNone/>
            </a:pPr>
            <a:r>
              <a:rPr lang="en-GB" altLang="zh-CN" sz="2200" dirty="0" smtClean="0">
                <a:solidFill>
                  <a:srgbClr val="000000"/>
                </a:solidFill>
              </a:rPr>
              <a:t>        </a:t>
            </a:r>
            <a:r>
              <a:rPr lang="en-GB" altLang="zh-CN" sz="2200" dirty="0" smtClean="0">
                <a:latin typeface="Courier New" panose="02070309020205020404" charset="0"/>
              </a:rPr>
              <a:t>//....</a:t>
            </a:r>
            <a:endParaRPr lang="zh-CN" altLang="en-GB" sz="2200" dirty="0" smtClean="0">
              <a:latin typeface="Courier New" panose="02070309020205020404" charset="0"/>
            </a:endParaRPr>
          </a:p>
          <a:p>
            <a:pPr>
              <a:lnSpc>
                <a:spcPct val="90000"/>
              </a:lnSpc>
              <a:buNone/>
            </a:pPr>
            <a:r>
              <a:rPr lang="en-GB" altLang="zh-CN" sz="2200" dirty="0" smtClean="0">
                <a:solidFill>
                  <a:srgbClr val="000000"/>
                </a:solidFill>
              </a:rPr>
              <a:t>    }</a:t>
            </a:r>
            <a:endParaRPr lang="zh-CN" altLang="en-GB" sz="2200" dirty="0" smtClean="0">
              <a:solidFill>
                <a:srgbClr val="000000"/>
              </a:solidFill>
            </a:endParaRPr>
          </a:p>
          <a:p>
            <a:pPr>
              <a:lnSpc>
                <a:spcPct val="90000"/>
              </a:lnSpc>
            </a:pPr>
            <a:r>
              <a:rPr lang="zh-CN" altLang="en-GB" dirty="0" smtClean="0">
                <a:solidFill>
                  <a:srgbClr val="000000"/>
                </a:solidFill>
              </a:rPr>
              <a:t>声明中的泛型</a:t>
            </a:r>
            <a:r>
              <a:rPr lang="en-GB" altLang="zh-CN" dirty="0" smtClean="0">
                <a:solidFill>
                  <a:srgbClr val="000000"/>
                </a:solidFill>
              </a:rPr>
              <a:t>1</a:t>
            </a:r>
            <a:r>
              <a:rPr lang="zh-CN" altLang="en-GB" dirty="0" smtClean="0">
                <a:solidFill>
                  <a:srgbClr val="000000"/>
                </a:solidFill>
              </a:rPr>
              <a:t>、泛型</a:t>
            </a:r>
            <a:r>
              <a:rPr lang="en-GB" altLang="zh-CN" dirty="0" smtClean="0">
                <a:solidFill>
                  <a:srgbClr val="000000"/>
                </a:solidFill>
              </a:rPr>
              <a:t>2</a:t>
            </a:r>
            <a:r>
              <a:rPr lang="zh-CN" altLang="en-GB" dirty="0" smtClean="0">
                <a:solidFill>
                  <a:srgbClr val="000000"/>
                </a:solidFill>
              </a:rPr>
              <a:t>等等泛型符号可以是任意合法的</a:t>
            </a:r>
            <a:r>
              <a:rPr lang="en-GB" altLang="zh-CN" dirty="0" smtClean="0">
                <a:solidFill>
                  <a:srgbClr val="000000"/>
                </a:solidFill>
              </a:rPr>
              <a:t>Java</a:t>
            </a:r>
            <a:r>
              <a:rPr lang="zh-CN" altLang="en-GB" dirty="0" smtClean="0">
                <a:solidFill>
                  <a:srgbClr val="000000"/>
                </a:solidFill>
              </a:rPr>
              <a:t>标识符。</a:t>
            </a:r>
            <a:endParaRPr lang="zh-CN" altLang="en-US" dirty="0" smtClean="0"/>
          </a:p>
          <a:p>
            <a:pPr>
              <a:lnSpc>
                <a:spcPct val="90000"/>
              </a:lnSpc>
            </a:pPr>
            <a:endParaRPr lang="zh-CN" altLang="en-GB" dirty="0" smtClean="0">
              <a:solidFill>
                <a:srgbClr val="00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定义泛型方法</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lstStyle/>
          <a:p>
            <a:r>
              <a:rPr lang="zh-CN" altLang="en-US" dirty="0" smtClean="0"/>
              <a:t>泛型方法</a:t>
            </a:r>
            <a:r>
              <a:rPr lang="zh-CN" altLang="en-US" dirty="0" smtClean="0">
                <a:solidFill>
                  <a:srgbClr val="000000"/>
                </a:solidFill>
              </a:rPr>
              <a:t>定义格式为：</a:t>
            </a:r>
            <a:endParaRPr lang="zh-CN" altLang="en-US" dirty="0" smtClean="0">
              <a:solidFill>
                <a:srgbClr val="000000"/>
              </a:solidFill>
            </a:endParaRPr>
          </a:p>
          <a:p>
            <a:pPr lvl="1">
              <a:buNone/>
            </a:pPr>
            <a:r>
              <a:rPr lang="zh-CN" altLang="en-US" dirty="0" smtClean="0">
                <a:solidFill>
                  <a:srgbClr val="000000"/>
                </a:solidFill>
              </a:rPr>
              <a:t>访问修饰符  </a:t>
            </a:r>
            <a:r>
              <a:rPr lang="en-US" altLang="zh-CN" dirty="0" smtClean="0">
                <a:solidFill>
                  <a:srgbClr val="000000"/>
                </a:solidFill>
              </a:rPr>
              <a:t>&lt;</a:t>
            </a:r>
            <a:r>
              <a:rPr lang="zh-CN" altLang="en-US" dirty="0" smtClean="0">
                <a:solidFill>
                  <a:srgbClr val="000000"/>
                </a:solidFill>
              </a:rPr>
              <a:t>泛型列表</a:t>
            </a:r>
            <a:r>
              <a:rPr lang="en-US" altLang="zh-CN" dirty="0" smtClean="0">
                <a:solidFill>
                  <a:srgbClr val="000000"/>
                </a:solidFill>
              </a:rPr>
              <a:t>&gt;  </a:t>
            </a:r>
            <a:r>
              <a:rPr lang="zh-CN" altLang="en-US" dirty="0" smtClean="0">
                <a:solidFill>
                  <a:srgbClr val="000000"/>
                </a:solidFill>
              </a:rPr>
              <a:t>返回类型 方法名</a:t>
            </a:r>
            <a:r>
              <a:rPr lang="en-US" altLang="zh-CN" dirty="0" smtClean="0">
                <a:solidFill>
                  <a:srgbClr val="000000"/>
                </a:solidFill>
              </a:rPr>
              <a:t>(</a:t>
            </a:r>
            <a:r>
              <a:rPr lang="zh-CN" altLang="en-US" dirty="0" smtClean="0">
                <a:solidFill>
                  <a:srgbClr val="000000"/>
                </a:solidFill>
              </a:rPr>
              <a:t>参数列表</a:t>
            </a:r>
            <a:r>
              <a:rPr lang="en-US" altLang="zh-CN" dirty="0" smtClean="0">
                <a:solidFill>
                  <a:srgbClr val="000000"/>
                </a:solidFill>
              </a:rPr>
              <a:t>) {</a:t>
            </a:r>
            <a:endParaRPr lang="en-US" altLang="zh-CN" dirty="0" smtClean="0">
              <a:solidFill>
                <a:srgbClr val="000000"/>
              </a:solidFill>
            </a:endParaRPr>
          </a:p>
          <a:p>
            <a:pPr lvl="1">
              <a:buNone/>
            </a:pPr>
            <a:r>
              <a:rPr lang="en-US" altLang="zh-CN" dirty="0" smtClean="0">
                <a:solidFill>
                  <a:srgbClr val="000000"/>
                </a:solidFill>
              </a:rPr>
              <a:t>            </a:t>
            </a:r>
            <a:r>
              <a:rPr lang="zh-CN" altLang="en-US" dirty="0" smtClean="0">
                <a:solidFill>
                  <a:srgbClr val="000000"/>
                </a:solidFill>
              </a:rPr>
              <a:t>方法体</a:t>
            </a:r>
            <a:endParaRPr lang="zh-CN" altLang="en-US" dirty="0" smtClean="0">
              <a:solidFill>
                <a:srgbClr val="000000"/>
              </a:solidFill>
            </a:endParaRPr>
          </a:p>
          <a:p>
            <a:pPr lvl="1">
              <a:buNone/>
            </a:pPr>
            <a:r>
              <a:rPr lang="zh-CN" altLang="en-US" dirty="0" smtClean="0">
                <a:solidFill>
                  <a:srgbClr val="000000"/>
                </a:solidFill>
              </a:rPr>
              <a:t>   </a:t>
            </a:r>
            <a:r>
              <a:rPr lang="en-US" altLang="zh-CN" dirty="0" smtClean="0">
                <a:solidFill>
                  <a:srgbClr val="000000"/>
                </a:solidFill>
              </a:rPr>
              <a:t>}</a:t>
            </a:r>
            <a:endParaRPr lang="en-US" altLang="zh-CN" dirty="0" smtClean="0">
              <a:solidFill>
                <a:srgbClr val="000000"/>
              </a:solidFill>
            </a:endParaRPr>
          </a:p>
          <a:p>
            <a:pPr lvl="1">
              <a:buNone/>
            </a:pPr>
            <a:r>
              <a:rPr lang="en-US" altLang="zh-CN" dirty="0" smtClean="0">
                <a:solidFill>
                  <a:srgbClr val="000000"/>
                </a:solidFill>
              </a:rPr>
              <a:t> </a:t>
            </a:r>
            <a:r>
              <a:rPr lang="zh-CN" altLang="en-US" dirty="0" smtClean="0">
                <a:solidFill>
                  <a:srgbClr val="000000"/>
                </a:solidFill>
              </a:rPr>
              <a:t>其中泛型列表为用逗号分隔的合法</a:t>
            </a:r>
            <a:r>
              <a:rPr lang="en-US" altLang="zh-CN" dirty="0" smtClean="0">
                <a:solidFill>
                  <a:srgbClr val="000000"/>
                </a:solidFill>
              </a:rPr>
              <a:t>Java</a:t>
            </a:r>
            <a:r>
              <a:rPr lang="zh-CN" altLang="en-US" dirty="0" smtClean="0">
                <a:solidFill>
                  <a:srgbClr val="000000"/>
                </a:solidFill>
              </a:rPr>
              <a:t>标识符。</a:t>
            </a:r>
            <a:endParaRPr lang="zh-CN" altLang="en-US" dirty="0" smtClean="0">
              <a:solidFill>
                <a:srgbClr val="000000"/>
              </a:solidFill>
            </a:endParaRPr>
          </a:p>
          <a:p>
            <a:r>
              <a:rPr lang="zh-CN" altLang="en-US" dirty="0" smtClean="0"/>
              <a:t>在泛型列表中声明的泛型，可用于该方法的返回类型声明、参数类型声明和方法代码中的局部变量的类型声明。</a:t>
            </a:r>
            <a:endParaRPr lang="zh-CN" altLang="en-US" dirty="0" smtClean="0"/>
          </a:p>
          <a:p>
            <a:r>
              <a:rPr lang="zh-CN" altLang="en-US" dirty="0" smtClean="0"/>
              <a:t>类中其它方法不能使用当前方法声明的泛型。</a:t>
            </a:r>
            <a:endParaRPr lang="zh-CN" altLang="en-US" dirty="0" smtClean="0"/>
          </a:p>
          <a:p>
            <a:pPr>
              <a:lnSpc>
                <a:spcPct val="90000"/>
              </a:lnSpc>
            </a:pPr>
            <a:endParaRPr lang="zh-CN" altLang="en-GB" dirty="0" smtClean="0">
              <a:solidFill>
                <a:srgbClr val="00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泛型使用实例</a:t>
            </a:r>
            <a:r>
              <a:rPr lang="en-US" altLang="zh-CN" dirty="0" smtClean="0"/>
              <a:t>(1)</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pic>
        <p:nvPicPr>
          <p:cNvPr id="5122" name="Picture 2"/>
          <p:cNvPicPr>
            <a:picLocks noChangeAspect="1" noChangeArrowheads="1"/>
          </p:cNvPicPr>
          <p:nvPr/>
        </p:nvPicPr>
        <p:blipFill>
          <a:blip r:embed="rId1" cstate="print"/>
          <a:srcRect/>
          <a:stretch>
            <a:fillRect/>
          </a:stretch>
        </p:blipFill>
        <p:spPr bwMode="auto">
          <a:xfrm>
            <a:off x="1259632" y="1052736"/>
            <a:ext cx="6048672" cy="48837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泛型使用实例</a:t>
            </a:r>
            <a:r>
              <a:rPr lang="en-US" altLang="zh-CN" dirty="0" smtClean="0"/>
              <a:t>(2)</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pic>
        <p:nvPicPr>
          <p:cNvPr id="5123" name="Picture 3"/>
          <p:cNvPicPr>
            <a:picLocks noChangeAspect="1" noChangeArrowheads="1"/>
          </p:cNvPicPr>
          <p:nvPr/>
        </p:nvPicPr>
        <p:blipFill>
          <a:blip r:embed="rId1" cstate="print"/>
          <a:srcRect/>
          <a:stretch>
            <a:fillRect/>
          </a:stretch>
        </p:blipFill>
        <p:spPr bwMode="auto">
          <a:xfrm>
            <a:off x="755576" y="1412776"/>
            <a:ext cx="7511929" cy="41044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泛型通配符</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sp>
        <p:nvSpPr>
          <p:cNvPr id="4" name="内容占位符 3"/>
          <p:cNvSpPr>
            <a:spLocks noGrp="1"/>
          </p:cNvSpPr>
          <p:nvPr>
            <p:ph sz="quarter" idx="12"/>
          </p:nvPr>
        </p:nvSpPr>
        <p:spPr/>
        <p:txBody>
          <a:bodyPr>
            <a:normAutofit/>
          </a:bodyPr>
          <a:lstStyle/>
          <a:p>
            <a:r>
              <a:rPr lang="zh-CN" altLang="en-US" dirty="0" smtClean="0">
                <a:solidFill>
                  <a:srgbClr val="000000"/>
                </a:solidFill>
              </a:rPr>
              <a:t>泛型类实例之间的不兼容性会带来使用的不便。</a:t>
            </a:r>
            <a:endParaRPr lang="zh-CN" altLang="en-US" dirty="0" smtClean="0">
              <a:solidFill>
                <a:srgbClr val="000000"/>
              </a:solidFill>
            </a:endParaRPr>
          </a:p>
          <a:p>
            <a:r>
              <a:rPr lang="zh-CN" altLang="en-US" dirty="0" smtClean="0">
                <a:solidFill>
                  <a:srgbClr val="000000"/>
                </a:solidFill>
              </a:rPr>
              <a:t>使用泛型通配符</a:t>
            </a:r>
            <a:r>
              <a:rPr lang="en-US" altLang="zh-CN" dirty="0" smtClean="0">
                <a:solidFill>
                  <a:srgbClr val="000000"/>
                </a:solidFill>
              </a:rPr>
              <a:t>(?)</a:t>
            </a:r>
            <a:r>
              <a:rPr lang="zh-CN" altLang="en-US" dirty="0" smtClean="0">
                <a:solidFill>
                  <a:srgbClr val="000000"/>
                </a:solidFill>
              </a:rPr>
              <a:t>声明泛型类的变量可以解决这个问题。如：</a:t>
            </a:r>
            <a:endParaRPr lang="en-US" altLang="zh-CN" dirty="0" smtClean="0">
              <a:solidFill>
                <a:srgbClr val="000000"/>
              </a:solidFill>
            </a:endParaRPr>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dirty="0" smtClean="0"/>
              <a:t>   </a:t>
            </a:r>
            <a:r>
              <a:rPr lang="en-GB" altLang="zh-CN" sz="2000" dirty="0" smtClean="0"/>
              <a:t>Generic&lt;Boolean&gt; f1 = new Generic&lt;Boolean&gt;();</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Generic&lt;Integer&gt; f2 = new Generic&lt;Integer&gt;();</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Generic&lt;Object&gt;  f3 = new Generic&lt;Object&gt;();</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//f</a:t>
            </a:r>
            <a:r>
              <a:rPr lang="zh-CN" altLang="en-GB" sz="2000" dirty="0" smtClean="0"/>
              <a:t>可代表</a:t>
            </a:r>
            <a:r>
              <a:rPr lang="en-GB" altLang="zh-CN" sz="2000" dirty="0" smtClean="0"/>
              <a:t>Generic</a:t>
            </a:r>
            <a:r>
              <a:rPr lang="zh-CN" altLang="en-GB" sz="2000" dirty="0" smtClean="0"/>
              <a:t>所有可能的实例</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Generic&lt;?&gt;   f; </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f=f1;  //OK</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f=f2;  //OK</a:t>
            </a:r>
            <a:endParaRPr lang="en-GB" altLang="zh-CN" sz="2000" dirty="0" smtClean="0"/>
          </a:p>
          <a:p>
            <a:pPr lvl="1">
              <a:lnSpc>
                <a:spcPct val="130000"/>
              </a:lnSpc>
              <a:buClr>
                <a:srgbClr val="000000"/>
              </a:buClr>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2000" dirty="0" smtClean="0"/>
              <a:t>   f=f3;  //OK</a:t>
            </a:r>
            <a:endParaRPr lang="zh-CN" altLang="en-US" sz="2000" dirty="0" smtClean="0"/>
          </a:p>
          <a:p>
            <a:pPr>
              <a:lnSpc>
                <a:spcPct val="90000"/>
              </a:lnSpc>
            </a:pPr>
            <a:endParaRPr lang="zh-CN" altLang="en-GB" dirty="0" smtClean="0">
              <a:solidFill>
                <a:srgbClr val="000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泛型通配符使用实例</a:t>
            </a:r>
            <a:endParaRPr lang="zh-CN" altLang="en-US" dirty="0"/>
          </a:p>
        </p:txBody>
      </p:sp>
      <p:sp>
        <p:nvSpPr>
          <p:cNvPr id="3" name="灯片编号占位符 2"/>
          <p:cNvSpPr>
            <a:spLocks noGrp="1"/>
          </p:cNvSpPr>
          <p:nvPr>
            <p:ph type="sldNum" sz="quarter" idx="11"/>
          </p:nvPr>
        </p:nvSpPr>
        <p:spPr/>
        <p:txBody>
          <a:bodyPr/>
          <a:lstStyle/>
          <a:p>
            <a:r>
              <a:rPr lang="en-US" altLang="zh-CN" smtClean="0"/>
              <a:t>P</a:t>
            </a:r>
            <a:fld id="{62DCC93C-90AC-48A1-9D9E-CBAB17A91522}" type="slidenum">
              <a:rPr lang="zh-CN" altLang="en-US" smtClean="0"/>
            </a:fld>
            <a:endParaRPr lang="zh-CN" altLang="en-US" dirty="0"/>
          </a:p>
        </p:txBody>
      </p:sp>
      <p:pic>
        <p:nvPicPr>
          <p:cNvPr id="6146" name="Picture 2"/>
          <p:cNvPicPr>
            <a:picLocks noChangeAspect="1" noChangeArrowheads="1"/>
          </p:cNvPicPr>
          <p:nvPr/>
        </p:nvPicPr>
        <p:blipFill>
          <a:blip r:embed="rId1" cstate="print"/>
          <a:srcRect/>
          <a:stretch>
            <a:fillRect/>
          </a:stretch>
        </p:blipFill>
        <p:spPr bwMode="auto">
          <a:xfrm>
            <a:off x="323528" y="1484784"/>
            <a:ext cx="4905375" cy="3609975"/>
          </a:xfrm>
          <a:prstGeom prst="rect">
            <a:avLst/>
          </a:prstGeom>
          <a:noFill/>
          <a:ln w="9525">
            <a:noFill/>
            <a:miter lim="800000"/>
            <a:headEnd/>
            <a:tailEnd/>
          </a:ln>
        </p:spPr>
      </p:pic>
      <p:pic>
        <p:nvPicPr>
          <p:cNvPr id="6147" name="Picture 3"/>
          <p:cNvPicPr>
            <a:picLocks noChangeAspect="1" noChangeArrowheads="1"/>
          </p:cNvPicPr>
          <p:nvPr/>
        </p:nvPicPr>
        <p:blipFill>
          <a:blip r:embed="rId2" cstate="print"/>
          <a:srcRect/>
          <a:stretch>
            <a:fillRect/>
          </a:stretch>
        </p:blipFill>
        <p:spPr bwMode="auto">
          <a:xfrm>
            <a:off x="5724128" y="1412776"/>
            <a:ext cx="2724150"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670,&quot;width&quot;:5100}"/>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9525">
          <a:noFill/>
        </a:ln>
      </a:spPr>
      <a:bodyPr lIns="92075" tIns="46038" rIns="92075" bIns="46038"/>
      <a:lstStyle>
        <a:defPPr marL="0" lvl="0" indent="0">
          <a:buNone/>
          <a:defRPr lang="en-US" altLang="zh-CN" sz="1600" dirty="0">
            <a:solidFill>
              <a:schemeClr val="bg2"/>
            </a:solidFill>
            <a:latin typeface="Courier New" panose="02070309020205020404" charset="0"/>
            <a:ea typeface="宋体" panose="02010600030101010101" pitchFamily="2" charset="-122"/>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4161</Words>
  <Application>WPS 演示</Application>
  <PresentationFormat>全屏显示(4:3)</PresentationFormat>
  <Paragraphs>217</Paragraphs>
  <Slides>19</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32" baseType="lpstr">
      <vt:lpstr>Arial</vt:lpstr>
      <vt:lpstr>宋体</vt:lpstr>
      <vt:lpstr>Wingdings</vt:lpstr>
      <vt:lpstr>Courier New</vt:lpstr>
      <vt:lpstr>微软雅黑</vt:lpstr>
      <vt:lpstr>黑体</vt:lpstr>
      <vt:lpstr>Times New Roman</vt:lpstr>
      <vt:lpstr>Calibri</vt:lpstr>
      <vt:lpstr>Monotype Sorts</vt:lpstr>
      <vt:lpstr>Wingdings</vt:lpstr>
      <vt:lpstr>Arial Unicode MS</vt:lpstr>
      <vt:lpstr>由Nordri®（www.nordridesign.com ） 设计提供</vt:lpstr>
      <vt:lpstr>Word.Picture.8</vt:lpstr>
      <vt:lpstr>面向对象程序设计</vt:lpstr>
      <vt:lpstr>多态</vt:lpstr>
      <vt:lpstr>PowerPoint 演示文稿</vt:lpstr>
      <vt:lpstr>动态绑定</vt:lpstr>
      <vt:lpstr>PowerPoint 演示文稿</vt:lpstr>
      <vt:lpstr>方法匹配和绑定</vt:lpstr>
      <vt:lpstr>对象转换</vt:lpstr>
      <vt:lpstr>PowerPoint 演示文稿</vt:lpstr>
      <vt:lpstr>将一个父类转换为子类</vt:lpstr>
      <vt:lpstr>Instanceof运算符</vt:lpstr>
      <vt:lpstr>PowerPoint 演示文稿</vt:lpstr>
      <vt:lpstr>equals方法</vt:lpstr>
      <vt:lpstr>PowerPoint 演示文稿</vt:lpstr>
      <vt:lpstr>Java-泛型</vt:lpstr>
      <vt:lpstr>定义泛型方法</vt:lpstr>
      <vt:lpstr>泛型使用实例(1)</vt:lpstr>
      <vt:lpstr>泛型使用实例(2)</vt:lpstr>
      <vt:lpstr>泛型通配符</vt:lpstr>
      <vt:lpstr>泛型通配符使用实例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645</cp:revision>
  <dcterms:created xsi:type="dcterms:W3CDTF">2017-02-24T02:44:00Z</dcterms:created>
  <dcterms:modified xsi:type="dcterms:W3CDTF">2021-04-28T16:17:29Z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2052-11.1.0.10356</vt:lpwstr>
  </property>
  <property fmtid="{D5CDD505-2E9C-101B-9397-08002B2CF9AE}" pid="6" name="ICV">
    <vt:lpwstr>09954D6DC9504F3BB5431BAE30FD3DCB</vt:lpwstr>
  </property>
</Properties>
</file>