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3"/>
    <p:sldId id="434" r:id="rId5"/>
    <p:sldId id="370" r:id="rId6"/>
    <p:sldId id="371" r:id="rId7"/>
    <p:sldId id="435" r:id="rId8"/>
    <p:sldId id="386" r:id="rId9"/>
    <p:sldId id="439" r:id="rId10"/>
    <p:sldId id="438" r:id="rId11"/>
    <p:sldId id="440" r:id="rId12"/>
    <p:sldId id="452" r:id="rId13"/>
    <p:sldId id="387" r:id="rId14"/>
    <p:sldId id="389" r:id="rId15"/>
    <p:sldId id="441" r:id="rId16"/>
    <p:sldId id="409" r:id="rId17"/>
    <p:sldId id="410" r:id="rId18"/>
    <p:sldId id="355" r:id="rId19"/>
    <p:sldId id="442" r:id="rId20"/>
    <p:sldId id="463" r:id="rId21"/>
    <p:sldId id="464" r:id="rId22"/>
    <p:sldId id="491" r:id="rId23"/>
    <p:sldId id="492" r:id="rId24"/>
    <p:sldId id="493" r:id="rId25"/>
    <p:sldId id="465" r:id="rId26"/>
    <p:sldId id="466" r:id="rId27"/>
    <p:sldId id="478" r:id="rId28"/>
    <p:sldId id="469" r:id="rId29"/>
    <p:sldId id="470" r:id="rId30"/>
    <p:sldId id="471" r:id="rId31"/>
    <p:sldId id="472" r:id="rId32"/>
    <p:sldId id="473" r:id="rId33"/>
    <p:sldId id="479" r:id="rId34"/>
    <p:sldId id="474" r:id="rId35"/>
    <p:sldId id="475" r:id="rId36"/>
    <p:sldId id="494" r:id="rId37"/>
    <p:sldId id="477" r:id="rId38"/>
    <p:sldId id="436" r:id="rId39"/>
    <p:sldId id="437" r:id="rId40"/>
    <p:sldId id="258" r:id="rId41"/>
  </p:sldIdLst>
  <p:sldSz cx="9144000" cy="6858000" type="screen4x3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2" userDrawn="1">
          <p15:clr>
            <a:srgbClr val="A4A3A4"/>
          </p15:clr>
        </p15:guide>
        <p15:guide id="2" orient="horz" pos="4234" userDrawn="1">
          <p15:clr>
            <a:srgbClr val="A4A3A4"/>
          </p15:clr>
        </p15:guide>
        <p15:guide id="3" orient="horz" pos="4065" userDrawn="1">
          <p15:clr>
            <a:srgbClr val="A4A3A4"/>
          </p15:clr>
        </p15:guide>
        <p15:guide id="4" orient="horz" pos="527" userDrawn="1">
          <p15:clr>
            <a:srgbClr val="A4A3A4"/>
          </p15:clr>
        </p15:guide>
        <p15:guide id="5" orient="horz" pos="618" userDrawn="1">
          <p15:clr>
            <a:srgbClr val="A4A3A4"/>
          </p15:clr>
        </p15:guide>
        <p15:guide id="6" pos="2880" userDrawn="1">
          <p15:clr>
            <a:srgbClr val="A4A3A4"/>
          </p15:clr>
        </p15:guide>
        <p15:guide id="7" pos="5465" userDrawn="1">
          <p15:clr>
            <a:srgbClr val="A4A3A4"/>
          </p15:clr>
        </p15:guide>
        <p15:guide id="8" pos="2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200"/>
    <a:srgbClr val="C06000"/>
    <a:srgbClr val="039ABD"/>
    <a:srgbClr val="1D8DA3"/>
    <a:srgbClr val="099AB7"/>
    <a:srgbClr val="33CCFF"/>
    <a:srgbClr val="CCFFFF"/>
    <a:srgbClr val="F3B10D"/>
    <a:srgbClr val="CCFF66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howGuides="1">
      <p:cViewPr varScale="1">
        <p:scale>
          <a:sx n="89" d="100"/>
          <a:sy n="89" d="100"/>
        </p:scale>
        <p:origin x="1238" y="-106"/>
      </p:cViewPr>
      <p:guideLst>
        <p:guide orient="horz" pos="2202"/>
        <p:guide orient="horz" pos="4234"/>
        <p:guide orient="horz" pos="4065"/>
        <p:guide orient="horz" pos="527"/>
        <p:guide orient="horz" pos="618"/>
        <p:guide pos="2880"/>
        <p:guide pos="5465"/>
        <p:guide pos="29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2454" y="24"/>
      </p:cViewPr>
      <p:guideLst>
        <p:guide orient="horz" pos="2936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gs" Target="tags/tag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19548-F454-4331-83C2-8A7F164E39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5D8A-A620-4ACE-B1CF-F6E9B44ECD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E75B1-D996-41EC-AA92-8E0F9339A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BB548-4544-46A5-8423-F94A584A16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>
                <a:ea typeface="宋体" panose="02010600030101010101" pitchFamily="2" charset="-122"/>
              </a:rPr>
              <a:t>汉字“严”的</a:t>
            </a:r>
            <a:r>
              <a:rPr lang="en-US" altLang="zh-CN" dirty="0">
                <a:ea typeface="宋体" panose="02010600030101010101" pitchFamily="2" charset="-122"/>
              </a:rPr>
              <a:t>unicode</a:t>
            </a:r>
            <a:r>
              <a:rPr lang="zh-CN" altLang="en-US" dirty="0">
                <a:ea typeface="宋体" panose="02010600030101010101" pitchFamily="2" charset="-122"/>
              </a:rPr>
              <a:t>是十六进制数</a:t>
            </a:r>
            <a:r>
              <a:rPr lang="en-US" altLang="zh-CN" dirty="0">
                <a:ea typeface="宋体" panose="02010600030101010101" pitchFamily="2" charset="-122"/>
              </a:rPr>
              <a:t>4E25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dridesign.com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dridesign.com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r="11656" b="3263"/>
          <a:stretch>
            <a:fillRect/>
          </a:stretch>
        </p:blipFill>
        <p:spPr bwMode="auto">
          <a:xfrm flipV="1">
            <a:off x="3111190" y="-1"/>
            <a:ext cx="6057842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11"/>
          <p:cNvSpPr>
            <a:spLocks noChangeArrowheads="1"/>
          </p:cNvSpPr>
          <p:nvPr userDrawn="1"/>
        </p:nvSpPr>
        <p:spPr bwMode="auto">
          <a:xfrm>
            <a:off x="19228" y="6886078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  <p:sp>
        <p:nvSpPr>
          <p:cNvPr id="23" name="Rectangle 5">
            <a:hlinkClick r:id="rId3"/>
          </p:cNvPr>
          <p:cNvSpPr txBox="1">
            <a:spLocks noChangeArrowheads="1"/>
          </p:cNvSpPr>
          <p:nvPr userDrawn="1"/>
        </p:nvSpPr>
        <p:spPr bwMode="gray">
          <a:xfrm>
            <a:off x="-17285" y="5876800"/>
            <a:ext cx="3059832" cy="504527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9000"/>
                </a:schemeClr>
              </a:gs>
              <a:gs pos="100000">
                <a:schemeClr val="bg1">
                  <a:lumMod val="75000"/>
                  <a:alpha val="48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lIns="144000" rIns="50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marL="0" indent="355600" algn="l" eaLnBrk="0" hangingPunct="0">
              <a:spcBef>
                <a:spcPct val="60000"/>
              </a:spcBef>
              <a:buClr>
                <a:schemeClr val="accent1"/>
              </a:buClr>
            </a:pPr>
            <a:endParaRPr lang="en-US" altLang="zh-CN" sz="140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</p:nvPr>
        </p:nvSpPr>
        <p:spPr>
          <a:xfrm>
            <a:off x="468313" y="2132856"/>
            <a:ext cx="6047903" cy="639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8314" y="2952936"/>
            <a:ext cx="6047292" cy="3722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5" name="内容占位符 8"/>
          <p:cNvSpPr>
            <a:spLocks noGrp="1"/>
          </p:cNvSpPr>
          <p:nvPr>
            <p:ph sz="quarter" idx="12" hasCustomPrompt="1"/>
          </p:nvPr>
        </p:nvSpPr>
        <p:spPr>
          <a:xfrm>
            <a:off x="468312" y="981075"/>
            <a:ext cx="8207376" cy="5400675"/>
          </a:xfrm>
        </p:spPr>
        <p:txBody>
          <a:bodyPr/>
          <a:lstStyle>
            <a:lvl1pPr>
              <a:lnSpc>
                <a:spcPct val="120000"/>
              </a:lnSpc>
              <a:buClr>
                <a:srgbClr val="7030A0"/>
              </a:buClr>
              <a:buSzPct val="70000"/>
              <a:buFont typeface="Wingdings" panose="05000000000000000000" pitchFamily="2" charset="2"/>
              <a:buChar char="n"/>
              <a:defRPr sz="2600" baseline="0"/>
            </a:lvl1pPr>
            <a:lvl2pPr marL="742950" indent="-285750">
              <a:buFont typeface="Wingdings" panose="05000000000000000000" pitchFamily="2" charset="2"/>
              <a:buChar char="l"/>
              <a:defRPr sz="2200"/>
            </a:lvl2pPr>
            <a:lvl3pPr>
              <a:defRPr sz="1600"/>
            </a:lvl3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38" y="6381750"/>
            <a:ext cx="8188325" cy="11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68313" y="6453188"/>
            <a:ext cx="1007343" cy="268287"/>
          </a:xfrm>
        </p:spPr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68313" y="6453188"/>
            <a:ext cx="1007343" cy="268287"/>
          </a:xfrm>
        </p:spPr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7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配色方案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日期占位符 5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7" name="页脚占位符 5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8" name="灯片编号占位符 5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741702" y="1398826"/>
            <a:ext cx="7672274" cy="4811474"/>
            <a:chOff x="468311" y="1227376"/>
            <a:chExt cx="8219055" cy="5154374"/>
          </a:xfrm>
        </p:grpSpPr>
        <p:sp>
          <p:nvSpPr>
            <p:cNvPr id="6" name="矩形 5"/>
            <p:cNvSpPr/>
            <p:nvPr userDrawn="1"/>
          </p:nvSpPr>
          <p:spPr bwMode="auto">
            <a:xfrm>
              <a:off x="7477213" y="2816932"/>
              <a:ext cx="1210153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266666" y="2816932"/>
              <a:ext cx="1210153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 bwMode="auto">
            <a:xfrm>
              <a:off x="468314" y="2816932"/>
              <a:ext cx="2606725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10" name="左大括号 9"/>
            <p:cNvSpPr/>
            <p:nvPr userDrawn="1"/>
          </p:nvSpPr>
          <p:spPr>
            <a:xfrm rot="5400000">
              <a:off x="4342637" y="-2230069"/>
              <a:ext cx="454784" cy="8203433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 userDrawn="1"/>
          </p:nvSpPr>
          <p:spPr bwMode="auto">
            <a:xfrm>
              <a:off x="468313" y="2564904"/>
              <a:ext cx="504056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" name="椭圆 11"/>
            <p:cNvSpPr/>
            <p:nvPr userDrawn="1"/>
          </p:nvSpPr>
          <p:spPr bwMode="auto">
            <a:xfrm>
              <a:off x="1169203" y="2564904"/>
              <a:ext cx="504056" cy="5040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2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3" name="椭圆 12"/>
            <p:cNvSpPr/>
            <p:nvPr userDrawn="1"/>
          </p:nvSpPr>
          <p:spPr bwMode="auto">
            <a:xfrm>
              <a:off x="1870093" y="2564904"/>
              <a:ext cx="504056" cy="50405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3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4" name="椭圆 13"/>
            <p:cNvSpPr/>
            <p:nvPr userDrawn="1"/>
          </p:nvSpPr>
          <p:spPr bwMode="auto">
            <a:xfrm>
              <a:off x="2570983" y="2564904"/>
              <a:ext cx="504056" cy="5040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4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5" name="椭圆 14"/>
            <p:cNvSpPr/>
            <p:nvPr userDrawn="1"/>
          </p:nvSpPr>
          <p:spPr bwMode="auto">
            <a:xfrm>
              <a:off x="3271873" y="2564904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5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6" name="椭圆 15"/>
            <p:cNvSpPr/>
            <p:nvPr userDrawn="1"/>
          </p:nvSpPr>
          <p:spPr bwMode="auto">
            <a:xfrm>
              <a:off x="3972763" y="2564904"/>
              <a:ext cx="504056" cy="5040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6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7" name="椭圆 16"/>
            <p:cNvSpPr/>
            <p:nvPr userDrawn="1"/>
          </p:nvSpPr>
          <p:spPr bwMode="auto">
            <a:xfrm>
              <a:off x="4673653" y="2564904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7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8" name="椭圆 17"/>
            <p:cNvSpPr/>
            <p:nvPr userDrawn="1"/>
          </p:nvSpPr>
          <p:spPr bwMode="auto">
            <a:xfrm>
              <a:off x="5374543" y="2564904"/>
              <a:ext cx="504056" cy="50405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8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9" name="椭圆 18"/>
            <p:cNvSpPr/>
            <p:nvPr userDrawn="1"/>
          </p:nvSpPr>
          <p:spPr bwMode="auto">
            <a:xfrm>
              <a:off x="6075433" y="2564904"/>
              <a:ext cx="504056" cy="50405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9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0" name="椭圆 19"/>
            <p:cNvSpPr/>
            <p:nvPr userDrawn="1"/>
          </p:nvSpPr>
          <p:spPr bwMode="auto">
            <a:xfrm>
              <a:off x="6776323" y="2564904"/>
              <a:ext cx="504056" cy="50405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10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1" name="椭圆 20"/>
            <p:cNvSpPr/>
            <p:nvPr userDrawn="1"/>
          </p:nvSpPr>
          <p:spPr bwMode="auto">
            <a:xfrm>
              <a:off x="7477213" y="2564904"/>
              <a:ext cx="504056" cy="50405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2" name="椭圆 21"/>
            <p:cNvSpPr/>
            <p:nvPr userDrawn="1"/>
          </p:nvSpPr>
          <p:spPr bwMode="auto">
            <a:xfrm>
              <a:off x="8178102" y="2564904"/>
              <a:ext cx="504056" cy="50405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3" name="左大括号 22"/>
            <p:cNvSpPr/>
            <p:nvPr userDrawn="1"/>
          </p:nvSpPr>
          <p:spPr>
            <a:xfrm rot="5400000">
              <a:off x="3736233" y="1751874"/>
              <a:ext cx="227392" cy="11561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左大括号 23"/>
            <p:cNvSpPr/>
            <p:nvPr userDrawn="1"/>
          </p:nvSpPr>
          <p:spPr>
            <a:xfrm rot="5400000">
              <a:off x="5887737" y="1050984"/>
              <a:ext cx="227392" cy="255789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左大括号 24"/>
            <p:cNvSpPr/>
            <p:nvPr userDrawn="1"/>
          </p:nvSpPr>
          <p:spPr>
            <a:xfrm rot="5400000">
              <a:off x="7941572" y="1751874"/>
              <a:ext cx="227392" cy="11561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左大括号 25"/>
            <p:cNvSpPr/>
            <p:nvPr userDrawn="1"/>
          </p:nvSpPr>
          <p:spPr>
            <a:xfrm rot="5400000">
              <a:off x="1605452" y="1079093"/>
              <a:ext cx="227392" cy="2501673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左大括号 26"/>
            <p:cNvSpPr/>
            <p:nvPr userDrawn="1"/>
          </p:nvSpPr>
          <p:spPr>
            <a:xfrm rot="5400000" flipH="1">
              <a:off x="4342828" y="632797"/>
              <a:ext cx="415982" cy="81650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内容占位符 4"/>
            <p:cNvSpPr txBox="1"/>
            <p:nvPr userDrawn="1"/>
          </p:nvSpPr>
          <p:spPr>
            <a:xfrm>
              <a:off x="468314" y="5008949"/>
              <a:ext cx="8203430" cy="42520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6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</a:rPr>
                <a:t>2003</a:t>
              </a: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</a:rPr>
                <a:t>版本配色方案 </a:t>
              </a:r>
              <a:r>
                <a:rPr lang="zh-CN" altLang="en-US" sz="1600" b="1" dirty="0" smtClean="0"/>
                <a:t>（</a:t>
              </a:r>
              <a:r>
                <a:rPr lang="en-US" altLang="zh-CN" sz="1600" b="1" dirty="0" smtClean="0"/>
                <a:t>8</a:t>
              </a:r>
              <a:r>
                <a:rPr lang="zh-CN" altLang="en-US" sz="1600" b="1" dirty="0" smtClean="0"/>
                <a:t>种配色）</a:t>
              </a:r>
              <a:endParaRPr lang="zh-CN" altLang="en-US" sz="1600" b="1" dirty="0"/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1305749" y="1916832"/>
              <a:ext cx="889987" cy="2779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文字与背景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 userDrawn="1"/>
          </p:nvSpPr>
          <p:spPr>
            <a:xfrm>
              <a:off x="3555616" y="1916832"/>
              <a:ext cx="588624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常用色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5707120" y="1916832"/>
              <a:ext cx="588624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辅助色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 userDrawn="1"/>
          </p:nvSpPr>
          <p:spPr>
            <a:xfrm>
              <a:off x="7729242" y="1916832"/>
              <a:ext cx="588623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链接色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33" name="直接连接符 32"/>
            <p:cNvCxnSpPr>
              <a:stCxn id="11" idx="7"/>
              <a:endCxn id="11" idx="3"/>
            </p:cNvCxnSpPr>
            <p:nvPr userDrawn="1"/>
          </p:nvCxnSpPr>
          <p:spPr>
            <a:xfrm flipH="1">
              <a:off x="54213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12" idx="7"/>
              <a:endCxn id="12" idx="3"/>
            </p:cNvCxnSpPr>
            <p:nvPr userDrawn="1"/>
          </p:nvCxnSpPr>
          <p:spPr>
            <a:xfrm flipH="1">
              <a:off x="124302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13" idx="7"/>
              <a:endCxn id="13" idx="3"/>
            </p:cNvCxnSpPr>
            <p:nvPr userDrawn="1"/>
          </p:nvCxnSpPr>
          <p:spPr>
            <a:xfrm flipH="1">
              <a:off x="194391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14" idx="7"/>
              <a:endCxn id="14" idx="3"/>
            </p:cNvCxnSpPr>
            <p:nvPr userDrawn="1"/>
          </p:nvCxnSpPr>
          <p:spPr>
            <a:xfrm flipH="1">
              <a:off x="264480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 userDrawn="1"/>
          </p:nvSpPr>
          <p:spPr>
            <a:xfrm>
              <a:off x="468314" y="5610918"/>
              <a:ext cx="8203430" cy="77083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7843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800" b="1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配色规则：</a:t>
              </a:r>
              <a:endParaRPr lang="en-US" altLang="zh-CN" sz="800" b="1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通常情况下，配色方案中的前四种色彩文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——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“字与背景色”固定不变。常用色与模板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/logo/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企业标准色一致。辅助色可根据对色彩的要求进行调整。链接色可根据需求进行调整。</a:t>
              </a:r>
              <a:endParaRPr lang="en-US" altLang="zh-CN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配色方案的编辑：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07/10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设计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菜单中 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颜色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中修改；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03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格式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菜单</a:t>
              </a:r>
              <a:r>
                <a:rPr lang="en-US" altLang="zh-CN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幻灯片设计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配色方案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endParaRPr lang="zh-CN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8" name="椭圆 37"/>
            <p:cNvSpPr/>
            <p:nvPr userDrawn="1"/>
          </p:nvSpPr>
          <p:spPr bwMode="auto">
            <a:xfrm>
              <a:off x="468313" y="3778814"/>
              <a:ext cx="504056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9" name="椭圆 38"/>
            <p:cNvSpPr/>
            <p:nvPr userDrawn="1"/>
          </p:nvSpPr>
          <p:spPr bwMode="auto">
            <a:xfrm>
              <a:off x="1169203" y="3778814"/>
              <a:ext cx="504056" cy="5040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2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0" name="椭圆 39"/>
            <p:cNvSpPr/>
            <p:nvPr userDrawn="1"/>
          </p:nvSpPr>
          <p:spPr bwMode="auto">
            <a:xfrm>
              <a:off x="1870093" y="3778814"/>
              <a:ext cx="504056" cy="50405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3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1" name="椭圆 40"/>
            <p:cNvSpPr/>
            <p:nvPr userDrawn="1"/>
          </p:nvSpPr>
          <p:spPr bwMode="auto">
            <a:xfrm>
              <a:off x="2570983" y="3778814"/>
              <a:ext cx="504056" cy="5040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4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42" name="直接连接符 41"/>
            <p:cNvCxnSpPr>
              <a:stCxn id="38" idx="7"/>
              <a:endCxn id="38" idx="3"/>
            </p:cNvCxnSpPr>
            <p:nvPr userDrawn="1"/>
          </p:nvCxnSpPr>
          <p:spPr>
            <a:xfrm flipH="1">
              <a:off x="54213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39" idx="7"/>
              <a:endCxn id="39" idx="3"/>
            </p:cNvCxnSpPr>
            <p:nvPr userDrawn="1"/>
          </p:nvCxnSpPr>
          <p:spPr>
            <a:xfrm flipH="1">
              <a:off x="124302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40" idx="7"/>
              <a:endCxn id="40" idx="3"/>
            </p:cNvCxnSpPr>
            <p:nvPr userDrawn="1"/>
          </p:nvCxnSpPr>
          <p:spPr>
            <a:xfrm flipH="1">
              <a:off x="194391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41" idx="7"/>
              <a:endCxn id="41" idx="3"/>
            </p:cNvCxnSpPr>
            <p:nvPr userDrawn="1"/>
          </p:nvCxnSpPr>
          <p:spPr>
            <a:xfrm flipH="1">
              <a:off x="264480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6" name="椭圆 45"/>
            <p:cNvSpPr/>
            <p:nvPr userDrawn="1"/>
          </p:nvSpPr>
          <p:spPr bwMode="auto">
            <a:xfrm>
              <a:off x="3271873" y="3778814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5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7" name="椭圆 46"/>
            <p:cNvSpPr/>
            <p:nvPr userDrawn="1"/>
          </p:nvSpPr>
          <p:spPr bwMode="auto">
            <a:xfrm>
              <a:off x="3972763" y="3778814"/>
              <a:ext cx="504056" cy="5040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6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8" name="椭圆 47"/>
            <p:cNvSpPr/>
            <p:nvPr userDrawn="1"/>
          </p:nvSpPr>
          <p:spPr bwMode="auto">
            <a:xfrm>
              <a:off x="7477213" y="3778814"/>
              <a:ext cx="504056" cy="50405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7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9" name="椭圆 48"/>
            <p:cNvSpPr/>
            <p:nvPr userDrawn="1"/>
          </p:nvSpPr>
          <p:spPr bwMode="auto">
            <a:xfrm>
              <a:off x="8178102" y="3778814"/>
              <a:ext cx="504056" cy="50405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8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9" name="内容占位符 4"/>
            <p:cNvSpPr txBox="1"/>
            <p:nvPr userDrawn="1"/>
          </p:nvSpPr>
          <p:spPr>
            <a:xfrm>
              <a:off x="468314" y="1227376"/>
              <a:ext cx="8203430" cy="42520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6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zh-CN" sz="1600" b="1" dirty="0" smtClean="0">
                  <a:solidFill>
                    <a:schemeClr val="bg1">
                      <a:lumMod val="50000"/>
                    </a:schemeClr>
                  </a:solidFill>
                </a:rPr>
                <a:t>2007/2010</a:t>
              </a:r>
              <a:r>
                <a:rPr lang="zh-CN" altLang="en-US" sz="1600" b="1" dirty="0" smtClean="0">
                  <a:solidFill>
                    <a:schemeClr val="bg1">
                      <a:lumMod val="50000"/>
                    </a:schemeClr>
                  </a:solidFill>
                </a:rPr>
                <a:t>版本配色方案 </a:t>
              </a:r>
              <a:r>
                <a:rPr lang="zh-CN" altLang="en-US" sz="1600" b="1" dirty="0" smtClean="0"/>
                <a:t>（</a:t>
              </a:r>
              <a:r>
                <a:rPr lang="en-US" altLang="zh-CN" sz="1600" b="1" dirty="0" smtClean="0"/>
                <a:t>12</a:t>
              </a:r>
              <a:r>
                <a:rPr lang="zh-CN" altLang="en-US" sz="1600" b="1" dirty="0" smtClean="0"/>
                <a:t>种配色）</a:t>
              </a:r>
              <a:endParaRPr lang="zh-CN" altLang="en-US" sz="1600" b="1" dirty="0"/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9" r="33230" b="6423"/>
          <a:stretch>
            <a:fillRect/>
          </a:stretch>
        </p:blipFill>
        <p:spPr bwMode="auto">
          <a:xfrm>
            <a:off x="3851921" y="0"/>
            <a:ext cx="529208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  <p:sp>
        <p:nvSpPr>
          <p:cNvPr id="13" name="Rectangle 5">
            <a:hlinkClick r:id="rId3"/>
          </p:cNvPr>
          <p:cNvSpPr txBox="1">
            <a:spLocks noChangeArrowheads="1"/>
          </p:cNvSpPr>
          <p:nvPr userDrawn="1"/>
        </p:nvSpPr>
        <p:spPr bwMode="gray">
          <a:xfrm>
            <a:off x="0" y="5886624"/>
            <a:ext cx="3347367" cy="504527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49000"/>
                </a:schemeClr>
              </a:gs>
              <a:gs pos="0">
                <a:schemeClr val="accent1"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lIns="144000" rIns="50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marL="355600" indent="0" algn="l" eaLnBrk="0" hangingPunct="0">
              <a:spcBef>
                <a:spcPct val="60000"/>
              </a:spcBef>
              <a:buClr>
                <a:schemeClr val="accent1"/>
              </a:buClr>
            </a:pPr>
            <a:endParaRPr lang="en-US" altLang="zh-CN" sz="140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3.jpe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r="20205" b="3263"/>
          <a:stretch>
            <a:fillRect/>
          </a:stretch>
        </p:blipFill>
        <p:spPr bwMode="auto">
          <a:xfrm rot="10800000" flipH="1" flipV="1">
            <a:off x="5353149" y="765173"/>
            <a:ext cx="3790851" cy="609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梯形 34"/>
          <p:cNvSpPr/>
          <p:nvPr userDrawn="1"/>
        </p:nvSpPr>
        <p:spPr bwMode="auto">
          <a:xfrm rot="16200000">
            <a:off x="4178903" y="-4199923"/>
            <a:ext cx="786193" cy="9144000"/>
          </a:xfrm>
          <a:prstGeom prst="trapezoid">
            <a:avLst>
              <a:gd name="adj" fmla="val 0"/>
            </a:avLst>
          </a:prstGeom>
          <a:gradFill flip="none" rotWithShape="1">
            <a:gsLst>
              <a:gs pos="73000">
                <a:srgbClr val="FFFF00">
                  <a:lumMod val="0"/>
                  <a:lumOff val="100000"/>
                  <a:alpha val="47000"/>
                </a:srgbClr>
              </a:gs>
              <a:gs pos="90000">
                <a:srgbClr val="039ABD">
                  <a:alpha val="12000"/>
                </a:srgbClr>
              </a:gs>
              <a:gs pos="100000">
                <a:srgbClr val="92D050">
                  <a:lumMod val="0"/>
                  <a:alpha val="0"/>
                </a:srgbClr>
              </a:gs>
              <a:gs pos="47000">
                <a:srgbClr val="92D050">
                  <a:alpha val="0"/>
                </a:srgbClr>
              </a:gs>
              <a:gs pos="9000">
                <a:srgbClr val="FFC000">
                  <a:alpha val="59000"/>
                </a:srgbClr>
              </a:gs>
            </a:gsLst>
            <a:lin ang="5400000" scaled="0"/>
            <a:tileRect/>
          </a:gradFill>
          <a:ln>
            <a:noFill/>
          </a:ln>
          <a:effectLst>
            <a:outerShdw blurRad="381000" dist="1143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 bwMode="auto">
          <a:xfrm>
            <a:off x="0" y="765175"/>
            <a:ext cx="8675688" cy="561657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453188"/>
            <a:ext cx="2895600" cy="26828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"/>
          </p:nvPr>
        </p:nvSpPr>
        <p:spPr>
          <a:xfrm flipH="1">
            <a:off x="468313" y="981076"/>
            <a:ext cx="8207375" cy="5400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/>
            <a:endParaRPr lang="en-US" altLang="zh-CN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530976" y="6453188"/>
            <a:ext cx="2133600" cy="26828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68313" y="6453188"/>
            <a:ext cx="1007343" cy="26828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7" name="Picture 2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38" y="6381750"/>
            <a:ext cx="8188325" cy="11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" name="Picture 2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765968"/>
            <a:ext cx="8666164" cy="12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77838" y="188641"/>
            <a:ext cx="7078190" cy="349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j-ea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j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7.bin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8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5265" y="2045970"/>
            <a:ext cx="5723255" cy="639445"/>
          </a:xfrm>
        </p:spPr>
        <p:txBody>
          <a:bodyPr>
            <a:noAutofit/>
          </a:bodyPr>
          <a:lstStyle/>
          <a:p>
            <a:pPr marL="342900" lvl="0" indent="-342900" fontAlgn="base">
              <a:lnSpc>
                <a:spcPct val="110000"/>
              </a:lnSpc>
              <a:spcAft>
                <a:spcPct val="0"/>
              </a:spcAft>
            </a:pPr>
            <a:r>
              <a:rPr lang="zh-CN" altLang="en-US" sz="5400" kern="0" dirty="0">
                <a:solidFill>
                  <a:srgbClr val="C00000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面向对象程序设计</a:t>
            </a:r>
            <a:endParaRPr lang="zh-CN" altLang="en-US" sz="5400" kern="0" dirty="0">
              <a:solidFill>
                <a:srgbClr val="C00000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19455" y="3009900"/>
            <a:ext cx="6845300" cy="1461135"/>
          </a:xfrm>
        </p:spPr>
        <p:txBody>
          <a:bodyPr>
            <a:noAutofit/>
          </a:bodyPr>
          <a:lstStyle/>
          <a:p>
            <a:r>
              <a:rPr lang="zh-CN" altLang="en-US" sz="2800" b="1" dirty="0" smtClean="0"/>
              <a:t>第</a:t>
            </a:r>
            <a:r>
              <a:rPr lang="en-US" altLang="zh-CN" sz="2800" b="1" dirty="0" smtClean="0"/>
              <a:t>3</a:t>
            </a:r>
            <a:r>
              <a:rPr lang="zh-CN" altLang="en-US" sz="2800" b="1" dirty="0" smtClean="0"/>
              <a:t>章  选择</a:t>
            </a:r>
            <a:endParaRPr lang="zh-CN" altLang="en-US" sz="2800" b="1" dirty="0" smtClean="0"/>
          </a:p>
          <a:p>
            <a:r>
              <a:rPr lang="zh-CN" altLang="en-US" sz="2800" b="1" dirty="0" smtClean="0"/>
              <a:t>第</a:t>
            </a:r>
            <a:r>
              <a:rPr lang="en-US" altLang="zh-CN" sz="2800" b="1" dirty="0" smtClean="0"/>
              <a:t>4</a:t>
            </a:r>
            <a:r>
              <a:rPr lang="zh-CN" altLang="en-US" sz="2800" b="1" dirty="0" smtClean="0"/>
              <a:t>章  数学函数、字符与字符串</a:t>
            </a:r>
            <a:endParaRPr lang="zh-CN" altLang="en-US" sz="2800" b="1" dirty="0" smtClean="0"/>
          </a:p>
          <a:p>
            <a:endParaRPr lang="zh-CN" altLang="en-US" sz="2800" b="1" dirty="0" smtClean="0"/>
          </a:p>
        </p:txBody>
      </p:sp>
      <p:sp>
        <p:nvSpPr>
          <p:cNvPr id="5" name="矩形 4"/>
          <p:cNvSpPr/>
          <p:nvPr/>
        </p:nvSpPr>
        <p:spPr>
          <a:xfrm>
            <a:off x="8172400" y="16351"/>
            <a:ext cx="64807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boolean</a:t>
            </a:r>
            <a:r>
              <a:rPr lang="zh-CN" altLang="en-US" dirty="0"/>
              <a:t>数据类型与关系运算符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CN" dirty="0"/>
              <a:t>boolean </a:t>
            </a:r>
            <a:r>
              <a:rPr lang="zh-CN" altLang="en-US" dirty="0"/>
              <a:t>数据类型声明具有</a:t>
            </a:r>
            <a:r>
              <a:rPr lang="en-US" altLang="zh-CN" dirty="0"/>
              <a:t>true</a:t>
            </a:r>
            <a:r>
              <a:rPr lang="zh-CN" altLang="en-US" dirty="0"/>
              <a:t>和</a:t>
            </a:r>
            <a:r>
              <a:rPr lang="en-US" altLang="zh-CN" dirty="0"/>
              <a:t>false</a:t>
            </a:r>
            <a:r>
              <a:rPr lang="zh-CN" altLang="en-US" dirty="0"/>
              <a:t>的变量</a:t>
            </a:r>
            <a:endParaRPr lang="zh-CN" altLang="zh-CN" dirty="0"/>
          </a:p>
          <a:p>
            <a:r>
              <a:rPr lang="zh-CN" altLang="zh-CN" dirty="0"/>
              <a:t>关系运算符用来比较两个值之间的大小，结果返回布尔值：</a:t>
            </a:r>
            <a:r>
              <a:rPr lang="en-US" altLang="zh-CN" dirty="0"/>
              <a:t>true</a:t>
            </a:r>
            <a:r>
              <a:rPr lang="zh-CN" altLang="zh-CN" dirty="0"/>
              <a:t>或者</a:t>
            </a:r>
            <a:r>
              <a:rPr lang="en-US" altLang="zh-CN" dirty="0"/>
              <a:t>false</a:t>
            </a:r>
            <a:r>
              <a:rPr lang="zh-CN" altLang="zh-CN" dirty="0"/>
              <a:t>。</a:t>
            </a:r>
            <a:endParaRPr lang="en-US" altLang="zh-CN" dirty="0" smtClean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71433" y="2637046"/>
          <a:ext cx="6882149" cy="3744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8972"/>
                <a:gridCol w="1804832"/>
                <a:gridCol w="3898345"/>
              </a:tblGrid>
              <a:tr h="6719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运算符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示例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032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含义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5010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==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Op1 == Op2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比较两个数据是否相等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4977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!=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Op1 != Op2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比较两个数据是否不等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4977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&lt; 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Op1 &lt; Op2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比较一个是否小于另一个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4479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&gt; 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Op1 &gt; Op2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比较一个是否大于另一个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4479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&lt;=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Op1 &lt;= Op2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比较一个是否小于等于另一个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680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&gt;=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Op1 &gt;= Op2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+mn-ea"/>
                          <a:ea typeface="+mn-ea"/>
                        </a:rPr>
                        <a:t>比较一个是否大于等于另一个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306070" y="0"/>
            <a:ext cx="8458200" cy="838200"/>
          </a:xfrm>
        </p:spPr>
        <p:txBody>
          <a:bodyPr vert="horz" wrap="square" lIns="92075" tIns="46038" rIns="92075" bIns="46038" anchor="ctr"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课本上程序清单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222" name="Text Box 5"/>
          <p:cNvSpPr txBox="1"/>
          <p:nvPr/>
        </p:nvSpPr>
        <p:spPr>
          <a:xfrm>
            <a:off x="914400" y="1524000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23" name="Text Box 6"/>
          <p:cNvSpPr txBox="1"/>
          <p:nvPr/>
        </p:nvSpPr>
        <p:spPr>
          <a:xfrm>
            <a:off x="267335" y="1115695"/>
            <a:ext cx="8496935" cy="44208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10000"/>
              </a:lnSpc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该程序随机产生两个一位整数 </a:t>
            </a:r>
            <a:r>
              <a:rPr lang="en-US" altLang="zh-CN" sz="32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number1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32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number2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 显示给学一个像“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What is 7 + 9?” 这样的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问题。当学生在输入对话框中输入答案之后，程序显示一条消息，表明这个答案是真还是假。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产生伪随机数的方法，用时间戳作为随机数种子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468313" y="69850"/>
            <a:ext cx="7772400" cy="533400"/>
          </a:xfrm>
        </p:spPr>
        <p:txBody>
          <a:bodyPr vert="horz" wrap="square" lIns="92075" tIns="46038" rIns="92075" bIns="46038" anchor="ctr"/>
          <a:p>
            <a:r>
              <a:rPr lang="zh-CN" altLang="en-US" sz="4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单向</a:t>
            </a:r>
            <a:r>
              <a:rPr lang="en-US" altLang="zh-CN" sz="4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lang="zh-CN" altLang="en-US" sz="4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</a:t>
            </a:r>
            <a:endParaRPr lang="zh-CN" altLang="en-US" sz="4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246" name="Rectangle 5"/>
          <p:cNvSpPr>
            <a:spLocks noGrp="1"/>
          </p:cNvSpPr>
          <p:nvPr>
            <p:ph idx="1"/>
          </p:nvPr>
        </p:nvSpPr>
        <p:spPr>
          <a:xfrm>
            <a:off x="609600" y="1181735"/>
            <a:ext cx="3886200" cy="914400"/>
          </a:xfrm>
        </p:spPr>
        <p:txBody>
          <a:bodyPr vert="horz" wrap="square" lIns="92075" tIns="46038" rIns="92075" bIns="46038" anchor="t">
            <a:normAutofit fontScale="90000" lnSpcReduction="20000"/>
          </a:bodyPr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（布尔表达式）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语句（组）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1271" name="Object 6"/>
          <p:cNvGraphicFramePr>
            <a:graphicFrameLocks noChangeAspect="1"/>
          </p:cNvGraphicFramePr>
          <p:nvPr/>
        </p:nvGraphicFramePr>
        <p:xfrm>
          <a:off x="362268" y="2646045"/>
          <a:ext cx="8418512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091430" imgH="654685" progId="Word.Picture.8">
                  <p:embed/>
                </p:oleObj>
              </mc:Choice>
              <mc:Fallback>
                <p:oleObj name="" r:id="rId1" imgW="5091430" imgH="654685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2268" y="2646045"/>
                        <a:ext cx="8418512" cy="1303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8"/>
          <p:cNvGraphicFramePr>
            <a:graphicFrameLocks noChangeAspect="1"/>
          </p:cNvGraphicFramePr>
          <p:nvPr/>
        </p:nvGraphicFramePr>
        <p:xfrm>
          <a:off x="468313" y="3808730"/>
          <a:ext cx="8542337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5678170" imgH="688340" progId="Word.Picture.8">
                  <p:embed/>
                </p:oleObj>
              </mc:Choice>
              <mc:Fallback>
                <p:oleObj name="" r:id="rId3" imgW="5678170" imgH="688340" progId="Word.Pictur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3" y="3808730"/>
                        <a:ext cx="8542337" cy="1241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5"/>
          <p:cNvSpPr txBox="1"/>
          <p:nvPr/>
        </p:nvSpPr>
        <p:spPr>
          <a:xfrm>
            <a:off x="443230" y="4900930"/>
            <a:ext cx="8256588" cy="10388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省略括号可以让代码更加简短，但是容易产生错误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当返回去修改代码时，容易忘记加上括号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4" name="Rectangle 3"/>
          <p:cNvSpPr>
            <a:spLocks noGrp="1"/>
          </p:cNvSpPr>
          <p:nvPr/>
        </p:nvSpPr>
        <p:spPr>
          <a:xfrm>
            <a:off x="3975735" y="951230"/>
            <a:ext cx="4724400" cy="1375410"/>
          </a:xfrm>
          <a:prstGeom prst="rect">
            <a:avLst/>
          </a:prstGeom>
        </p:spPr>
        <p:txBody>
          <a:bodyPr vert="horz" wrap="square" lIns="92075" tIns="46038" rIns="92075" bIns="46038" rtlCol="0" anchor="t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（布尔表达式）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布尔表达式为真时执行的语句（组） 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 {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布尔表达式为假时执行的语句（组） 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xfrm>
            <a:off x="207963" y="0"/>
            <a:ext cx="8001000" cy="914400"/>
          </a:xfrm>
        </p:spPr>
        <p:txBody>
          <a:bodyPr vert="horz" wrap="square" lIns="92075" tIns="46038" rIns="92075" bIns="46038" anchor="ctr"/>
          <a:p>
            <a:r>
              <a:rPr lang="zh-CN" altLang="en-US" dirty="0">
                <a:ea typeface="宋体" panose="02010600030101010101" pitchFamily="2" charset="-122"/>
              </a:rPr>
              <a:t>嵌套的 </a:t>
            </a:r>
            <a:r>
              <a:rPr lang="en-US" altLang="zh-CN" dirty="0">
                <a:ea typeface="宋体" panose="02010600030101010101" pitchFamily="2" charset="-122"/>
              </a:rPr>
              <a:t>if </a:t>
            </a:r>
            <a:r>
              <a:rPr lang="zh-CN" altLang="en-US" dirty="0">
                <a:ea typeface="宋体" panose="02010600030101010101" pitchFamily="2" charset="-122"/>
              </a:rPr>
              <a:t>语句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7412" name="Rectangle 3"/>
          <p:cNvSpPr/>
          <p:nvPr/>
        </p:nvSpPr>
        <p:spPr>
          <a:xfrm>
            <a:off x="2705100" y="26193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413" name="Object 4"/>
          <p:cNvGraphicFramePr>
            <a:graphicFrameLocks noChangeAspect="1"/>
          </p:cNvGraphicFramePr>
          <p:nvPr/>
        </p:nvGraphicFramePr>
        <p:xfrm>
          <a:off x="0" y="1333500"/>
          <a:ext cx="9145588" cy="396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3883660" imgH="1693545" progId="Word.Picture.8">
                  <p:embed/>
                </p:oleObj>
              </mc:Choice>
              <mc:Fallback>
                <p:oleObj name="" r:id="rId1" imgW="3883660" imgH="1693545" progId="Word.Picture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333500"/>
                        <a:ext cx="9145588" cy="3965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5"/>
          <p:cNvSpPr txBox="1"/>
          <p:nvPr/>
        </p:nvSpPr>
        <p:spPr>
          <a:xfrm>
            <a:off x="2964180" y="5537200"/>
            <a:ext cx="2923540" cy="5651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右侧的风格更好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674688" y="0"/>
            <a:ext cx="8001000" cy="914400"/>
          </a:xfrm>
        </p:spPr>
        <p:txBody>
          <a:bodyPr vert="horz" wrap="square" lIns="92075" tIns="46038" rIns="92075" bIns="46038" anchor="ctr"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常见错误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-if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行出现错误的分号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457200" y="1393825"/>
            <a:ext cx="7878763" cy="5083175"/>
          </a:xfrm>
        </p:spPr>
        <p:txBody>
          <a:bodyPr vert="horz" wrap="square" lIns="92075" tIns="46038" rIns="92075" bIns="46038" anchor="t"/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0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子句后面加一个分号是一种常见错误。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(radius &gt;= 0);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area = radius*radius*PI;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System.out.println(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"The area for the circle of radius " +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radius + " is " + area);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这个错误很难发现，因为它既不是编译错误也不是运行错误，而是一个逻辑错误。使用下行风格时经常会犯这种错误。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605" name="Line 4"/>
          <p:cNvSpPr/>
          <p:nvPr/>
        </p:nvSpPr>
        <p:spPr>
          <a:xfrm flipH="1">
            <a:off x="2628900" y="2107883"/>
            <a:ext cx="838200" cy="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5606" name="Text Box 5"/>
          <p:cNvSpPr txBox="1"/>
          <p:nvPr/>
        </p:nvSpPr>
        <p:spPr>
          <a:xfrm>
            <a:off x="3535998" y="1873250"/>
            <a:ext cx="844550" cy="469900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错误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27652" name="Rectangle 3"/>
          <p:cNvSpPr/>
          <p:nvPr/>
        </p:nvSpPr>
        <p:spPr>
          <a:xfrm>
            <a:off x="2928938" y="3067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53" name="Rectangle 4"/>
          <p:cNvSpPr/>
          <p:nvPr/>
        </p:nvSpPr>
        <p:spPr>
          <a:xfrm>
            <a:off x="2771775" y="31194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654" name="Object 5"/>
          <p:cNvGraphicFramePr>
            <a:graphicFrameLocks noChangeAspect="1"/>
          </p:cNvGraphicFramePr>
          <p:nvPr/>
        </p:nvGraphicFramePr>
        <p:xfrm>
          <a:off x="228600" y="2430463"/>
          <a:ext cx="8915400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3736340" imgH="643255" progId="Word.Picture.8">
                  <p:embed/>
                </p:oleObj>
              </mc:Choice>
              <mc:Fallback>
                <p:oleObj name="" r:id="rId1" imgW="3736340" imgH="643255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" y="2430463"/>
                        <a:ext cx="8915400" cy="1533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常见错误</a:t>
            </a:r>
            <a:r>
              <a:rPr lang="en-US" altLang="zh-CN"/>
              <a:t>-</a:t>
            </a:r>
            <a:r>
              <a:rPr lang="zh-CN" altLang="en-US"/>
              <a:t>对布尔值的冗余测试</a:t>
            </a:r>
            <a:endParaRPr lang="zh-CN" altLang="en-US"/>
          </a:p>
        </p:txBody>
      </p:sp>
      <p:sp>
        <p:nvSpPr>
          <p:cNvPr id="12294" name="Text Box 5"/>
          <p:cNvSpPr txBox="1"/>
          <p:nvPr/>
        </p:nvSpPr>
        <p:spPr>
          <a:xfrm>
            <a:off x="1814830" y="4230370"/>
            <a:ext cx="5514340" cy="10388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中代码使用相等比较操作符多余，且容易出现错误</a:t>
            </a:r>
            <a:endParaRPr lang="zh-CN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347663" y="-317"/>
            <a:ext cx="8001000" cy="914400"/>
          </a:xfrm>
        </p:spPr>
        <p:txBody>
          <a:bodyPr vert="horz" wrap="square" lIns="92075" tIns="46038" rIns="92075" bIns="46038" anchor="ctr"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常见错误 悬空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出现的歧义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494983" y="914400"/>
            <a:ext cx="8534400" cy="838200"/>
          </a:xfrm>
        </p:spPr>
        <p:txBody>
          <a:bodyPr vert="horz" wrap="square" lIns="92075" tIns="46038" rIns="92075" bIns="46038" anchor="t"/>
          <a:p>
            <a:pPr marL="0" indent="0">
              <a:lnSpc>
                <a:spcPct val="90000"/>
              </a:lnSpc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en-US" altLang="zh-CN" sz="2800" u="sng" dirty="0">
                <a:ea typeface="宋体" panose="02010600030101010101" pitchFamily="2" charset="-122"/>
              </a:rPr>
              <a:t>else</a:t>
            </a:r>
            <a:r>
              <a:rPr lang="zh-CN" altLang="en-US" sz="2800" dirty="0">
                <a:ea typeface="宋体" panose="02010600030101010101" pitchFamily="2" charset="-122"/>
              </a:rPr>
              <a:t>语句总是和跟它在同一块中离它最近的 </a:t>
            </a:r>
            <a:r>
              <a:rPr lang="en-US" altLang="zh-CN" sz="2800" u="sng" dirty="0">
                <a:ea typeface="宋体" panose="02010600030101010101" pitchFamily="2" charset="-122"/>
              </a:rPr>
              <a:t>if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ea typeface="宋体" panose="02010600030101010101" pitchFamily="2" charset="-122"/>
              </a:rPr>
              <a:t>匹配。</a:t>
            </a:r>
            <a:endParaRPr lang="zh-CN" altLang="en-US" sz="2800" dirty="0">
              <a:latin typeface="Courier" pitchFamily="49" charset="0"/>
              <a:ea typeface="宋体" panose="02010600030101010101" pitchFamily="2" charset="-122"/>
            </a:endParaRPr>
          </a:p>
        </p:txBody>
      </p:sp>
      <p:sp>
        <p:nvSpPr>
          <p:cNvPr id="23557" name="Rectangle 4"/>
          <p:cNvSpPr/>
          <p:nvPr/>
        </p:nvSpPr>
        <p:spPr>
          <a:xfrm>
            <a:off x="2466975" y="2824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558" name="Object 5"/>
          <p:cNvGraphicFramePr>
            <a:graphicFrameLocks noChangeAspect="1"/>
          </p:cNvGraphicFramePr>
          <p:nvPr/>
        </p:nvGraphicFramePr>
        <p:xfrm>
          <a:off x="495300" y="1485265"/>
          <a:ext cx="8763000" cy="267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4368800" imgH="1343660" progId="Word.Picture.8">
                  <p:embed/>
                </p:oleObj>
              </mc:Choice>
              <mc:Fallback>
                <p:oleObj name="" r:id="rId1" imgW="4368800" imgH="1343660" progId="Word.Picture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5300" y="1485265"/>
                        <a:ext cx="8763000" cy="2678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392555" y="4108450"/>
            <a:ext cx="6358890" cy="2404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10000"/>
              </a:lnSpc>
              <a:buNone/>
            </a:pPr>
            <a:r>
              <a:rPr lang="zh-CN" altLang="en-US" sz="1600" dirty="0">
                <a:ea typeface="宋体" panose="02010600030101010101" pitchFamily="2" charset="-122"/>
                <a:sym typeface="+mn-ea"/>
              </a:rPr>
              <a:t>果想让 </a:t>
            </a:r>
            <a:r>
              <a:rPr lang="en-US" altLang="zh-CN" sz="1600" u="sng" dirty="0">
                <a:ea typeface="宋体" panose="02010600030101010101" pitchFamily="2" charset="-122"/>
                <a:sym typeface="+mn-ea"/>
              </a:rPr>
              <a:t>else</a:t>
            </a:r>
            <a:r>
              <a:rPr lang="en-US" altLang="zh-CN" sz="1600" dirty="0"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1600" dirty="0">
                <a:ea typeface="宋体" panose="02010600030101010101" pitchFamily="2" charset="-122"/>
                <a:sym typeface="+mn-ea"/>
              </a:rPr>
              <a:t>子句匹配第一个</a:t>
            </a:r>
            <a:r>
              <a:rPr lang="en-US" altLang="zh-CN" sz="1600" u="sng" dirty="0">
                <a:ea typeface="宋体" panose="02010600030101010101" pitchFamily="2" charset="-122"/>
                <a:sym typeface="+mn-ea"/>
              </a:rPr>
              <a:t>if</a:t>
            </a:r>
            <a:r>
              <a:rPr lang="en-US" altLang="zh-CN" sz="1600" dirty="0"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1600" dirty="0">
                <a:ea typeface="宋体" panose="02010600030101010101" pitchFamily="2" charset="-122"/>
                <a:sym typeface="+mn-ea"/>
              </a:rPr>
              <a:t>子句，你必须加上一对花括号：</a:t>
            </a:r>
            <a:endParaRPr lang="zh-CN" altLang="en-US" sz="1600" dirty="0"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buNone/>
            </a:pPr>
            <a:endParaRPr lang="zh-CN" altLang="zh-CN" sz="1600" dirty="0"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1600" dirty="0"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1600" dirty="0"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int i = 1; </a:t>
            </a:r>
            <a:endParaRPr lang="en-US" altLang="zh-CN" sz="1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dirty="0"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int j = 2;</a:t>
            </a:r>
            <a:endParaRPr lang="en-US" altLang="zh-CN" sz="1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dirty="0"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int k = 3;</a:t>
            </a:r>
            <a:endParaRPr lang="en-US" altLang="zh-CN" sz="1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dirty="0"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if (i &gt; j) </a:t>
            </a:r>
            <a:r>
              <a:rPr lang="en-US" altLang="zh-CN" sz="1600" b="1" dirty="0">
                <a:solidFill>
                  <a:srgbClr val="FF33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{</a:t>
            </a:r>
            <a:endParaRPr lang="en-US" altLang="zh-CN" sz="1600" b="1" dirty="0">
              <a:solidFill>
                <a:srgbClr val="FF33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dirty="0"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  if (i &gt; k)</a:t>
            </a:r>
            <a:endParaRPr lang="en-US" altLang="zh-CN" sz="1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dirty="0"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    System.out.println("A");</a:t>
            </a:r>
            <a:endParaRPr lang="en-US" altLang="zh-CN" sz="1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dirty="0"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>
                <a:solidFill>
                  <a:srgbClr val="FF3300"/>
                </a:solidFill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}</a:t>
            </a:r>
            <a:endParaRPr lang="en-US" altLang="zh-CN" sz="1600" b="1" dirty="0">
              <a:solidFill>
                <a:srgbClr val="FF33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dirty="0"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else </a:t>
            </a:r>
            <a:endParaRPr lang="en-US" altLang="zh-CN" sz="16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dirty="0">
                <a:latin typeface="Courier New" panose="02070309020205020404" charset="0"/>
                <a:ea typeface="宋体" panose="02010600030101010101" pitchFamily="2" charset="-122"/>
                <a:sym typeface="+mn-ea"/>
              </a:rPr>
              <a:t>    System.out.println("B");</a:t>
            </a:r>
            <a:endParaRPr lang="zh-CN" altLang="en-US" sz="16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347663" y="-317"/>
            <a:ext cx="8001000" cy="914400"/>
          </a:xfrm>
        </p:spPr>
        <p:txBody>
          <a:bodyPr vert="horz" wrap="square" lIns="92075" tIns="46038" rIns="92075" bIns="46038" anchor="ctr"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常见错误 两个浮点数字的相等测试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176213" y="1314450"/>
            <a:ext cx="8534400" cy="838200"/>
          </a:xfrm>
        </p:spPr>
        <p:txBody>
          <a:bodyPr vert="horz" wrap="square" lIns="92075" tIns="46038" rIns="92075" bIns="46038" anchor="t">
            <a:noAutofit/>
          </a:bodyPr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3100" dirty="0">
                <a:latin typeface="Meiryo" panose="020B0604030504040204" charset="-128"/>
                <a:ea typeface="Meiryo" panose="020B0604030504040204" charset="-128"/>
                <a:cs typeface="Tempus Sans ITC" panose="04020404030D07020202" charset="0"/>
              </a:rPr>
              <a:t>double x=1.0-0.1-0.1-0.1</a:t>
            </a:r>
            <a:r>
              <a:rPr lang="en-US" altLang="zh-CN" sz="3100" dirty="0">
                <a:latin typeface="Meiryo" panose="020B0604030504040204" charset="-128"/>
                <a:ea typeface="Meiryo" panose="020B0604030504040204" charset="-128"/>
                <a:cs typeface="Tempus Sans ITC" panose="04020404030D07020202" charset="0"/>
                <a:sym typeface="+mn-ea"/>
              </a:rPr>
              <a:t>-0.1-0.1;</a:t>
            </a:r>
            <a:endParaRPr lang="en-US" altLang="zh-CN" sz="3100" dirty="0">
              <a:latin typeface="Meiryo" panose="020B0604030504040204" charset="-128"/>
              <a:ea typeface="Meiryo" panose="020B0604030504040204" charset="-128"/>
              <a:cs typeface="Tempus Sans ITC" panose="04020404030D07020202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3100" dirty="0">
                <a:latin typeface="Meiryo" panose="020B0604030504040204" charset="-128"/>
                <a:ea typeface="Meiryo" panose="020B0604030504040204" charset="-128"/>
                <a:cs typeface="Tempus Sans ITC" panose="04020404030D07020202" charset="0"/>
              </a:rPr>
              <a:t>System.out.println(x==0.5);</a:t>
            </a:r>
            <a:endParaRPr lang="en-US" altLang="zh-CN" sz="3100" dirty="0">
              <a:latin typeface="Meiryo" panose="020B0604030504040204" charset="-128"/>
              <a:ea typeface="Meiryo" panose="020B0604030504040204" charset="-128"/>
              <a:cs typeface="Tempus Sans ITC" panose="04020404030D07020202" charset="0"/>
            </a:endParaRPr>
          </a:p>
        </p:txBody>
      </p:sp>
      <p:sp>
        <p:nvSpPr>
          <p:cNvPr id="23557" name="Rectangle 4"/>
          <p:cNvSpPr/>
          <p:nvPr/>
        </p:nvSpPr>
        <p:spPr>
          <a:xfrm>
            <a:off x="2466975" y="2824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1235" y="2402205"/>
            <a:ext cx="6358890" cy="565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10000"/>
              </a:lnSpc>
              <a:buNone/>
            </a:pPr>
            <a:r>
              <a:rPr lang="zh-CN" altLang="en-US" sz="2800" b="1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结果为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endParaRPr lang="en-US" altLang="zh-CN" sz="2800" b="1" dirty="0" err="1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7390" y="4733290"/>
            <a:ext cx="7696835" cy="1512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10000"/>
              </a:lnSpc>
              <a:buNone/>
            </a:pPr>
            <a:r>
              <a:rPr lang="zh-CN" altLang="en-US" sz="2800" b="1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为什么是这样的结果？</a:t>
            </a:r>
            <a:endParaRPr lang="zh-CN" altLang="en-US" sz="2800" b="1" dirty="0" err="1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8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上节课的知识：根据</a:t>
            </a:r>
            <a:r>
              <a:rPr lang="en-US" altLang="zh-CN" sz="28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IEEE 754</a:t>
            </a:r>
            <a:r>
              <a:rPr lang="zh-CN" altLang="zh-CN" sz="28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标准 某些浮点数不能在计算机中精确表示</a:t>
            </a:r>
            <a:endParaRPr lang="zh-CN" altLang="zh-CN" sz="2800" dirty="0" err="1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" y="3317240"/>
            <a:ext cx="4276725" cy="9239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835" y="3269615"/>
            <a:ext cx="971550" cy="971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373380" y="2852420"/>
            <a:ext cx="8534400" cy="2341245"/>
          </a:xfrm>
          <a:prstGeom prst="rect">
            <a:avLst/>
          </a:prstGeom>
        </p:spPr>
        <p:txBody>
          <a:bodyPr vert="horz" wrap="square" lIns="92075" tIns="46038" rIns="92075" bIns="46038" rtlCol="0" anchor="t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2400" dirty="0">
                <a:latin typeface="Meiryo" panose="020B0604030504040204" charset="-128"/>
                <a:ea typeface="Meiryo" panose="020B0604030504040204" charset="-128"/>
                <a:cs typeface="Tempus Sans ITC" panose="04020404030D07020202" charset="0"/>
              </a:rPr>
              <a:t>final double EPSILON=1E-14;</a:t>
            </a:r>
            <a:endParaRPr lang="en-US" altLang="zh-CN" sz="2400" dirty="0">
              <a:latin typeface="Meiryo" panose="020B0604030504040204" charset="-128"/>
              <a:ea typeface="Meiryo" panose="020B0604030504040204" charset="-128"/>
              <a:cs typeface="Tempus Sans ITC" panose="04020404030D07020202" charset="0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2400" dirty="0">
                <a:latin typeface="Meiryo" panose="020B0604030504040204" charset="-128"/>
                <a:ea typeface="Meiryo" panose="020B0604030504040204" charset="-128"/>
                <a:cs typeface="Tempus Sans ITC" panose="04020404030D07020202" charset="0"/>
              </a:rPr>
              <a:t>double x=1.0-0.1-0.1-0.1</a:t>
            </a:r>
            <a:r>
              <a:rPr lang="en-US" altLang="zh-CN" sz="2400" dirty="0">
                <a:latin typeface="Meiryo" panose="020B0604030504040204" charset="-128"/>
                <a:ea typeface="Meiryo" panose="020B0604030504040204" charset="-128"/>
                <a:cs typeface="Tempus Sans ITC" panose="04020404030D07020202" charset="0"/>
                <a:sym typeface="+mn-ea"/>
              </a:rPr>
              <a:t>-0.1-0.1;</a:t>
            </a:r>
            <a:endParaRPr lang="en-US" altLang="zh-CN" sz="2400" dirty="0">
              <a:latin typeface="Meiryo" panose="020B0604030504040204" charset="-128"/>
              <a:ea typeface="Meiryo" panose="020B0604030504040204" charset="-128"/>
              <a:cs typeface="Tempus Sans ITC" panose="04020404030D07020202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2400" dirty="0">
                <a:latin typeface="Meiryo" panose="020B0604030504040204" charset="-128"/>
                <a:ea typeface="Meiryo" panose="020B0604030504040204" charset="-128"/>
                <a:cs typeface="Tempus Sans ITC" panose="04020404030D07020202" charset="0"/>
              </a:rPr>
              <a:t>if(Math.abs(x-0.5)&lt;EPSILON){</a:t>
            </a:r>
            <a:endParaRPr lang="en-US" altLang="zh-CN" sz="2400" dirty="0">
              <a:latin typeface="Meiryo" panose="020B0604030504040204" charset="-128"/>
              <a:ea typeface="Meiryo" panose="020B0604030504040204" charset="-128"/>
              <a:cs typeface="Tempus Sans ITC" panose="04020404030D07020202" charset="0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2400" dirty="0">
                <a:latin typeface="Meiryo" panose="020B0604030504040204" charset="-128"/>
                <a:ea typeface="Meiryo" panose="020B0604030504040204" charset="-128"/>
                <a:cs typeface="Tempus Sans ITC" panose="04020404030D07020202" charset="0"/>
              </a:rPr>
              <a:t>	System.out.println(“....”);</a:t>
            </a:r>
            <a:endParaRPr lang="en-US" altLang="zh-CN" sz="2400" dirty="0">
              <a:latin typeface="Meiryo" panose="020B0604030504040204" charset="-128"/>
              <a:ea typeface="Meiryo" panose="020B0604030504040204" charset="-128"/>
              <a:cs typeface="Tempus Sans ITC" panose="04020404030D07020202" charset="0"/>
            </a:endParaRPr>
          </a:p>
          <a:p>
            <a:pPr marL="0" algn="l">
              <a:lnSpc>
                <a:spcPct val="90000"/>
              </a:lnSpc>
              <a:buClrTx/>
              <a:buSzTx/>
              <a:buNone/>
            </a:pPr>
            <a:r>
              <a:rPr lang="en-US" altLang="zh-CN" sz="2400" dirty="0">
                <a:latin typeface="Meiryo" panose="020B0604030504040204" charset="-128"/>
                <a:ea typeface="宋体" panose="02010600030101010101" pitchFamily="2" charset="-122"/>
                <a:cs typeface="Tempus Sans ITC" panose="04020404030D07020202" charset="0"/>
              </a:rPr>
              <a:t>}</a:t>
            </a:r>
            <a:endParaRPr lang="en-US" altLang="zh-CN" sz="2400" dirty="0">
              <a:latin typeface="Meiryo" panose="020B0604030504040204" charset="-128"/>
              <a:ea typeface="宋体" panose="02010600030101010101" pitchFamily="2" charset="-122"/>
              <a:cs typeface="Tempus Sans ITC" panose="04020404030D07020202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3380" y="1381760"/>
            <a:ext cx="7696835" cy="1038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10000"/>
              </a:lnSpc>
              <a:buNone/>
            </a:pPr>
            <a:r>
              <a:rPr lang="zh-CN" altLang="zh-CN" sz="28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比较浮点数一般测试两个数之差的绝对值小于某个阈值</a:t>
            </a:r>
            <a:endParaRPr lang="zh-CN" altLang="zh-CN" sz="2800" dirty="0" err="1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xfrm>
            <a:off x="571183" y="0"/>
            <a:ext cx="8001000" cy="914400"/>
          </a:xfrm>
        </p:spPr>
        <p:txBody>
          <a:bodyPr vert="horz" wrap="square" lIns="92075" tIns="46038" rIns="92075" bIns="46038" anchor="ctr"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简化布尔变量赋值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28" name="Rectangle 3"/>
          <p:cNvSpPr/>
          <p:nvPr/>
        </p:nvSpPr>
        <p:spPr>
          <a:xfrm>
            <a:off x="2928938" y="3067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629" name="Object 4"/>
          <p:cNvGraphicFramePr>
            <a:graphicFrameLocks noChangeAspect="1"/>
          </p:cNvGraphicFramePr>
          <p:nvPr/>
        </p:nvGraphicFramePr>
        <p:xfrm>
          <a:off x="0" y="2371725"/>
          <a:ext cx="8573135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3409315" imgH="744855" progId="Word.Picture.8">
                  <p:embed/>
                </p:oleObj>
              </mc:Choice>
              <mc:Fallback>
                <p:oleObj name="" r:id="rId1" imgW="3409315" imgH="744855" progId="Word.Picture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2371725"/>
                        <a:ext cx="8573135" cy="186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5"/>
          <p:cNvSpPr txBox="1"/>
          <p:nvPr/>
        </p:nvSpPr>
        <p:spPr>
          <a:xfrm>
            <a:off x="3025140" y="4478020"/>
            <a:ext cx="2923540" cy="5651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右侧的风格更好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228600" y="146050"/>
            <a:ext cx="8640763" cy="627063"/>
          </a:xfrm>
        </p:spPr>
        <p:txBody>
          <a:bodyPr vert="horz" wrap="square" lIns="92075" tIns="46038" rIns="92075" bIns="46038" anchor="ctr"/>
          <a:p>
            <a:r>
              <a:rPr lang="zh-CN" altLang="en-US" sz="3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产生随机数</a:t>
            </a:r>
            <a:endParaRPr lang="zh-CN" altLang="en-US" sz="36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idx="1"/>
          </p:nvPr>
        </p:nvSpPr>
        <p:spPr>
          <a:xfrm>
            <a:off x="228600" y="1066800"/>
            <a:ext cx="8683625" cy="4513263"/>
          </a:xfrm>
        </p:spPr>
        <p:txBody>
          <a:bodyPr vert="horz" wrap="square" lIns="92075" tIns="46038" rIns="92075" bIns="46038" anchor="t"/>
          <a:p>
            <a:pPr lvl="0">
              <a:lnSpc>
                <a:spcPct val="110000"/>
              </a:lnSpc>
            </a:pPr>
            <a:endParaRPr lang="zh-CN" altLang="en-US" sz="279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10000"/>
              </a:lnSpc>
            </a:pPr>
            <a:r>
              <a:rPr lang="zh-CN" altLang="en-US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Math.</a:t>
            </a:r>
            <a:r>
              <a:rPr lang="en-US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random</a:t>
            </a:r>
            <a:r>
              <a:rPr lang="en-US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zh-CN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获得一个</a:t>
            </a:r>
            <a:r>
              <a:rPr lang="en-US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0.0</a:t>
            </a:r>
            <a:r>
              <a:rPr lang="zh-CN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1.0</a:t>
            </a:r>
            <a:r>
              <a:rPr lang="zh-CN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之间的</a:t>
            </a:r>
            <a:r>
              <a:rPr lang="zh-CN" altLang="en-US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伪</a:t>
            </a:r>
            <a:r>
              <a:rPr lang="zh-CN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随机</a:t>
            </a:r>
            <a:r>
              <a:rPr lang="en-US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double</a:t>
            </a:r>
            <a:endParaRPr lang="en-US" altLang="zh-CN" sz="279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10000"/>
              </a:lnSpc>
            </a:pPr>
            <a:endParaRPr lang="en-US" altLang="zh-CN" sz="279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10000"/>
              </a:lnSpc>
            </a:pPr>
            <a:r>
              <a:rPr lang="en-US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(int)(Math.random()*10)</a:t>
            </a:r>
            <a:r>
              <a:rPr lang="zh-CN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</a:t>
            </a:r>
            <a:r>
              <a:rPr lang="en-US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0-9</a:t>
            </a:r>
            <a:r>
              <a:rPr lang="zh-CN" altLang="en-US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间的伪随机整数</a:t>
            </a:r>
            <a:endParaRPr lang="zh-CN" altLang="en-US" sz="279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10000"/>
              </a:lnSpc>
            </a:pPr>
            <a:endParaRPr lang="zh-CN" altLang="en-US" sz="279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10000"/>
              </a:lnSpc>
            </a:pPr>
            <a:r>
              <a:rPr lang="en-US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10+</a:t>
            </a:r>
            <a:r>
              <a:rPr lang="en-US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(int)(Math.random()*20)</a:t>
            </a:r>
            <a:r>
              <a:rPr lang="zh-CN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返回</a:t>
            </a:r>
            <a:r>
              <a:rPr lang="en-US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0-29</a:t>
            </a:r>
            <a:r>
              <a:rPr lang="zh-CN" altLang="en-US" sz="279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间的伪随机整数</a:t>
            </a:r>
            <a:endParaRPr lang="zh-CN" altLang="en-US" sz="279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10000"/>
              </a:lnSpc>
            </a:pPr>
            <a:endParaRPr lang="zh-CN" altLang="en-US" sz="279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逻辑运算符</a:t>
            </a:r>
            <a:endParaRPr lang="zh-CN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zh-CN" altLang="zh-CN" dirty="0"/>
              <a:t>逻辑运算，也叫布尔运算符，只能处理布尔类型的数据，所得结果也是布尔值</a:t>
            </a:r>
            <a:r>
              <a:rPr lang="zh-CN" altLang="zh-CN" dirty="0" smtClean="0"/>
              <a:t>。</a:t>
            </a:r>
            <a:endParaRPr lang="zh-CN" altLang="zh-CN" dirty="0" smtClean="0"/>
          </a:p>
          <a:p>
            <a:pPr lvl="1"/>
            <a:r>
              <a:rPr lang="zh-CN" altLang="zh-CN" dirty="0" smtClean="0"/>
              <a:t>！ 非      </a:t>
            </a:r>
            <a:r>
              <a:rPr lang="en-US" altLang="zh-CN" dirty="0" smtClean="0"/>
              <a:t>&amp;&amp; </a:t>
            </a:r>
            <a:r>
              <a:rPr lang="zh-CN" altLang="zh-CN" dirty="0" smtClean="0"/>
              <a:t>与     </a:t>
            </a:r>
            <a:r>
              <a:rPr lang="en-US" altLang="zh-CN" dirty="0" smtClean="0"/>
              <a:t>||</a:t>
            </a:r>
            <a:r>
              <a:rPr lang="zh-CN" altLang="en-US" dirty="0" smtClean="0"/>
              <a:t>或      </a:t>
            </a:r>
            <a:r>
              <a:rPr lang="en-US" altLang="zh-CN" dirty="0" smtClean="0"/>
              <a:t>^</a:t>
            </a:r>
            <a:r>
              <a:rPr lang="zh-CN" altLang="zh-CN" dirty="0" smtClean="0"/>
              <a:t>异或</a:t>
            </a:r>
            <a:endParaRPr lang="zh-CN" altLang="zh-CN" dirty="0" smtClean="0"/>
          </a:p>
          <a:p>
            <a:endParaRPr lang="zh-CN" altLang="zh-CN" dirty="0" smtClean="0"/>
          </a:p>
          <a:p>
            <a:r>
              <a:rPr lang="zh-CN" altLang="zh-CN" dirty="0"/>
              <a:t>逻辑运算符支持“短路运算”（</a:t>
            </a:r>
            <a:r>
              <a:rPr lang="en-US" altLang="zh-CN" dirty="0"/>
              <a:t>short-circuit</a:t>
            </a:r>
            <a:r>
              <a:rPr lang="zh-CN" altLang="zh-CN" dirty="0"/>
              <a:t>）。</a:t>
            </a:r>
            <a:endParaRPr lang="zh-CN" altLang="zh-CN" dirty="0"/>
          </a:p>
          <a:p>
            <a:pPr lvl="1"/>
            <a:r>
              <a:rPr lang="en-US" altLang="zh-CN" dirty="0" smtClean="0"/>
              <a:t>p1&amp;&amp;p2 </a:t>
            </a:r>
            <a:r>
              <a:rPr lang="zh-CN" altLang="en-US" dirty="0" smtClean="0"/>
              <a:t>时</a:t>
            </a:r>
            <a:r>
              <a:rPr lang="en-US" altLang="zh-CN" dirty="0" smtClean="0"/>
              <a:t>,java</a:t>
            </a:r>
            <a:r>
              <a:rPr lang="zh-CN" altLang="en-US" dirty="0" smtClean="0"/>
              <a:t> 先计算</a:t>
            </a:r>
            <a:r>
              <a:rPr lang="en-US" altLang="zh-CN" dirty="0" smtClean="0"/>
              <a:t>p1 </a:t>
            </a:r>
            <a:r>
              <a:rPr lang="zh-CN" altLang="zh-CN" dirty="0" smtClean="0"/>
              <a:t>若</a:t>
            </a:r>
            <a:r>
              <a:rPr lang="en-US" altLang="zh-CN" dirty="0" smtClean="0"/>
              <a:t>p1</a:t>
            </a:r>
            <a:r>
              <a:rPr lang="zh-CN" altLang="zh-CN" dirty="0" smtClean="0"/>
              <a:t>为 </a:t>
            </a:r>
            <a:r>
              <a:rPr lang="en-US" altLang="zh-CN" dirty="0" smtClean="0"/>
              <a:t>true </a:t>
            </a:r>
            <a:r>
              <a:rPr lang="zh-CN" altLang="en-US" dirty="0" smtClean="0"/>
              <a:t>时 </a:t>
            </a:r>
            <a:r>
              <a:rPr lang="zh-CN" altLang="en-US" dirty="0" smtClean="0"/>
              <a:t>再计算</a:t>
            </a:r>
            <a:r>
              <a:rPr lang="en-US" altLang="zh-CN" dirty="0" smtClean="0"/>
              <a:t>p2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p1||p2 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java </a:t>
            </a:r>
            <a:r>
              <a:rPr lang="zh-CN" altLang="en-US" dirty="0" smtClean="0"/>
              <a:t>先计算</a:t>
            </a:r>
            <a:r>
              <a:rPr lang="en-US" altLang="zh-CN" dirty="0" smtClean="0"/>
              <a:t>p1 </a:t>
            </a:r>
            <a:r>
              <a:rPr lang="zh-CN" altLang="zh-CN" dirty="0" smtClean="0">
                <a:sym typeface="+mn-ea"/>
              </a:rPr>
              <a:t>若</a:t>
            </a:r>
            <a:r>
              <a:rPr lang="en-US" altLang="zh-CN" dirty="0" smtClean="0">
                <a:sym typeface="+mn-ea"/>
              </a:rPr>
              <a:t>p1</a:t>
            </a:r>
            <a:r>
              <a:rPr lang="zh-CN" altLang="zh-CN" dirty="0" smtClean="0">
                <a:sym typeface="+mn-ea"/>
              </a:rPr>
              <a:t>为 </a:t>
            </a:r>
            <a:r>
              <a:rPr lang="en-US" altLang="zh-CN" dirty="0" smtClean="0">
                <a:sym typeface="+mn-ea"/>
              </a:rPr>
              <a:t>false </a:t>
            </a:r>
            <a:r>
              <a:rPr lang="zh-CN" altLang="zh-CN" dirty="0" smtClean="0">
                <a:sym typeface="+mn-ea"/>
              </a:rPr>
              <a:t>时</a:t>
            </a:r>
            <a:r>
              <a:rPr lang="en-US" altLang="zh-CN" dirty="0" smtClean="0">
                <a:sym typeface="+mn-ea"/>
              </a:rPr>
              <a:t> </a:t>
            </a:r>
            <a:r>
              <a:rPr lang="zh-CN" altLang="en-US" dirty="0" smtClean="0">
                <a:sym typeface="+mn-ea"/>
              </a:rPr>
              <a:t>再计算</a:t>
            </a:r>
            <a:r>
              <a:rPr lang="en-US" altLang="zh-CN" dirty="0" smtClean="0">
                <a:sym typeface="+mn-ea"/>
              </a:rPr>
              <a:t>p2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xfrm>
            <a:off x="533083" y="98425"/>
            <a:ext cx="7772400" cy="762000"/>
          </a:xfrm>
        </p:spPr>
        <p:txBody>
          <a:bodyPr vert="horz" wrap="square" lIns="92075" tIns="46038" rIns="92075" bIns="46038" anchor="ctr"/>
          <a:p>
            <a:r>
              <a:rPr lang="zh-CN" altLang="zh-CN" sz="4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4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witch</a:t>
            </a:r>
            <a:endParaRPr lang="zh-CN" altLang="en-US" sz="4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156" name="Rectangle 3"/>
          <p:cNvSpPr/>
          <p:nvPr/>
        </p:nvSpPr>
        <p:spPr>
          <a:xfrm>
            <a:off x="4343400" y="1371600"/>
            <a:ext cx="3657600" cy="3810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switch </a:t>
            </a:r>
            <a:r>
              <a:rPr lang="zh-CN" altLang="en-US" sz="1900" dirty="0">
                <a:ea typeface="宋体" panose="02010600030101010101" pitchFamily="2" charset="-122"/>
              </a:rPr>
              <a:t>（</a:t>
            </a:r>
            <a:r>
              <a:rPr lang="en-US" altLang="zh-CN" sz="1900" dirty="0">
                <a:ea typeface="宋体" panose="02010600030101010101" pitchFamily="2" charset="-122"/>
              </a:rPr>
              <a:t>switch</a:t>
            </a:r>
            <a:r>
              <a:rPr lang="zh-CN" altLang="en-US" sz="1900" dirty="0">
                <a:ea typeface="宋体" panose="02010600030101010101" pitchFamily="2" charset="-122"/>
              </a:rPr>
              <a:t>表达式） </a:t>
            </a:r>
            <a:r>
              <a:rPr lang="en-US" altLang="zh-CN" sz="1900" dirty="0">
                <a:ea typeface="宋体" panose="02010600030101010101" pitchFamily="2" charset="-122"/>
              </a:rPr>
              <a:t>{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case value1:</a:t>
            </a:r>
            <a:r>
              <a:rPr lang="zh-CN" altLang="en-US" sz="1900" dirty="0">
                <a:ea typeface="宋体" panose="02010600030101010101" pitchFamily="2" charset="-122"/>
              </a:rPr>
              <a:t>语句（</a:t>
            </a:r>
            <a:r>
              <a:rPr lang="zh-CN" altLang="en-US" sz="1900" dirty="0">
                <a:ea typeface="宋体" panose="02010600030101010101" pitchFamily="2" charset="-122"/>
              </a:rPr>
              <a:t>组）</a:t>
            </a:r>
            <a:r>
              <a:rPr lang="en-US" altLang="zh-CN" sz="1900" dirty="0">
                <a:ea typeface="宋体" panose="02010600030101010101" pitchFamily="2" charset="-122"/>
              </a:rPr>
              <a:t>1;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         break;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case value2: </a:t>
            </a:r>
            <a:r>
              <a:rPr lang="zh-CN" altLang="en-US" sz="1900" dirty="0">
                <a:ea typeface="宋体" panose="02010600030101010101" pitchFamily="2" charset="-122"/>
              </a:rPr>
              <a:t>语句（组）</a:t>
            </a:r>
            <a:r>
              <a:rPr lang="en-US" altLang="zh-CN" sz="1900" dirty="0">
                <a:ea typeface="宋体" panose="02010600030101010101" pitchFamily="2" charset="-122"/>
              </a:rPr>
              <a:t>2;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         break;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…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case valueN: </a:t>
            </a:r>
            <a:r>
              <a:rPr lang="zh-CN" altLang="en-US" sz="1900" dirty="0">
                <a:ea typeface="宋体" panose="02010600030101010101" pitchFamily="2" charset="-122"/>
              </a:rPr>
              <a:t>语句（组）</a:t>
            </a:r>
            <a:r>
              <a:rPr lang="en-US" altLang="zh-CN" sz="1900" dirty="0">
                <a:ea typeface="宋体" panose="02010600030101010101" pitchFamily="2" charset="-122"/>
              </a:rPr>
              <a:t>N;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         break;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default: </a:t>
            </a:r>
            <a:r>
              <a:rPr lang="zh-CN" altLang="en-US" sz="1900" dirty="0">
                <a:ea typeface="宋体" panose="02010600030101010101" pitchFamily="2" charset="-122"/>
              </a:rPr>
              <a:t>默认情况下执行的语句（组） </a:t>
            </a:r>
            <a:r>
              <a:rPr lang="en-US" altLang="zh-CN" sz="1900" dirty="0">
                <a:ea typeface="宋体" panose="02010600030101010101" pitchFamily="2" charset="-122"/>
              </a:rPr>
              <a:t>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}</a:t>
            </a:r>
            <a:endParaRPr lang="en-US" altLang="zh-CN" sz="1900" dirty="0">
              <a:ea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94055" y="946150"/>
            <a:ext cx="4724400" cy="1720850"/>
            <a:chOff x="0" y="0"/>
            <a:chExt cx="2976" cy="1084"/>
          </a:xfrm>
        </p:grpSpPr>
        <p:sp>
          <p:nvSpPr>
            <p:cNvPr id="49163" name="Rectangle 5"/>
            <p:cNvSpPr/>
            <p:nvPr/>
          </p:nvSpPr>
          <p:spPr>
            <a:xfrm>
              <a:off x="0" y="0"/>
              <a:ext cx="1728" cy="108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pitchFamily="2" charset="2"/>
                <a:buChar char="F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55880" lvl="0" indent="-55880" defTabSz="287655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  </a:t>
              </a:r>
              <a:r>
                <a:rPr lang="en-US" altLang="zh-CN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switch</a:t>
              </a:r>
              <a:r>
                <a:rPr lang="zh-CN" altLang="en-US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表达式</a:t>
              </a: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必须能产生一个 </a:t>
              </a:r>
              <a:r>
                <a:rPr lang="en-US" altLang="zh-CN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char</a:t>
              </a:r>
              <a:r>
                <a:rPr lang="en-US" altLang="zh-CN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,、</a:t>
              </a:r>
              <a:r>
                <a:rPr lang="en-US" altLang="zh-CN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byte</a:t>
              </a: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、</a:t>
              </a:r>
              <a:r>
                <a:rPr lang="en-US" altLang="zh-CN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short</a:t>
              </a:r>
              <a:r>
                <a:rPr lang="zh-CN" altLang="en-US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、</a:t>
              </a:r>
              <a:r>
                <a:rPr lang="en-US" altLang="zh-CN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int</a:t>
              </a: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类型的值，并且必须总是用括号括住。</a:t>
              </a:r>
              <a:r>
                <a:rPr lang="zh-CN" altLang="en-US" sz="1800" b="1" dirty="0">
                  <a:solidFill>
                    <a:schemeClr val="tx2"/>
                  </a:solidFill>
                  <a:ea typeface="宋体" panose="02010600030101010101" pitchFamily="2" charset="-122"/>
                </a:rPr>
                <a:t>（</a:t>
              </a:r>
              <a:r>
                <a:rPr sz="18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jdk1.7以后是支持switch进行string类型的比较</a:t>
              </a:r>
              <a:r>
                <a:rPr lang="zh-CN" altLang="en-US" sz="18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）</a:t>
              </a:r>
              <a:endParaRPr lang="zh-CN" altLang="en-US" sz="1800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164" name="Line 6"/>
            <p:cNvSpPr/>
            <p:nvPr/>
          </p:nvSpPr>
          <p:spPr>
            <a:xfrm>
              <a:off x="1440" y="96"/>
              <a:ext cx="1536" cy="192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stealth" w="sm" len="sm"/>
            </a:ln>
          </p:spPr>
        </p:sp>
      </p:grpSp>
      <p:grpSp>
        <p:nvGrpSpPr>
          <p:cNvPr id="49159" name="Group 7"/>
          <p:cNvGrpSpPr/>
          <p:nvPr/>
        </p:nvGrpSpPr>
        <p:grpSpPr>
          <a:xfrm>
            <a:off x="685800" y="1981200"/>
            <a:ext cx="4419600" cy="4191000"/>
            <a:chOff x="0" y="0"/>
            <a:chExt cx="2784" cy="2640"/>
          </a:xfrm>
        </p:grpSpPr>
        <p:sp>
          <p:nvSpPr>
            <p:cNvPr id="3" name="Rectangle 8"/>
            <p:cNvSpPr/>
            <p:nvPr/>
          </p:nvSpPr>
          <p:spPr>
            <a:xfrm>
              <a:off x="0" y="480"/>
              <a:ext cx="2160" cy="216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Font typeface="Monotype Sorts" pitchFamily="2" charset="2"/>
                <a:buChar char="F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5000"/>
                <a:buFont typeface="Monotype Sorts" pitchFamily="2" charset="2"/>
                <a:buChar char="u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55880" lvl="0" indent="-55880" defTabSz="287655">
                <a:spcBef>
                  <a:spcPct val="0"/>
                </a:spcBef>
                <a:buNone/>
              </a:pP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value1</a:t>
              </a: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、</a:t>
              </a:r>
              <a:r>
                <a:rPr lang="en-US" altLang="zh-CN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...</a:t>
              </a: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 、 </a:t>
              </a:r>
              <a:r>
                <a:rPr lang="en-US" altLang="zh-CN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valueN</a:t>
              </a: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必须与</a:t>
              </a:r>
              <a:r>
                <a:rPr lang="en-US" altLang="zh-CN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switch</a:t>
              </a:r>
              <a:r>
                <a:rPr lang="zh-CN" altLang="en-US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表达式</a:t>
              </a: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的值具有相同的数据类型。当 </a:t>
              </a:r>
              <a:r>
                <a:rPr lang="en-US" altLang="zh-CN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switch</a:t>
              </a:r>
              <a:r>
                <a:rPr lang="zh-CN" altLang="en-US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表达式</a:t>
              </a: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的语句与case语句的值相匹配时就执行该case对应的语句 。 注意 </a:t>
              </a:r>
              <a:r>
                <a:rPr lang="en-US" altLang="zh-CN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：</a:t>
              </a:r>
              <a:r>
                <a:rPr lang="en-US" altLang="zh-CN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value1</a:t>
              </a: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、</a:t>
              </a:r>
              <a:r>
                <a:rPr lang="en-US" altLang="zh-CN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...</a:t>
              </a: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、</a:t>
              </a:r>
              <a:r>
                <a:rPr lang="en-US" altLang="zh-CN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valueN</a:t>
              </a:r>
              <a:r>
                <a:rPr lang="en-US" altLang="zh-CN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 </a:t>
              </a: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都是常量表达式，也就是说这里的表达式不能包含变量。例如：不允许出现 </a:t>
              </a:r>
              <a:r>
                <a:rPr lang="en-US" altLang="zh-CN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1 + </a:t>
              </a:r>
              <a:r>
                <a:rPr lang="en-US" altLang="zh-CN" sz="1800" u="sng" dirty="0">
                  <a:solidFill>
                    <a:schemeClr val="tx2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 </a:t>
              </a:r>
              <a:r>
                <a:rPr lang="zh-CN" altLang="en-US" sz="1800" dirty="0">
                  <a:solidFill>
                    <a:schemeClr val="tx2"/>
                  </a:solidFill>
                  <a:ea typeface="宋体" panose="02010600030101010101" pitchFamily="2" charset="-122"/>
                </a:rPr>
                <a:t>。</a:t>
              </a:r>
              <a:endParaRPr lang="zh-CN" altLang="zh-CN" sz="1800" dirty="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160" name="Line 9"/>
            <p:cNvSpPr/>
            <p:nvPr/>
          </p:nvSpPr>
          <p:spPr>
            <a:xfrm flipV="1">
              <a:off x="1968" y="0"/>
              <a:ext cx="816" cy="672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49161" name="Line 10"/>
            <p:cNvSpPr/>
            <p:nvPr/>
          </p:nvSpPr>
          <p:spPr>
            <a:xfrm flipV="1">
              <a:off x="1968" y="432"/>
              <a:ext cx="768" cy="240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49162" name="Line 11"/>
            <p:cNvSpPr/>
            <p:nvPr/>
          </p:nvSpPr>
          <p:spPr>
            <a:xfrm>
              <a:off x="1968" y="672"/>
              <a:ext cx="768" cy="384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stealth" w="sm" len="sm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>
            <p:ph idx="1"/>
          </p:nvPr>
        </p:nvSpPr>
        <p:spPr>
          <a:xfrm>
            <a:off x="228600" y="1219200"/>
            <a:ext cx="3306763" cy="2055813"/>
          </a:xfrm>
        </p:spPr>
        <p:txBody>
          <a:bodyPr vert="horz" wrap="square" lIns="92075" tIns="46038" rIns="92075" bIns="46038" anchor="t"/>
          <a:p>
            <a:pPr marL="55880" indent="-55880" defTabSz="287655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 </a:t>
            </a:r>
            <a:r>
              <a:rPr lang="en-US" altLang="zh-CN" sz="1600" u="sng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break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是可选的，但是它应该用在每个case语句后面以终止 </a:t>
            </a:r>
            <a:r>
              <a:rPr lang="en-US" altLang="zh-CN" sz="1600" u="sng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switch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语句的其它部分。 如果 </a:t>
            </a:r>
            <a:r>
              <a:rPr lang="en-US" altLang="zh-CN" sz="1600" u="sng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break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语句不出现就会继续执行下一个 </a:t>
            </a:r>
            <a:r>
              <a:rPr lang="en-US" altLang="zh-CN" sz="1600" u="sng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case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181" name="Rectangle 4"/>
          <p:cNvSpPr/>
          <p:nvPr/>
        </p:nvSpPr>
        <p:spPr>
          <a:xfrm>
            <a:off x="4343400" y="1371600"/>
            <a:ext cx="3657600" cy="3810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switch (switch</a:t>
            </a:r>
            <a:r>
              <a:rPr lang="zh-CN" altLang="en-US" sz="1900" dirty="0">
                <a:ea typeface="宋体" panose="02010600030101010101" pitchFamily="2" charset="-122"/>
              </a:rPr>
              <a:t>表达式</a:t>
            </a:r>
            <a:r>
              <a:rPr lang="en-US" altLang="zh-CN" sz="1900" dirty="0">
                <a:ea typeface="宋体" panose="02010600030101010101" pitchFamily="2" charset="-122"/>
              </a:rPr>
              <a:t>) {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case value1:</a:t>
            </a:r>
            <a:r>
              <a:rPr lang="zh-CN" altLang="en-US" sz="1900" dirty="0">
                <a:ea typeface="宋体" panose="02010600030101010101" pitchFamily="2" charset="-122"/>
              </a:rPr>
              <a:t>语句</a:t>
            </a:r>
            <a:r>
              <a:rPr lang="en-US" altLang="zh-CN" sz="1900" dirty="0">
                <a:ea typeface="宋体" panose="02010600030101010101" pitchFamily="2" charset="-122"/>
              </a:rPr>
              <a:t>(</a:t>
            </a:r>
            <a:r>
              <a:rPr lang="zh-CN" altLang="en-US" sz="1900" dirty="0">
                <a:ea typeface="宋体" panose="02010600030101010101" pitchFamily="2" charset="-122"/>
              </a:rPr>
              <a:t>组</a:t>
            </a:r>
            <a:r>
              <a:rPr lang="en-US" altLang="zh-CN" sz="1900" dirty="0">
                <a:ea typeface="宋体" panose="02010600030101010101" pitchFamily="2" charset="-122"/>
              </a:rPr>
              <a:t>)1;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         break;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case value2: </a:t>
            </a:r>
            <a:r>
              <a:rPr lang="zh-CN" altLang="en-US" sz="1900" dirty="0">
                <a:ea typeface="宋体" panose="02010600030101010101" pitchFamily="2" charset="-122"/>
              </a:rPr>
              <a:t>语句</a:t>
            </a:r>
            <a:r>
              <a:rPr lang="en-US" altLang="zh-CN" sz="1900" dirty="0">
                <a:ea typeface="宋体" panose="02010600030101010101" pitchFamily="2" charset="-122"/>
              </a:rPr>
              <a:t>t(</a:t>
            </a:r>
            <a:r>
              <a:rPr lang="zh-CN" altLang="en-US" sz="1900" dirty="0">
                <a:ea typeface="宋体" panose="02010600030101010101" pitchFamily="2" charset="-122"/>
              </a:rPr>
              <a:t>组</a:t>
            </a:r>
            <a:r>
              <a:rPr lang="en-US" altLang="zh-CN" sz="1900" dirty="0">
                <a:ea typeface="宋体" panose="02010600030101010101" pitchFamily="2" charset="-122"/>
              </a:rPr>
              <a:t>)2;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         break;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…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case valueN: </a:t>
            </a:r>
            <a:r>
              <a:rPr lang="zh-CN" altLang="en-US" sz="1900" dirty="0">
                <a:ea typeface="宋体" panose="02010600030101010101" pitchFamily="2" charset="-122"/>
              </a:rPr>
              <a:t>语句</a:t>
            </a:r>
            <a:r>
              <a:rPr lang="en-US" altLang="zh-CN" sz="1900" dirty="0">
                <a:ea typeface="宋体" panose="02010600030101010101" pitchFamily="2" charset="-122"/>
              </a:rPr>
              <a:t>(</a:t>
            </a:r>
            <a:r>
              <a:rPr lang="zh-CN" altLang="en-US" sz="1900" dirty="0">
                <a:ea typeface="宋体" panose="02010600030101010101" pitchFamily="2" charset="-122"/>
              </a:rPr>
              <a:t>组</a:t>
            </a:r>
            <a:r>
              <a:rPr lang="en-US" altLang="zh-CN" sz="1900" dirty="0">
                <a:ea typeface="宋体" panose="02010600030101010101" pitchFamily="2" charset="-122"/>
              </a:rPr>
              <a:t>)N;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         break;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  default: </a:t>
            </a:r>
            <a:r>
              <a:rPr lang="zh-CN" altLang="en-US" sz="1900" dirty="0">
                <a:ea typeface="宋体" panose="02010600030101010101" pitchFamily="2" charset="-122"/>
              </a:rPr>
              <a:t>默认情况下执行的语句</a:t>
            </a:r>
            <a:r>
              <a:rPr lang="en-US" altLang="zh-CN" sz="1900" dirty="0">
                <a:ea typeface="宋体" panose="02010600030101010101" pitchFamily="2" charset="-122"/>
              </a:rPr>
              <a:t>(</a:t>
            </a:r>
            <a:r>
              <a:rPr lang="zh-CN" altLang="en-US" sz="1900" dirty="0">
                <a:ea typeface="宋体" panose="02010600030101010101" pitchFamily="2" charset="-122"/>
              </a:rPr>
              <a:t>组</a:t>
            </a:r>
            <a:r>
              <a:rPr lang="en-US" altLang="zh-CN" sz="1900" dirty="0">
                <a:ea typeface="宋体" panose="02010600030101010101" pitchFamily="2" charset="-122"/>
              </a:rPr>
              <a:t>)</a:t>
            </a:r>
            <a:r>
              <a:rPr lang="zh-CN" altLang="en-US" sz="1900" dirty="0">
                <a:ea typeface="宋体" panose="02010600030101010101" pitchFamily="2" charset="-122"/>
              </a:rPr>
              <a:t> </a:t>
            </a:r>
            <a:r>
              <a:rPr lang="en-US" altLang="zh-CN" sz="1900" dirty="0">
                <a:ea typeface="宋体" panose="02010600030101010101" pitchFamily="2" charset="-122"/>
              </a:rPr>
              <a:t>;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1900" dirty="0">
                <a:ea typeface="宋体" panose="02010600030101010101" pitchFamily="2" charset="-122"/>
              </a:rPr>
              <a:t>}</a:t>
            </a:r>
            <a:endParaRPr lang="en-US" altLang="zh-CN" sz="19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endParaRPr lang="zh-CN" altLang="en-US" sz="1900" dirty="0">
              <a:ea typeface="宋体" panose="02010600030101010101" pitchFamily="2" charset="-122"/>
            </a:endParaRPr>
          </a:p>
        </p:txBody>
      </p:sp>
      <p:sp>
        <p:nvSpPr>
          <p:cNvPr id="3" name="Line 5"/>
          <p:cNvSpPr/>
          <p:nvPr/>
        </p:nvSpPr>
        <p:spPr>
          <a:xfrm>
            <a:off x="3200400" y="1981200"/>
            <a:ext cx="1828800" cy="3048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50182" name="Line 6"/>
          <p:cNvSpPr/>
          <p:nvPr/>
        </p:nvSpPr>
        <p:spPr>
          <a:xfrm>
            <a:off x="3200400" y="1981200"/>
            <a:ext cx="1828800" cy="9906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50183" name="Line 7"/>
          <p:cNvSpPr/>
          <p:nvPr/>
        </p:nvSpPr>
        <p:spPr>
          <a:xfrm>
            <a:off x="3200400" y="1981200"/>
            <a:ext cx="1828800" cy="198120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50187" name="Rectangle 11"/>
          <p:cNvSpPr/>
          <p:nvPr/>
        </p:nvSpPr>
        <p:spPr>
          <a:xfrm>
            <a:off x="3535680" y="4929505"/>
            <a:ext cx="4495800" cy="1524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55880" lvl="0" indent="-55880" defTabSz="287655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2"/>
                </a:solidFill>
                <a:ea typeface="宋体" panose="02010600030101010101" pitchFamily="2" charset="-122"/>
              </a:rPr>
              <a:t>	</a:t>
            </a:r>
            <a:r>
              <a:rPr lang="zh-CN" altLang="en-US" sz="16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600" b="1" u="sng" dirty="0">
                <a:solidFill>
                  <a:schemeClr val="tx2"/>
                </a:solidFill>
                <a:ea typeface="宋体" panose="02010600030101010101" pitchFamily="2" charset="-122"/>
              </a:rPr>
              <a:t>case</a:t>
            </a:r>
            <a:r>
              <a:rPr lang="zh-CN" altLang="en-US" sz="1600" b="1" dirty="0">
                <a:solidFill>
                  <a:schemeClr val="tx2"/>
                </a:solidFill>
                <a:ea typeface="宋体" panose="02010600030101010101" pitchFamily="2" charset="-122"/>
              </a:rPr>
              <a:t>语句是顺序执行的，但是这些</a:t>
            </a:r>
            <a:r>
              <a:rPr lang="en-US" altLang="zh-CN" sz="1600" b="1" dirty="0">
                <a:solidFill>
                  <a:schemeClr val="tx2"/>
                </a:solidFill>
                <a:ea typeface="宋体" panose="02010600030101010101" pitchFamily="2" charset="-122"/>
              </a:rPr>
              <a:t>case</a:t>
            </a:r>
            <a:r>
              <a:rPr lang="zh-CN" altLang="en-US" sz="1600" b="1" dirty="0">
                <a:solidFill>
                  <a:schemeClr val="tx2"/>
                </a:solidFill>
                <a:ea typeface="宋体" panose="02010600030101010101" pitchFamily="2" charset="-122"/>
              </a:rPr>
              <a:t>（包括默认情况）的顺序是不重要的。然而</a:t>
            </a:r>
            <a:r>
              <a:rPr lang="en-US" altLang="zh-CN" sz="1600" b="1" dirty="0">
                <a:solidFill>
                  <a:schemeClr val="tx2"/>
                </a:solidFill>
                <a:ea typeface="宋体" panose="02010600030101010101" pitchFamily="2" charset="-122"/>
              </a:rPr>
              <a:t>, </a:t>
            </a:r>
            <a:r>
              <a:rPr lang="zh-CN" altLang="en-US" sz="1600" b="1" dirty="0">
                <a:solidFill>
                  <a:schemeClr val="tx2"/>
                </a:solidFill>
                <a:ea typeface="宋体" panose="02010600030101010101" pitchFamily="2" charset="-122"/>
              </a:rPr>
              <a:t>良好的程序设计风格就是遵从</a:t>
            </a:r>
            <a:r>
              <a:rPr lang="en-US" altLang="zh-CN" sz="1600" b="1" dirty="0">
                <a:solidFill>
                  <a:schemeClr val="tx2"/>
                </a:solidFill>
                <a:ea typeface="宋体" panose="02010600030101010101" pitchFamily="2" charset="-122"/>
              </a:rPr>
              <a:t>case</a:t>
            </a:r>
            <a:r>
              <a:rPr lang="zh-CN" altLang="en-US" sz="1600" b="1" dirty="0">
                <a:solidFill>
                  <a:schemeClr val="tx2"/>
                </a:solidFill>
                <a:ea typeface="宋体" panose="02010600030101010101" pitchFamily="2" charset="-122"/>
              </a:rPr>
              <a:t>的逻辑顺序排列，并且把默认情况放在最后。</a:t>
            </a:r>
            <a:endParaRPr lang="zh-CN" altLang="en-US" sz="1600" b="1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0188" name="Rectangle 12"/>
          <p:cNvSpPr/>
          <p:nvPr/>
        </p:nvSpPr>
        <p:spPr>
          <a:xfrm>
            <a:off x="309563" y="3697288"/>
            <a:ext cx="3306762" cy="13049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55880" lvl="0" indent="-55880" defTabSz="287655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600" b="1" u="sng" dirty="0">
                <a:solidFill>
                  <a:schemeClr val="tx2"/>
                </a:solidFill>
                <a:ea typeface="宋体" panose="02010600030101010101" pitchFamily="2" charset="-122"/>
              </a:rPr>
              <a:t>default</a:t>
            </a:r>
            <a:r>
              <a:rPr lang="zh-CN" altLang="en-US" sz="1600" b="1" dirty="0">
                <a:solidFill>
                  <a:schemeClr val="tx2"/>
                </a:solidFill>
                <a:ea typeface="宋体" panose="02010600030101010101" pitchFamily="2" charset="-122"/>
              </a:rPr>
              <a:t>语句是可选的， 用来完成没有一个指定的case与switch表达式匹配时应该采取的操作。</a:t>
            </a:r>
            <a:endParaRPr lang="zh-CN" altLang="en-US" sz="1600" b="1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0189" name="Line 13"/>
          <p:cNvSpPr/>
          <p:nvPr/>
        </p:nvSpPr>
        <p:spPr>
          <a:xfrm>
            <a:off x="3497263" y="4311650"/>
            <a:ext cx="882650" cy="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headEnd type="none" w="med" len="med"/>
            <a:tailEnd type="stealth" w="sm" len="sm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charRg st="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charRg st="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188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188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0187" grpId="0"/>
      <p:bldP spid="5018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0" dirty="0"/>
              <a:t>条件表达式</a:t>
            </a:r>
            <a:endParaRPr lang="zh-CN" altLang="zh-CN" b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CN" dirty="0"/>
              <a:t>(</a:t>
            </a:r>
            <a:r>
              <a:rPr lang="en-US" altLang="zh-CN" dirty="0" err="1"/>
              <a:t>boolean_expr</a:t>
            </a:r>
            <a:r>
              <a:rPr lang="en-US" altLang="zh-CN" dirty="0"/>
              <a:t>) </a:t>
            </a:r>
            <a:r>
              <a:rPr lang="en-US" altLang="zh-CN" b="1" dirty="0"/>
              <a:t>?</a:t>
            </a:r>
            <a:r>
              <a:rPr lang="en-US" altLang="zh-CN" dirty="0"/>
              <a:t> </a:t>
            </a:r>
            <a:r>
              <a:rPr lang="en-US" altLang="zh-CN" dirty="0" err="1"/>
              <a:t>true_statement</a:t>
            </a:r>
            <a:r>
              <a:rPr lang="en-US" altLang="zh-CN" dirty="0"/>
              <a:t> </a:t>
            </a:r>
            <a:r>
              <a:rPr lang="en-US" altLang="zh-CN" b="1" dirty="0"/>
              <a:t>: </a:t>
            </a:r>
            <a:r>
              <a:rPr lang="en-US" altLang="zh-CN" dirty="0" err="1"/>
              <a:t>false_statement</a:t>
            </a:r>
            <a:r>
              <a:rPr lang="zh-CN" altLang="zh-CN" dirty="0"/>
              <a:t>；</a:t>
            </a:r>
            <a:endParaRPr lang="zh-CN" altLang="zh-CN" dirty="0"/>
          </a:p>
          <a:p>
            <a:endParaRPr lang="en-US" altLang="zh-CN" dirty="0" smtClean="0"/>
          </a:p>
          <a:p>
            <a:r>
              <a:rPr lang="zh-CN" altLang="zh-CN" dirty="0"/>
              <a:t>例如：</a:t>
            </a:r>
            <a:endParaRPr lang="zh-CN" altLang="zh-CN" dirty="0"/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  result= sum==0 </a:t>
            </a:r>
            <a:r>
              <a:rPr lang="en-US" altLang="zh-CN" b="1" dirty="0"/>
              <a:t>? </a:t>
            </a:r>
            <a:r>
              <a:rPr lang="en-US" altLang="zh-CN" dirty="0"/>
              <a:t>100 </a:t>
            </a:r>
            <a:r>
              <a:rPr lang="en-US" altLang="zh-CN" b="1" dirty="0"/>
              <a:t>:</a:t>
            </a:r>
            <a:r>
              <a:rPr lang="en-US" altLang="zh-CN" dirty="0"/>
              <a:t> 2*</a:t>
            </a:r>
            <a:r>
              <a:rPr lang="en-US" altLang="zh-CN" dirty="0" err="1"/>
              <a:t>num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endParaRPr lang="en-US" altLang="zh-CN" dirty="0"/>
          </a:p>
          <a:p>
            <a:pPr lvl="0"/>
            <a:r>
              <a:rPr lang="en-US" altLang="zh-CN" dirty="0" smtClean="0"/>
              <a:t>Java</a:t>
            </a:r>
            <a:r>
              <a:rPr lang="zh-CN" altLang="en-US" dirty="0" smtClean="0"/>
              <a:t>中唯一的三元运算符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68611" name="Rectangle 2"/>
          <p:cNvSpPr>
            <a:spLocks noGrp="1"/>
          </p:cNvSpPr>
          <p:nvPr>
            <p:ph type="title"/>
          </p:nvPr>
        </p:nvSpPr>
        <p:spPr>
          <a:xfrm>
            <a:off x="381000" y="71438"/>
            <a:ext cx="8915400" cy="609600"/>
          </a:xfrm>
        </p:spPr>
        <p:txBody>
          <a:bodyPr vert="horz" wrap="square" lIns="92075" tIns="46038" rIns="92075" bIns="46038" anchor="ctr"/>
          <a:p>
            <a:r>
              <a:rPr lang="zh-CN" altLang="zh-CN" sz="3600" b="0" dirty="0"/>
              <a:t>运算符优先级和结合方向</a:t>
            </a:r>
            <a:endParaRPr lang="zh-CN" altLang="zh-CN" sz="3600" b="0" dirty="0"/>
          </a:p>
        </p:txBody>
      </p:sp>
      <p:sp>
        <p:nvSpPr>
          <p:cNvPr id="68612" name="Rectangle 3"/>
          <p:cNvSpPr>
            <a:spLocks noGrp="1"/>
          </p:cNvSpPr>
          <p:nvPr>
            <p:ph idx="1"/>
          </p:nvPr>
        </p:nvSpPr>
        <p:spPr>
          <a:xfrm>
            <a:off x="266700" y="866775"/>
            <a:ext cx="3467100" cy="4191635"/>
          </a:xfrm>
        </p:spPr>
        <p:txBody>
          <a:bodyPr vert="horz" wrap="square" lIns="92075" tIns="46038" rIns="92075" bIns="46038" anchor="t">
            <a:noAutofit/>
          </a:bodyPr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计算括号里的表达式。（括号可以嵌套，在嵌套的情况下，先计算里层括号的表达式。）当计算没有括号的表达式时，运算符会按照优先级规则和结合规则完成计算。如果相邻两个运算符优先级相同，那么它们的结合方向决定了它们的执行顺序。除了赋值运算符外，所有的二元运算符都是左结合的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613" name="Rectangle 4"/>
          <p:cNvSpPr/>
          <p:nvPr/>
        </p:nvSpPr>
        <p:spPr>
          <a:xfrm>
            <a:off x="2166938" y="2743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3800" y="866775"/>
            <a:ext cx="5410200" cy="45948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00509" y="5994623"/>
            <a:ext cx="7200800" cy="369332"/>
          </a:xfrm>
          <a:prstGeom prst="rect">
            <a:avLst/>
          </a:prstGeom>
        </p:spPr>
        <p:txBody>
          <a:bodyPr wrap="square">
            <a:spAutoFit/>
          </a:bodyPr>
          <a:p>
            <a:pPr marL="99060" indent="266700" algn="just">
              <a:spcAft>
                <a:spcPts val="0"/>
              </a:spcAft>
            </a:pP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（（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x&lt;y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&amp;&amp;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x&gt;10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））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||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（（（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y&gt;0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x&lt;50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））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y&gt;50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））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1000" y="5534025"/>
            <a:ext cx="8564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在表达式中，为了使表达式的结构更清晰，可以显示的用（）标明运算次序</a:t>
            </a:r>
            <a:endParaRPr lang="zh-CN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>
          <a:xfrm>
            <a:off x="190500" y="-111760"/>
            <a:ext cx="8763000" cy="1066800"/>
          </a:xfrm>
        </p:spPr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常用数学函数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347663" y="1547813"/>
            <a:ext cx="8796337" cy="4114800"/>
          </a:xfrm>
        </p:spPr>
        <p:txBody>
          <a:bodyPr vert="horz" wrap="square" lIns="92075" tIns="46038" rIns="92075" bIns="46038" anchor="t"/>
          <a:p>
            <a:pPr indent="0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Math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类中提供了许多方法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三角函数方法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指数函数方法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服务方法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三角函数方法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pic>
        <p:nvPicPr>
          <p:cNvPr id="5125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38" y="1031240"/>
            <a:ext cx="8950325" cy="4344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>
            <a:normAutofit fontScale="65000"/>
          </a:bodyPr>
          <a:p>
            <a:pPr marL="0" indent="0">
              <a:buNone/>
            </a:pPr>
            <a:r>
              <a:rPr lang="zh-CN" altLang="en-US"/>
              <a:t>public class ComputeAngles {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public static void main(String[] args) {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Scanner input = new Scanner(System.in);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System.out.print("Enter three points: ");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double x1 = input.nextDouble();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double y1 = input.nextDouble();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double x2 = input.nextDouble();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double y2 = input.nextDouble();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double x3 = input.nextDouble();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double y3 = input.nextDouble();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          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zh-CN" altLang="en-US" sz="1500">
                <a:sym typeface="+mn-ea"/>
              </a:rPr>
              <a:t>   // Compute three sides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double a = Math.sqrt((x2 - x3) * (x2 - x3) 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    + (y2 - y3) * (y2 - y3));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double b = Math.sqrt((x1 - x3) * (x1 - x3) 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    + (y1 - y3) * (y1 - y3));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double c = Math.sqrt((x1 - x2) * (x1 - x2) 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    + (y1 - y2) * (y1 - y2));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// Compute three angles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double A = Math.toDegrees(Math.acos((a * a - b * b - c * c) 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    / (-2 * b * c)));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double B = Math.toDegrees(Math.acos((b * b - a * a - c * c) 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    / (-2 * a * c)));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double C = Math.toDegrees(Math.acos((c * c - b * b - a * a) 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    / (-2 * a * b)));</a:t>
            </a:r>
            <a:endParaRPr lang="zh-CN" altLang="en-US" sz="1500"/>
          </a:p>
          <a:p>
            <a:pPr marL="0" indent="0">
              <a:buNone/>
            </a:pPr>
            <a:r>
              <a:rPr lang="zh-CN" altLang="en-US" sz="1500">
                <a:sym typeface="+mn-ea"/>
              </a:rPr>
              <a:t>    </a:t>
            </a:r>
            <a:endParaRPr lang="zh-CN" altLang="en-US" sz="1500"/>
          </a:p>
          <a:p>
            <a:endParaRPr lang="zh-CN" altLang="en-US" sz="7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ym typeface="+mn-ea"/>
              </a:rPr>
              <a:t>    // Display results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    System.out.println("The three angles are " + 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        Math.round(A * 100) / 100.0 + " " +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        Math.round(B * 100) / 100.0 + " " + 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        Math.round(C * 100) / 100.0);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  }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}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指数函数方法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2075" tIns="46038" rIns="92075" bIns="46038" anchor="t"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pic>
        <p:nvPicPr>
          <p:cNvPr id="6149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" y="981075"/>
            <a:ext cx="8610600" cy="3994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取整</a:t>
            </a:r>
            <a:endParaRPr lang="zh-CN" altLang="en-US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pic>
        <p:nvPicPr>
          <p:cNvPr id="7173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88" y="1753870"/>
            <a:ext cx="9053512" cy="32273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补充（浮点型的四舍五入）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r>
              <a:rPr lang="en-US" altLang="zh-CN" sz="2400"/>
              <a:t>        </a:t>
            </a:r>
            <a:r>
              <a:rPr lang="zh-CN" altLang="en-US" sz="2400"/>
              <a:t>double f = 3.13153;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        BigDecimal b = new BigDecimal(Double.valueOf(f));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        double f1 = b.setScale(2, RoundingMode.HALF_UP).doubleValue();</a:t>
            </a: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r>
              <a:rPr lang="zh-CN" altLang="en-US" sz="2400">
                <a:solidFill>
                  <a:srgbClr val="FF0000"/>
                </a:solidFill>
              </a:rPr>
              <a:t>注意：这里一定不要直接使用new BigDecimal(double)的构造方法，而要使用new BigDecimal(new Double(1.1315).toString())的方式，不然会出现精确问题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zh-CN" altLang="en-US" dirty="0">
                <a:ea typeface="宋体" panose="02010600030101010101" pitchFamily="2" charset="-122"/>
              </a:rPr>
              <a:t>字符数据类型和操作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2075" tIns="46038" rIns="92075" bIns="46038" anchor="t">
            <a:normAutofit fontScale="60000"/>
          </a:bodyPr>
          <a:p>
            <a:r>
              <a:rPr lang="zh-CN" altLang="en-US" sz="2500" dirty="0">
                <a:ea typeface="宋体" panose="02010600030101010101" pitchFamily="2" charset="-122"/>
              </a:rPr>
              <a:t>编码</a:t>
            </a:r>
            <a:r>
              <a:rPr lang="en-US" altLang="zh-CN" sz="2500" dirty="0">
                <a:ea typeface="宋体" panose="02010600030101010101" pitchFamily="2" charset="-122"/>
              </a:rPr>
              <a:t>:</a:t>
            </a:r>
            <a:r>
              <a:rPr lang="zh-CN" altLang="en-US" sz="2500" dirty="0">
                <a:ea typeface="宋体" panose="02010600030101010101" pitchFamily="2" charset="-122"/>
              </a:rPr>
              <a:t>字符映射到二进制的形式的过程</a:t>
            </a:r>
            <a:endParaRPr lang="zh-CN" altLang="en-US" sz="2500" dirty="0">
              <a:ea typeface="宋体" panose="02010600030101010101" pitchFamily="2" charset="-122"/>
            </a:endParaRPr>
          </a:p>
          <a:p>
            <a:r>
              <a:rPr lang="zh-CN" altLang="en-US" sz="2500" dirty="0">
                <a:ea typeface="宋体" panose="02010600030101010101" pitchFamily="2" charset="-122"/>
              </a:rPr>
              <a:t>编码表定义如何编码每个字符</a:t>
            </a:r>
            <a:endParaRPr lang="zh-CN" altLang="en-US" sz="2500" dirty="0">
              <a:ea typeface="宋体" panose="02010600030101010101" pitchFamily="2" charset="-122"/>
            </a:endParaRPr>
          </a:p>
          <a:p>
            <a:r>
              <a:rPr lang="en-US" altLang="zh-CN" sz="2500" dirty="0">
                <a:ea typeface="宋体" panose="02010600030101010101" pitchFamily="2" charset="-122"/>
              </a:rPr>
              <a:t>ASCII</a:t>
            </a:r>
            <a:r>
              <a:rPr lang="zh-CN" altLang="en-US" sz="2500" dirty="0">
                <a:ea typeface="宋体" panose="02010600030101010101" pitchFamily="2" charset="-122"/>
              </a:rPr>
              <a:t>码</a:t>
            </a:r>
            <a:endParaRPr lang="zh-CN" altLang="en-US" sz="2500" dirty="0">
              <a:ea typeface="宋体" panose="02010600030101010101" pitchFamily="2" charset="-122"/>
            </a:endParaRPr>
          </a:p>
          <a:p>
            <a:endParaRPr lang="zh-CN" altLang="en-US" sz="2500" dirty="0">
              <a:ea typeface="宋体" panose="02010600030101010101" pitchFamily="2" charset="-122"/>
            </a:endParaRPr>
          </a:p>
          <a:p>
            <a:endParaRPr lang="zh-CN" altLang="en-US" sz="2500" dirty="0">
              <a:ea typeface="宋体" panose="02010600030101010101" pitchFamily="2" charset="-122"/>
            </a:endParaRPr>
          </a:p>
          <a:p>
            <a:endParaRPr lang="zh-CN" altLang="en-US" sz="2500" dirty="0">
              <a:ea typeface="宋体" panose="02010600030101010101" pitchFamily="2" charset="-122"/>
            </a:endParaRPr>
          </a:p>
          <a:p>
            <a:endParaRPr lang="zh-CN" altLang="en-US" sz="2500" dirty="0">
              <a:ea typeface="宋体" panose="02010600030101010101" pitchFamily="2" charset="-122"/>
            </a:endParaRPr>
          </a:p>
          <a:p>
            <a:r>
              <a:rPr lang="en-US" altLang="zh-CN" sz="2500" dirty="0">
                <a:ea typeface="宋体" panose="02010600030101010101" pitchFamily="2" charset="-122"/>
              </a:rPr>
              <a:t>Unicode</a:t>
            </a:r>
            <a:r>
              <a:rPr lang="zh-CN" altLang="en-US" sz="2500" dirty="0">
                <a:ea typeface="宋体" panose="02010600030101010101" pitchFamily="2" charset="-122"/>
              </a:rPr>
              <a:t>编码 ： 一个</a:t>
            </a:r>
            <a:r>
              <a:rPr lang="en-US" altLang="zh-CN" sz="2500" dirty="0">
                <a:ea typeface="宋体" panose="02010600030101010101" pitchFamily="2" charset="-122"/>
              </a:rPr>
              <a:t>Unicode</a:t>
            </a:r>
            <a:r>
              <a:rPr lang="zh-CN" altLang="en-US" sz="2500" dirty="0">
                <a:ea typeface="宋体" panose="02010600030101010101" pitchFamily="2" charset="-122"/>
              </a:rPr>
              <a:t>码占两个字节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lvl="1"/>
            <a:r>
              <a:rPr lang="en-US" altLang="zh-CN" sz="2500" dirty="0">
                <a:ea typeface="宋体" panose="02010600030101010101" pitchFamily="2" charset="-122"/>
              </a:rPr>
              <a:t>\u0000 </a:t>
            </a:r>
            <a:r>
              <a:rPr lang="zh-CN" altLang="zh-CN" sz="2500" dirty="0">
                <a:ea typeface="宋体" panose="02010600030101010101" pitchFamily="2" charset="-122"/>
              </a:rPr>
              <a:t>到 </a:t>
            </a:r>
            <a:r>
              <a:rPr lang="en-US" altLang="zh-CN" sz="2500" dirty="0">
                <a:ea typeface="宋体" panose="02010600030101010101" pitchFamily="2" charset="-122"/>
              </a:rPr>
              <a:t>\uFFFF</a:t>
            </a:r>
            <a:endParaRPr lang="en-US" altLang="zh-CN" sz="2500" dirty="0">
              <a:ea typeface="宋体" panose="02010600030101010101" pitchFamily="2" charset="-122"/>
            </a:endParaRPr>
          </a:p>
          <a:p>
            <a:pPr lvl="1"/>
            <a:r>
              <a:rPr lang="zh-CN" altLang="zh-CN" sz="2500" dirty="0">
                <a:ea typeface="宋体" panose="02010600030101010101" pitchFamily="2" charset="-122"/>
              </a:rPr>
              <a:t>兼容 </a:t>
            </a:r>
            <a:r>
              <a:rPr lang="en-US" altLang="zh-CN" sz="2500" dirty="0">
                <a:ea typeface="宋体" panose="02010600030101010101" pitchFamily="2" charset="-122"/>
              </a:rPr>
              <a:t>ASCII</a:t>
            </a:r>
            <a:r>
              <a:rPr lang="zh-CN" altLang="en-US" sz="2500" dirty="0">
                <a:ea typeface="宋体" panose="02010600030101010101" pitchFamily="2" charset="-122"/>
              </a:rPr>
              <a:t>码  </a:t>
            </a:r>
            <a:r>
              <a:rPr lang="en-US" altLang="zh-CN" sz="2500" dirty="0">
                <a:ea typeface="宋体" panose="02010600030101010101" pitchFamily="2" charset="-122"/>
              </a:rPr>
              <a:t>\u0000 </a:t>
            </a:r>
            <a:r>
              <a:rPr lang="zh-CN" altLang="zh-CN" sz="2500" dirty="0">
                <a:ea typeface="宋体" panose="02010600030101010101" pitchFamily="2" charset="-122"/>
              </a:rPr>
              <a:t>到 </a:t>
            </a:r>
            <a:r>
              <a:rPr lang="en-US" altLang="zh-CN" sz="2500" dirty="0">
                <a:ea typeface="宋体" panose="02010600030101010101" pitchFamily="2" charset="-122"/>
              </a:rPr>
              <a:t>\u007F</a:t>
            </a:r>
            <a:endParaRPr lang="en-US" altLang="zh-CN" sz="2500" dirty="0">
              <a:ea typeface="宋体" panose="02010600030101010101" pitchFamily="2" charset="-122"/>
            </a:endParaRPr>
          </a:p>
          <a:p>
            <a:pPr lvl="1"/>
            <a:r>
              <a:rPr lang="en-US" altLang="zh-CN" sz="2500" dirty="0">
                <a:ea typeface="宋体" panose="02010600030101010101" pitchFamily="2" charset="-122"/>
              </a:rPr>
              <a:t>char letter='A' ; char letter='\u0041'</a:t>
            </a:r>
            <a:endParaRPr lang="en-US" altLang="zh-CN" sz="2500" dirty="0">
              <a:ea typeface="宋体" panose="02010600030101010101" pitchFamily="2" charset="-122"/>
            </a:endParaRPr>
          </a:p>
          <a:p>
            <a:pPr lvl="1"/>
            <a:r>
              <a:rPr lang="en-US" altLang="zh-CN" sz="2500" dirty="0">
                <a:ea typeface="宋体" panose="02010600030101010101" pitchFamily="2" charset="-122"/>
              </a:rPr>
              <a:t>++letter</a:t>
            </a:r>
            <a:endParaRPr lang="en-US" altLang="zh-CN" sz="2500" dirty="0">
              <a:ea typeface="宋体" panose="02010600030101010101" pitchFamily="2" charset="-122"/>
            </a:endParaRPr>
          </a:p>
          <a:p>
            <a:pPr lvl="1"/>
            <a:endParaRPr lang="en-US" altLang="zh-CN" sz="2500" dirty="0">
              <a:ea typeface="宋体" panose="02010600030101010101" pitchFamily="2" charset="-122"/>
            </a:endParaRPr>
          </a:p>
          <a:p>
            <a:pPr lvl="0"/>
            <a:r>
              <a:rPr lang="en-US" altLang="zh-CN" sz="2500" dirty="0">
                <a:ea typeface="宋体" panose="02010600030101010101" pitchFamily="2" charset="-122"/>
              </a:rPr>
              <a:t>utf-8</a:t>
            </a:r>
            <a:endParaRPr lang="en-US" altLang="zh-CN" sz="2500" dirty="0">
              <a:ea typeface="宋体" panose="02010600030101010101" pitchFamily="2" charset="-122"/>
            </a:endParaRPr>
          </a:p>
          <a:p>
            <a:pPr lvl="1"/>
            <a:r>
              <a:rPr lang="en-US" altLang="zh-CN" sz="222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种变长的编码方式。它可以使用1~4个字节表示一个符号，根据不同的符号而变化字节长度，当字符在ASCII码的范围时，就用一个字节表示，保留了ASCII字符一个字节的编码做为它的一部分，注意的是unicode一个中文字符占2个字节，而UTF-8一个中文字符占3个字节）</a:t>
            </a:r>
            <a:endParaRPr lang="en-US" altLang="zh-CN" sz="222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/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pic>
        <p:nvPicPr>
          <p:cNvPr id="1024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0600" y="1720850"/>
            <a:ext cx="3513455" cy="15627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转义字符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2075" tIns="46038" rIns="92075" bIns="46038" anchor="t"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pic>
        <p:nvPicPr>
          <p:cNvPr id="12293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738" y="2082165"/>
            <a:ext cx="8010525" cy="2560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zh-CN" altLang="en-US" sz="3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字符型数据与数值数据间的转换</a:t>
            </a:r>
            <a:endParaRPr lang="zh-CN" altLang="en-US" sz="3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2075" tIns="46038" rIns="92075" bIns="46038" anchor="t">
            <a:normAutofit lnSpcReduction="20000"/>
          </a:bodyPr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可以转为任意一种数值类型（字符的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Unicode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编码转成某个特定的数值类型）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2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byte b='a';</a:t>
            </a:r>
            <a:endParaRPr lang="en-US" altLang="zh-CN" sz="213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2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byte b=(byte)'\uFFF4';</a:t>
            </a:r>
            <a:endParaRPr lang="zh-CN" altLang="en-US" sz="213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数值类型转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char  0~FFFF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隐式转换为字符，不在此范围内的必须显示转换   </a:t>
            </a:r>
            <a:r>
              <a:rPr lang="en-US" altLang="zh-CN" sz="2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char c=21016; </a:t>
            </a:r>
            <a:endParaRPr lang="en-US" altLang="zh-CN" sz="213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sz="2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整数转</a:t>
            </a:r>
            <a:r>
              <a:rPr lang="en-US" altLang="zh-CN" sz="2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char </a:t>
            </a:r>
            <a:r>
              <a:rPr lang="zh-CN" altLang="en-US" sz="2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，只用到</a:t>
            </a:r>
            <a:r>
              <a:rPr lang="en-US" altLang="zh-CN" sz="2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2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位，其余部分被忽略</a:t>
            </a:r>
            <a:endParaRPr lang="zh-CN" altLang="en-US" sz="213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/>
            <a:r>
              <a:rPr lang="en-US" altLang="zh-CN" sz="186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char c=(char)0xAB0041;</a:t>
            </a:r>
            <a:endParaRPr lang="zh-CN" altLang="en-US" sz="186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sz="2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浮点型转</a:t>
            </a:r>
            <a:r>
              <a:rPr lang="en-US" altLang="zh-CN" sz="2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char</a:t>
            </a:r>
            <a:r>
              <a:rPr lang="zh-CN" altLang="en-US" sz="2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，浮点型先转成整形，然后转成</a:t>
            </a:r>
            <a:r>
              <a:rPr lang="en-US" altLang="zh-CN" sz="2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char</a:t>
            </a:r>
            <a:endParaRPr lang="en-US" altLang="zh-CN" sz="213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/>
            <a:r>
              <a:rPr lang="en-US" altLang="zh-CN" sz="186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char c=(char)65.25;</a:t>
            </a:r>
            <a:endParaRPr lang="en-US" altLang="zh-CN" sz="186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/>
            <a:r>
              <a:rPr lang="zh-CN" altLang="en-US" sz="239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数值操作符可以用在</a:t>
            </a:r>
            <a:r>
              <a:rPr lang="en-US" altLang="zh-CN" sz="239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char </a:t>
            </a:r>
            <a:r>
              <a:rPr lang="zh-CN" altLang="en-US" sz="239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类型操作</a:t>
            </a:r>
            <a:endParaRPr lang="zh-CN" altLang="en-US" sz="239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/>
            <a:r>
              <a:rPr lang="zh-CN" altLang="en-US" sz="239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字符的比较是比较字符的</a:t>
            </a:r>
            <a:r>
              <a:rPr lang="en-US" altLang="zh-CN" sz="239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Unicode</a:t>
            </a:r>
            <a:r>
              <a:rPr lang="zh-CN" altLang="en-US" sz="239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</a:t>
            </a:r>
            <a:endParaRPr lang="en-US" altLang="zh-CN" sz="239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en-US" altLang="zh-CN" dirty="0">
                <a:ea typeface="宋体" panose="02010600030101010101" pitchFamily="2" charset="-122"/>
                <a:sym typeface="+mn-ea"/>
              </a:rPr>
              <a:t>Character 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类</a:t>
            </a:r>
            <a:endParaRPr lang="zh-CN" altLang="en-US" dirty="0"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2075" tIns="46038" rIns="92075" bIns="46038" anchor="t"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pic>
        <p:nvPicPr>
          <p:cNvPr id="14341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838" y="1083945"/>
            <a:ext cx="7870825" cy="2911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en-US" altLang="zh-CN" dirty="0">
                <a:ea typeface="宋体" panose="02010600030101010101" pitchFamily="2" charset="-122"/>
              </a:rPr>
              <a:t>String</a:t>
            </a:r>
            <a:r>
              <a:rPr lang="zh-CN" altLang="en-US" dirty="0">
                <a:ea typeface="宋体" panose="02010600030101010101" pitchFamily="2" charset="-122"/>
              </a:rPr>
              <a:t>类型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2075" tIns="46038" rIns="92075" bIns="46038" anchor="t">
            <a:normAutofit lnSpcReduction="20000"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字符串是一个字符序列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字符串不是基本类型，是引用类型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 s= “abc”;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是不可变对象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字符串池的概念。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会把所已知的字符串放入字符串池，如果你创建新字符串没有使用new关键字，它首先会去字符串池找有没有相同值的字符串，如果有的话就指向它;如果没有的话就会创建新的空间。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pic>
        <p:nvPicPr>
          <p:cNvPr id="1536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905" y="2339340"/>
            <a:ext cx="7167245" cy="23120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/>
          <a:p>
            <a:r>
              <a:rPr lang="zh-CN" altLang="en-US"/>
              <a:t>String str = "test";</a:t>
            </a:r>
            <a:endParaRPr lang="zh-CN" altLang="en-US"/>
          </a:p>
          <a:p>
            <a:r>
              <a:rPr lang="zh-CN" altLang="en-US"/>
              <a:t>str = "test1";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230" y="2146935"/>
            <a:ext cx="5549265" cy="4234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字符串比较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pic>
        <p:nvPicPr>
          <p:cNvPr id="2" name="内容占位符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5315" y="1049020"/>
            <a:ext cx="4286250" cy="15525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>
          <a:xfrm>
            <a:off x="467995" y="3112135"/>
            <a:ext cx="8207375" cy="3269615"/>
          </a:xfrm>
        </p:spPr>
        <p:txBody>
          <a:bodyPr>
            <a:normAutofit lnSpcReduction="20000"/>
          </a:bodyPr>
          <a:p>
            <a:r>
              <a:rPr lang="en-US" altLang="zh-CN" sz="2000"/>
              <a:t>==</a:t>
            </a:r>
            <a:r>
              <a:rPr lang="zh-CN" altLang="en-US" sz="2000"/>
              <a:t>只是检测 两个字符串是否指向同一个对象，不是比较字符串内容</a:t>
            </a:r>
            <a:endParaRPr lang="zh-CN" altLang="en-US" sz="2000"/>
          </a:p>
          <a:p>
            <a:endParaRPr lang="zh-CN" altLang="en-US"/>
          </a:p>
          <a:p>
            <a:endParaRPr lang="zh-CN" altLang="en-US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>
              <a:solidFill>
                <a:srgbClr val="FF0000"/>
              </a:solidFill>
            </a:endParaRPr>
          </a:p>
          <a:p>
            <a:r>
              <a:rPr lang="zh-CN" altLang="en-US" sz="2000">
                <a:solidFill>
                  <a:srgbClr val="FF0000"/>
                </a:solidFill>
              </a:rPr>
              <a:t>StringBuffer和StringBuilder是可变字符串类，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StringBuffer是线程安全的</a:t>
            </a:r>
            <a:endParaRPr lang="zh-CN" altLang="en-US" sz="20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445" y="1958340"/>
            <a:ext cx="904875" cy="590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965" y="3521710"/>
            <a:ext cx="5132070" cy="20929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获取子串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pic>
        <p:nvPicPr>
          <p:cNvPr id="17413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02310"/>
            <a:ext cx="9144000" cy="2070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7" name="图片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705" y="2772410"/>
            <a:ext cx="8761730" cy="36810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91640" y="836930"/>
            <a:ext cx="590677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s1 = "Welcome to Java";        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s2 =  "Programming is fun"; 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s3 =  "Welcome to Java";  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String s4 =  new String("Welcome to Java");</a:t>
            </a:r>
            <a:endParaRPr lang="zh-CN" altLang="en-US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36830" y="2348865"/>
            <a:ext cx="4473575" cy="4179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</a:pPr>
            <a:endParaRPr lang="en-US" altLang="zh-CN" sz="16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 == s3);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 == s4);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System.out.println(s1.equals(s3));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System.out.println(s1.equals(s4));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System.out.println(s3.equals(s4));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System.out.println(s1.compareTo(s2));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System.out.println(s2.compareTo(s3));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System.out.println(s1.compareTo(s4));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System.out.println(s1.charAt(0));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System.out.println(s1.indexOf('j'));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System.out.println(s1.indexOf("to"));</a:t>
            </a:r>
            <a:endParaRPr lang="zh-CN" altLang="en-US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56100" y="2785745"/>
            <a:ext cx="5152390" cy="37846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System.out.println(s1.lastIndexOf('a'));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System.out.println(s1.lastIndexOf("o", 15));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System.out.println(s1.length());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System.out.println(s1.substring(5, 11));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System.out.println(s1.startsWith("Wel"));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System.out.println(s1.endsWith("Java"));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System.out.println(s1.toLowerCase());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System.out.println(s1.toUpperCase());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System.out.println(s1.concat(s2));</a:t>
            </a:r>
            <a:endParaRPr lang="en-US" altLang="zh-CN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System.out.println("\t Wel \t".trim());</a:t>
            </a:r>
            <a:endParaRPr lang="zh-CN" altLang="en-US" sz="20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字符串和数字间的转换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2075" tIns="46038" rIns="92075" bIns="46038" anchor="t"/>
          <a:p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Integer.parseInt()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Double.parseDouble()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Integer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Double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包装器类在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java.lang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包中，是自动导入的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如果字符串不是数值型字符串，会抛异常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0" y="179705"/>
            <a:ext cx="8640763" cy="627063"/>
          </a:xfrm>
        </p:spPr>
        <p:txBody>
          <a:bodyPr vert="horz" wrap="square" lIns="92075" tIns="46038" rIns="92075" bIns="46038" anchor="ctr"/>
          <a:p>
            <a:r>
              <a:rPr lang="zh-CN" altLang="en-US" sz="36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课本的示例 猜生日</a:t>
            </a:r>
            <a:endParaRPr lang="zh-CN" altLang="en-US" sz="36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9" name="Rectangle 6"/>
          <p:cNvSpPr/>
          <p:nvPr/>
        </p:nvSpPr>
        <p:spPr>
          <a:xfrm>
            <a:off x="0" y="26146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320" name="Rectangle 7"/>
          <p:cNvSpPr/>
          <p:nvPr/>
        </p:nvSpPr>
        <p:spPr>
          <a:xfrm>
            <a:off x="0" y="26146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321" name="Object 8"/>
          <p:cNvGraphicFramePr>
            <a:graphicFrameLocks noChangeAspect="1"/>
          </p:cNvGraphicFramePr>
          <p:nvPr/>
        </p:nvGraphicFramePr>
        <p:xfrm>
          <a:off x="231775" y="2072958"/>
          <a:ext cx="8680450" cy="271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5221605" imgH="1623695" progId="Word.Picture.8">
                  <p:embed/>
                </p:oleObj>
              </mc:Choice>
              <mc:Fallback>
                <p:oleObj name="" r:id="rId1" imgW="5221605" imgH="1623695" progId="Word.Picture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1775" y="2072958"/>
                        <a:ext cx="8680450" cy="2711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8640763" cy="627063"/>
          </a:xfrm>
        </p:spPr>
        <p:txBody>
          <a:bodyPr vert="horz" wrap="square" lIns="92075" tIns="46038" rIns="92075" bIns="46038" anchor="ctr"/>
          <a:p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228600" y="1066800"/>
            <a:ext cx="8529638" cy="557213"/>
          </a:xfrm>
        </p:spPr>
        <p:txBody>
          <a:bodyPr vert="horz" wrap="square" lIns="92075" tIns="46038" rIns="92075" bIns="46038" anchor="t"/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19 </a:t>
            </a:r>
            <a:r>
              <a:rPr lang="zh-CN" altLang="en-US" sz="2400" dirty="0">
                <a:ea typeface="宋体" panose="02010600030101010101" pitchFamily="2" charset="-122"/>
              </a:rPr>
              <a:t>的二进制是</a:t>
            </a:r>
            <a:r>
              <a:rPr lang="en-US" altLang="zh-CN" sz="2400" dirty="0">
                <a:ea typeface="宋体" panose="02010600030101010101" pitchFamily="2" charset="-122"/>
              </a:rPr>
              <a:t>10011</a:t>
            </a:r>
            <a:r>
              <a:rPr lang="zh-CN" altLang="en-US" sz="2400" dirty="0">
                <a:ea typeface="宋体" panose="02010600030101010101" pitchFamily="2" charset="-122"/>
              </a:rPr>
              <a:t>。</a:t>
            </a:r>
            <a:r>
              <a:rPr lang="en-US" altLang="zh-CN" sz="2400" dirty="0">
                <a:ea typeface="宋体" panose="02010600030101010101" pitchFamily="2" charset="-122"/>
              </a:rPr>
              <a:t>7</a:t>
            </a:r>
            <a:r>
              <a:rPr lang="zh-CN" altLang="en-US" sz="2400" dirty="0">
                <a:ea typeface="宋体" panose="02010600030101010101" pitchFamily="2" charset="-122"/>
              </a:rPr>
              <a:t>的二进制是</a:t>
            </a:r>
            <a:r>
              <a:rPr lang="en-US" altLang="zh-CN" sz="2400" dirty="0">
                <a:ea typeface="宋体" panose="02010600030101010101" pitchFamily="2" charset="-122"/>
              </a:rPr>
              <a:t>111</a:t>
            </a:r>
            <a:r>
              <a:rPr lang="zh-CN" altLang="en-US" sz="2400" dirty="0">
                <a:ea typeface="宋体" panose="02010600030101010101" pitchFamily="2" charset="-122"/>
              </a:rPr>
              <a:t>。</a:t>
            </a:r>
            <a:r>
              <a:rPr lang="en-US" altLang="zh-CN" sz="2400" dirty="0">
                <a:ea typeface="宋体" panose="02010600030101010101" pitchFamily="2" charset="-122"/>
              </a:rPr>
              <a:t>23</a:t>
            </a:r>
            <a:r>
              <a:rPr lang="zh-CN" altLang="en-US" sz="2400" dirty="0">
                <a:ea typeface="宋体" panose="02010600030101010101" pitchFamily="2" charset="-122"/>
              </a:rPr>
              <a:t>的二进制是</a:t>
            </a:r>
            <a:r>
              <a:rPr lang="en-US" altLang="zh-CN" sz="2400" dirty="0">
                <a:ea typeface="宋体" panose="02010600030101010101" pitchFamily="2" charset="-122"/>
              </a:rPr>
              <a:t>11101</a:t>
            </a:r>
            <a:r>
              <a:rPr lang="zh-CN" altLang="en-US" sz="2400" dirty="0">
                <a:ea typeface="宋体" panose="02010600030101010101" pitchFamily="2" charset="-122"/>
              </a:rPr>
              <a:t>。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14341" name="Object 4"/>
          <p:cNvGraphicFramePr>
            <a:graphicFrameLocks noChangeAspect="1"/>
          </p:cNvGraphicFramePr>
          <p:nvPr/>
        </p:nvGraphicFramePr>
        <p:xfrm>
          <a:off x="231775" y="3697288"/>
          <a:ext cx="8680450" cy="271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221605" imgH="1623695" progId="Word.Picture.8">
                  <p:embed/>
                </p:oleObj>
              </mc:Choice>
              <mc:Fallback>
                <p:oleObj name="" r:id="rId1" imgW="5221605" imgH="1623695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1775" y="3697288"/>
                        <a:ext cx="8680450" cy="2711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5"/>
          <p:cNvSpPr/>
          <p:nvPr/>
        </p:nvSpPr>
        <p:spPr>
          <a:xfrm>
            <a:off x="0" y="2979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343" name="Rectangle 6"/>
          <p:cNvSpPr/>
          <p:nvPr/>
        </p:nvSpPr>
        <p:spPr>
          <a:xfrm>
            <a:off x="0" y="2979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44" name="Object 7"/>
          <p:cNvGraphicFramePr>
            <a:graphicFrameLocks noChangeAspect="1"/>
          </p:cNvGraphicFramePr>
          <p:nvPr/>
        </p:nvGraphicFramePr>
        <p:xfrm>
          <a:off x="269875" y="1662113"/>
          <a:ext cx="4840288" cy="190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289175" imgH="897890" progId="Word.Picture.8">
                  <p:embed/>
                </p:oleObj>
              </mc:Choice>
              <mc:Fallback>
                <p:oleObj name="" r:id="rId3" imgW="2289175" imgH="897890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875" y="1662113"/>
                        <a:ext cx="4840288" cy="1903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2843808" y="2916658"/>
            <a:ext cx="4752528" cy="7283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4400" dirty="0" smtClean="0">
                <a:solidFill>
                  <a:schemeClr val="tx1"/>
                </a:solidFill>
              </a:rPr>
              <a:t>本节课程结束！</a:t>
            </a:r>
            <a:endParaRPr lang="zh-CN" altLang="en-US" sz="4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beea751b-698e-4550-a206-b1a72958d2de}"/>
</p:tagLst>
</file>

<file path=ppt/tags/tag2.xml><?xml version="1.0" encoding="utf-8"?>
<p:tagLst xmlns:p="http://schemas.openxmlformats.org/presentationml/2006/main">
  <p:tag name="COMMONDATA" val="eyJoZGlkIjoiMDQ5MTU2ZTc1NWM5MmVmN2NjNGZiZmE3NjI4MWI4NjAifQ=="/>
</p:tagLst>
</file>

<file path=ppt/theme/theme1.xml><?xml version="1.0" encoding="utf-8"?>
<a:theme xmlns:a="http://schemas.openxmlformats.org/drawingml/2006/main" name="由Nordri®（www.nordridesign.com ） 设计提供">
  <a:themeElements>
    <a:clrScheme name="自定义 56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FFC000"/>
      </a:accent1>
      <a:accent2>
        <a:srgbClr val="6DAA2D"/>
      </a:accent2>
      <a:accent3>
        <a:srgbClr val="5F5F5F"/>
      </a:accent3>
      <a:accent4>
        <a:srgbClr val="777777"/>
      </a:accent4>
      <a:accent5>
        <a:srgbClr val="B2B2B2"/>
      </a:accent5>
      <a:accent6>
        <a:srgbClr val="DDDDDD"/>
      </a:accent6>
      <a:hlink>
        <a:srgbClr val="0070C0"/>
      </a:hlink>
      <a:folHlink>
        <a:srgbClr val="7030A0"/>
      </a:folHlink>
    </a:clrScheme>
    <a:fontScheme name="Nordri开发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1910E"/>
        </a:solidFill>
        <a:ln>
          <a:noFill/>
        </a:ln>
      </a:spPr>
      <a:bodyPr vert="horz" wrap="square" lIns="91440" tIns="45720" rIns="91440" bIns="45720" numCol="1" anchor="t" anchorCtr="0" compatLnSpc="1"/>
      <a:lstStyle>
        <a:defPPr>
          <a:defRPr/>
        </a:defPPr>
      </a:lstStyle>
    </a:spDef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1600" dirty="0" err="1" smtClean="0">
            <a:solidFill>
              <a:prstClr val="black"/>
            </a:solidFill>
            <a:latin typeface="Arial" panose="020B0604020202020204" pitchFamily="34" charset="0"/>
            <a:ea typeface="微软雅黑" panose="020B0503020204020204" pitchFamily="34" charset="-122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6681</Words>
  <Application>WPS 演示</Application>
  <PresentationFormat>全屏显示(4:3)</PresentationFormat>
  <Paragraphs>464</Paragraphs>
  <Slides>38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38</vt:i4>
      </vt:variant>
    </vt:vector>
  </HeadingPairs>
  <TitlesOfParts>
    <vt:vector size="64" baseType="lpstr">
      <vt:lpstr>Arial</vt:lpstr>
      <vt:lpstr>宋体</vt:lpstr>
      <vt:lpstr>Wingdings</vt:lpstr>
      <vt:lpstr>微软雅黑</vt:lpstr>
      <vt:lpstr>黑体</vt:lpstr>
      <vt:lpstr>方正正大黑简体</vt:lpstr>
      <vt:lpstr>Calibri</vt:lpstr>
      <vt:lpstr>Times New Roman</vt:lpstr>
      <vt:lpstr>Courier</vt:lpstr>
      <vt:lpstr>Courier New</vt:lpstr>
      <vt:lpstr>Meiryo</vt:lpstr>
      <vt:lpstr>Yu Gothic UI</vt:lpstr>
      <vt:lpstr>Tempus Sans ITC</vt:lpstr>
      <vt:lpstr>Arial Unicode MS</vt:lpstr>
      <vt:lpstr>Monotype Sorts</vt:lpstr>
      <vt:lpstr>Wingdings</vt:lpstr>
      <vt:lpstr>由Nordri®（www.nordridesign.com ） 设计提供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面向对象程序设计</vt:lpstr>
      <vt:lpstr>boolean数据类型与关系运算符</vt:lpstr>
      <vt:lpstr>课本上程序清单3-1</vt:lpstr>
      <vt:lpstr>单向if语句</vt:lpstr>
      <vt:lpstr>嵌套的 if 语句</vt:lpstr>
      <vt:lpstr>常见错误-if行出现错误的分号</vt:lpstr>
      <vt:lpstr>常见错误-对布尔值的冗余测试</vt:lpstr>
      <vt:lpstr>常见错误 悬空else出现的歧义</vt:lpstr>
      <vt:lpstr>常见错误 两个浮点数字的相等测试</vt:lpstr>
      <vt:lpstr>PowerPoint 演示文稿</vt:lpstr>
      <vt:lpstr>简化布尔变量赋值</vt:lpstr>
      <vt:lpstr>产生随机数</vt:lpstr>
      <vt:lpstr>逻辑运算符</vt:lpstr>
      <vt:lpstr>Switch</vt:lpstr>
      <vt:lpstr>PowerPoint 演示文稿</vt:lpstr>
      <vt:lpstr>条件表达式</vt:lpstr>
      <vt:lpstr>运算符优先级和结合方向</vt:lpstr>
      <vt:lpstr>常用数学函数</vt:lpstr>
      <vt:lpstr>三角函数方法</vt:lpstr>
      <vt:lpstr>PowerPoint 演示文稿</vt:lpstr>
      <vt:lpstr>PowerPoint 演示文稿</vt:lpstr>
      <vt:lpstr>PowerPoint 演示文稿</vt:lpstr>
      <vt:lpstr>指数函数方法</vt:lpstr>
      <vt:lpstr>取整</vt:lpstr>
      <vt:lpstr>补充（浮点型的四舍五入）</vt:lpstr>
      <vt:lpstr>字符数据类型和操作</vt:lpstr>
      <vt:lpstr>转义字符</vt:lpstr>
      <vt:lpstr>字符型数据与数值数据间的转换</vt:lpstr>
      <vt:lpstr>Character 类</vt:lpstr>
      <vt:lpstr>String类型</vt:lpstr>
      <vt:lpstr>PowerPoint 演示文稿</vt:lpstr>
      <vt:lpstr>字符串比较</vt:lpstr>
      <vt:lpstr>获取子串</vt:lpstr>
      <vt:lpstr>PowerPoint 演示文稿</vt:lpstr>
      <vt:lpstr>字符串和数字间的转换</vt:lpstr>
      <vt:lpstr>课本的示例 猜生日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Java程序设计</dc:title>
  <dc:creator>yangrl</dc:creator>
  <dc:description>Nordri® 
专注于有效的信息传递设计
www.nordridesign.com</dc:description>
  <dc:subject>PPT模板/图示</dc:subject>
  <cp:lastModifiedBy>大灰很</cp:lastModifiedBy>
  <cp:revision>284</cp:revision>
  <dcterms:created xsi:type="dcterms:W3CDTF">2017-02-24T02:44:00Z</dcterms:created>
  <dcterms:modified xsi:type="dcterms:W3CDTF">2026-03-23T12:10:41Z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280499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D5.0.6</vt:lpwstr>
  </property>
  <property fmtid="{D5CDD505-2E9C-101B-9397-08002B2CF9AE}" pid="5" name="KSOProductBuildVer">
    <vt:lpwstr>2052-12.1.0.25225</vt:lpwstr>
  </property>
  <property fmtid="{D5CDD505-2E9C-101B-9397-08002B2CF9AE}" pid="6" name="ICV">
    <vt:lpwstr>CCA8CF28396440D68450EEC3CE8D9354</vt:lpwstr>
  </property>
</Properties>
</file>