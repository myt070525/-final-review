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37"/>
  </p:handoutMasterIdLst>
  <p:sldIdLst>
    <p:sldId id="256" r:id="rId3"/>
    <p:sldId id="1020" r:id="rId5"/>
    <p:sldId id="1005" r:id="rId6"/>
    <p:sldId id="1007" r:id="rId7"/>
    <p:sldId id="1010" r:id="rId8"/>
    <p:sldId id="1013" r:id="rId9"/>
    <p:sldId id="1014" r:id="rId10"/>
    <p:sldId id="1015" r:id="rId11"/>
    <p:sldId id="1016" r:id="rId12"/>
    <p:sldId id="1017" r:id="rId13"/>
    <p:sldId id="1022" r:id="rId14"/>
    <p:sldId id="1023" r:id="rId15"/>
    <p:sldId id="1063" r:id="rId16"/>
    <p:sldId id="1025" r:id="rId17"/>
    <p:sldId id="1026" r:id="rId18"/>
    <p:sldId id="1027" r:id="rId19"/>
    <p:sldId id="1028" r:id="rId20"/>
    <p:sldId id="1029" r:id="rId21"/>
    <p:sldId id="1064" r:id="rId22"/>
    <p:sldId id="1033" r:id="rId23"/>
    <p:sldId id="1036" r:id="rId24"/>
    <p:sldId id="1037" r:id="rId25"/>
    <p:sldId id="1055" r:id="rId26"/>
    <p:sldId id="1056" r:id="rId27"/>
    <p:sldId id="1057" r:id="rId28"/>
    <p:sldId id="1059" r:id="rId29"/>
    <p:sldId id="1038" r:id="rId30"/>
    <p:sldId id="1060" r:id="rId31"/>
    <p:sldId id="1061" r:id="rId32"/>
    <p:sldId id="1040" r:id="rId33"/>
    <p:sldId id="1041" r:id="rId34"/>
    <p:sldId id="1062" r:id="rId35"/>
    <p:sldId id="1058" r:id="rId3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orient="horz" pos="4234" userDrawn="1">
          <p15:clr>
            <a:srgbClr val="A4A3A4"/>
          </p15:clr>
        </p15:guide>
        <p15:guide id="3" orient="horz" pos="4065" userDrawn="1">
          <p15:clr>
            <a:srgbClr val="A4A3A4"/>
          </p15:clr>
        </p15:guide>
        <p15:guide id="4" orient="horz" pos="576" userDrawn="1">
          <p15:clr>
            <a:srgbClr val="A4A3A4"/>
          </p15:clr>
        </p15:guide>
        <p15:guide id="5" orient="horz" pos="618" userDrawn="1">
          <p15:clr>
            <a:srgbClr val="A4A3A4"/>
          </p15:clr>
        </p15:guide>
        <p15:guide id="6" pos="2790" userDrawn="1">
          <p15:clr>
            <a:srgbClr val="A4A3A4"/>
          </p15:clr>
        </p15:guide>
        <p15:guide id="7" pos="5465" userDrawn="1">
          <p15:clr>
            <a:srgbClr val="A4A3A4"/>
          </p15:clr>
        </p15:guide>
        <p15:guide id="8" pos="3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5200"/>
    <a:srgbClr val="C06000"/>
    <a:srgbClr val="039ABD"/>
    <a:srgbClr val="1D8DA3"/>
    <a:srgbClr val="099AB7"/>
    <a:srgbClr val="33CCFF"/>
    <a:srgbClr val="CCFFFF"/>
    <a:srgbClr val="F3B10D"/>
    <a:srgbClr val="CCFF66"/>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howGuides="1">
      <p:cViewPr varScale="1">
        <p:scale>
          <a:sx n="89" d="100"/>
          <a:sy n="89" d="100"/>
        </p:scale>
        <p:origin x="1238" y="-106"/>
      </p:cViewPr>
      <p:guideLst>
        <p:guide orient="horz" pos="2159"/>
        <p:guide orient="horz" pos="4234"/>
        <p:guide orient="horz" pos="4065"/>
        <p:guide orient="horz" pos="576"/>
        <p:guide orient="horz" pos="618"/>
        <p:guide pos="2790"/>
        <p:guide pos="5465"/>
        <p:guide pos="360"/>
      </p:guideLst>
    </p:cSldViewPr>
  </p:slideViewPr>
  <p:notesTextViewPr>
    <p:cViewPr>
      <p:scale>
        <a:sx n="1" d="1"/>
        <a:sy n="1" d="1"/>
      </p:scale>
      <p:origin x="0" y="0"/>
    </p:cViewPr>
  </p:notesTextViewPr>
  <p:notesViewPr>
    <p:cSldViewPr>
      <p:cViewPr varScale="1">
        <p:scale>
          <a:sx n="59" d="100"/>
          <a:sy n="59" d="100"/>
        </p:scale>
        <p:origin x="2454" y="24"/>
      </p:cViewPr>
      <p:guideLst>
        <p:guide orient="horz" pos="2879"/>
        <p:guide pos="209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B19548-F454-4331-83C2-8A7F164E39A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E25D8A-A620-4ACE-B1CF-F6E9B44ECD2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CE75B1-D996-41EC-AA92-8E0F9339AE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CBB548-4544-46A5-8423-F94A584A161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65"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5074" r="11656" b="3263"/>
          <a:stretch>
            <a:fillRect/>
          </a:stretch>
        </p:blipFill>
        <p:spPr bwMode="auto">
          <a:xfrm flipV="1">
            <a:off x="3111190" y="-1"/>
            <a:ext cx="6057842" cy="685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矩形 11"/>
          <p:cNvSpPr>
            <a:spLocks noChangeArrowheads="1"/>
          </p:cNvSpPr>
          <p:nvPr userDrawn="1"/>
        </p:nvSpPr>
        <p:spPr bwMode="auto">
          <a:xfrm>
            <a:off x="19228" y="6886078"/>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23" name="Rectangle 5">
            <a:hlinkClick r:id="rId3"/>
          </p:cNvPr>
          <p:cNvSpPr txBox="1">
            <a:spLocks noChangeArrowheads="1"/>
          </p:cNvSpPr>
          <p:nvPr userDrawn="1"/>
        </p:nvSpPr>
        <p:spPr bwMode="gray">
          <a:xfrm>
            <a:off x="-17285" y="5876800"/>
            <a:ext cx="3059832" cy="504527"/>
          </a:xfrm>
          <a:prstGeom prst="rect">
            <a:avLst/>
          </a:prstGeom>
          <a:gradFill flip="none" rotWithShape="1">
            <a:gsLst>
              <a:gs pos="0">
                <a:schemeClr val="bg1">
                  <a:alpha val="29000"/>
                </a:schemeClr>
              </a:gs>
              <a:gs pos="100000">
                <a:schemeClr val="bg1">
                  <a:lumMod val="75000"/>
                  <a:alpha val="4800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indent="35560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
        <p:nvSpPr>
          <p:cNvPr id="2" name="标题 1"/>
          <p:cNvSpPr>
            <a:spLocks noGrp="1"/>
          </p:cNvSpPr>
          <p:nvPr userDrawn="1">
            <p:ph type="ctrTitle"/>
          </p:nvPr>
        </p:nvSpPr>
        <p:spPr>
          <a:xfrm>
            <a:off x="468313" y="2132856"/>
            <a:ext cx="6047903" cy="639678"/>
          </a:xfrm>
          <a:prstGeom prst="rect">
            <a:avLst/>
          </a:prstGeom>
        </p:spPr>
        <p:txBody>
          <a:bodyPr>
            <a:noAutofit/>
          </a:bodyPr>
          <a:lstStyle>
            <a:lvl1pPr algn="l">
              <a:defRPr sz="5400" b="1">
                <a:solidFill>
                  <a:schemeClr val="tx1"/>
                </a:solidFill>
                <a:latin typeface="+mj-ea"/>
                <a:ea typeface="+mj-ea"/>
              </a:defRPr>
            </a:lvl1pPr>
          </a:lstStyle>
          <a:p>
            <a:r>
              <a:rPr lang="zh-CN" altLang="en-US" smtClean="0"/>
              <a:t>单击此处编辑母版标题样式</a:t>
            </a:r>
            <a:endParaRPr lang="zh-CN" altLang="en-US" dirty="0"/>
          </a:p>
        </p:txBody>
      </p:sp>
      <p:sp>
        <p:nvSpPr>
          <p:cNvPr id="3" name="副标题 2"/>
          <p:cNvSpPr>
            <a:spLocks noGrp="1"/>
          </p:cNvSpPr>
          <p:nvPr userDrawn="1">
            <p:ph type="subTitle" idx="1" hasCustomPrompt="1"/>
          </p:nvPr>
        </p:nvSpPr>
        <p:spPr>
          <a:xfrm>
            <a:off x="468314" y="2952936"/>
            <a:ext cx="6047292" cy="372244"/>
          </a:xfrm>
          <a:prstGeom prst="rect">
            <a:avLst/>
          </a:prstGeom>
        </p:spPr>
        <p:txBody>
          <a:bodyPr>
            <a:noAutofit/>
          </a:bodyPr>
          <a:lstStyle>
            <a:lvl1pPr marL="0" indent="0" algn="l">
              <a:buNone/>
              <a:defRPr sz="3600">
                <a:solidFill>
                  <a:schemeClr val="tx1"/>
                </a:solidFill>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smtClean="0"/>
              <a:t>单击此处编辑母版标题样式</a:t>
            </a:r>
            <a:endParaRPr lang="zh-CN" altLang="en-US" dirty="0"/>
          </a:p>
        </p:txBody>
      </p:sp>
      <p:sp>
        <p:nvSpPr>
          <p:cNvPr id="3" name="页脚占位符 2"/>
          <p:cNvSpPr>
            <a:spLocks noGrp="1"/>
          </p:cNvSpPr>
          <p:nvPr>
            <p:ph type="ftr" sz="quarter" idx="10"/>
          </p:nvPr>
        </p:nvSpPr>
        <p:spPr/>
        <p:txBody>
          <a:bodyPr/>
          <a:lstStyle/>
          <a:p>
            <a:endParaRPr lang="zh-CN" altLang="en-US" dirty="0"/>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
        <p:nvSpPr>
          <p:cNvPr id="5" name="内容占位符 8"/>
          <p:cNvSpPr>
            <a:spLocks noGrp="1"/>
          </p:cNvSpPr>
          <p:nvPr>
            <p:ph sz="quarter" idx="12" hasCustomPrompt="1"/>
          </p:nvPr>
        </p:nvSpPr>
        <p:spPr>
          <a:xfrm>
            <a:off x="468312" y="981075"/>
            <a:ext cx="8207376" cy="5400675"/>
          </a:xfrm>
        </p:spPr>
        <p:txBody>
          <a:bodyPr/>
          <a:lstStyle>
            <a:lvl1pPr>
              <a:lnSpc>
                <a:spcPct val="120000"/>
              </a:lnSpc>
              <a:buClr>
                <a:srgbClr val="7030A0"/>
              </a:buClr>
              <a:buSzPct val="70000"/>
              <a:buFont typeface="Wingdings" panose="05000000000000000000" pitchFamily="2" charset="2"/>
              <a:buChar char="n"/>
              <a:defRPr sz="2600" baseline="0"/>
            </a:lvl1pPr>
            <a:lvl2pPr marL="742950" indent="-285750">
              <a:buFont typeface="Wingdings" panose="05000000000000000000" pitchFamily="2" charset="2"/>
              <a:buChar char="l"/>
              <a:defRPr sz="2200"/>
            </a:lvl2pPr>
            <a:lvl3pPr>
              <a:defRPr sz="1600"/>
            </a:lvl3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pic>
        <p:nvPicPr>
          <p:cNvPr id="6"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endParaRPr lang="zh-CN" altLang="en-US" dirty="0"/>
          </a:p>
        </p:txBody>
      </p:sp>
      <p:sp>
        <p:nvSpPr>
          <p:cNvPr id="5"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dirty="0"/>
          </a:p>
        </p:txBody>
      </p:sp>
      <p:sp>
        <p:nvSpPr>
          <p:cNvPr id="6"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
        <p:nvSpPr>
          <p:cNvPr id="7"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配色方案说明">
    <p:spTree>
      <p:nvGrpSpPr>
        <p:cNvPr id="1" name=""/>
        <p:cNvGrpSpPr/>
        <p:nvPr/>
      </p:nvGrpSpPr>
      <p:grpSpPr>
        <a:xfrm>
          <a:off x="0" y="0"/>
          <a:ext cx="0" cy="0"/>
          <a:chOff x="0" y="0"/>
          <a:chExt cx="0" cy="0"/>
        </a:xfrm>
      </p:grpSpPr>
      <p:sp>
        <p:nvSpPr>
          <p:cNvPr id="56" name="日期占位符 55"/>
          <p:cNvSpPr>
            <a:spLocks noGrp="1"/>
          </p:cNvSpPr>
          <p:nvPr>
            <p:ph type="dt" sz="half" idx="14"/>
          </p:nvPr>
        </p:nvSpPr>
        <p:spPr/>
        <p:txBody>
          <a:bodyPr/>
          <a:lstStyle/>
          <a:p>
            <a:endParaRPr lang="zh-CN" altLang="en-US"/>
          </a:p>
        </p:txBody>
      </p:sp>
      <p:sp>
        <p:nvSpPr>
          <p:cNvPr id="57" name="页脚占位符 56"/>
          <p:cNvSpPr>
            <a:spLocks noGrp="1"/>
          </p:cNvSpPr>
          <p:nvPr>
            <p:ph type="ftr" sz="quarter" idx="15"/>
          </p:nvPr>
        </p:nvSpPr>
        <p:spPr/>
        <p:txBody>
          <a:bodyPr/>
          <a:lstStyle/>
          <a:p>
            <a:endParaRPr lang="zh-CN" altLang="en-US" dirty="0"/>
          </a:p>
        </p:txBody>
      </p:sp>
      <p:sp>
        <p:nvSpPr>
          <p:cNvPr id="58" name="灯片编号占位符 57"/>
          <p:cNvSpPr>
            <a:spLocks noGrp="1"/>
          </p:cNvSpPr>
          <p:nvPr>
            <p:ph type="sldNum" sz="quarter" idx="16"/>
          </p:nvPr>
        </p:nvSpPr>
        <p:spPr/>
        <p:txBody>
          <a:bodyPr/>
          <a:lstStyle/>
          <a:p>
            <a:r>
              <a:rPr lang="en-US" altLang="zh-CN" smtClean="0"/>
              <a:t>P</a:t>
            </a:r>
            <a:fld id="{62DCC93C-90AC-48A1-9D9E-CBAB17A91522}" type="slidenum">
              <a:rPr lang="zh-CN" altLang="en-US" smtClean="0"/>
            </a:fld>
            <a:endParaRPr lang="zh-CN" altLang="en-US" dirty="0"/>
          </a:p>
        </p:txBody>
      </p:sp>
      <p:grpSp>
        <p:nvGrpSpPr>
          <p:cNvPr id="2" name="组合 1"/>
          <p:cNvGrpSpPr/>
          <p:nvPr userDrawn="1"/>
        </p:nvGrpSpPr>
        <p:grpSpPr>
          <a:xfrm>
            <a:off x="741702" y="1398826"/>
            <a:ext cx="7672274" cy="4811474"/>
            <a:chOff x="468311" y="1227376"/>
            <a:chExt cx="8219055" cy="5154374"/>
          </a:xfrm>
        </p:grpSpPr>
        <p:sp>
          <p:nvSpPr>
            <p:cNvPr id="6" name="矩形 5"/>
            <p:cNvSpPr/>
            <p:nvPr userDrawn="1"/>
          </p:nvSpPr>
          <p:spPr bwMode="auto">
            <a:xfrm>
              <a:off x="7477213"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7" name="矩形 6"/>
            <p:cNvSpPr/>
            <p:nvPr userDrawn="1"/>
          </p:nvSpPr>
          <p:spPr bwMode="auto">
            <a:xfrm>
              <a:off x="3266666"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8" name="矩形 7"/>
            <p:cNvSpPr/>
            <p:nvPr userDrawn="1"/>
          </p:nvSpPr>
          <p:spPr bwMode="auto">
            <a:xfrm>
              <a:off x="468314" y="2816932"/>
              <a:ext cx="2606725"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10" name="左大括号 9"/>
            <p:cNvSpPr/>
            <p:nvPr userDrawn="1"/>
          </p:nvSpPr>
          <p:spPr>
            <a:xfrm rot="5400000">
              <a:off x="4342637" y="-2230069"/>
              <a:ext cx="454784" cy="820343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椭圆 10"/>
            <p:cNvSpPr/>
            <p:nvPr userDrawn="1"/>
          </p:nvSpPr>
          <p:spPr bwMode="auto">
            <a:xfrm>
              <a:off x="468313" y="256490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2" name="椭圆 11"/>
            <p:cNvSpPr/>
            <p:nvPr userDrawn="1"/>
          </p:nvSpPr>
          <p:spPr bwMode="auto">
            <a:xfrm>
              <a:off x="1169203" y="256490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3" name="椭圆 12"/>
            <p:cNvSpPr/>
            <p:nvPr userDrawn="1"/>
          </p:nvSpPr>
          <p:spPr bwMode="auto">
            <a:xfrm>
              <a:off x="1870093" y="256490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椭圆 13"/>
            <p:cNvSpPr/>
            <p:nvPr userDrawn="1"/>
          </p:nvSpPr>
          <p:spPr bwMode="auto">
            <a:xfrm>
              <a:off x="2570983" y="256490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5" name="椭圆 14"/>
            <p:cNvSpPr/>
            <p:nvPr userDrawn="1"/>
          </p:nvSpPr>
          <p:spPr bwMode="auto">
            <a:xfrm>
              <a:off x="3271873" y="256490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6" name="椭圆 15"/>
            <p:cNvSpPr/>
            <p:nvPr userDrawn="1"/>
          </p:nvSpPr>
          <p:spPr bwMode="auto">
            <a:xfrm>
              <a:off x="3972763" y="256490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7" name="椭圆 16"/>
            <p:cNvSpPr/>
            <p:nvPr userDrawn="1"/>
          </p:nvSpPr>
          <p:spPr bwMode="auto">
            <a:xfrm>
              <a:off x="4673653" y="2564904"/>
              <a:ext cx="504056" cy="504056"/>
            </a:xfrm>
            <a:prstGeom prst="ellipse">
              <a:avLst/>
            </a:prstGeom>
            <a:solidFill>
              <a:schemeClr val="accent3"/>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8" name="椭圆 17"/>
            <p:cNvSpPr/>
            <p:nvPr userDrawn="1"/>
          </p:nvSpPr>
          <p:spPr bwMode="auto">
            <a:xfrm>
              <a:off x="5374543" y="2564904"/>
              <a:ext cx="504056" cy="504056"/>
            </a:xfrm>
            <a:prstGeom prst="ellipse">
              <a:avLst/>
            </a:prstGeom>
            <a:solidFill>
              <a:schemeClr val="accent4"/>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9" name="椭圆 18"/>
            <p:cNvSpPr/>
            <p:nvPr userDrawn="1"/>
          </p:nvSpPr>
          <p:spPr bwMode="auto">
            <a:xfrm>
              <a:off x="6075433" y="2564904"/>
              <a:ext cx="504056" cy="504056"/>
            </a:xfrm>
            <a:prstGeom prst="ellipse">
              <a:avLst/>
            </a:prstGeom>
            <a:solidFill>
              <a:schemeClr val="accent5"/>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9</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0" name="椭圆 19"/>
            <p:cNvSpPr/>
            <p:nvPr userDrawn="1"/>
          </p:nvSpPr>
          <p:spPr bwMode="auto">
            <a:xfrm>
              <a:off x="6776323" y="2564904"/>
              <a:ext cx="504056" cy="504056"/>
            </a:xfrm>
            <a:prstGeom prst="ellipse">
              <a:avLst/>
            </a:prstGeom>
            <a:solidFill>
              <a:schemeClr val="accent6"/>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10</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1" name="椭圆 20"/>
            <p:cNvSpPr/>
            <p:nvPr userDrawn="1"/>
          </p:nvSpPr>
          <p:spPr bwMode="auto">
            <a:xfrm>
              <a:off x="7477213" y="256490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2" name="椭圆 21"/>
            <p:cNvSpPr/>
            <p:nvPr userDrawn="1"/>
          </p:nvSpPr>
          <p:spPr bwMode="auto">
            <a:xfrm>
              <a:off x="8178102" y="256490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3" name="左大括号 22"/>
            <p:cNvSpPr/>
            <p:nvPr userDrawn="1"/>
          </p:nvSpPr>
          <p:spPr>
            <a:xfrm rot="5400000">
              <a:off x="3736233"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左大括号 23"/>
            <p:cNvSpPr/>
            <p:nvPr userDrawn="1"/>
          </p:nvSpPr>
          <p:spPr>
            <a:xfrm rot="5400000">
              <a:off x="5887737" y="1050984"/>
              <a:ext cx="227392" cy="255789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左大括号 24"/>
            <p:cNvSpPr/>
            <p:nvPr userDrawn="1"/>
          </p:nvSpPr>
          <p:spPr>
            <a:xfrm rot="5400000">
              <a:off x="7941572"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左大括号 25"/>
            <p:cNvSpPr/>
            <p:nvPr userDrawn="1"/>
          </p:nvSpPr>
          <p:spPr>
            <a:xfrm rot="5400000">
              <a:off x="1605452" y="1079093"/>
              <a:ext cx="227392" cy="250167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左大括号 26"/>
            <p:cNvSpPr/>
            <p:nvPr userDrawn="1"/>
          </p:nvSpPr>
          <p:spPr>
            <a:xfrm rot="5400000" flipH="1">
              <a:off x="4342828" y="632797"/>
              <a:ext cx="415982" cy="81650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内容占位符 4"/>
            <p:cNvSpPr txBox="1"/>
            <p:nvPr userDrawn="1"/>
          </p:nvSpPr>
          <p:spPr>
            <a:xfrm>
              <a:off x="468314" y="5008949"/>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600" b="1" dirty="0">
                  <a:solidFill>
                    <a:schemeClr val="bg1">
                      <a:lumMod val="50000"/>
                    </a:schemeClr>
                  </a:solidFill>
                </a:rPr>
                <a:t>2003</a:t>
              </a:r>
              <a:r>
                <a:rPr lang="zh-CN" altLang="en-US" sz="1600" b="1" dirty="0">
                  <a:solidFill>
                    <a:schemeClr val="bg1">
                      <a:lumMod val="50000"/>
                    </a:schemeClr>
                  </a:solidFill>
                </a:rPr>
                <a:t>版本配色方案 </a:t>
              </a:r>
              <a:r>
                <a:rPr lang="zh-CN" altLang="en-US" sz="1600" b="1" dirty="0" smtClean="0"/>
                <a:t>（</a:t>
              </a:r>
              <a:r>
                <a:rPr lang="en-US" altLang="zh-CN" sz="1600" b="1" dirty="0" smtClean="0"/>
                <a:t>8</a:t>
              </a:r>
              <a:r>
                <a:rPr lang="zh-CN" altLang="en-US" sz="1600" b="1" dirty="0" smtClean="0"/>
                <a:t>种配色）</a:t>
              </a:r>
              <a:endParaRPr lang="zh-CN" altLang="en-US" sz="1600" b="1" dirty="0"/>
            </a:p>
          </p:txBody>
        </p:sp>
        <p:sp>
          <p:nvSpPr>
            <p:cNvPr id="29" name="TextBox 28"/>
            <p:cNvSpPr txBox="1"/>
            <p:nvPr userDrawn="1"/>
          </p:nvSpPr>
          <p:spPr>
            <a:xfrm>
              <a:off x="1305749" y="1916832"/>
              <a:ext cx="889987" cy="2779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文字与背景</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TextBox 29"/>
            <p:cNvSpPr txBox="1"/>
            <p:nvPr userDrawn="1"/>
          </p:nvSpPr>
          <p:spPr>
            <a:xfrm>
              <a:off x="3555616"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常用色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1" name="TextBox 30"/>
            <p:cNvSpPr txBox="1"/>
            <p:nvPr userDrawn="1"/>
          </p:nvSpPr>
          <p:spPr>
            <a:xfrm>
              <a:off x="5707120"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辅助色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2" name="TextBox 31"/>
            <p:cNvSpPr txBox="1"/>
            <p:nvPr userDrawn="1"/>
          </p:nvSpPr>
          <p:spPr>
            <a:xfrm>
              <a:off x="7729242" y="1916832"/>
              <a:ext cx="588623"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链接色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3" name="直接连接符 32"/>
            <p:cNvCxnSpPr>
              <a:stCxn id="11" idx="7"/>
              <a:endCxn id="11" idx="3"/>
            </p:cNvCxnSpPr>
            <p:nvPr userDrawn="1"/>
          </p:nvCxnSpPr>
          <p:spPr>
            <a:xfrm flipH="1">
              <a:off x="54213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直接连接符 33"/>
            <p:cNvCxnSpPr>
              <a:stCxn id="12" idx="7"/>
              <a:endCxn id="12" idx="3"/>
            </p:cNvCxnSpPr>
            <p:nvPr userDrawn="1"/>
          </p:nvCxnSpPr>
          <p:spPr>
            <a:xfrm flipH="1">
              <a:off x="124302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接连接符 34"/>
            <p:cNvCxnSpPr>
              <a:stCxn id="13" idx="7"/>
              <a:endCxn id="13" idx="3"/>
            </p:cNvCxnSpPr>
            <p:nvPr userDrawn="1"/>
          </p:nvCxnSpPr>
          <p:spPr>
            <a:xfrm flipH="1">
              <a:off x="194391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直接连接符 35"/>
            <p:cNvCxnSpPr>
              <a:stCxn id="14" idx="7"/>
              <a:endCxn id="14" idx="3"/>
            </p:cNvCxnSpPr>
            <p:nvPr userDrawn="1"/>
          </p:nvCxnSpPr>
          <p:spPr>
            <a:xfrm flipH="1">
              <a:off x="264480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37" name="TextBox 36"/>
            <p:cNvSpPr txBox="1"/>
            <p:nvPr userDrawn="1"/>
          </p:nvSpPr>
          <p:spPr>
            <a:xfrm>
              <a:off x="468314" y="5610918"/>
              <a:ext cx="8203430" cy="770832"/>
            </a:xfrm>
            <a:prstGeom prst="rect">
              <a:avLst/>
            </a:prstGeom>
            <a:solidFill>
              <a:schemeClr val="accent1">
                <a:lumMod val="20000"/>
                <a:lumOff val="80000"/>
                <a:alpha val="27843"/>
              </a:schemeClr>
            </a:solidFill>
            <a:ln w="3175">
              <a:solidFill>
                <a:schemeClr val="bg1">
                  <a:lumMod val="75000"/>
                </a:schemeClr>
              </a:solidFill>
            </a:ln>
          </p:spPr>
          <p:txBody>
            <a:bodyPr wrap="square" rtlCol="0" anchor="ctr">
              <a:noAutofit/>
            </a:bodyPr>
            <a:lstStyle/>
            <a:p>
              <a:pPr>
                <a:lnSpc>
                  <a:spcPct val="120000"/>
                </a:lnSpc>
              </a:pPr>
              <a:r>
                <a:rPr lang="zh-CN" altLang="en-US"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配色规则：</a:t>
              </a:r>
              <a:endParaRPr lang="en-US" altLang="zh-CN"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通常情况下，配色方案中的前四种色彩文</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“字与背景色”固定不变。常用色与模板</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/logo/</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企业标准色一致。辅助色可根据对色彩的要求进行调整。链接色可根据需求进行调整。</a:t>
              </a:r>
              <a:endPar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配色方案的编辑：</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07/10</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菜单中 </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颜色</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中修改；</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03</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格式</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幻灯片设计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 </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endPar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38" name="椭圆 37"/>
            <p:cNvSpPr/>
            <p:nvPr userDrawn="1"/>
          </p:nvSpPr>
          <p:spPr bwMode="auto">
            <a:xfrm>
              <a:off x="468313" y="377881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9" name="椭圆 38"/>
            <p:cNvSpPr/>
            <p:nvPr userDrawn="1"/>
          </p:nvSpPr>
          <p:spPr bwMode="auto">
            <a:xfrm>
              <a:off x="1169203" y="377881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椭圆 39"/>
            <p:cNvSpPr/>
            <p:nvPr userDrawn="1"/>
          </p:nvSpPr>
          <p:spPr bwMode="auto">
            <a:xfrm>
              <a:off x="1870093" y="377881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1" name="椭圆 40"/>
            <p:cNvSpPr/>
            <p:nvPr userDrawn="1"/>
          </p:nvSpPr>
          <p:spPr bwMode="auto">
            <a:xfrm>
              <a:off x="2570983" y="377881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42" name="直接连接符 41"/>
            <p:cNvCxnSpPr>
              <a:stCxn id="38" idx="7"/>
              <a:endCxn id="38" idx="3"/>
            </p:cNvCxnSpPr>
            <p:nvPr userDrawn="1"/>
          </p:nvCxnSpPr>
          <p:spPr>
            <a:xfrm flipH="1">
              <a:off x="54213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3" name="直接连接符 42"/>
            <p:cNvCxnSpPr>
              <a:stCxn id="39" idx="7"/>
              <a:endCxn id="39" idx="3"/>
            </p:cNvCxnSpPr>
            <p:nvPr userDrawn="1"/>
          </p:nvCxnSpPr>
          <p:spPr>
            <a:xfrm flipH="1">
              <a:off x="124302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4" name="直接连接符 43"/>
            <p:cNvCxnSpPr>
              <a:stCxn id="40" idx="7"/>
              <a:endCxn id="40" idx="3"/>
            </p:cNvCxnSpPr>
            <p:nvPr userDrawn="1"/>
          </p:nvCxnSpPr>
          <p:spPr>
            <a:xfrm flipH="1">
              <a:off x="194391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5" name="直接连接符 44"/>
            <p:cNvCxnSpPr>
              <a:stCxn id="41" idx="7"/>
              <a:endCxn id="41" idx="3"/>
            </p:cNvCxnSpPr>
            <p:nvPr userDrawn="1"/>
          </p:nvCxnSpPr>
          <p:spPr>
            <a:xfrm flipH="1">
              <a:off x="264480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46" name="椭圆 45"/>
            <p:cNvSpPr/>
            <p:nvPr userDrawn="1"/>
          </p:nvSpPr>
          <p:spPr bwMode="auto">
            <a:xfrm>
              <a:off x="3271873" y="377881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7" name="椭圆 46"/>
            <p:cNvSpPr/>
            <p:nvPr userDrawn="1"/>
          </p:nvSpPr>
          <p:spPr bwMode="auto">
            <a:xfrm>
              <a:off x="3972763" y="377881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8" name="椭圆 47"/>
            <p:cNvSpPr/>
            <p:nvPr userDrawn="1"/>
          </p:nvSpPr>
          <p:spPr bwMode="auto">
            <a:xfrm>
              <a:off x="7477213" y="377881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9" name="椭圆 48"/>
            <p:cNvSpPr/>
            <p:nvPr userDrawn="1"/>
          </p:nvSpPr>
          <p:spPr bwMode="auto">
            <a:xfrm>
              <a:off x="8178102" y="377881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9" name="内容占位符 4"/>
            <p:cNvSpPr txBox="1"/>
            <p:nvPr userDrawn="1"/>
          </p:nvSpPr>
          <p:spPr>
            <a:xfrm>
              <a:off x="468314" y="1227376"/>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600" b="1" dirty="0" smtClean="0">
                  <a:solidFill>
                    <a:schemeClr val="bg1">
                      <a:lumMod val="50000"/>
                    </a:schemeClr>
                  </a:solidFill>
                </a:rPr>
                <a:t>2007/2010</a:t>
              </a:r>
              <a:r>
                <a:rPr lang="zh-CN" altLang="en-US" sz="1600" b="1" dirty="0" smtClean="0">
                  <a:solidFill>
                    <a:schemeClr val="bg1">
                      <a:lumMod val="50000"/>
                    </a:schemeClr>
                  </a:solidFill>
                </a:rPr>
                <a:t>版本配色方案 </a:t>
              </a:r>
              <a:r>
                <a:rPr lang="zh-CN" altLang="en-US" sz="1600" b="1" dirty="0" smtClean="0"/>
                <a:t>（</a:t>
              </a:r>
              <a:r>
                <a:rPr lang="en-US" altLang="zh-CN" sz="1600" b="1" dirty="0" smtClean="0"/>
                <a:t>12</a:t>
              </a:r>
              <a:r>
                <a:rPr lang="zh-CN" altLang="en-US" sz="1600" b="1" dirty="0" smtClean="0"/>
                <a:t>种配色）</a:t>
              </a:r>
              <a:endParaRPr lang="zh-CN" altLang="en-US" sz="1600" b="1" dirty="0"/>
            </a:p>
          </p:txBody>
        </p:sp>
      </p:grpSp>
      <p:sp>
        <p:nvSpPr>
          <p:cNvPr id="3" name="标题 2"/>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23"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4659" r="33230" b="6423"/>
          <a:stretch>
            <a:fillRect/>
          </a:stretch>
        </p:blipFill>
        <p:spPr bwMode="auto">
          <a:xfrm>
            <a:off x="3851921" y="0"/>
            <a:ext cx="52920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13" name="Rectangle 5">
            <a:hlinkClick r:id="rId3"/>
          </p:cNvPr>
          <p:cNvSpPr txBox="1">
            <a:spLocks noChangeArrowheads="1"/>
          </p:cNvSpPr>
          <p:nvPr userDrawn="1"/>
        </p:nvSpPr>
        <p:spPr bwMode="gray">
          <a:xfrm>
            <a:off x="0" y="5886624"/>
            <a:ext cx="3347367" cy="504527"/>
          </a:xfrm>
          <a:prstGeom prst="rect">
            <a:avLst/>
          </a:prstGeom>
          <a:gradFill flip="none" rotWithShape="1">
            <a:gsLst>
              <a:gs pos="100000">
                <a:schemeClr val="bg1">
                  <a:alpha val="49000"/>
                </a:schemeClr>
              </a:gs>
              <a:gs pos="0">
                <a:schemeClr val="accent1">
                  <a:tint val="23500"/>
                  <a:satMod val="160000"/>
                  <a:alpha val="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355600" indent="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8575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28575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858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78867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8650" y="4076700"/>
            <a:ext cx="78867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image" Target="../media/image3.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6" name="Picture 5" descr="E:\PAT 图片资源素材\PPT\待整理\精选 0 (13).jpg"/>
          <p:cNvPicPr>
            <a:picLocks noChangeAspect="1" noChangeArrowheads="1"/>
          </p:cNvPicPr>
          <p:nvPr userDrawn="1"/>
        </p:nvPicPr>
        <p:blipFill rotWithShape="1">
          <a:blip r:embed="rId11" cstate="print">
            <a:extLst>
              <a:ext uri="{28A0092B-C50C-407E-A947-70E740481C1C}">
                <a14:useLocalDpi xmlns:a14="http://schemas.microsoft.com/office/drawing/2010/main" val="0"/>
              </a:ext>
            </a:extLst>
          </a:blip>
          <a:srcRect t="5074" r="20205" b="3263"/>
          <a:stretch>
            <a:fillRect/>
          </a:stretch>
        </p:blipFill>
        <p:spPr bwMode="auto">
          <a:xfrm rot="10800000" flipH="1" flipV="1">
            <a:off x="5353149" y="765173"/>
            <a:ext cx="3790851" cy="609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梯形 34"/>
          <p:cNvSpPr/>
          <p:nvPr userDrawn="1"/>
        </p:nvSpPr>
        <p:spPr bwMode="auto">
          <a:xfrm rot="16200000">
            <a:off x="4178903" y="-4199923"/>
            <a:ext cx="786193" cy="9144000"/>
          </a:xfrm>
          <a:prstGeom prst="trapezoid">
            <a:avLst>
              <a:gd name="adj" fmla="val 0"/>
            </a:avLst>
          </a:prstGeom>
          <a:gradFill flip="none" rotWithShape="1">
            <a:gsLst>
              <a:gs pos="73000">
                <a:srgbClr val="FFFF00">
                  <a:lumMod val="0"/>
                  <a:lumOff val="100000"/>
                  <a:alpha val="47000"/>
                </a:srgbClr>
              </a:gs>
              <a:gs pos="90000">
                <a:srgbClr val="039ABD">
                  <a:alpha val="12000"/>
                </a:srgbClr>
              </a:gs>
              <a:gs pos="100000">
                <a:srgbClr val="92D050">
                  <a:lumMod val="0"/>
                  <a:alpha val="0"/>
                </a:srgbClr>
              </a:gs>
              <a:gs pos="47000">
                <a:srgbClr val="92D050">
                  <a:alpha val="0"/>
                </a:srgbClr>
              </a:gs>
              <a:gs pos="9000">
                <a:srgbClr val="FFC000">
                  <a:alpha val="59000"/>
                </a:srgbClr>
              </a:gs>
            </a:gsLst>
            <a:lin ang="5400000" scaled="0"/>
            <a:tileRect/>
          </a:gradFill>
          <a:ln>
            <a:noFill/>
          </a:ln>
          <a:effectLst>
            <a:outerShdw blurRad="381000" dist="114300" dir="5400000" algn="t" rotWithShape="0">
              <a:prstClr val="black">
                <a:alpha val="40000"/>
              </a:prstClr>
            </a:outerShdw>
          </a:effectLst>
        </p:spPr>
        <p:txBody>
          <a:bodyPr vert="horz" wrap="square" lIns="91440" tIns="45720" rIns="91440" bIns="45720" numCol="1" rtlCol="0" anchor="t" anchorCtr="0" compatLnSpc="1"/>
          <a:lstStyle/>
          <a:p>
            <a:pPr algn="ctr"/>
            <a:endParaRPr lang="zh-CN" altLang="en-US"/>
          </a:p>
        </p:txBody>
      </p:sp>
      <p:sp>
        <p:nvSpPr>
          <p:cNvPr id="15" name="矩形 14"/>
          <p:cNvSpPr/>
          <p:nvPr userDrawn="1"/>
        </p:nvSpPr>
        <p:spPr bwMode="auto">
          <a:xfrm>
            <a:off x="0" y="765175"/>
            <a:ext cx="8675688" cy="5616575"/>
          </a:xfrm>
          <a:prstGeom prst="rect">
            <a:avLst/>
          </a:prstGeom>
          <a:solidFill>
            <a:schemeClr val="bg1">
              <a:alpha val="90000"/>
            </a:schemeClr>
          </a:solidFill>
          <a:ln>
            <a:noFill/>
          </a:ln>
        </p:spPr>
        <p:txBody>
          <a:bodyPr vert="horz" wrap="square" lIns="91440" tIns="45720" rIns="91440" bIns="45720" numCol="1" rtlCol="0" anchor="t" anchorCtr="0" compatLnSpc="1"/>
          <a:lstStyle/>
          <a:p>
            <a:pPr algn="ctr"/>
            <a:endParaRPr lang="zh-CN" altLang="en-US"/>
          </a:p>
        </p:txBody>
      </p:sp>
      <p:sp>
        <p:nvSpPr>
          <p:cNvPr id="5" name="页脚占位符 4"/>
          <p:cNvSpPr>
            <a:spLocks noGrp="1"/>
          </p:cNvSpPr>
          <p:nvPr>
            <p:ph type="ftr" sz="quarter" idx="3"/>
          </p:nvPr>
        </p:nvSpPr>
        <p:spPr>
          <a:xfrm>
            <a:off x="3124200" y="6453188"/>
            <a:ext cx="2895600" cy="268287"/>
          </a:xfrm>
          <a:prstGeom prst="rect">
            <a:avLst/>
          </a:prstGeom>
          <a:solidFill>
            <a:srgbClr val="FFFFFF">
              <a:alpha val="69804"/>
            </a:srgbClr>
          </a:solidFill>
        </p:spPr>
        <p:txBody>
          <a:bodyPr vert="horz" lIns="91440" tIns="45720" rIns="91440" bIns="45720" rtlCol="0" anchor="ctr"/>
          <a:lstStyle>
            <a:lvl1pPr algn="ctr">
              <a:defRPr sz="900">
                <a:solidFill>
                  <a:schemeClr val="tx1"/>
                </a:solidFill>
                <a:latin typeface="Arial" panose="020B0604020202020204" pitchFamily="34" charset="0"/>
                <a:cs typeface="Arial" panose="020B0604020202020204" pitchFamily="34" charset="0"/>
              </a:defRPr>
            </a:lvl1pPr>
          </a:lstStyle>
          <a:p>
            <a:endParaRPr lang="zh-CN" altLang="en-US" dirty="0"/>
          </a:p>
        </p:txBody>
      </p:sp>
      <p:sp>
        <p:nvSpPr>
          <p:cNvPr id="14" name="文本占位符 13"/>
          <p:cNvSpPr>
            <a:spLocks noGrp="1"/>
          </p:cNvSpPr>
          <p:nvPr>
            <p:ph type="body" idx="1"/>
          </p:nvPr>
        </p:nvSpPr>
        <p:spPr>
          <a:xfrm flipH="1">
            <a:off x="468313" y="981076"/>
            <a:ext cx="8207375" cy="5400674"/>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10"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a:endParaRPr lang="en-US" altLang="zh-CN" sz="1100" dirty="0">
              <a:solidFill>
                <a:schemeClr val="tx1"/>
              </a:solidFill>
              <a:cs typeface="Arial" panose="020B0604020202020204" pitchFamily="34" charset="0"/>
            </a:endParaRPr>
          </a:p>
        </p:txBody>
      </p:sp>
      <p:sp>
        <p:nvSpPr>
          <p:cNvPr id="7" name="日期占位符 6"/>
          <p:cNvSpPr>
            <a:spLocks noGrp="1"/>
          </p:cNvSpPr>
          <p:nvPr>
            <p:ph type="dt" sz="half" idx="2"/>
          </p:nvPr>
        </p:nvSpPr>
        <p:spPr>
          <a:xfrm>
            <a:off x="6530976" y="6453188"/>
            <a:ext cx="2133600" cy="268287"/>
          </a:xfrm>
          <a:prstGeom prst="rect">
            <a:avLst/>
          </a:prstGeom>
          <a:solidFill>
            <a:srgbClr val="FFFFFF">
              <a:alpha val="69804"/>
            </a:srgbClr>
          </a:solidFill>
        </p:spPr>
        <p:txBody>
          <a:bodyPr vert="horz" lIns="91440" tIns="45720" rIns="91440" bIns="45720" rtlCol="0" anchor="ctr"/>
          <a:lstStyle>
            <a:lvl1pPr algn="r">
              <a:defRPr sz="900">
                <a:solidFill>
                  <a:schemeClr val="tx1"/>
                </a:solidFill>
              </a:defRPr>
            </a:lvl1pPr>
          </a:lstStyle>
          <a:p>
            <a:endParaRPr lang="zh-CN" altLang="en-US"/>
          </a:p>
        </p:txBody>
      </p:sp>
      <p:sp>
        <p:nvSpPr>
          <p:cNvPr id="6" name="灯片编号占位符 5"/>
          <p:cNvSpPr>
            <a:spLocks noGrp="1"/>
          </p:cNvSpPr>
          <p:nvPr>
            <p:ph type="sldNum" sz="quarter" idx="4"/>
          </p:nvPr>
        </p:nvSpPr>
        <p:spPr>
          <a:xfrm>
            <a:off x="468313" y="6453188"/>
            <a:ext cx="1007343" cy="268287"/>
          </a:xfrm>
          <a:prstGeom prst="rect">
            <a:avLst/>
          </a:prstGeom>
          <a:noFill/>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r>
              <a:rPr lang="en-US" altLang="zh-CN" smtClean="0"/>
              <a:t>P</a:t>
            </a:r>
            <a:fld id="{62DCC93C-90AC-48A1-9D9E-CBAB17A91522}" type="slidenum">
              <a:rPr lang="zh-CN" altLang="en-US" smtClean="0"/>
            </a:fld>
            <a:endParaRPr lang="zh-CN" altLang="en-US" dirty="0"/>
          </a:p>
        </p:txBody>
      </p:sp>
      <p:pic>
        <p:nvPicPr>
          <p:cNvPr id="27" name="Picture 2"/>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2"/>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tretch>
            <a:fillRect/>
          </a:stretch>
        </p:blipFill>
        <p:spPr bwMode="auto">
          <a:xfrm>
            <a:off x="0" y="765968"/>
            <a:ext cx="8666164" cy="12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标题占位符 12"/>
          <p:cNvSpPr>
            <a:spLocks noGrp="1"/>
          </p:cNvSpPr>
          <p:nvPr>
            <p:ph type="title"/>
          </p:nvPr>
        </p:nvSpPr>
        <p:spPr>
          <a:xfrm>
            <a:off x="477838" y="188641"/>
            <a:ext cx="7078190" cy="349250"/>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hf hdr="0" ftr="0" dt="0"/>
  <p:txStyles>
    <p:titleStyle>
      <a:lvl1pPr algn="l" defTabSz="914400" rtl="0" eaLnBrk="1" latinLnBrk="0" hangingPunct="1">
        <a:spcBef>
          <a:spcPct val="0"/>
        </a:spcBef>
        <a:buNone/>
        <a:defRPr sz="2800" b="1" kern="1200">
          <a:solidFill>
            <a:schemeClr val="tx1"/>
          </a:solidFill>
          <a:latin typeface="+mn-lt"/>
          <a:ea typeface="+mj-ea"/>
          <a:cs typeface="+mj-cs"/>
        </a:defRPr>
      </a:lvl1pPr>
    </p:titleStyle>
    <p:body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media" Target="../media/media1.mp3"/><Relationship Id="rId1" Type="http://schemas.openxmlformats.org/officeDocument/2006/relationships/audi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pt/slides/ppt/slides/ppt/slides/ppt/slides/ppt/slides/ppt/slides/ppt/slides/clipboard/slides/winword%20TestMortgageClass.java" TargetMode="External"/></Relationships>
</file>

<file path=ppt/slides/_rels/slide10.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4.bin"/><Relationship Id="rId3"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hyperlink" Target="ppt/slides/ppt/slides/ppt/slides/ppt/slides/ppt/slides/ppt/slides/ppt/slides/clipboard/slides/winword%20TestMortgageClass.java" TargetMode="External"/></Relationships>
</file>

<file path=ppt/slides/_rels/slide11.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11.wmf"/><Relationship Id="rId2" Type="http://schemas.openxmlformats.org/officeDocument/2006/relationships/oleObject" Target="../embeddings/oleObject5.bin"/><Relationship Id="rId1" Type="http://schemas.openxmlformats.org/officeDocument/2006/relationships/hyperlink" Target="ppt/slides/ppt/slides/ppt/slides/clipboard/slides/winword%20TestMortgageClass.java" TargetMode="External"/></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wmf"/><Relationship Id="rId2" Type="http://schemas.openxmlformats.org/officeDocument/2006/relationships/oleObject" Target="../embeddings/oleObject6.bin"/><Relationship Id="rId1" Type="http://schemas.openxmlformats.org/officeDocument/2006/relationships/hyperlink" Target="ppt/slides/ppt/slides/ppt/slides/clipboard/slides/winword%20TestMortgageClass.java"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hyperlink" Target="ppt/slides/ppt/slides/ppt/slides/clipboard/slides/winword%20TestMortgageClass.java" TargetMode="Externa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20.wmf"/><Relationship Id="rId2" Type="http://schemas.openxmlformats.org/officeDocument/2006/relationships/oleObject" Target="../embeddings/oleObject8.bin"/><Relationship Id="rId1" Type="http://schemas.openxmlformats.org/officeDocument/2006/relationships/hyperlink" Target="ppt/slides/ppt/slides/ppt/slides/clipboard/slides/winword%20TestMortgageClass.java" TargetMode="Externa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image" Target="../media/image24.jpeg"/></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7.wmf"/><Relationship Id="rId1"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8.wmf"/><Relationship Id="rId1" Type="http://schemas.openxmlformats.org/officeDocument/2006/relationships/oleObject" Target="../embeddings/oleObject1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26390" y="2209165"/>
            <a:ext cx="4479925" cy="639445"/>
          </a:xfrm>
        </p:spPr>
        <p:txBody>
          <a:bodyPr>
            <a:noAutofit/>
          </a:bodyPr>
          <a:lstStyle/>
          <a:p>
            <a:pPr marL="342900" lvl="0" indent="-342900" fontAlgn="base">
              <a:lnSpc>
                <a:spcPct val="110000"/>
              </a:lnSpc>
              <a:spcAft>
                <a:spcPct val="0"/>
              </a:spcAft>
            </a:pPr>
            <a:r>
              <a:rPr lang="zh-CN" altLang="en-US" sz="4000" b="0" u="none" kern="0" dirty="0">
                <a:solidFill>
                  <a:srgbClr val="000000"/>
                </a:solidFill>
                <a:latin typeface="Arial" panose="020B0604020202020204" pitchFamily="34" charset="0"/>
                <a:ea typeface="微软雅黑" panose="020B0503020204020204" pitchFamily="34" charset="-122"/>
              </a:rPr>
              <a:t>面向对象程序设计</a:t>
            </a:r>
            <a:endParaRPr lang="zh-CN" altLang="en-US" sz="4000" b="0" u="none" kern="0" dirty="0">
              <a:solidFill>
                <a:srgbClr val="000000"/>
              </a:solidFill>
              <a:latin typeface="Arial" panose="020B0604020202020204" pitchFamily="34" charset="0"/>
              <a:ea typeface="微软雅黑" panose="020B0503020204020204" pitchFamily="34" charset="-122"/>
            </a:endParaRPr>
          </a:p>
        </p:txBody>
      </p:sp>
      <p:sp>
        <p:nvSpPr>
          <p:cNvPr id="3" name="副标题 2"/>
          <p:cNvSpPr>
            <a:spLocks noGrp="1"/>
          </p:cNvSpPr>
          <p:nvPr>
            <p:ph type="subTitle" idx="1"/>
          </p:nvPr>
        </p:nvSpPr>
        <p:spPr>
          <a:xfrm>
            <a:off x="772160" y="3084830"/>
            <a:ext cx="3589020" cy="1221105"/>
          </a:xfrm>
        </p:spPr>
        <p:txBody>
          <a:bodyPr>
            <a:noAutofit/>
          </a:bodyPr>
          <a:lstStyle/>
          <a:p>
            <a:r>
              <a:rPr lang="zh-CN" altLang="en-US" sz="2800" u="none" dirty="0" smtClean="0">
                <a:solidFill>
                  <a:srgbClr val="000000"/>
                </a:solidFill>
                <a:latin typeface="微软雅黑" panose="020B0503020204020204" pitchFamily="34" charset="-122"/>
              </a:rPr>
              <a:t>对象和类</a:t>
            </a:r>
            <a:endParaRPr lang="zh-CN" altLang="en-US" sz="2800" u="none" dirty="0" smtClean="0">
              <a:solidFill>
                <a:srgbClr val="000000"/>
              </a:solidFill>
              <a:latin typeface="微软雅黑" panose="020B0503020204020204" pitchFamily="34" charset="-122"/>
            </a:endParaRPr>
          </a:p>
          <a:p>
            <a:r>
              <a:rPr lang="zh-CN" altLang="en-US" sz="2800" u="none" dirty="0" smtClean="0">
                <a:solidFill>
                  <a:srgbClr val="000000"/>
                </a:solidFill>
                <a:latin typeface="微软雅黑" panose="020B0503020204020204" pitchFamily="34" charset="-122"/>
              </a:rPr>
              <a:t>面向对象思考</a:t>
            </a:r>
            <a:endParaRPr lang="zh-CN" altLang="en-US" sz="2800" u="none" dirty="0" smtClean="0">
              <a:solidFill>
                <a:srgbClr val="000000"/>
              </a:solidFill>
              <a:latin typeface="微软雅黑" panose="020B0503020204020204" pitchFamily="34" charset="-122"/>
            </a:endParaRPr>
          </a:p>
        </p:txBody>
      </p:sp>
      <p:sp>
        <p:nvSpPr>
          <p:cNvPr id="5" name="矩形 4"/>
          <p:cNvSpPr/>
          <p:nvPr/>
        </p:nvSpPr>
        <p:spPr>
          <a:xfrm>
            <a:off x="8172400" y="16351"/>
            <a:ext cx="648072"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6" name="1">
            <a:hlinkClick r:id="" action="ppaction://media"/>
          </p:cNvPr>
          <p:cNvPicPr/>
          <p:nvPr>
            <a:audioFile r:link="rId1"/>
            <p:extLst>
              <p:ext uri="{DAA4B4D4-6D71-4841-9C94-3DE7FCFB9230}">
                <p14:media xmlns:p14="http://schemas.microsoft.com/office/powerpoint/2010/main" r:embed="rId2"/>
              </p:ext>
            </p:extLst>
          </p:nvPr>
        </p:nvPicPr>
        <p:blipFill>
          <a:blip r:embed="rId3"/>
          <a:stretch>
            <a:fillRect/>
          </a:stretch>
        </p:blipFill>
        <p:spPr>
          <a:xfrm>
            <a:off x="3849370" y="6238875"/>
            <a:ext cx="619125" cy="619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889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Next">
                      <p:tgtEl>
                        <p:sldTgt/>
                      </p:tgtEl>
                    </p:cond>
                    <p:cond evt="onPrev">
                      <p:tgtEl>
                        <p:sldTgt/>
                      </p:tgtEl>
                    </p:cond>
                    <p:cond evt="onStopAudio">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54275" name="Rectangle 2"/>
          <p:cNvSpPr>
            <a:spLocks noGrp="1"/>
          </p:cNvSpPr>
          <p:nvPr>
            <p:ph type="title"/>
          </p:nvPr>
        </p:nvSpPr>
        <p:spPr>
          <a:xfrm>
            <a:off x="228600" y="0"/>
            <a:ext cx="7772400" cy="9144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可见修饰符</a:t>
            </a:r>
            <a:endParaRPr lang="zh-CN" altLang="en-US" sz="4000" b="0" u="none" dirty="0">
              <a:latin typeface="Arial" panose="020B0604020202020204" pitchFamily="34" charset="0"/>
              <a:ea typeface="微软雅黑" panose="020B0503020204020204" pitchFamily="34" charset="-122"/>
            </a:endParaRPr>
          </a:p>
        </p:txBody>
      </p:sp>
      <p:sp>
        <p:nvSpPr>
          <p:cNvPr id="54276" name="Rectangle 3"/>
          <p:cNvSpPr>
            <a:spLocks noGrp="1"/>
          </p:cNvSpPr>
          <p:nvPr>
            <p:ph idx="1"/>
          </p:nvPr>
        </p:nvSpPr>
        <p:spPr>
          <a:xfrm>
            <a:off x="182880" y="990600"/>
            <a:ext cx="8498205" cy="5105400"/>
          </a:xfrm>
        </p:spPr>
        <p:txBody>
          <a:bodyPr vert="horz" wrap="square" lIns="92075" tIns="46038" rIns="92075" bIns="46038" anchor="t">
            <a:normAutofit/>
          </a:bodyPr>
          <a:p>
            <a:pPr>
              <a:lnSpc>
                <a:spcPct val="120000"/>
              </a:lnSpc>
            </a:pP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修饰符</a:t>
            </a:r>
            <a:r>
              <a:rPr lang="en-US" altLang="zh-CN" sz="2220" dirty="0">
                <a:latin typeface="微软雅黑" panose="020B0503020204020204" pitchFamily="34" charset="-122"/>
                <a:ea typeface="微软雅黑" panose="020B0503020204020204" pitchFamily="34" charset="-122"/>
                <a:cs typeface="微软雅黑" panose="020B0503020204020204" pitchFamily="34" charset="-122"/>
              </a:rPr>
              <a:t>private</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只能应用在类的成员上（内部类可以是私有的）。</a:t>
            </a:r>
            <a:r>
              <a:rPr lang="en-US" altLang="zh-CN" sz="2220" dirty="0">
                <a:latin typeface="微软雅黑" panose="020B0503020204020204" pitchFamily="34" charset="-122"/>
                <a:ea typeface="微软雅黑" panose="020B0503020204020204" pitchFamily="34" charset="-122"/>
                <a:cs typeface="微软雅黑" panose="020B0503020204020204" pitchFamily="34" charset="-122"/>
              </a:rPr>
              <a:t>public</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可以应用在类或类的成员上。局部变量上使用修饰符</a:t>
            </a:r>
            <a:r>
              <a:rPr lang="en-US" altLang="zh-CN" sz="2220" dirty="0">
                <a:latin typeface="微软雅黑" panose="020B0503020204020204" pitchFamily="34" charset="-122"/>
                <a:ea typeface="微软雅黑" panose="020B0503020204020204" pitchFamily="34" charset="-122"/>
                <a:cs typeface="微软雅黑" panose="020B0503020204020204" pitchFamily="34" charset="-122"/>
              </a:rPr>
              <a:t>public</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220" dirty="0">
                <a:latin typeface="微软雅黑" panose="020B0503020204020204" pitchFamily="34" charset="-122"/>
                <a:ea typeface="微软雅黑" panose="020B0503020204020204" pitchFamily="34" charset="-122"/>
                <a:cs typeface="微软雅黑" panose="020B0503020204020204" pitchFamily="34" charset="-122"/>
              </a:rPr>
              <a:t>private</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会导致编译错误。</a:t>
            </a:r>
            <a:endParaRPr lang="zh-CN" altLang="en-US" sz="222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sz="222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构造方法可以是私有的，防止创建类的实例</a:t>
            </a:r>
            <a:endParaRPr lang="zh-CN" altLang="en-US" sz="222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zh-CN" sz="2220" dirty="0">
                <a:latin typeface="微软雅黑" panose="020B0503020204020204" pitchFamily="34" charset="-122"/>
                <a:ea typeface="微软雅黑" panose="020B0503020204020204" pitchFamily="34" charset="-122"/>
                <a:cs typeface="微软雅黑" panose="020B0503020204020204" pitchFamily="34" charset="-122"/>
              </a:rPr>
              <a:t>例如</a:t>
            </a:r>
            <a:r>
              <a:rPr lang="en-US" altLang="zh-CN" sz="2220" dirty="0">
                <a:latin typeface="微软雅黑" panose="020B0503020204020204" pitchFamily="34" charset="-122"/>
                <a:ea typeface="微软雅黑" panose="020B0503020204020204" pitchFamily="34" charset="-122"/>
                <a:cs typeface="微软雅黑" panose="020B0503020204020204" pitchFamily="34" charset="-122"/>
              </a:rPr>
              <a:t>Math</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类所有数据域和方法都是静态的，没必要创建</a:t>
            </a:r>
            <a:r>
              <a:rPr lang="en-US" altLang="zh-CN" sz="2220" dirty="0">
                <a:latin typeface="微软雅黑" panose="020B0503020204020204" pitchFamily="34" charset="-122"/>
                <a:ea typeface="微软雅黑" panose="020B0503020204020204" pitchFamily="34" charset="-122"/>
                <a:cs typeface="微软雅黑" panose="020B0503020204020204" pitchFamily="34" charset="-122"/>
              </a:rPr>
              <a:t>Math</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类的示例，其构造方法是私有的</a:t>
            </a:r>
            <a:endParaRPr lang="zh-CN" altLang="en-US" sz="222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单件</a:t>
            </a:r>
            <a:r>
              <a:rPr lang="en-US" altLang="zh-CN" sz="222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Singleton</a:t>
            </a:r>
            <a:r>
              <a:rPr lang="en-US" altLang="zh-CN" sz="222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设计模式的应用</a:t>
            </a:r>
            <a:endParaRPr lang="en-US" altLang="zh-CN" sz="222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49155" name="Rectangle 2"/>
          <p:cNvSpPr>
            <a:spLocks noGrp="1"/>
          </p:cNvSpPr>
          <p:nvPr>
            <p:ph type="title"/>
          </p:nvPr>
        </p:nvSpPr>
        <p:spPr>
          <a:xfrm>
            <a:off x="161290" y="-76835"/>
            <a:ext cx="7772400" cy="904875"/>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数据域封装</a:t>
            </a:r>
            <a:endParaRPr lang="en-US" altLang="zh-CN" sz="4000" b="0" u="none" dirty="0">
              <a:latin typeface="Arial" panose="020B0604020202020204" pitchFamily="34" charset="0"/>
              <a:ea typeface="微软雅黑" panose="020B0503020204020204" pitchFamily="34" charset="-122"/>
            </a:endParaRPr>
          </a:p>
        </p:txBody>
      </p:sp>
      <p:sp>
        <p:nvSpPr>
          <p:cNvPr id="49156" name="Rectangle 3"/>
          <p:cNvSpPr>
            <a:spLocks noGrp="1"/>
          </p:cNvSpPr>
          <p:nvPr>
            <p:ph idx="1"/>
          </p:nvPr>
        </p:nvSpPr>
        <p:spPr>
          <a:xfrm>
            <a:off x="293370" y="1035050"/>
            <a:ext cx="7848600" cy="2270125"/>
          </a:xfrm>
        </p:spPr>
        <p:txBody>
          <a:bodyPr vert="horz" wrap="square" lIns="92075" tIns="46038" rIns="92075" bIns="46038" anchor="t">
            <a:normAutofit fontScale="50000"/>
          </a:bodyPr>
          <a:p>
            <a:pPr indent="0" fontAlgn="auto">
              <a:lnSpc>
                <a:spcPct val="150000"/>
              </a:lnSpc>
              <a:spcBef>
                <a:spcPts val="0"/>
              </a:spcBef>
              <a:buClr>
                <a:srgbClr val="7030A0"/>
              </a:buClr>
              <a:buFont typeface="Wingdings" panose="05000000000000000000" charset="0"/>
              <a:buChar char="n"/>
            </a:pPr>
            <a:r>
              <a:rPr lang="zh-CN" altLang="en-US" sz="3400" dirty="0">
                <a:latin typeface="微软雅黑" panose="020B0503020204020204" pitchFamily="34" charset="-122"/>
                <a:ea typeface="微软雅黑" panose="020B0503020204020204" pitchFamily="34" charset="-122"/>
                <a:cs typeface="微软雅黑" panose="020B0503020204020204" pitchFamily="34" charset="-122"/>
              </a:rPr>
              <a:t>对象中数据域能直接修改带来的问题</a:t>
            </a:r>
            <a:endParaRPr lang="zh-CN" altLang="en-US" sz="3400" dirty="0">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150000"/>
              </a:lnSpc>
              <a:spcBef>
                <a:spcPts val="0"/>
              </a:spcBef>
              <a:buClr>
                <a:srgbClr val="7030A0"/>
              </a:buClr>
              <a:buFont typeface="Wingdings" panose="05000000000000000000" charset="0"/>
              <a:buChar char="n"/>
            </a:pPr>
            <a:r>
              <a:rPr lang="zh-CN" altLang="en-US" sz="3020" dirty="0">
                <a:latin typeface="微软雅黑" panose="020B0503020204020204" pitchFamily="34" charset="-122"/>
                <a:ea typeface="微软雅黑" panose="020B0503020204020204" pitchFamily="34" charset="-122"/>
                <a:cs typeface="微软雅黑" panose="020B0503020204020204" pitchFamily="34" charset="-122"/>
              </a:rPr>
              <a:t>数据容易被篡改</a:t>
            </a:r>
            <a:endParaRPr lang="zh-CN" altLang="en-US" sz="3020" dirty="0">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150000"/>
              </a:lnSpc>
              <a:spcBef>
                <a:spcPts val="0"/>
              </a:spcBef>
              <a:buClr>
                <a:srgbClr val="7030A0"/>
              </a:buClr>
              <a:buFont typeface="Wingdings" panose="05000000000000000000" charset="0"/>
              <a:buChar char="n"/>
            </a:pPr>
            <a:r>
              <a:rPr lang="zh-CN" altLang="en-US" sz="3020" dirty="0">
                <a:latin typeface="微软雅黑" panose="020B0503020204020204" pitchFamily="34" charset="-122"/>
                <a:ea typeface="微软雅黑" panose="020B0503020204020204" pitchFamily="34" charset="-122"/>
                <a:cs typeface="微软雅黑" panose="020B0503020204020204" pitchFamily="34" charset="-122"/>
              </a:rPr>
              <a:t>类变得难于维护，同时容易出现错误</a:t>
            </a:r>
            <a:endParaRPr lang="zh-CN" altLang="en-US" sz="302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spcBef>
                <a:spcPts val="0"/>
              </a:spcBef>
              <a:buClr>
                <a:srgbClr val="7030A0"/>
              </a:buClr>
              <a:buFont typeface="Wingdings" panose="05000000000000000000" charset="0"/>
              <a:buChar char="n"/>
            </a:pPr>
            <a:r>
              <a:rPr lang="zh-CN" altLang="en-US" sz="3400" dirty="0">
                <a:latin typeface="微软雅黑" panose="020B0503020204020204" pitchFamily="34" charset="-122"/>
                <a:ea typeface="微软雅黑" panose="020B0503020204020204" pitchFamily="34" charset="-122"/>
                <a:cs typeface="微软雅黑" panose="020B0503020204020204" pitchFamily="34" charset="-122"/>
              </a:rPr>
              <a:t>数据域设为私有保护数据，并且使类易于维护</a:t>
            </a:r>
            <a:endParaRPr lang="zh-CN" altLang="en-US" sz="3400" dirty="0">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150000"/>
              </a:lnSpc>
              <a:spcBef>
                <a:spcPts val="0"/>
              </a:spcBef>
              <a:buClr>
                <a:srgbClr val="7030A0"/>
              </a:buClr>
              <a:buFont typeface="Wingdings" panose="05000000000000000000" charset="0"/>
              <a:buChar char="n"/>
            </a:pPr>
            <a:r>
              <a:rPr lang="zh-CN" altLang="en-US" sz="3020" dirty="0">
                <a:latin typeface="微软雅黑" panose="020B0503020204020204" pitchFamily="34" charset="-122"/>
                <a:ea typeface="微软雅黑" panose="020B0503020204020204" pitchFamily="34" charset="-122"/>
                <a:cs typeface="微软雅黑" panose="020B0503020204020204" pitchFamily="34" charset="-122"/>
              </a:rPr>
              <a:t>访问器</a:t>
            </a:r>
            <a:r>
              <a:rPr lang="en-US" altLang="zh-CN" sz="3020" dirty="0">
                <a:latin typeface="微软雅黑" panose="020B0503020204020204" pitchFamily="34" charset="-122"/>
                <a:ea typeface="微软雅黑" panose="020B0503020204020204" pitchFamily="34" charset="-122"/>
                <a:cs typeface="微软雅黑" panose="020B0503020204020204" pitchFamily="34" charset="-122"/>
              </a:rPr>
              <a:t>get</a:t>
            </a:r>
            <a:r>
              <a:rPr lang="zh-CN" altLang="en-US" sz="3020" dirty="0">
                <a:latin typeface="微软雅黑" panose="020B0503020204020204" pitchFamily="34" charset="-122"/>
                <a:ea typeface="微软雅黑" panose="020B0503020204020204" pitchFamily="34" charset="-122"/>
                <a:cs typeface="微软雅黑" panose="020B0503020204020204" pitchFamily="34" charset="-122"/>
              </a:rPr>
              <a:t>方法</a:t>
            </a:r>
            <a:endParaRPr lang="zh-CN" altLang="en-US" sz="3020" dirty="0">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150000"/>
              </a:lnSpc>
              <a:spcBef>
                <a:spcPts val="0"/>
              </a:spcBef>
              <a:buClr>
                <a:srgbClr val="7030A0"/>
              </a:buClr>
              <a:buFont typeface="Wingdings" panose="05000000000000000000" charset="0"/>
              <a:buChar char="n"/>
            </a:pPr>
            <a:r>
              <a:rPr lang="zh-CN" altLang="en-US" sz="3020" dirty="0">
                <a:latin typeface="微软雅黑" panose="020B0503020204020204" pitchFamily="34" charset="-122"/>
                <a:ea typeface="微软雅黑" panose="020B0503020204020204" pitchFamily="34" charset="-122"/>
                <a:cs typeface="微软雅黑" panose="020B0503020204020204" pitchFamily="34" charset="-122"/>
              </a:rPr>
              <a:t>修改器</a:t>
            </a:r>
            <a:r>
              <a:rPr lang="en-US" altLang="zh-CN" sz="302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3020" dirty="0">
                <a:latin typeface="微软雅黑" panose="020B0503020204020204" pitchFamily="34" charset="-122"/>
                <a:ea typeface="微软雅黑" panose="020B0503020204020204" pitchFamily="34" charset="-122"/>
                <a:cs typeface="微软雅黑" panose="020B0503020204020204" pitchFamily="34" charset="-122"/>
              </a:rPr>
              <a:t>方法</a:t>
            </a:r>
            <a:endParaRPr lang="zh-CN" altLang="en-US" sz="302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0181" name="Object 7"/>
          <p:cNvGraphicFramePr>
            <a:graphicFrameLocks noChangeAspect="1"/>
          </p:cNvGraphicFramePr>
          <p:nvPr/>
        </p:nvGraphicFramePr>
        <p:xfrm>
          <a:off x="-317" y="3358833"/>
          <a:ext cx="8932862" cy="3171825"/>
        </p:xfrm>
        <a:graphic>
          <a:graphicData uri="http://schemas.openxmlformats.org/presentationml/2006/ole">
            <mc:AlternateContent xmlns:mc="http://schemas.openxmlformats.org/markup-compatibility/2006">
              <mc:Choice xmlns:v="urn:schemas-microsoft-com:vml" Requires="v">
                <p:oleObj spid="_x0000_s3094" name="" r:id="rId1" imgW="4888230" imgH="1738630" progId="Word.Picture.8">
                  <p:embed/>
                </p:oleObj>
              </mc:Choice>
              <mc:Fallback>
                <p:oleObj name="" r:id="rId1" imgW="4888230" imgH="1738630" progId="Word.Picture.8">
                  <p:embed/>
                  <p:pic>
                    <p:nvPicPr>
                      <p:cNvPr id="0" name="图片 3093"/>
                      <p:cNvPicPr/>
                      <p:nvPr/>
                    </p:nvPicPr>
                    <p:blipFill>
                      <a:blip r:embed="rId2"/>
                      <a:stretch>
                        <a:fillRect/>
                      </a:stretch>
                    </p:blipFill>
                    <p:spPr>
                      <a:xfrm>
                        <a:off x="-317" y="3358833"/>
                        <a:ext cx="8932862" cy="31718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51203" name="Rectangle 2"/>
          <p:cNvSpPr>
            <a:spLocks noGrp="1"/>
          </p:cNvSpPr>
          <p:nvPr>
            <p:ph type="title"/>
          </p:nvPr>
        </p:nvSpPr>
        <p:spPr>
          <a:xfrm>
            <a:off x="0" y="-429260"/>
            <a:ext cx="7772400" cy="142875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给方法传递对象参数</a:t>
            </a:r>
            <a:endParaRPr lang="zh-CN" altLang="en-US" sz="4000" b="0" u="none" dirty="0">
              <a:latin typeface="Arial" panose="020B0604020202020204" pitchFamily="34" charset="0"/>
              <a:ea typeface="微软雅黑" panose="020B0503020204020204" pitchFamily="34" charset="-122"/>
            </a:endParaRPr>
          </a:p>
        </p:txBody>
      </p:sp>
      <p:sp>
        <p:nvSpPr>
          <p:cNvPr id="51204" name="Rectangle 3"/>
          <p:cNvSpPr>
            <a:spLocks noGrp="1"/>
          </p:cNvSpPr>
          <p:nvPr>
            <p:ph idx="1"/>
          </p:nvPr>
        </p:nvSpPr>
        <p:spPr>
          <a:xfrm>
            <a:off x="107315" y="866775"/>
            <a:ext cx="8757920" cy="936625"/>
          </a:xfrm>
        </p:spPr>
        <p:txBody>
          <a:bodyPr vert="horz" wrap="square" lIns="92075" tIns="46038" rIns="92075" bIns="46038" anchor="t">
            <a:noAutofit/>
          </a:bodyPr>
          <a:p>
            <a:pPr fontAlgn="auto">
              <a:lnSpc>
                <a:spcPct val="150000"/>
              </a:lnSpc>
              <a:spcBef>
                <a:spcPts val="0"/>
              </a:spcBef>
            </a:pPr>
            <a:r>
              <a:rPr lang="zh-CN" altLang="en-US" sz="1400" dirty="0">
                <a:latin typeface="微软雅黑" panose="020B0503020204020204" pitchFamily="34" charset="-122"/>
                <a:ea typeface="微软雅黑" panose="020B0503020204020204" pitchFamily="34" charset="-122"/>
              </a:rPr>
              <a:t>传递基本类型值给方法（这个值将被传递给参数）</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传递引用类型值给方法（这个值是对象的引用值）</a:t>
            </a:r>
            <a:endParaRPr lang="zh-CN" altLang="en-US" sz="1400" dirty="0">
              <a:latin typeface="微软雅黑" panose="020B0503020204020204" pitchFamily="34" charset="-122"/>
              <a:ea typeface="微软雅黑" panose="020B0503020204020204" pitchFamily="34" charset="-122"/>
            </a:endParaRPr>
          </a:p>
        </p:txBody>
      </p:sp>
      <p:pic>
        <p:nvPicPr>
          <p:cNvPr id="52229" name="图片 4"/>
          <p:cNvPicPr>
            <a:picLocks noChangeAspect="1"/>
          </p:cNvPicPr>
          <p:nvPr/>
        </p:nvPicPr>
        <p:blipFill>
          <a:blip r:embed="rId1"/>
          <a:stretch>
            <a:fillRect/>
          </a:stretch>
        </p:blipFill>
        <p:spPr>
          <a:xfrm>
            <a:off x="1691640" y="1196975"/>
            <a:ext cx="4980305" cy="3559175"/>
          </a:xfrm>
          <a:prstGeom prst="rect">
            <a:avLst/>
          </a:prstGeom>
          <a:noFill/>
          <a:ln w="9525">
            <a:noFill/>
          </a:ln>
        </p:spPr>
      </p:pic>
      <p:pic>
        <p:nvPicPr>
          <p:cNvPr id="2" name="图片 1"/>
          <p:cNvPicPr>
            <a:picLocks noChangeAspect="1"/>
          </p:cNvPicPr>
          <p:nvPr/>
        </p:nvPicPr>
        <p:blipFill>
          <a:blip r:embed="rId2"/>
          <a:stretch>
            <a:fillRect/>
          </a:stretch>
        </p:blipFill>
        <p:spPr>
          <a:xfrm>
            <a:off x="1238250" y="4725035"/>
            <a:ext cx="5887085" cy="219456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54275" name="Rectangle 2"/>
          <p:cNvSpPr>
            <a:spLocks noGrp="1"/>
          </p:cNvSpPr>
          <p:nvPr>
            <p:ph type="title"/>
          </p:nvPr>
        </p:nvSpPr>
        <p:spPr>
          <a:xfrm>
            <a:off x="294640" y="0"/>
            <a:ext cx="6105525" cy="9144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对象数组</a:t>
            </a:r>
            <a:endParaRPr lang="zh-CN" altLang="en-US" sz="4000" b="0" u="none" dirty="0">
              <a:latin typeface="Arial" panose="020B0604020202020204" pitchFamily="34" charset="0"/>
              <a:ea typeface="微软雅黑" panose="020B0503020204020204" pitchFamily="34" charset="-122"/>
            </a:endParaRPr>
          </a:p>
        </p:txBody>
      </p:sp>
      <p:sp>
        <p:nvSpPr>
          <p:cNvPr id="54276" name="Rectangle 3"/>
          <p:cNvSpPr>
            <a:spLocks noGrp="1"/>
          </p:cNvSpPr>
          <p:nvPr>
            <p:ph idx="1"/>
          </p:nvPr>
        </p:nvSpPr>
        <p:spPr>
          <a:xfrm>
            <a:off x="228600" y="974725"/>
            <a:ext cx="8382635" cy="5105400"/>
          </a:xfrm>
        </p:spPr>
        <p:txBody>
          <a:bodyPr vert="horz" wrap="square" lIns="92075" tIns="46038" rIns="92075" bIns="46038" anchor="t"/>
          <a:p>
            <a:pPr>
              <a:lnSpc>
                <a:spcPct val="120000"/>
              </a:lnSpc>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Circle[] circleArray = new Circle[10]; </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对象数组实际上是引用变量构成的数组。所以调用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circleArray[1].getArea()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就包含两个层次的引用，如下图所示。</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circleArray</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引用整个数组。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circleArray[1]</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引用一个Circle对象</a:t>
            </a:r>
            <a:r>
              <a:rPr lang="zh-CN" altLang="en-US" sz="2400" dirty="0">
                <a:ea typeface="宋体" panose="02010600030101010101" pitchFamily="2" charset="-122"/>
              </a:rPr>
              <a:t>。</a:t>
            </a:r>
            <a:r>
              <a:rPr lang="zh-CN" altLang="en-US" sz="2400" dirty="0">
                <a:latin typeface="Courier" charset="0"/>
                <a:ea typeface="宋体" panose="02010600030101010101" pitchFamily="2" charset="-122"/>
              </a:rPr>
              <a:t> </a:t>
            </a:r>
            <a:endParaRPr lang="zh-CN" altLang="en-US" sz="2400" dirty="0">
              <a:ea typeface="宋体" panose="02010600030101010101" pitchFamily="2" charset="-122"/>
            </a:endParaRPr>
          </a:p>
        </p:txBody>
      </p:sp>
      <p:graphicFrame>
        <p:nvGraphicFramePr>
          <p:cNvPr id="55301" name="Object 4"/>
          <p:cNvGraphicFramePr>
            <a:graphicFrameLocks noChangeAspect="1"/>
          </p:cNvGraphicFramePr>
          <p:nvPr/>
        </p:nvGraphicFramePr>
        <p:xfrm>
          <a:off x="152400" y="3808730"/>
          <a:ext cx="8839200" cy="2438400"/>
        </p:xfrm>
        <a:graphic>
          <a:graphicData uri="http://schemas.openxmlformats.org/presentationml/2006/ole">
            <mc:AlternateContent xmlns:mc="http://schemas.openxmlformats.org/markup-compatibility/2006">
              <mc:Choice xmlns:v="urn:schemas-microsoft-com:vml" Requires="v">
                <p:oleObj spid="_x0000_s3095" name="" r:id="rId1" imgW="3943985" imgH="1086485" progId="Word.Picture.8">
                  <p:embed/>
                </p:oleObj>
              </mc:Choice>
              <mc:Fallback>
                <p:oleObj name="" r:id="rId1" imgW="3943985" imgH="1086485" progId="Word.Picture.8">
                  <p:embed/>
                  <p:pic>
                    <p:nvPicPr>
                      <p:cNvPr id="0" name="图片 3094"/>
                      <p:cNvPicPr/>
                      <p:nvPr/>
                    </p:nvPicPr>
                    <p:blipFill>
                      <a:blip r:embed="rId2"/>
                      <a:stretch>
                        <a:fillRect/>
                      </a:stretch>
                    </p:blipFill>
                    <p:spPr>
                      <a:xfrm>
                        <a:off x="152400" y="3808730"/>
                        <a:ext cx="8839200" cy="24384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7347" name="Rectangle 2"/>
          <p:cNvSpPr>
            <a:spLocks noGrp="1"/>
          </p:cNvSpPr>
          <p:nvPr>
            <p:ph type="title"/>
          </p:nvPr>
        </p:nvSpPr>
        <p:spPr>
          <a:xfrm>
            <a:off x="304800" y="82550"/>
            <a:ext cx="7772400" cy="6858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不可变对象和类</a:t>
            </a:r>
            <a:endParaRPr lang="zh-CN" altLang="en-US" sz="4000" b="0" u="none" dirty="0">
              <a:latin typeface="Arial" panose="020B0604020202020204" pitchFamily="34" charset="0"/>
              <a:ea typeface="微软雅黑" panose="020B0503020204020204" pitchFamily="34" charset="-122"/>
            </a:endParaRPr>
          </a:p>
        </p:txBody>
      </p:sp>
      <p:sp>
        <p:nvSpPr>
          <p:cNvPr id="57348" name="Rectangle 5"/>
          <p:cNvSpPr/>
          <p:nvPr/>
        </p:nvSpPr>
        <p:spPr>
          <a:xfrm>
            <a:off x="304800" y="1066800"/>
            <a:ext cx="8534400" cy="2630488"/>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lvl="0">
              <a:lnSpc>
                <a:spcPct val="120000"/>
              </a:lnSpc>
              <a:spcBef>
                <a:spcPct val="0"/>
              </a:spcBef>
              <a:buClrTx/>
              <a:buSzTx/>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如果一旦创建一个对象那么不能再改变它的内容，这种对象被称为不可变对象（</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immutable object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），而它的类就被称为不可变类（</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immutable class</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）。如果删掉前面例子中</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Circle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方法，那么该类就变成不可变类，因为半径是私有的，所以没有</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方法它的值就不能再改变。</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7349" name="Rectangle 7"/>
          <p:cNvSpPr/>
          <p:nvPr/>
        </p:nvSpPr>
        <p:spPr>
          <a:xfrm>
            <a:off x="304800" y="3810000"/>
            <a:ext cx="8534400" cy="207645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lvl="0">
              <a:lnSpc>
                <a:spcPct val="120000"/>
              </a:lnSpc>
              <a:spcBef>
                <a:spcPct val="0"/>
              </a:spcBef>
              <a:buClrTx/>
              <a:buSzTx/>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一个类所有数据都是私有的且没有修改器，并不意味着它一定是不可变类。例如：下面的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Student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类，它的所有数据域都是私有的，而且也没有</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方法，但它不是一个不可变的类。</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8371" name="Rectangle 2"/>
          <p:cNvSpPr>
            <a:spLocks noGrp="1"/>
          </p:cNvSpPr>
          <p:nvPr>
            <p:ph type="title"/>
          </p:nvPr>
        </p:nvSpPr>
        <p:spPr>
          <a:xfrm>
            <a:off x="609600" y="152400"/>
            <a:ext cx="3429000" cy="45720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举 例</a:t>
            </a:r>
            <a:endParaRPr lang="zh-CN" altLang="en-US" sz="4000" b="0" u="none" dirty="0">
              <a:latin typeface="Arial" panose="020B0604020202020204" pitchFamily="34" charset="0"/>
              <a:ea typeface="微软雅黑" panose="020B0503020204020204" pitchFamily="34" charset="-122"/>
            </a:endParaRPr>
          </a:p>
        </p:txBody>
      </p:sp>
      <p:sp>
        <p:nvSpPr>
          <p:cNvPr id="58372" name="Rectangle 3"/>
          <p:cNvSpPr/>
          <p:nvPr/>
        </p:nvSpPr>
        <p:spPr>
          <a:xfrm>
            <a:off x="0" y="989965"/>
            <a:ext cx="4648200" cy="335280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200" b="1" dirty="0">
                <a:solidFill>
                  <a:schemeClr val="tx1"/>
                </a:solidFill>
                <a:latin typeface="Courier New" panose="02070309020205020404" charset="0"/>
                <a:ea typeface="宋体" panose="02010600030101010101" pitchFamily="2" charset="-122"/>
              </a:rPr>
              <a:t>public class Student {</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private int id;</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private BirthDate birthDate;</a:t>
            </a:r>
            <a:br>
              <a:rPr lang="en-US" altLang="zh-CN" sz="1200" b="1" dirty="0">
                <a:solidFill>
                  <a:schemeClr val="tx1"/>
                </a:solidFill>
                <a:latin typeface="Courier New" panose="02070309020205020404" charset="0"/>
                <a:ea typeface="宋体" panose="02010600030101010101" pitchFamily="2" charset="-122"/>
              </a:rPr>
            </a:b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public Student(int ssn, </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int year, int month, int day) {</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id = ssn;</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birthDate = new BirthDate(year, month, day);</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a:t>
            </a:r>
            <a:br>
              <a:rPr lang="en-US" altLang="zh-CN" sz="1200" b="1" dirty="0">
                <a:solidFill>
                  <a:schemeClr val="tx1"/>
                </a:solidFill>
                <a:latin typeface="Courier New" panose="02070309020205020404" charset="0"/>
                <a:ea typeface="宋体" panose="02010600030101010101" pitchFamily="2" charset="-122"/>
              </a:rPr>
            </a:b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public int getId() {</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return id;</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a:t>
            </a:r>
            <a:br>
              <a:rPr lang="en-US" altLang="zh-CN" sz="1200" b="1" dirty="0">
                <a:solidFill>
                  <a:schemeClr val="tx1"/>
                </a:solidFill>
                <a:latin typeface="Courier New" panose="02070309020205020404" charset="0"/>
                <a:ea typeface="宋体" panose="02010600030101010101" pitchFamily="2" charset="-122"/>
              </a:rPr>
            </a:b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public BirthDate getBirthDate() {</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return birthDate;</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  }</a:t>
            </a:r>
            <a:br>
              <a:rPr lang="en-US" altLang="zh-CN" sz="1200" b="1" dirty="0">
                <a:solidFill>
                  <a:schemeClr val="tx1"/>
                </a:solidFill>
                <a:latin typeface="Courier New" panose="02070309020205020404" charset="0"/>
                <a:ea typeface="宋体" panose="02010600030101010101" pitchFamily="2" charset="-122"/>
              </a:rPr>
            </a:br>
            <a:r>
              <a:rPr lang="en-US" altLang="zh-CN" sz="1200" b="1" dirty="0">
                <a:solidFill>
                  <a:schemeClr val="tx1"/>
                </a:solidFill>
                <a:latin typeface="Courier New" panose="02070309020205020404" charset="0"/>
                <a:ea typeface="宋体" panose="02010600030101010101" pitchFamily="2" charset="-122"/>
              </a:rPr>
              <a:t>}</a:t>
            </a:r>
            <a:endParaRPr lang="en-US" altLang="zh-CN" sz="1200" b="1" dirty="0">
              <a:solidFill>
                <a:schemeClr val="tx1"/>
              </a:solidFill>
              <a:latin typeface="Courier New" panose="02070309020205020404" charset="0"/>
              <a:ea typeface="宋体" panose="02010600030101010101" pitchFamily="2" charset="-122"/>
            </a:endParaRPr>
          </a:p>
        </p:txBody>
      </p:sp>
      <p:sp>
        <p:nvSpPr>
          <p:cNvPr id="58373" name="Rectangle 4"/>
          <p:cNvSpPr/>
          <p:nvPr/>
        </p:nvSpPr>
        <p:spPr>
          <a:xfrm>
            <a:off x="4467225" y="838200"/>
            <a:ext cx="4495800" cy="3568700"/>
          </a:xfrm>
          <a:prstGeom prst="rect">
            <a:avLst/>
          </a:prstGeom>
          <a:noFill/>
          <a:ln w="9525" cap="flat" cmpd="sng">
            <a:solidFill>
              <a:srgbClr val="FF0000"/>
            </a:solidFill>
            <a:prstDash val="solid"/>
            <a:miter/>
            <a:headEnd type="none" w="med" len="med"/>
            <a:tailEnd type="none" w="med" len="med"/>
          </a:ln>
        </p:spPr>
        <p:txBody>
          <a:bodyPr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400" b="1" dirty="0">
                <a:solidFill>
                  <a:schemeClr val="tx1"/>
                </a:solidFill>
                <a:latin typeface="Courier New" panose="02070309020205020404" charset="0"/>
                <a:ea typeface="宋体" panose="02010600030101010101" pitchFamily="2" charset="-122"/>
              </a:rPr>
              <a:t>public class BirthDate {</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private int year;</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private int month;</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private int day;</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public BirthDate(int newYear, </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int newMonth, int newDay) {</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year = newYear;</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month = newMonth;</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day = newDay;</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public void setYear(int newYear) {</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year = newYear;</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  }</a:t>
            </a:r>
            <a:br>
              <a:rPr lang="en-US" altLang="zh-CN" sz="1400" b="1" dirty="0">
                <a:solidFill>
                  <a:schemeClr val="tx1"/>
                </a:solidFill>
                <a:latin typeface="Courier New" panose="02070309020205020404" charset="0"/>
                <a:ea typeface="宋体" panose="02010600030101010101" pitchFamily="2" charset="-122"/>
              </a:rPr>
            </a:br>
            <a:r>
              <a:rPr lang="en-US" altLang="zh-CN" sz="1400" b="1" dirty="0">
                <a:solidFill>
                  <a:schemeClr val="tx1"/>
                </a:solidFill>
                <a:latin typeface="Courier New" panose="02070309020205020404" charset="0"/>
                <a:ea typeface="宋体" panose="02010600030101010101" pitchFamily="2" charset="-122"/>
              </a:rPr>
              <a:t>}</a:t>
            </a:r>
            <a:endParaRPr lang="en-US" altLang="zh-CN" sz="1400" b="1" dirty="0">
              <a:solidFill>
                <a:schemeClr val="tx1"/>
              </a:solidFill>
              <a:latin typeface="Courier New" panose="02070309020205020404" charset="0"/>
              <a:ea typeface="宋体" panose="02010600030101010101" pitchFamily="2" charset="-122"/>
            </a:endParaRPr>
          </a:p>
        </p:txBody>
      </p:sp>
      <p:sp>
        <p:nvSpPr>
          <p:cNvPr id="58374" name="Rectangle 5"/>
          <p:cNvSpPr/>
          <p:nvPr/>
        </p:nvSpPr>
        <p:spPr>
          <a:xfrm>
            <a:off x="327025" y="4407535"/>
            <a:ext cx="8305800" cy="1905000"/>
          </a:xfrm>
          <a:prstGeom prst="rect">
            <a:avLst/>
          </a:prstGeom>
          <a:noFill/>
          <a:ln w="9525" cap="flat" cmpd="sng">
            <a:solidFill>
              <a:srgbClr val="FF0000"/>
            </a:solidFill>
            <a:prstDash val="solid"/>
            <a:miter/>
            <a:headEnd type="none" w="med" len="med"/>
            <a:tailEnd type="none" w="med" len="med"/>
          </a:ln>
        </p:spPr>
        <p:txBody>
          <a:bodyPr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b="1" dirty="0">
                <a:solidFill>
                  <a:schemeClr val="tx1"/>
                </a:solidFill>
                <a:latin typeface="Courier New" panose="02070309020205020404" charset="0"/>
                <a:ea typeface="宋体" panose="02010600030101010101" pitchFamily="2" charset="-122"/>
              </a:rPr>
              <a:t>public class Test {</a:t>
            </a:r>
            <a:br>
              <a:rPr lang="en-US" altLang="zh-CN" sz="1600" b="1" dirty="0">
                <a:solidFill>
                  <a:schemeClr val="tx1"/>
                </a:solidFill>
                <a:latin typeface="Courier New" panose="02070309020205020404" charset="0"/>
                <a:ea typeface="宋体" panose="02010600030101010101" pitchFamily="2" charset="-122"/>
              </a:rPr>
            </a:br>
            <a:r>
              <a:rPr lang="en-US" altLang="zh-CN" sz="1600" b="1" dirty="0">
                <a:solidFill>
                  <a:schemeClr val="tx1"/>
                </a:solidFill>
                <a:latin typeface="Courier New" panose="02070309020205020404" charset="0"/>
                <a:ea typeface="宋体" panose="02010600030101010101" pitchFamily="2" charset="-122"/>
              </a:rPr>
              <a:t>  public static void main(String[] args) {</a:t>
            </a:r>
            <a:br>
              <a:rPr lang="en-US" altLang="zh-CN" sz="1600" b="1" dirty="0">
                <a:solidFill>
                  <a:schemeClr val="tx1"/>
                </a:solidFill>
                <a:latin typeface="Courier New" panose="02070309020205020404" charset="0"/>
                <a:ea typeface="宋体" panose="02010600030101010101" pitchFamily="2" charset="-122"/>
              </a:rPr>
            </a:br>
            <a:r>
              <a:rPr lang="en-US" altLang="zh-CN" sz="1600" b="1" dirty="0">
                <a:solidFill>
                  <a:schemeClr val="tx1"/>
                </a:solidFill>
                <a:latin typeface="Courier New" panose="02070309020205020404" charset="0"/>
                <a:ea typeface="宋体" panose="02010600030101010101" pitchFamily="2" charset="-122"/>
              </a:rPr>
              <a:t>    Student student = new Student(111223333, 1970, 5, 3);</a:t>
            </a:r>
            <a:br>
              <a:rPr lang="en-US" altLang="zh-CN" sz="1600" b="1" dirty="0">
                <a:solidFill>
                  <a:schemeClr val="tx1"/>
                </a:solidFill>
                <a:latin typeface="Courier New" panose="02070309020205020404" charset="0"/>
                <a:ea typeface="宋体" panose="02010600030101010101" pitchFamily="2" charset="-122"/>
              </a:rPr>
            </a:br>
            <a:r>
              <a:rPr lang="en-US" altLang="zh-CN" sz="1600" b="1" dirty="0">
                <a:solidFill>
                  <a:schemeClr val="tx1"/>
                </a:solidFill>
                <a:latin typeface="Courier New" panose="02070309020205020404" charset="0"/>
                <a:ea typeface="宋体" panose="02010600030101010101" pitchFamily="2" charset="-122"/>
              </a:rPr>
              <a:t>    BirthDate date = student.getBirthDate();</a:t>
            </a:r>
            <a:br>
              <a:rPr lang="en-US" altLang="zh-CN" sz="1600" b="1" dirty="0">
                <a:solidFill>
                  <a:schemeClr val="tx1"/>
                </a:solidFill>
                <a:latin typeface="Courier New" panose="02070309020205020404" charset="0"/>
                <a:ea typeface="宋体" panose="02010600030101010101" pitchFamily="2" charset="-122"/>
              </a:rPr>
            </a:br>
            <a:r>
              <a:rPr lang="en-US" altLang="zh-CN" sz="1600" b="1" dirty="0">
                <a:solidFill>
                  <a:schemeClr val="tx1"/>
                </a:solidFill>
                <a:latin typeface="Courier New" panose="02070309020205020404" charset="0"/>
                <a:ea typeface="宋体" panose="02010600030101010101" pitchFamily="2" charset="-122"/>
              </a:rPr>
              <a:t>    date.setYear(2010); // Now the student birth year is changed!</a:t>
            </a:r>
            <a:br>
              <a:rPr lang="en-US" altLang="zh-CN" sz="1600" b="1" dirty="0">
                <a:solidFill>
                  <a:schemeClr val="tx1"/>
                </a:solidFill>
                <a:latin typeface="Courier New" panose="02070309020205020404" charset="0"/>
                <a:ea typeface="宋体" panose="02010600030101010101" pitchFamily="2" charset="-122"/>
              </a:rPr>
            </a:br>
            <a:r>
              <a:rPr lang="en-US" altLang="zh-CN" sz="1600" b="1" dirty="0">
                <a:solidFill>
                  <a:schemeClr val="tx1"/>
                </a:solidFill>
                <a:latin typeface="Courier New" panose="02070309020205020404" charset="0"/>
                <a:ea typeface="宋体" panose="02010600030101010101" pitchFamily="2" charset="-122"/>
              </a:rPr>
              <a:t>  }</a:t>
            </a:r>
            <a:br>
              <a:rPr lang="en-US" altLang="zh-CN" sz="1600" b="1" dirty="0">
                <a:solidFill>
                  <a:schemeClr val="tx1"/>
                </a:solidFill>
                <a:latin typeface="Courier New" panose="02070309020205020404" charset="0"/>
                <a:ea typeface="宋体" panose="02010600030101010101" pitchFamily="2" charset="-122"/>
              </a:rPr>
            </a:br>
            <a:r>
              <a:rPr lang="en-US" altLang="zh-CN" sz="1600" b="1" dirty="0">
                <a:solidFill>
                  <a:schemeClr val="tx1"/>
                </a:solidFill>
                <a:latin typeface="Courier New" panose="02070309020205020404" charset="0"/>
                <a:ea typeface="宋体" panose="02010600030101010101" pitchFamily="2" charset="-122"/>
              </a:rPr>
              <a:t>}</a:t>
            </a:r>
            <a:endParaRPr lang="en-US" altLang="zh-CN" sz="1600" b="1" dirty="0">
              <a:solidFill>
                <a:schemeClr val="tx1"/>
              </a:solidFill>
              <a:latin typeface="Courier New" panose="020703090202050204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9396" name="Rectangle 3"/>
          <p:cNvSpPr/>
          <p:nvPr/>
        </p:nvSpPr>
        <p:spPr>
          <a:xfrm>
            <a:off x="304800" y="1066800"/>
            <a:ext cx="8534400" cy="3552825"/>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lvl="0">
              <a:lnSpc>
                <a:spcPct val="150000"/>
              </a:lnSpc>
              <a:spcBef>
                <a:spcPct val="0"/>
              </a:spcBef>
              <a:buClrTx/>
              <a:buSzTx/>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要使一个类成为不可变的：</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2" indent="-342900">
              <a:lnSpc>
                <a:spcPct val="150000"/>
              </a:lnSpc>
              <a:spcBef>
                <a:spcPct val="0"/>
              </a:spcBef>
              <a:buClrTx/>
              <a:buSzTx/>
            </a:pPr>
            <a:r>
              <a:rPr lang="zh-CN" altLang="en-US" sz="2100" dirty="0">
                <a:latin typeface="微软雅黑" panose="020B0503020204020204" pitchFamily="34" charset="-122"/>
                <a:ea typeface="微软雅黑" panose="020B0503020204020204" pitchFamily="34" charset="-122"/>
                <a:cs typeface="微软雅黑" panose="020B0503020204020204" pitchFamily="34" charset="-122"/>
              </a:rPr>
              <a:t>必须标记所有数据域都是私有的，</a:t>
            </a:r>
            <a:endParaRPr lang="zh-CN" altLang="en-US" sz="21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2" indent="-342900">
              <a:lnSpc>
                <a:spcPct val="150000"/>
              </a:lnSpc>
              <a:spcBef>
                <a:spcPct val="0"/>
              </a:spcBef>
              <a:buClrTx/>
              <a:buSzTx/>
            </a:pPr>
            <a:r>
              <a:rPr lang="zh-CN" altLang="en-US" sz="2100" dirty="0">
                <a:latin typeface="微软雅黑" panose="020B0503020204020204" pitchFamily="34" charset="-122"/>
                <a:ea typeface="微软雅黑" panose="020B0503020204020204" pitchFamily="34" charset="-122"/>
                <a:cs typeface="微软雅黑" panose="020B0503020204020204" pitchFamily="34" charset="-122"/>
              </a:rPr>
              <a:t>没有提供修改器的方法</a:t>
            </a:r>
            <a:endParaRPr lang="zh-CN" altLang="en-US" sz="21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2" indent="-342900">
              <a:lnSpc>
                <a:spcPct val="150000"/>
              </a:lnSpc>
              <a:spcBef>
                <a:spcPct val="0"/>
              </a:spcBef>
              <a:buClrTx/>
              <a:buSzTx/>
            </a:pPr>
            <a:r>
              <a:rPr lang="zh-CN" altLang="en-US" sz="2100" dirty="0">
                <a:latin typeface="微软雅黑" panose="020B0503020204020204" pitchFamily="34" charset="-122"/>
                <a:ea typeface="微软雅黑" panose="020B0503020204020204" pitchFamily="34" charset="-122"/>
                <a:cs typeface="微软雅黑" panose="020B0503020204020204" pitchFamily="34" charset="-122"/>
              </a:rPr>
              <a:t>没有提供会返回一个指向可变数据域的引用的访问器方法。</a:t>
            </a:r>
            <a:endParaRPr lang="en-US" altLang="zh-CN" sz="21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0419" name="Rectangle 2"/>
          <p:cNvSpPr>
            <a:spLocks noGrp="1"/>
          </p:cNvSpPr>
          <p:nvPr>
            <p:ph type="title"/>
          </p:nvPr>
        </p:nvSpPr>
        <p:spPr>
          <a:xfrm>
            <a:off x="247650" y="54610"/>
            <a:ext cx="7772400" cy="779780"/>
          </a:xfrm>
        </p:spPr>
        <p:txBody>
          <a:bodyPr vert="horz" wrap="square" lIns="92075" tIns="46038" rIns="92075" bIns="46038" anchor="ctr"/>
          <a:p>
            <a:r>
              <a:rPr lang="zh-CN" altLang="en-US" sz="4000" b="0" u="none" dirty="0">
                <a:latin typeface="Arial" panose="020B0604020202020204" pitchFamily="34" charset="0"/>
                <a:ea typeface="微软雅黑" panose="020B0503020204020204" pitchFamily="34" charset="-122"/>
              </a:rPr>
              <a:t>变量的作用域</a:t>
            </a:r>
            <a:endParaRPr lang="zh-CN" altLang="en-US" sz="4000" b="0" u="none" dirty="0">
              <a:latin typeface="Arial" panose="020B0604020202020204" pitchFamily="34" charset="0"/>
              <a:ea typeface="微软雅黑" panose="020B0503020204020204" pitchFamily="34" charset="-122"/>
              <a:hlinkClick r:id="rId1" action="ppaction://program"/>
            </a:endParaRPr>
          </a:p>
        </p:txBody>
      </p:sp>
      <p:sp>
        <p:nvSpPr>
          <p:cNvPr id="60420" name="Rectangle 3"/>
          <p:cNvSpPr>
            <a:spLocks noGrp="1"/>
          </p:cNvSpPr>
          <p:nvPr>
            <p:ph idx="1"/>
          </p:nvPr>
        </p:nvSpPr>
        <p:spPr>
          <a:xfrm>
            <a:off x="468630" y="1142365"/>
            <a:ext cx="7772400" cy="4419600"/>
          </a:xfrm>
        </p:spPr>
        <p:txBody>
          <a:bodyPr vert="horz" wrap="square" lIns="92075" tIns="46038" rIns="92075" bIns="46038" anchor="t"/>
          <a:p>
            <a:pPr fontAlgn="auto">
              <a:lnSpc>
                <a:spcPct val="150000"/>
              </a:lnSpc>
              <a:spcBef>
                <a:spcPts val="0"/>
              </a:spcBef>
            </a:pPr>
            <a:r>
              <a:rPr lang="zh-CN" altLang="en-US" sz="2800" dirty="0">
                <a:latin typeface="微软雅黑" panose="020B0503020204020204" pitchFamily="34" charset="-122"/>
                <a:ea typeface="微软雅黑" panose="020B0503020204020204" pitchFamily="34" charset="-122"/>
              </a:rPr>
              <a:t>实例变量和静态变量的作用域是整个类。可以在类内的任何地方声明它们。</a:t>
            </a:r>
            <a:endParaRPr lang="en-US" altLang="zh-CN" sz="2800" dirty="0">
              <a:latin typeface="微软雅黑" panose="020B0503020204020204" pitchFamily="34" charset="-122"/>
              <a:ea typeface="微软雅黑" panose="020B0503020204020204" pitchFamily="34" charset="-122"/>
            </a:endParaRPr>
          </a:p>
          <a:p>
            <a:pPr fontAlgn="auto">
              <a:lnSpc>
                <a:spcPct val="150000"/>
              </a:lnSpc>
              <a:spcBef>
                <a:spcPts val="0"/>
              </a:spcBef>
            </a:pPr>
            <a:r>
              <a:rPr lang="zh-CN" altLang="en-US" sz="2800" dirty="0">
                <a:latin typeface="微软雅黑" panose="020B0503020204020204" pitchFamily="34" charset="-122"/>
                <a:ea typeface="微软雅黑" panose="020B0503020204020204" pitchFamily="34" charset="-122"/>
              </a:rPr>
              <a:t>局部变量的作用域是从它声明的地方开始一直到所包含这个局部变量的模块结束。一个局部变量必须在使用前显式地初始化。</a:t>
            </a: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1443" name="Rectangle 2"/>
          <p:cNvSpPr>
            <a:spLocks noGrp="1"/>
          </p:cNvSpPr>
          <p:nvPr>
            <p:ph type="title"/>
          </p:nvPr>
        </p:nvSpPr>
        <p:spPr>
          <a:xfrm>
            <a:off x="309880" y="0"/>
            <a:ext cx="7772400" cy="762000"/>
          </a:xfrm>
        </p:spPr>
        <p:txBody>
          <a:bodyPr vert="horz" wrap="square" lIns="92075" tIns="46038" rIns="92075" bIns="46038" anchor="ctr"/>
          <a:p>
            <a:r>
              <a:rPr lang="en-US" altLang="zh-CN" sz="4000" b="0" u="none" dirty="0">
                <a:latin typeface="Arial" panose="020B0604020202020204" pitchFamily="34" charset="0"/>
                <a:ea typeface="微软雅黑" panose="020B0503020204020204" pitchFamily="34" charset="-122"/>
              </a:rPr>
              <a:t>this</a:t>
            </a:r>
            <a:r>
              <a:rPr lang="zh-CN" altLang="en-US" sz="4000" b="0" u="none" dirty="0">
                <a:latin typeface="Arial" panose="020B0604020202020204" pitchFamily="34" charset="0"/>
                <a:ea typeface="微软雅黑" panose="020B0503020204020204" pitchFamily="34" charset="-122"/>
              </a:rPr>
              <a:t>关键字</a:t>
            </a:r>
            <a:endParaRPr lang="en-US" altLang="zh-CN" sz="4000" b="0" u="none" dirty="0">
              <a:latin typeface="Arial" panose="020B0604020202020204" pitchFamily="34" charset="0"/>
              <a:ea typeface="微软雅黑" panose="020B0503020204020204" pitchFamily="34" charset="-122"/>
              <a:hlinkClick r:id="rId1" action="ppaction://program"/>
            </a:endParaRPr>
          </a:p>
        </p:txBody>
      </p:sp>
      <p:sp>
        <p:nvSpPr>
          <p:cNvPr id="61444" name="Rectangle 3"/>
          <p:cNvSpPr>
            <a:spLocks noGrp="1"/>
          </p:cNvSpPr>
          <p:nvPr>
            <p:ph idx="1"/>
          </p:nvPr>
        </p:nvSpPr>
        <p:spPr>
          <a:xfrm>
            <a:off x="309880" y="982345"/>
            <a:ext cx="2023110" cy="4893945"/>
          </a:xfrm>
        </p:spPr>
        <p:txBody>
          <a:bodyPr vert="horz" wrap="square" lIns="92075" tIns="46038" rIns="92075" bIns="46038" anchor="t">
            <a:noAutofit/>
          </a:bodyPr>
          <a:p>
            <a:pPr>
              <a:lnSpc>
                <a:spcPct val="120000"/>
              </a:lnSpc>
            </a:pP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rPr>
              <a:t>关键字</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rPr>
              <a:t>this</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rPr>
              <a:t>是指向调用对象本身的引用名。关键字</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rPr>
              <a:t>this</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rPr>
              <a:t>的一种常见用法就是引用对象的实例成员。</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rPr>
              <a:t>关键字</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rPr>
              <a:t>this</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rPr>
              <a:t>的另一种常见用法是让构造方法调用同一个类的另一个构造方法。</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2470" name="Object 7"/>
          <p:cNvGraphicFramePr>
            <a:graphicFrameLocks noChangeAspect="1"/>
          </p:cNvGraphicFramePr>
          <p:nvPr/>
        </p:nvGraphicFramePr>
        <p:xfrm>
          <a:off x="2333625" y="917575"/>
          <a:ext cx="6904355" cy="2447925"/>
        </p:xfrm>
        <a:graphic>
          <a:graphicData uri="http://schemas.openxmlformats.org/presentationml/2006/ole">
            <mc:AlternateContent xmlns:mc="http://schemas.openxmlformats.org/markup-compatibility/2006">
              <mc:Choice xmlns:v="urn:schemas-microsoft-com:vml" Requires="v">
                <p:oleObj spid="_x0000_s3096" name="" r:id="rId2" imgW="5136515" imgH="1648460" progId="Word.Picture.8">
                  <p:embed/>
                </p:oleObj>
              </mc:Choice>
              <mc:Fallback>
                <p:oleObj name="" r:id="rId2" imgW="5136515" imgH="1648460" progId="Word.Picture.8">
                  <p:embed/>
                  <p:pic>
                    <p:nvPicPr>
                      <p:cNvPr id="0" name="图片 3095"/>
                      <p:cNvPicPr/>
                      <p:nvPr/>
                    </p:nvPicPr>
                    <p:blipFill>
                      <a:blip r:embed="rId3"/>
                      <a:stretch>
                        <a:fillRect/>
                      </a:stretch>
                    </p:blipFill>
                    <p:spPr>
                      <a:xfrm>
                        <a:off x="2333625" y="917575"/>
                        <a:ext cx="6904355" cy="2447925"/>
                      </a:xfrm>
                      <a:prstGeom prst="rect">
                        <a:avLst/>
                      </a:prstGeom>
                      <a:noFill/>
                      <a:ln w="38100">
                        <a:noFill/>
                        <a:miter/>
                      </a:ln>
                    </p:spPr>
                  </p:pic>
                </p:oleObj>
              </mc:Fallback>
            </mc:AlternateContent>
          </a:graphicData>
        </a:graphic>
      </p:graphicFrame>
      <p:graphicFrame>
        <p:nvGraphicFramePr>
          <p:cNvPr id="63495" name="Object 7"/>
          <p:cNvGraphicFramePr>
            <a:graphicFrameLocks noChangeAspect="1"/>
          </p:cNvGraphicFramePr>
          <p:nvPr/>
        </p:nvGraphicFramePr>
        <p:xfrm>
          <a:off x="2528570" y="3364865"/>
          <a:ext cx="6421120" cy="3356610"/>
        </p:xfrm>
        <a:graphic>
          <a:graphicData uri="http://schemas.openxmlformats.org/presentationml/2006/ole">
            <mc:AlternateContent xmlns:mc="http://schemas.openxmlformats.org/markup-compatibility/2006">
              <mc:Choice xmlns:v="urn:schemas-microsoft-com:vml" Requires="v">
                <p:oleObj spid="_x0000_s3097" name="" r:id="rId4" imgW="3409315" imgH="1998345" progId="Word.Picture.8">
                  <p:embed/>
                </p:oleObj>
              </mc:Choice>
              <mc:Fallback>
                <p:oleObj name="" r:id="rId4" imgW="3409315" imgH="1998345" progId="Word.Picture.8">
                  <p:embed/>
                  <p:pic>
                    <p:nvPicPr>
                      <p:cNvPr id="0" name="图片 3096"/>
                      <p:cNvPicPr/>
                      <p:nvPr/>
                    </p:nvPicPr>
                    <p:blipFill>
                      <a:blip r:embed="rId5"/>
                      <a:stretch>
                        <a:fillRect/>
                      </a:stretch>
                    </p:blipFill>
                    <p:spPr>
                      <a:xfrm>
                        <a:off x="2528570" y="3364865"/>
                        <a:ext cx="6421120" cy="335661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123" name="Rectangle 2"/>
          <p:cNvSpPr>
            <a:spLocks noGrp="1"/>
          </p:cNvSpPr>
          <p:nvPr>
            <p:ph type="title"/>
          </p:nvPr>
        </p:nvSpPr>
        <p:spPr>
          <a:xfrm>
            <a:off x="269875" y="0"/>
            <a:ext cx="8534400" cy="68580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类的抽象和封装</a:t>
            </a:r>
            <a:endParaRPr lang="en-US" altLang="zh-CN" b="0" dirty="0">
              <a:latin typeface="微软雅黑" panose="020B0503020204020204" pitchFamily="34" charset="-122"/>
              <a:ea typeface="微软雅黑" panose="020B0503020204020204" pitchFamily="34" charset="-122"/>
              <a:hlinkClick r:id="rId1" action="ppaction://program"/>
            </a:endParaRPr>
          </a:p>
        </p:txBody>
      </p:sp>
      <p:sp>
        <p:nvSpPr>
          <p:cNvPr id="5124" name="Rectangle 3"/>
          <p:cNvSpPr>
            <a:spLocks noGrp="1"/>
          </p:cNvSpPr>
          <p:nvPr>
            <p:ph idx="1"/>
          </p:nvPr>
        </p:nvSpPr>
        <p:spPr>
          <a:xfrm>
            <a:off x="304800" y="1240155"/>
            <a:ext cx="8230235" cy="2514600"/>
          </a:xfrm>
        </p:spPr>
        <p:txBody>
          <a:bodyPr vert="horz" wrap="square" lIns="92075" tIns="46038" rIns="92075" bIns="46038" anchor="t"/>
          <a:p>
            <a:pPr marL="0" indent="0">
              <a:lnSpc>
                <a:spcPct val="120000"/>
              </a:lnSpc>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类抽象（</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Class abstraction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）是将类的实现和使用分离。类的创建者提供类的描述，让使用者明白如何才能使用类。类的使用者不需要知道类是如何实现的。实现的细节经过封装，对用户隐藏起来。</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25" name="Rectangle 4"/>
          <p:cNvSpPr/>
          <p:nvPr/>
        </p:nvSpPr>
        <p:spPr>
          <a:xfrm>
            <a:off x="1914525" y="297180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5126" name="Object 5"/>
          <p:cNvGraphicFramePr>
            <a:graphicFrameLocks noChangeAspect="1"/>
          </p:cNvGraphicFramePr>
          <p:nvPr/>
        </p:nvGraphicFramePr>
        <p:xfrm>
          <a:off x="231775" y="3935413"/>
          <a:ext cx="8610600" cy="1481137"/>
        </p:xfrm>
        <a:graphic>
          <a:graphicData uri="http://schemas.openxmlformats.org/presentationml/2006/ole">
            <mc:AlternateContent xmlns:mc="http://schemas.openxmlformats.org/markup-compatibility/2006">
              <mc:Choice xmlns:v="urn:schemas-microsoft-com:vml" Requires="v">
                <p:oleObj spid="_x0000_s3076" name="" r:id="rId2" imgW="5318760" imgH="914400" progId="Word.Picture.8">
                  <p:embed/>
                </p:oleObj>
              </mc:Choice>
              <mc:Fallback>
                <p:oleObj name="" r:id="rId2" imgW="5318760" imgH="914400" progId="Word.Picture.8">
                  <p:embed/>
                  <p:pic>
                    <p:nvPicPr>
                      <p:cNvPr id="0" name="图片 3075"/>
                      <p:cNvPicPr/>
                      <p:nvPr/>
                    </p:nvPicPr>
                    <p:blipFill>
                      <a:blip r:embed="rId3"/>
                      <a:stretch>
                        <a:fillRect/>
                      </a:stretch>
                    </p:blipFill>
                    <p:spPr>
                      <a:xfrm>
                        <a:off x="231775" y="3935413"/>
                        <a:ext cx="8610600" cy="14811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6147" name="Rectangle 2"/>
          <p:cNvSpPr>
            <a:spLocks noGrp="1"/>
          </p:cNvSpPr>
          <p:nvPr>
            <p:ph type="title"/>
          </p:nvPr>
        </p:nvSpPr>
        <p:spPr>
          <a:xfrm>
            <a:off x="693738" y="203200"/>
            <a:ext cx="7772400" cy="609600"/>
          </a:xfrm>
        </p:spPr>
        <p:txBody>
          <a:bodyPr vert="horz" wrap="square" lIns="92075" tIns="46038" rIns="92075" bIns="46038" anchor="ctr"/>
          <a:p>
            <a:r>
              <a:rPr lang="zh-CN" altLang="en-US" dirty="0">
                <a:ea typeface="宋体" panose="02010600030101010101" pitchFamily="2" charset="-122"/>
              </a:rPr>
              <a:t>设计</a:t>
            </a:r>
            <a:r>
              <a:rPr lang="en-US" altLang="zh-CN" dirty="0">
                <a:ea typeface="宋体" panose="02010600030101010101" pitchFamily="2" charset="-122"/>
              </a:rPr>
              <a:t>Loan</a:t>
            </a:r>
            <a:r>
              <a:rPr lang="zh-CN" altLang="en-US" dirty="0">
                <a:ea typeface="宋体" panose="02010600030101010101" pitchFamily="2" charset="-122"/>
              </a:rPr>
              <a:t>类</a:t>
            </a:r>
            <a:endParaRPr lang="en-US" altLang="zh-CN" dirty="0">
              <a:ea typeface="宋体" panose="02010600030101010101" pitchFamily="2" charset="-122"/>
              <a:hlinkClick r:id="rId1" action="ppaction://program"/>
            </a:endParaRPr>
          </a:p>
        </p:txBody>
      </p:sp>
      <p:sp>
        <p:nvSpPr>
          <p:cNvPr id="6148" name="Rectangle 3"/>
          <p:cNvSpPr/>
          <p:nvPr/>
        </p:nvSpPr>
        <p:spPr>
          <a:xfrm>
            <a:off x="3371850" y="237013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149" name="Rectangle 7"/>
          <p:cNvSpPr/>
          <p:nvPr/>
        </p:nvSpPr>
        <p:spPr>
          <a:xfrm>
            <a:off x="3055938" y="237013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150" name="Rectangle 8"/>
          <p:cNvSpPr/>
          <p:nvPr/>
        </p:nvSpPr>
        <p:spPr>
          <a:xfrm>
            <a:off x="0" y="1806575"/>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151" name="Rectangle 9"/>
          <p:cNvSpPr/>
          <p:nvPr/>
        </p:nvSpPr>
        <p:spPr>
          <a:xfrm>
            <a:off x="0" y="1806575"/>
            <a:ext cx="9144000" cy="639763"/>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defTabSz="914400">
              <a:spcBef>
                <a:spcPct val="0"/>
              </a:spcBef>
              <a:buClrTx/>
              <a:buSzTx/>
              <a:buFontTx/>
              <a:buNone/>
              <a:tabLst>
                <a:tab pos="2286000" algn="l"/>
                <a:tab pos="2743200" algn="l"/>
                <a:tab pos="3200400" algn="l"/>
                <a:tab pos="3657600" algn="l"/>
                <a:tab pos="4114800" algn="l"/>
                <a:tab pos="4572000" algn="l"/>
                <a:tab pos="5029200" algn="l"/>
              </a:tabLst>
            </a:pPr>
            <a:r>
              <a:rPr lang="en-US" altLang="zh-CN" sz="1200" b="1" i="1" dirty="0">
                <a:solidFill>
                  <a:srgbClr val="0000FF"/>
                </a:solidFill>
                <a:latin typeface="Courier" charset="0"/>
                <a:ea typeface="宋体" panose="02010600030101010101" pitchFamily="2" charset="-122"/>
              </a:rPr>
              <a:t>	</a:t>
            </a:r>
            <a:endParaRPr lang="en-US" altLang="zh-CN" sz="1200" b="1" i="1" dirty="0">
              <a:solidFill>
                <a:srgbClr val="0000FF"/>
              </a:solidFill>
              <a:latin typeface="Courier" charset="0"/>
              <a:ea typeface="宋体" panose="02010600030101010101" pitchFamily="2" charset="-122"/>
            </a:endParaRPr>
          </a:p>
          <a:p>
            <a:pPr marL="0" lvl="0" indent="0" defTabSz="914400">
              <a:spcBef>
                <a:spcPct val="0"/>
              </a:spcBef>
              <a:buClrTx/>
              <a:buSzTx/>
              <a:buFontTx/>
              <a:buNone/>
              <a:tabLst>
                <a:tab pos="2286000" algn="l"/>
                <a:tab pos="2743200" algn="l"/>
                <a:tab pos="3200400" algn="l"/>
                <a:tab pos="3657600" algn="l"/>
                <a:tab pos="4114800" algn="l"/>
                <a:tab pos="4572000" algn="l"/>
                <a:tab pos="5029200" algn="l"/>
              </a:tabLst>
            </a:pPr>
            <a:endParaRPr lang="en-US" altLang="zh-CN" sz="2400" dirty="0">
              <a:ea typeface="宋体" panose="02010600030101010101" pitchFamily="2" charset="-122"/>
            </a:endParaRPr>
          </a:p>
        </p:txBody>
      </p:sp>
      <p:sp>
        <p:nvSpPr>
          <p:cNvPr id="6152" name="Rectangle 10"/>
          <p:cNvSpPr/>
          <p:nvPr/>
        </p:nvSpPr>
        <p:spPr>
          <a:xfrm>
            <a:off x="2557463" y="172878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153" name="Rectangle 11"/>
          <p:cNvSpPr/>
          <p:nvPr/>
        </p:nvSpPr>
        <p:spPr>
          <a:xfrm>
            <a:off x="0" y="1828800"/>
            <a:ext cx="9144000" cy="0"/>
          </a:xfrm>
          <a:prstGeom prst="rect">
            <a:avLst/>
          </a:prstGeom>
          <a:noFill/>
          <a:ln w="12700">
            <a:noFill/>
          </a:ln>
        </p:spPr>
        <p:txBody>
          <a:bodyPr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154" name="Rectangle 12"/>
          <p:cNvSpPr/>
          <p:nvPr/>
        </p:nvSpPr>
        <p:spPr>
          <a:xfrm>
            <a:off x="0" y="1585913"/>
            <a:ext cx="9144000" cy="0"/>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6155" name="Object 13"/>
          <p:cNvGraphicFramePr>
            <a:graphicFrameLocks noChangeAspect="1"/>
          </p:cNvGraphicFramePr>
          <p:nvPr/>
        </p:nvGraphicFramePr>
        <p:xfrm>
          <a:off x="106998" y="908685"/>
          <a:ext cx="6923087" cy="5872163"/>
        </p:xfrm>
        <a:graphic>
          <a:graphicData uri="http://schemas.openxmlformats.org/presentationml/2006/ole">
            <mc:AlternateContent xmlns:mc="http://schemas.openxmlformats.org/markup-compatibility/2006">
              <mc:Choice xmlns:v="urn:schemas-microsoft-com:vml" Requires="v">
                <p:oleObj spid="_x0000_s3077" name="" r:id="rId2" imgW="4032250" imgH="3409315" progId="Word.Picture.8">
                  <p:embed/>
                </p:oleObj>
              </mc:Choice>
              <mc:Fallback>
                <p:oleObj name="" r:id="rId2" imgW="4032250" imgH="3409315" progId="Word.Picture.8">
                  <p:embed/>
                  <p:pic>
                    <p:nvPicPr>
                      <p:cNvPr id="0" name="图片 3076"/>
                      <p:cNvPicPr/>
                      <p:nvPr/>
                    </p:nvPicPr>
                    <p:blipFill>
                      <a:blip r:embed="rId3"/>
                      <a:stretch>
                        <a:fillRect/>
                      </a:stretch>
                    </p:blipFill>
                    <p:spPr>
                      <a:xfrm>
                        <a:off x="106998" y="908685"/>
                        <a:ext cx="6923087" cy="5872163"/>
                      </a:xfrm>
                      <a:prstGeom prst="rect">
                        <a:avLst/>
                      </a:prstGeom>
                      <a:noFill/>
                      <a:ln w="38100">
                        <a:noFill/>
                        <a:miter/>
                      </a:ln>
                    </p:spPr>
                  </p:pic>
                </p:oleObj>
              </mc:Fallback>
            </mc:AlternateContent>
          </a:graphicData>
        </a:graphic>
      </p:graphicFrame>
      <p:sp>
        <p:nvSpPr>
          <p:cNvPr id="6156" name="Rectangle 14"/>
          <p:cNvSpPr/>
          <p:nvPr/>
        </p:nvSpPr>
        <p:spPr>
          <a:xfrm>
            <a:off x="0" y="4999038"/>
            <a:ext cx="2470150" cy="274637"/>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defTabSz="914400">
              <a:spcBef>
                <a:spcPct val="0"/>
              </a:spcBef>
              <a:buClrTx/>
              <a:buSzTx/>
              <a:buFontTx/>
              <a:buNone/>
              <a:tabLst>
                <a:tab pos="2286000" algn="l"/>
                <a:tab pos="2743200" algn="l"/>
                <a:tab pos="3200400" algn="l"/>
                <a:tab pos="3657600" algn="l"/>
                <a:tab pos="4114800" algn="l"/>
                <a:tab pos="4572000" algn="l"/>
                <a:tab pos="5029200" algn="l"/>
                <a:tab pos="5486400" algn="l"/>
                <a:tab pos="5943600" algn="l"/>
              </a:tabLst>
            </a:pPr>
            <a:r>
              <a:rPr lang="en-US" altLang="zh-CN" sz="1200" b="1" i="1" dirty="0">
                <a:solidFill>
                  <a:srgbClr val="0000FF"/>
                </a:solidFill>
                <a:latin typeface="Courier New" panose="02070309020205020404" charset="0"/>
                <a:ea typeface="宋体" panose="02010600030101010101" pitchFamily="2" charset="-122"/>
              </a:rPr>
              <a:t>	</a:t>
            </a:r>
            <a:endParaRPr lang="en-US" altLang="zh-CN" sz="2400" dirty="0">
              <a:ea typeface="宋体" panose="02010600030101010101" pitchFamily="2" charset="-122"/>
            </a:endParaRPr>
          </a:p>
        </p:txBody>
      </p:sp>
      <p:pic>
        <p:nvPicPr>
          <p:cNvPr id="2" name="图片 1"/>
          <p:cNvPicPr>
            <a:picLocks noChangeAspect="1"/>
          </p:cNvPicPr>
          <p:nvPr/>
        </p:nvPicPr>
        <p:blipFill>
          <a:blip r:embed="rId4"/>
          <a:stretch>
            <a:fillRect/>
          </a:stretch>
        </p:blipFill>
        <p:spPr>
          <a:xfrm>
            <a:off x="5363845" y="6057900"/>
            <a:ext cx="3843655" cy="8001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0"/>
              <a:t>面向过程的范式与面向对象的范式</a:t>
            </a:r>
            <a:endParaRPr lang="zh-CN" altLang="en-US" b="0"/>
          </a:p>
        </p:txBody>
      </p:sp>
      <p:sp>
        <p:nvSpPr>
          <p:cNvPr id="3" name="内容占位符 2"/>
          <p:cNvSpPr>
            <a:spLocks noGrp="1"/>
          </p:cNvSpPr>
          <p:nvPr>
            <p:ph sz="quarter" idx="12"/>
          </p:nvPr>
        </p:nvSpPr>
        <p:spPr/>
        <p:txBody>
          <a:bodyPr/>
          <a:p>
            <a:r>
              <a:rPr lang="zh-CN" altLang="en-US"/>
              <a:t>‌面向过程‌以“过程”为核心，将程序看作一系列方法的调用，强调“怎么做”，即通过步骤化的指令完成任务。数据与数据的操作是分离的。</a:t>
            </a:r>
            <a:endParaRPr lang="zh-CN" altLang="en-US"/>
          </a:p>
          <a:p>
            <a:endParaRPr lang="zh-CN" altLang="en-US"/>
          </a:p>
          <a:p>
            <a:r>
              <a:rPr lang="zh-CN" altLang="en-US"/>
              <a:t>面向对象‌以“对象”为核心，将数据和操作封装在类中，强调“谁来做”，通过对象间的交互实现功能</a:t>
            </a:r>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8195" name="Rectangle 2"/>
          <p:cNvSpPr>
            <a:spLocks noGrp="1"/>
          </p:cNvSpPr>
          <p:nvPr>
            <p:ph type="title"/>
          </p:nvPr>
        </p:nvSpPr>
        <p:spPr>
          <a:xfrm>
            <a:off x="233363" y="-317"/>
            <a:ext cx="8534400" cy="685800"/>
          </a:xfrm>
        </p:spPr>
        <p:txBody>
          <a:bodyPr vert="horz" wrap="square" lIns="92075" tIns="46038" rIns="92075" bIns="46038" anchor="ctr"/>
          <a:p>
            <a:r>
              <a:rPr lang="zh-CN" altLang="en-US" sz="3200" b="0" dirty="0">
                <a:latin typeface="微软雅黑" panose="020B0503020204020204" pitchFamily="34" charset="-122"/>
                <a:ea typeface="微软雅黑" panose="020B0503020204020204" pitchFamily="34" charset="-122"/>
              </a:rPr>
              <a:t>类的关系</a:t>
            </a:r>
            <a:endParaRPr lang="en-US" altLang="zh-CN" sz="3200" b="0" dirty="0">
              <a:latin typeface="微软雅黑" panose="020B0503020204020204" pitchFamily="34" charset="-122"/>
              <a:ea typeface="微软雅黑" panose="020B0503020204020204" pitchFamily="34" charset="-122"/>
              <a:hlinkClick r:id="rId1" action="ppaction://program"/>
            </a:endParaRPr>
          </a:p>
        </p:txBody>
      </p:sp>
      <p:sp>
        <p:nvSpPr>
          <p:cNvPr id="16388" name="Rectangle 3"/>
          <p:cNvSpPr>
            <a:spLocks noGrp="1" noChangeArrowheads="1"/>
          </p:cNvSpPr>
          <p:nvPr>
            <p:ph idx="1"/>
          </p:nvPr>
        </p:nvSpPr>
        <p:spPr>
          <a:xfrm>
            <a:off x="309563" y="1393825"/>
            <a:ext cx="8524875" cy="5127625"/>
          </a:xfrm>
        </p:spPr>
        <p:txBody>
          <a:bodyPr vert="horz" wrap="square" lIns="92075" tIns="46038" rIns="92075" bIns="46038" numCol="1" anchor="t" anchorCtr="0" compatLnSpc="1"/>
          <a:lstStyle/>
          <a:p>
            <a:pPr marL="342900" marR="0" lvl="0" indent="-342900" algn="l" defTabSz="914400" rtl="0" eaLnBrk="0" fontAlgn="base" latinLnBrk="0" hangingPunct="0">
              <a:lnSpc>
                <a:spcPct val="130000"/>
              </a:lnSpc>
              <a:spcBef>
                <a:spcPct val="20000"/>
              </a:spcBef>
              <a:spcAft>
                <a:spcPct val="0"/>
              </a:spcAft>
              <a:buClr>
                <a:schemeClr val="tx2"/>
              </a:buClr>
              <a:buSzPct val="75000"/>
              <a:buFont typeface="Monotype Sorts" pitchFamily="2" charset="2"/>
              <a:buChar char="F"/>
              <a:defRPr/>
            </a:pPr>
            <a:r>
              <a:rPr kumimoji="0" lang="en-US" altLang="zh-CN" sz="2800" b="0" i="0" u="none" strike="noStrike" kern="0" cap="none" spc="0" normalizeH="0" baseline="0" noProof="0" smtClean="0">
                <a:ln>
                  <a:noFill/>
                </a:ln>
                <a:solidFill>
                  <a:schemeClr val="tx1"/>
                </a:solidFill>
                <a:effectLst/>
                <a:uLnTx/>
                <a:uFillTx/>
                <a:latin typeface="+mn-lt"/>
                <a:ea typeface="宋体" panose="02010600030101010101" pitchFamily="2" charset="-122"/>
                <a:cs typeface="+mn-cs"/>
              </a:rPr>
              <a:t> </a:t>
            </a:r>
            <a:r>
              <a:rPr kumimoji="0" lang="zh-CN" altLang="en-US" sz="2800" b="0" i="0" u="none" strike="noStrike" kern="0" cap="none" spc="0" normalizeH="0" baseline="0" noProof="0" smtClean="0">
                <a:ln>
                  <a:noFill/>
                </a:ln>
                <a:solidFill>
                  <a:schemeClr val="tx1"/>
                </a:solidFill>
                <a:effectLst/>
                <a:uLnTx/>
                <a:uFillTx/>
                <a:latin typeface="+mn-lt"/>
                <a:ea typeface="宋体" panose="02010600030101010101" pitchFamily="2" charset="-122"/>
                <a:cs typeface="+mn-cs"/>
              </a:rPr>
              <a:t>关联</a:t>
            </a:r>
            <a:endParaRPr kumimoji="0" lang="en-US" altLang="zh-CN" sz="2800" b="0" i="0" u="none" strike="noStrike" kern="0" cap="none" spc="0" normalizeH="0" baseline="0" noProof="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30000"/>
              </a:lnSpc>
              <a:spcBef>
                <a:spcPct val="20000"/>
              </a:spcBef>
              <a:spcAft>
                <a:spcPct val="0"/>
              </a:spcAft>
              <a:buClr>
                <a:schemeClr val="tx1"/>
              </a:buClr>
              <a:buSzTx/>
              <a:buFontTx/>
              <a:buChar char="–"/>
              <a:defRPr/>
            </a:pPr>
            <a:r>
              <a:rPr kumimoji="0" lang="zh-CN" altLang="en-US" sz="2000" b="0" i="0" u="none" strike="noStrike" kern="0" cap="none" spc="0" normalizeH="0" baseline="0" noProof="0" smtClean="0">
                <a:ln>
                  <a:noFill/>
                </a:ln>
                <a:solidFill>
                  <a:schemeClr val="tx1"/>
                </a:solidFill>
                <a:effectLst/>
                <a:uLnTx/>
                <a:uFillTx/>
                <a:latin typeface="+mn-lt"/>
                <a:ea typeface="宋体" panose="02010600030101010101" pitchFamily="2" charset="-122"/>
              </a:rPr>
              <a:t>角色</a:t>
            </a:r>
            <a:endParaRPr kumimoji="0" lang="en-US" altLang="zh-CN" sz="2000" b="0" i="0" u="none" strike="noStrike" kern="0" cap="none" spc="0" normalizeH="0" baseline="0" noProof="0" smtClean="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30000"/>
              </a:lnSpc>
              <a:spcBef>
                <a:spcPct val="20000"/>
              </a:spcBef>
              <a:spcAft>
                <a:spcPct val="0"/>
              </a:spcAft>
              <a:buClr>
                <a:schemeClr val="tx1"/>
              </a:buClr>
              <a:buSzTx/>
              <a:buFontTx/>
              <a:buChar char="–"/>
              <a:defRPr/>
            </a:pPr>
            <a:r>
              <a:rPr kumimoji="0" lang="zh-CN" altLang="en-US" sz="2000" b="0" i="0" u="none" strike="noStrike" kern="0" cap="none" spc="0" normalizeH="0" baseline="0" noProof="0" smtClean="0">
                <a:ln>
                  <a:noFill/>
                </a:ln>
                <a:solidFill>
                  <a:schemeClr val="tx1"/>
                </a:solidFill>
                <a:effectLst/>
                <a:uLnTx/>
                <a:uFillTx/>
                <a:latin typeface="+mn-lt"/>
                <a:ea typeface="宋体" panose="02010600030101010101" pitchFamily="2" charset="-122"/>
              </a:rPr>
              <a:t>多重性</a:t>
            </a:r>
            <a:endParaRPr kumimoji="0" lang="en-US" altLang="zh-CN" sz="2000" b="0" i="0" u="none" strike="noStrike" kern="0" cap="none" spc="0" normalizeH="0" baseline="0" noProof="0" smtClean="0">
              <a:ln>
                <a:noFill/>
              </a:ln>
              <a:solidFill>
                <a:schemeClr val="tx1"/>
              </a:solidFill>
              <a:effectLst/>
              <a:uLnTx/>
              <a:uFillTx/>
              <a:latin typeface="+mn-lt"/>
              <a:ea typeface="宋体" panose="02010600030101010101" pitchFamily="2" charset="-122"/>
            </a:endParaRPr>
          </a:p>
          <a:p>
            <a:pPr marL="742950" marR="0" lvl="1" indent="-285750" algn="l" defTabSz="914400" rtl="0" eaLnBrk="0" fontAlgn="base" latinLnBrk="0" hangingPunct="0">
              <a:lnSpc>
                <a:spcPct val="130000"/>
              </a:lnSpc>
              <a:spcBef>
                <a:spcPct val="20000"/>
              </a:spcBef>
              <a:spcAft>
                <a:spcPct val="0"/>
              </a:spcAft>
              <a:buClr>
                <a:schemeClr val="tx1"/>
              </a:buClr>
              <a:buSzTx/>
              <a:buFontTx/>
              <a:buChar char="–"/>
              <a:defRPr/>
            </a:pPr>
            <a:endParaRPr kumimoji="0" lang="en-US" altLang="zh-CN" sz="2000" b="0" i="0" u="none" strike="noStrike" kern="0" cap="none" spc="0" normalizeH="0" baseline="0" noProof="0" smtClean="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30000"/>
              </a:lnSpc>
              <a:spcBef>
                <a:spcPct val="20000"/>
              </a:spcBef>
              <a:spcAft>
                <a:spcPct val="0"/>
              </a:spcAft>
              <a:buClr>
                <a:schemeClr val="tx1"/>
              </a:buClr>
              <a:buSzTx/>
              <a:buFontTx/>
              <a:buNone/>
              <a:defRPr/>
            </a:pPr>
            <a:endParaRPr kumimoji="0" lang="en-US" altLang="zh-CN" sz="2400" b="0" i="0" u="none" strike="noStrike" kern="0" cap="none" spc="0" normalizeH="0" baseline="0" noProof="0" smtClean="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30000"/>
              </a:lnSpc>
              <a:spcBef>
                <a:spcPct val="20000"/>
              </a:spcBef>
              <a:spcAft>
                <a:spcPct val="0"/>
              </a:spcAft>
              <a:buClr>
                <a:schemeClr val="tx1"/>
              </a:buClr>
              <a:buSzTx/>
              <a:buFontTx/>
              <a:buNone/>
              <a:defRPr/>
            </a:pPr>
            <a:endParaRPr kumimoji="0" lang="en-US" altLang="zh-CN" sz="2400" b="0" i="0" u="none" strike="noStrike" kern="0" cap="none" spc="0" normalizeH="0" baseline="0" noProof="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30000"/>
              </a:lnSpc>
              <a:spcBef>
                <a:spcPct val="20000"/>
              </a:spcBef>
              <a:spcAft>
                <a:spcPct val="0"/>
              </a:spcAft>
              <a:buClr>
                <a:schemeClr val="tx1"/>
              </a:buClr>
              <a:buSzTx/>
              <a:buFontTx/>
              <a:buNone/>
              <a:defRPr/>
            </a:pPr>
            <a:endParaRPr kumimoji="0" lang="en-US" altLang="zh-CN" sz="2400" b="0" i="0" u="none" strike="noStrike" kern="0" cap="none" spc="0" normalizeH="0" baseline="0" noProof="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30000"/>
              </a:lnSpc>
              <a:spcBef>
                <a:spcPct val="20000"/>
              </a:spcBef>
              <a:spcAft>
                <a:spcPct val="0"/>
              </a:spcAft>
              <a:buClr>
                <a:schemeClr val="tx1"/>
              </a:buClr>
              <a:buSzTx/>
              <a:buFontTx/>
              <a:buNone/>
              <a:defRPr/>
            </a:pPr>
            <a:endParaRPr kumimoji="0" lang="en-US" altLang="zh-CN" sz="2400" b="0" i="0" u="none" strike="noStrike" kern="0" cap="none" spc="0" normalizeH="0" baseline="0" noProof="0" smtClean="0">
              <a:ln>
                <a:noFill/>
              </a:ln>
              <a:solidFill>
                <a:schemeClr val="tx1"/>
              </a:solidFill>
              <a:effectLst/>
              <a:uLnTx/>
              <a:uFillTx/>
              <a:latin typeface="+mn-lt"/>
              <a:ea typeface="宋体" panose="02010600030101010101" pitchFamily="2" charset="-122"/>
            </a:endParaRPr>
          </a:p>
        </p:txBody>
      </p:sp>
      <p:sp>
        <p:nvSpPr>
          <p:cNvPr id="8197" name="Rectangle 5"/>
          <p:cNvSpPr/>
          <p:nvPr/>
        </p:nvSpPr>
        <p:spPr>
          <a:xfrm>
            <a:off x="1914525" y="297180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pic>
        <p:nvPicPr>
          <p:cNvPr id="8198" name="图片 1"/>
          <p:cNvPicPr>
            <a:picLocks noChangeAspect="1"/>
          </p:cNvPicPr>
          <p:nvPr/>
        </p:nvPicPr>
        <p:blipFill>
          <a:blip r:embed="rId2"/>
          <a:srcRect t="50246"/>
          <a:stretch>
            <a:fillRect/>
          </a:stretch>
        </p:blipFill>
        <p:spPr>
          <a:xfrm>
            <a:off x="0" y="4899025"/>
            <a:ext cx="9150350" cy="1026795"/>
          </a:xfrm>
          <a:prstGeom prst="rect">
            <a:avLst/>
          </a:prstGeom>
          <a:noFill/>
          <a:ln w="9525">
            <a:noFill/>
          </a:ln>
        </p:spPr>
      </p:pic>
      <p:pic>
        <p:nvPicPr>
          <p:cNvPr id="2" name="Picture 7"/>
          <p:cNvPicPr>
            <a:picLocks noChangeAspect="1"/>
          </p:cNvPicPr>
          <p:nvPr/>
        </p:nvPicPr>
        <p:blipFill>
          <a:blip r:embed="rId3"/>
          <a:stretch>
            <a:fillRect/>
          </a:stretch>
        </p:blipFill>
        <p:spPr>
          <a:xfrm>
            <a:off x="-317" y="3189288"/>
            <a:ext cx="8840787" cy="1182687"/>
          </a:xfrm>
          <a:prstGeom prst="rect">
            <a:avLst/>
          </a:prstGeom>
          <a:noFill/>
          <a:ln w="12700">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p:txBody>
          <a:bodyPr vert="horz" wrap="square" lIns="92075" tIns="46038" rIns="92075" bIns="46038" anchor="ctr"/>
          <a:p>
            <a:endParaRPr lang="zh-CN" altLang="en-US" dirty="0">
              <a:ea typeface="宋体" panose="02010600030101010101" pitchFamily="2" charset="-122"/>
            </a:endParaRPr>
          </a:p>
        </p:txBody>
      </p:sp>
      <p:sp>
        <p:nvSpPr>
          <p:cNvPr id="9220" name="灯片编号占位符 3"/>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pic>
        <p:nvPicPr>
          <p:cNvPr id="9221" name="图片 4"/>
          <p:cNvPicPr>
            <a:picLocks noChangeAspect="1"/>
          </p:cNvPicPr>
          <p:nvPr>
            <p:ph idx="1"/>
            <p:custDataLst>
              <p:tags r:id="rId1"/>
            </p:custDataLst>
          </p:nvPr>
        </p:nvPicPr>
        <p:blipFill>
          <a:blip r:embed="rId2"/>
          <a:stretch>
            <a:fillRect/>
          </a:stretch>
        </p:blipFill>
        <p:spPr>
          <a:xfrm>
            <a:off x="0" y="2087245"/>
            <a:ext cx="9006205" cy="3030855"/>
          </a:xfrm>
          <a:prstGeom prst="rect">
            <a:avLst/>
          </a:prstGeom>
          <a:noFill/>
          <a:ln w="9525">
            <a:noFill/>
          </a:ln>
        </p:spPr>
      </p:pic>
      <p:sp>
        <p:nvSpPr>
          <p:cNvPr id="4" name="文本框 3"/>
          <p:cNvSpPr txBox="1"/>
          <p:nvPr/>
        </p:nvSpPr>
        <p:spPr>
          <a:xfrm>
            <a:off x="478155" y="1077595"/>
            <a:ext cx="3885565" cy="681990"/>
          </a:xfrm>
          <a:prstGeom prst="rect">
            <a:avLst/>
          </a:prstGeom>
          <a:noFill/>
        </p:spPr>
        <p:txBody>
          <a:bodyPr wrap="none" rtlCol="0">
            <a:spAutoFit/>
          </a:bodyPr>
          <a:p>
            <a:pPr>
              <a:lnSpc>
                <a:spcPct val="120000"/>
              </a:lnSpc>
            </a:pPr>
            <a:r>
              <a:rPr lang="en-US" altLang="zh-CN" sz="32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J</a:t>
            </a:r>
            <a:r>
              <a:rPr lang="en-US" altLang="zh-CN" sz="3200" dirty="0" err="1" smtClean="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ava</a:t>
            </a:r>
            <a:r>
              <a:rPr lang="zh-CN" altLang="en-US" sz="3200" dirty="0" err="1" smtClean="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代码中实现关联</a:t>
            </a:r>
            <a:endParaRPr lang="zh-CN" altLang="en-US" sz="3200" dirty="0" err="1" smtClean="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92075" tIns="46038" rIns="92075" bIns="46038" anchor="ctr"/>
          <a:p>
            <a:endParaRPr lang="zh-CN" altLang="en-US" dirty="0">
              <a:ea typeface="宋体" panose="02010600030101010101" pitchFamily="2" charset="-122"/>
            </a:endParaRPr>
          </a:p>
        </p:txBody>
      </p:sp>
      <p:sp>
        <p:nvSpPr>
          <p:cNvPr id="10243" name="内容占位符 2"/>
          <p:cNvSpPr>
            <a:spLocks noGrp="1"/>
          </p:cNvSpPr>
          <p:nvPr>
            <p:ph idx="1"/>
          </p:nvPr>
        </p:nvSpPr>
        <p:spPr/>
        <p:txBody>
          <a:bodyPr vert="horz" wrap="square" lIns="92075" tIns="46038" rIns="92075" bIns="46038" anchor="t"/>
          <a:p>
            <a:r>
              <a:rPr lang="zh-CN" altLang="en-US" sz="3200" dirty="0">
                <a:latin typeface="微软雅黑" panose="020B0503020204020204" pitchFamily="34" charset="-122"/>
                <a:ea typeface="微软雅黑" panose="020B0503020204020204" pitchFamily="34" charset="-122"/>
              </a:rPr>
              <a:t>聚集和组合</a:t>
            </a:r>
            <a:endParaRPr lang="en-US" altLang="zh-CN" sz="3200" dirty="0">
              <a:latin typeface="微软雅黑" panose="020B0503020204020204" pitchFamily="34" charset="-122"/>
              <a:ea typeface="微软雅黑" panose="020B0503020204020204" pitchFamily="34" charset="-122"/>
            </a:endParaRPr>
          </a:p>
          <a:p>
            <a:endParaRPr lang="zh-CN" altLang="en-US" sz="3200" dirty="0">
              <a:latin typeface="微软雅黑" panose="020B0503020204020204" pitchFamily="34" charset="-122"/>
              <a:ea typeface="微软雅黑" panose="020B0503020204020204" pitchFamily="34" charset="-122"/>
            </a:endParaRPr>
          </a:p>
        </p:txBody>
      </p:sp>
      <p:sp>
        <p:nvSpPr>
          <p:cNvPr id="10244" name="灯片编号占位符 3"/>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pic>
        <p:nvPicPr>
          <p:cNvPr id="10245" name="图片 4"/>
          <p:cNvPicPr>
            <a:picLocks noChangeAspect="1"/>
          </p:cNvPicPr>
          <p:nvPr/>
        </p:nvPicPr>
        <p:blipFill>
          <a:blip r:embed="rId1"/>
          <a:stretch>
            <a:fillRect/>
          </a:stretch>
        </p:blipFill>
        <p:spPr>
          <a:xfrm>
            <a:off x="571183" y="1933575"/>
            <a:ext cx="8001000" cy="1958975"/>
          </a:xfrm>
          <a:prstGeom prst="rect">
            <a:avLst/>
          </a:prstGeom>
          <a:noFill/>
          <a:ln w="9525">
            <a:noFill/>
          </a:ln>
        </p:spPr>
      </p:pic>
      <p:pic>
        <p:nvPicPr>
          <p:cNvPr id="10246" name="图片 5"/>
          <p:cNvPicPr>
            <a:picLocks noChangeAspect="1"/>
          </p:cNvPicPr>
          <p:nvPr/>
        </p:nvPicPr>
        <p:blipFill>
          <a:blip r:embed="rId2"/>
          <a:stretch>
            <a:fillRect/>
          </a:stretch>
        </p:blipFill>
        <p:spPr>
          <a:xfrm>
            <a:off x="-317" y="4295140"/>
            <a:ext cx="9217025" cy="1755775"/>
          </a:xfrm>
          <a:prstGeom prst="rect">
            <a:avLst/>
          </a:prstGeom>
          <a:noFill/>
          <a:ln w="9525">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92075" tIns="46038" rIns="92075" bIns="46038" anchor="ctr"/>
          <a:p>
            <a:endParaRPr lang="zh-CN" altLang="en-US" dirty="0">
              <a:ea typeface="宋体" panose="02010600030101010101" pitchFamily="2" charset="-122"/>
            </a:endParaRPr>
          </a:p>
        </p:txBody>
      </p:sp>
      <p:sp>
        <p:nvSpPr>
          <p:cNvPr id="11268" name="灯片编号占位符 3"/>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graphicFrame>
        <p:nvGraphicFramePr>
          <p:cNvPr id="13323" name="Object 10"/>
          <p:cNvGraphicFramePr>
            <a:graphicFrameLocks noChangeAspect="1"/>
          </p:cNvGraphicFramePr>
          <p:nvPr/>
        </p:nvGraphicFramePr>
        <p:xfrm>
          <a:off x="283210" y="1437640"/>
          <a:ext cx="5262563" cy="1889125"/>
        </p:xfrm>
        <a:graphic>
          <a:graphicData uri="http://schemas.openxmlformats.org/presentationml/2006/ole">
            <mc:AlternateContent xmlns:mc="http://schemas.openxmlformats.org/markup-compatibility/2006">
              <mc:Choice xmlns:v="urn:schemas-microsoft-com:vml" Requires="v">
                <p:oleObj spid="_x0000_s3081" name="" r:id="rId1" imgW="3075305" imgH="1104900" progId="Word.Picture.8">
                  <p:embed/>
                </p:oleObj>
              </mc:Choice>
              <mc:Fallback>
                <p:oleObj name="" r:id="rId1" imgW="3075305" imgH="1104900" progId="Word.Picture.8">
                  <p:embed/>
                  <p:pic>
                    <p:nvPicPr>
                      <p:cNvPr id="0" name="图片 3080"/>
                      <p:cNvPicPr/>
                      <p:nvPr/>
                    </p:nvPicPr>
                    <p:blipFill>
                      <a:blip r:embed="rId2"/>
                      <a:stretch>
                        <a:fillRect/>
                      </a:stretch>
                    </p:blipFill>
                    <p:spPr>
                      <a:xfrm>
                        <a:off x="283210" y="1437640"/>
                        <a:ext cx="5262563" cy="1889125"/>
                      </a:xfrm>
                      <a:prstGeom prst="rect">
                        <a:avLst/>
                      </a:prstGeom>
                      <a:noFill/>
                      <a:ln w="38100">
                        <a:noFill/>
                        <a:miter/>
                      </a:ln>
                    </p:spPr>
                  </p:pic>
                </p:oleObj>
              </mc:Fallback>
            </mc:AlternateContent>
          </a:graphicData>
        </a:graphic>
      </p:graphicFrame>
      <p:sp>
        <p:nvSpPr>
          <p:cNvPr id="13324" name="Rectangle 11"/>
          <p:cNvSpPr/>
          <p:nvPr/>
        </p:nvSpPr>
        <p:spPr>
          <a:xfrm>
            <a:off x="2724785" y="3326765"/>
            <a:ext cx="6088380" cy="230314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defTabSz="914400">
              <a:buNone/>
              <a:tabLst>
                <a:tab pos="0" algn="l"/>
              </a:tabLst>
            </a:pPr>
            <a:r>
              <a:rPr lang="en-US" altLang="en-US" sz="2400" b="1" dirty="0">
                <a:solidFill>
                  <a:schemeClr val="tx2"/>
                </a:solidFill>
              </a:rPr>
              <a:t>public class</a:t>
            </a:r>
            <a:r>
              <a:rPr lang="en-US" altLang="en-US" sz="2400" dirty="0">
                <a:solidFill>
                  <a:schemeClr val="tx2"/>
                </a:solidFill>
              </a:rPr>
              <a:t> Person {  </a:t>
            </a:r>
            <a:endParaRPr lang="en-US" altLang="en-US" sz="2400" b="1" dirty="0">
              <a:solidFill>
                <a:schemeClr val="tx2"/>
              </a:solidFill>
            </a:endParaRPr>
          </a:p>
          <a:p>
            <a:pPr marL="0" lvl="0" indent="0" defTabSz="914400">
              <a:buNone/>
              <a:tabLst>
                <a:tab pos="0" algn="l"/>
              </a:tabLst>
            </a:pPr>
            <a:r>
              <a:rPr lang="en-US" altLang="en-US" sz="2400" b="1" dirty="0">
                <a:solidFill>
                  <a:schemeClr val="tx2"/>
                </a:solidFill>
              </a:rPr>
              <a:t>  </a:t>
            </a:r>
            <a:r>
              <a:rPr lang="en-US" altLang="en-US" sz="2400" dirty="0">
                <a:solidFill>
                  <a:schemeClr val="tx2"/>
                </a:solidFill>
              </a:rPr>
              <a:t>// The type for the data is the class itself</a:t>
            </a:r>
            <a:endParaRPr lang="en-US" altLang="en-US" sz="2400" b="1" dirty="0">
              <a:solidFill>
                <a:schemeClr val="tx2"/>
              </a:solidFill>
            </a:endParaRPr>
          </a:p>
          <a:p>
            <a:pPr marL="0" lvl="0" indent="0" defTabSz="914400">
              <a:buNone/>
              <a:tabLst>
                <a:tab pos="0" algn="l"/>
              </a:tabLst>
            </a:pPr>
            <a:r>
              <a:rPr lang="en-US" altLang="en-US" sz="2400" b="1" dirty="0">
                <a:solidFill>
                  <a:schemeClr val="tx2"/>
                </a:solidFill>
              </a:rPr>
              <a:t>  private </a:t>
            </a:r>
            <a:r>
              <a:rPr lang="en-US" altLang="en-US" sz="2400" dirty="0">
                <a:solidFill>
                  <a:schemeClr val="tx2"/>
                </a:solidFill>
              </a:rPr>
              <a:t>Person supervisor;  </a:t>
            </a:r>
            <a:endParaRPr lang="en-US" altLang="en-US" sz="2400" dirty="0">
              <a:solidFill>
                <a:schemeClr val="tx2"/>
              </a:solidFill>
            </a:endParaRPr>
          </a:p>
          <a:p>
            <a:pPr marL="0" lvl="0" indent="0" defTabSz="914400">
              <a:buNone/>
              <a:tabLst>
                <a:tab pos="0" algn="l"/>
              </a:tabLst>
            </a:pPr>
            <a:r>
              <a:rPr lang="en-US" altLang="en-US" sz="2400" dirty="0">
                <a:solidFill>
                  <a:schemeClr val="tx2"/>
                </a:solidFill>
              </a:rPr>
              <a:t>  ...</a:t>
            </a:r>
            <a:endParaRPr lang="en-US" altLang="en-US" sz="2400" dirty="0">
              <a:solidFill>
                <a:schemeClr val="tx2"/>
              </a:solidFill>
            </a:endParaRPr>
          </a:p>
          <a:p>
            <a:pPr marL="0" lvl="0" indent="0" defTabSz="914400">
              <a:buNone/>
              <a:tabLst>
                <a:tab pos="0" algn="l"/>
              </a:tabLst>
            </a:pPr>
            <a:r>
              <a:rPr lang="en-US" altLang="en-US" sz="2400" dirty="0">
                <a:solidFill>
                  <a:schemeClr val="tx2"/>
                </a:solidFill>
              </a:rPr>
              <a:t>}</a:t>
            </a:r>
            <a:endParaRPr lang="en-US" altLang="en-US" sz="2400" dirty="0">
              <a:solidFill>
                <a:schemeClr val="tx2"/>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2291" name="Rectangle 2"/>
          <p:cNvSpPr>
            <a:spLocks noGrp="1"/>
          </p:cNvSpPr>
          <p:nvPr>
            <p:ph type="title"/>
          </p:nvPr>
        </p:nvSpPr>
        <p:spPr>
          <a:xfrm>
            <a:off x="161925" y="66675"/>
            <a:ext cx="7772400" cy="60960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示例：</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Course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类</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hlinkClick r:id="rId1" action="ppaction://program"/>
            </a:endParaRPr>
          </a:p>
        </p:txBody>
      </p:sp>
      <p:sp>
        <p:nvSpPr>
          <p:cNvPr id="12292" name="Rectangle 3"/>
          <p:cNvSpPr/>
          <p:nvPr/>
        </p:nvSpPr>
        <p:spPr>
          <a:xfrm>
            <a:off x="3371850" y="237013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2293" name="Rectangle 7"/>
          <p:cNvSpPr/>
          <p:nvPr/>
        </p:nvSpPr>
        <p:spPr>
          <a:xfrm>
            <a:off x="3055938" y="237013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2294" name="Rectangle 8"/>
          <p:cNvSpPr/>
          <p:nvPr/>
        </p:nvSpPr>
        <p:spPr>
          <a:xfrm>
            <a:off x="0" y="1806575"/>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2295" name="Rectangle 9"/>
          <p:cNvSpPr/>
          <p:nvPr/>
        </p:nvSpPr>
        <p:spPr>
          <a:xfrm>
            <a:off x="0" y="1806575"/>
            <a:ext cx="9144000" cy="639763"/>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defTabSz="914400">
              <a:spcBef>
                <a:spcPct val="0"/>
              </a:spcBef>
              <a:buClrTx/>
              <a:buSzTx/>
              <a:buFontTx/>
              <a:buNone/>
              <a:tabLst>
                <a:tab pos="2286000" algn="l"/>
                <a:tab pos="2743200" algn="l"/>
                <a:tab pos="3200400" algn="l"/>
                <a:tab pos="3657600" algn="l"/>
                <a:tab pos="4114800" algn="l"/>
                <a:tab pos="4572000" algn="l"/>
                <a:tab pos="5029200" algn="l"/>
              </a:tabLst>
            </a:pPr>
            <a:r>
              <a:rPr lang="en-US" altLang="zh-CN" sz="1200" b="1" i="1" dirty="0">
                <a:solidFill>
                  <a:srgbClr val="0000FF"/>
                </a:solidFill>
                <a:latin typeface="Courier" charset="0"/>
                <a:ea typeface="宋体" panose="02010600030101010101" pitchFamily="2" charset="-122"/>
              </a:rPr>
              <a:t>	</a:t>
            </a:r>
            <a:endParaRPr lang="en-US" altLang="zh-CN" sz="1200" b="1" i="1" dirty="0">
              <a:solidFill>
                <a:srgbClr val="0000FF"/>
              </a:solidFill>
              <a:latin typeface="Courier" charset="0"/>
              <a:ea typeface="宋体" panose="02010600030101010101" pitchFamily="2" charset="-122"/>
            </a:endParaRPr>
          </a:p>
          <a:p>
            <a:pPr marL="0" lvl="0" indent="0" defTabSz="914400">
              <a:spcBef>
                <a:spcPct val="0"/>
              </a:spcBef>
              <a:buClrTx/>
              <a:buSzTx/>
              <a:buFontTx/>
              <a:buNone/>
              <a:tabLst>
                <a:tab pos="2286000" algn="l"/>
                <a:tab pos="2743200" algn="l"/>
                <a:tab pos="3200400" algn="l"/>
                <a:tab pos="3657600" algn="l"/>
                <a:tab pos="4114800" algn="l"/>
                <a:tab pos="4572000" algn="l"/>
                <a:tab pos="5029200" algn="l"/>
              </a:tabLst>
            </a:pPr>
            <a:endParaRPr lang="en-US" altLang="zh-CN" sz="2400" dirty="0">
              <a:ea typeface="宋体" panose="02010600030101010101" pitchFamily="2" charset="-122"/>
            </a:endParaRPr>
          </a:p>
        </p:txBody>
      </p:sp>
      <p:sp>
        <p:nvSpPr>
          <p:cNvPr id="12296" name="Rectangle 10"/>
          <p:cNvSpPr/>
          <p:nvPr/>
        </p:nvSpPr>
        <p:spPr>
          <a:xfrm>
            <a:off x="2557463" y="172878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2297" name="Rectangle 11"/>
          <p:cNvSpPr/>
          <p:nvPr/>
        </p:nvSpPr>
        <p:spPr>
          <a:xfrm>
            <a:off x="0" y="1828800"/>
            <a:ext cx="9144000" cy="0"/>
          </a:xfrm>
          <a:prstGeom prst="rect">
            <a:avLst/>
          </a:prstGeom>
          <a:noFill/>
          <a:ln w="12700">
            <a:noFill/>
          </a:ln>
        </p:spPr>
        <p:txBody>
          <a:bodyPr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2298" name="Rectangle 12"/>
          <p:cNvSpPr/>
          <p:nvPr/>
        </p:nvSpPr>
        <p:spPr>
          <a:xfrm>
            <a:off x="0" y="2628900"/>
            <a:ext cx="9144000" cy="0"/>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12299" name="Object 13"/>
          <p:cNvGraphicFramePr>
            <a:graphicFrameLocks noChangeAspect="1"/>
          </p:cNvGraphicFramePr>
          <p:nvPr/>
        </p:nvGraphicFramePr>
        <p:xfrm>
          <a:off x="234950" y="1314450"/>
          <a:ext cx="8480425" cy="3716338"/>
        </p:xfrm>
        <a:graphic>
          <a:graphicData uri="http://schemas.openxmlformats.org/presentationml/2006/ole">
            <mc:AlternateContent xmlns:mc="http://schemas.openxmlformats.org/markup-compatibility/2006">
              <mc:Choice xmlns:v="urn:schemas-microsoft-com:vml" Requires="v">
                <p:oleObj spid="_x0000_s3079" name="" r:id="rId2" imgW="3669030" imgH="1614170" progId="Word.Picture.8">
                  <p:embed/>
                </p:oleObj>
              </mc:Choice>
              <mc:Fallback>
                <p:oleObj name="" r:id="rId2" imgW="3669030" imgH="1614170" progId="Word.Picture.8">
                  <p:embed/>
                  <p:pic>
                    <p:nvPicPr>
                      <p:cNvPr id="0" name="图片 3078"/>
                      <p:cNvPicPr/>
                      <p:nvPr/>
                    </p:nvPicPr>
                    <p:blipFill>
                      <a:blip r:embed="rId3"/>
                      <a:stretch>
                        <a:fillRect/>
                      </a:stretch>
                    </p:blipFill>
                    <p:spPr>
                      <a:xfrm>
                        <a:off x="234950" y="1314450"/>
                        <a:ext cx="8480425" cy="37163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0"/>
              <a:t>整数栈类</a:t>
            </a:r>
            <a:endParaRPr lang="zh-CN" altLang="en-US" b="0"/>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pic>
        <p:nvPicPr>
          <p:cNvPr id="10" name="内容占位符 9"/>
          <p:cNvPicPr>
            <a:picLocks noChangeAspect="1"/>
          </p:cNvPicPr>
          <p:nvPr>
            <p:ph sz="quarter" idx="12"/>
          </p:nvPr>
        </p:nvPicPr>
        <p:blipFill>
          <a:blip r:embed="rId1"/>
          <a:stretch>
            <a:fillRect/>
          </a:stretch>
        </p:blipFill>
        <p:spPr>
          <a:xfrm>
            <a:off x="92075" y="1628775"/>
            <a:ext cx="8959215" cy="35744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p:txBody>
          <a:bodyPr vert="horz" wrap="square" lIns="92075" tIns="46038" rIns="92075" bIns="46038" anchor="ctr"/>
          <a:p>
            <a:r>
              <a:rPr lang="zh-CN" altLang="en-US" sz="3200" dirty="0">
                <a:latin typeface="微软雅黑" panose="020B0503020204020204" pitchFamily="34" charset="-122"/>
                <a:ea typeface="微软雅黑" panose="020B0503020204020204" pitchFamily="34" charset="-122"/>
              </a:rPr>
              <a:t>将基本数据类型值作为对象处理</a:t>
            </a:r>
            <a:endParaRPr lang="zh-CN" altLang="en-US" sz="3200" dirty="0">
              <a:latin typeface="微软雅黑" panose="020B0503020204020204" pitchFamily="34" charset="-122"/>
              <a:ea typeface="微软雅黑" panose="020B0503020204020204" pitchFamily="34" charset="-122"/>
            </a:endParaRPr>
          </a:p>
        </p:txBody>
      </p:sp>
      <p:sp>
        <p:nvSpPr>
          <p:cNvPr id="16387" name="内容占位符 2"/>
          <p:cNvSpPr>
            <a:spLocks noGrp="1"/>
          </p:cNvSpPr>
          <p:nvPr>
            <p:ph idx="1"/>
          </p:nvPr>
        </p:nvSpPr>
        <p:spPr/>
        <p:txBody>
          <a:bodyPr vert="horz" wrap="square" lIns="92075" tIns="46038" rIns="92075" bIns="46038" anchor="t"/>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基本数据类型不是一个对象，但是可以使用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Java API</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中的包装类来包装成一个对象</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大多数基本类型包装类的名称与对应的基本数据类型名称一样，第一个字符大写。</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Integer</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Character</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例外</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sym typeface="+mn-ea"/>
              </a:rPr>
              <a:t>包装类没有无参构造方法，所有包装类的实例都是不可改变的。</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388" name="灯片编号占位符 3"/>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pic>
        <p:nvPicPr>
          <p:cNvPr id="18437" name="图片 4"/>
          <p:cNvPicPr>
            <a:picLocks noChangeAspect="1"/>
          </p:cNvPicPr>
          <p:nvPr/>
        </p:nvPicPr>
        <p:blipFill>
          <a:blip r:embed="rId1"/>
          <a:stretch>
            <a:fillRect/>
          </a:stretch>
        </p:blipFill>
        <p:spPr>
          <a:xfrm>
            <a:off x="1221740" y="2812415"/>
            <a:ext cx="7271385" cy="3909060"/>
          </a:xfrm>
          <a:prstGeom prst="rect">
            <a:avLst/>
          </a:prstGeom>
          <a:noFill/>
          <a:ln w="9525">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p:txBody>
          <a:bodyPr vert="horz" wrap="square" lIns="92075" tIns="46038" rIns="92075" bIns="46038" anchor="ctr"/>
          <a:p>
            <a:endParaRPr lang="zh-CN" altLang="en-US" dirty="0">
              <a:ea typeface="宋体" panose="02010600030101010101" pitchFamily="2" charset="-122"/>
            </a:endParaRPr>
          </a:p>
        </p:txBody>
      </p:sp>
      <p:sp>
        <p:nvSpPr>
          <p:cNvPr id="19459" name="内容占位符 2"/>
          <p:cNvSpPr>
            <a:spLocks noGrp="1"/>
          </p:cNvSpPr>
          <p:nvPr>
            <p:ph idx="1"/>
          </p:nvPr>
        </p:nvSpPr>
        <p:spPr/>
        <p:txBody>
          <a:bodyPr vert="horz" wrap="square" lIns="92075" tIns="46038" rIns="92075" bIns="46038" anchor="t"/>
          <a:p>
            <a:pPr fontAlgn="auto">
              <a:lnSpc>
                <a:spcPct val="150000"/>
              </a:lnSpc>
              <a:spcBef>
                <a:spcPts val="0"/>
              </a:spcBef>
            </a:pPr>
            <a:r>
              <a:rPr lang="zh-CN" altLang="en-US" sz="2400" dirty="0">
                <a:latin typeface="微软雅黑" panose="020B0503020204020204" pitchFamily="34" charset="-122"/>
                <a:ea typeface="微软雅黑" panose="020B0503020204020204" pitchFamily="34" charset="-122"/>
              </a:rPr>
              <a:t>装箱：基本类型值转换为包装类对象的过程</a:t>
            </a:r>
            <a:endParaRPr lang="zh-CN" altLang="en-US" sz="2400" dirty="0">
              <a:latin typeface="微软雅黑" panose="020B0503020204020204" pitchFamily="34" charset="-122"/>
              <a:ea typeface="微软雅黑" panose="020B0503020204020204" pitchFamily="34" charset="-122"/>
            </a:endParaRPr>
          </a:p>
          <a:p>
            <a:pPr fontAlgn="auto">
              <a:lnSpc>
                <a:spcPct val="150000"/>
              </a:lnSpc>
              <a:spcBef>
                <a:spcPts val="0"/>
              </a:spcBef>
            </a:pPr>
            <a:r>
              <a:rPr lang="zh-CN" altLang="en-US" sz="2400" dirty="0">
                <a:latin typeface="微软雅黑" panose="020B0503020204020204" pitchFamily="34" charset="-122"/>
                <a:ea typeface="微软雅黑" panose="020B0503020204020204" pitchFamily="34" charset="-122"/>
              </a:rPr>
              <a:t>开箱：</a:t>
            </a:r>
            <a:r>
              <a:rPr lang="zh-CN" altLang="en-US" sz="2400" dirty="0">
                <a:latin typeface="微软雅黑" panose="020B0503020204020204" pitchFamily="34" charset="-122"/>
                <a:ea typeface="微软雅黑" panose="020B0503020204020204" pitchFamily="34" charset="-122"/>
                <a:sym typeface="+mn-ea"/>
              </a:rPr>
              <a:t>包装类对象转换为基本类型值的过程</a:t>
            </a:r>
            <a:endParaRPr lang="zh-CN" altLang="en-US" sz="2400" dirty="0">
              <a:latin typeface="微软雅黑" panose="020B0503020204020204" pitchFamily="34" charset="-122"/>
              <a:ea typeface="微软雅黑" panose="020B0503020204020204" pitchFamily="34" charset="-122"/>
              <a:sym typeface="+mn-ea"/>
            </a:endParaRPr>
          </a:p>
          <a:p>
            <a:pPr fontAlgn="auto">
              <a:lnSpc>
                <a:spcPct val="150000"/>
              </a:lnSpc>
              <a:spcBef>
                <a:spcPts val="0"/>
              </a:spcBef>
            </a:pPr>
            <a:r>
              <a:rPr lang="zh-CN" altLang="en-US" sz="2400" dirty="0">
                <a:latin typeface="微软雅黑" panose="020B0503020204020204" pitchFamily="34" charset="-122"/>
                <a:ea typeface="微软雅黑" panose="020B0503020204020204" pitchFamily="34" charset="-122"/>
                <a:sym typeface="+mn-ea"/>
              </a:rPr>
              <a:t>自动开箱与装箱：</a:t>
            </a:r>
            <a:endParaRPr lang="zh-CN" altLang="en-US" sz="2400" dirty="0">
              <a:latin typeface="微软雅黑" panose="020B0503020204020204" pitchFamily="34" charset="-122"/>
              <a:ea typeface="微软雅黑" panose="020B0503020204020204" pitchFamily="34" charset="-122"/>
              <a:sym typeface="+mn-ea"/>
            </a:endParaRPr>
          </a:p>
        </p:txBody>
      </p:sp>
      <p:sp>
        <p:nvSpPr>
          <p:cNvPr id="19460" name="灯片编号占位符 3"/>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pic>
        <p:nvPicPr>
          <p:cNvPr id="19461" name="图片 4"/>
          <p:cNvPicPr>
            <a:picLocks noChangeAspect="1"/>
          </p:cNvPicPr>
          <p:nvPr/>
        </p:nvPicPr>
        <p:blipFill>
          <a:blip r:embed="rId1"/>
          <a:stretch>
            <a:fillRect/>
          </a:stretch>
        </p:blipFill>
        <p:spPr>
          <a:xfrm>
            <a:off x="117475" y="3143250"/>
            <a:ext cx="8558530" cy="1200150"/>
          </a:xfrm>
          <a:prstGeom prst="rect">
            <a:avLst/>
          </a:prstGeom>
          <a:noFill/>
          <a:ln w="9525">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p:txBody>
          <a:bodyPr vert="horz" wrap="square" lIns="92075" tIns="46038" rIns="92075" bIns="46038" anchor="ctr"/>
          <a:p>
            <a:r>
              <a:rPr lang="en-US" altLang="zh-CN" dirty="0">
                <a:ea typeface="宋体" panose="02010600030101010101" pitchFamily="2" charset="-122"/>
              </a:rPr>
              <a:t>BigInteger</a:t>
            </a:r>
            <a:r>
              <a:rPr lang="zh-CN" altLang="en-US" dirty="0">
                <a:ea typeface="宋体" panose="02010600030101010101" pitchFamily="2" charset="-122"/>
              </a:rPr>
              <a:t>和</a:t>
            </a:r>
            <a:r>
              <a:rPr lang="en-US" altLang="zh-CN" dirty="0">
                <a:ea typeface="宋体" panose="02010600030101010101" pitchFamily="2" charset="-122"/>
              </a:rPr>
              <a:t>BigDecimal</a:t>
            </a:r>
            <a:endParaRPr lang="zh-CN" altLang="en-US" dirty="0">
              <a:ea typeface="宋体" panose="02010600030101010101" pitchFamily="2" charset="-122"/>
            </a:endParaRPr>
          </a:p>
        </p:txBody>
      </p:sp>
      <p:sp>
        <p:nvSpPr>
          <p:cNvPr id="20483" name="内容占位符 2"/>
          <p:cNvSpPr>
            <a:spLocks noGrp="1"/>
          </p:cNvSpPr>
          <p:nvPr>
            <p:ph idx="1"/>
          </p:nvPr>
        </p:nvSpPr>
        <p:spPr/>
        <p:txBody>
          <a:bodyPr vert="horz" wrap="square" lIns="92075" tIns="46038" rIns="92075" bIns="46038" anchor="t"/>
          <a:p>
            <a:r>
              <a:rPr lang="zh-CN" altLang="en-US" sz="2800" dirty="0">
                <a:latin typeface="微软雅黑" panose="020B0503020204020204" pitchFamily="34" charset="-122"/>
                <a:ea typeface="微软雅黑" panose="020B0503020204020204" pitchFamily="34" charset="-122"/>
              </a:rPr>
              <a:t>该两个类用于表示任意大小和精度的整数或者十进制数</a:t>
            </a:r>
            <a:endParaRPr lang="zh-CN" altLang="en-US" sz="2800" dirty="0">
              <a:latin typeface="微软雅黑" panose="020B0503020204020204" pitchFamily="34" charset="-122"/>
              <a:ea typeface="微软雅黑" panose="020B0503020204020204" pitchFamily="34" charset="-122"/>
            </a:endParaRPr>
          </a:p>
        </p:txBody>
      </p:sp>
      <p:sp>
        <p:nvSpPr>
          <p:cNvPr id="20484" name="灯片编号占位符 3"/>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pic>
        <p:nvPicPr>
          <p:cNvPr id="20485" name="图片 4"/>
          <p:cNvPicPr>
            <a:picLocks noChangeAspect="1"/>
          </p:cNvPicPr>
          <p:nvPr/>
        </p:nvPicPr>
        <p:blipFill>
          <a:blip r:embed="rId1"/>
          <a:stretch>
            <a:fillRect/>
          </a:stretch>
        </p:blipFill>
        <p:spPr>
          <a:xfrm>
            <a:off x="72390" y="2234565"/>
            <a:ext cx="8603615" cy="1383030"/>
          </a:xfrm>
          <a:prstGeom prst="rect">
            <a:avLst/>
          </a:prstGeom>
          <a:noFill/>
          <a:ln w="9525">
            <a:noFill/>
          </a:ln>
        </p:spPr>
      </p:pic>
      <p:pic>
        <p:nvPicPr>
          <p:cNvPr id="20486" name="图片 5"/>
          <p:cNvPicPr>
            <a:picLocks noChangeAspect="1"/>
          </p:cNvPicPr>
          <p:nvPr/>
        </p:nvPicPr>
        <p:blipFill>
          <a:blip r:embed="rId2"/>
          <a:stretch>
            <a:fillRect/>
          </a:stretch>
        </p:blipFill>
        <p:spPr>
          <a:xfrm>
            <a:off x="72390" y="4218305"/>
            <a:ext cx="8604250" cy="1528445"/>
          </a:xfrm>
          <a:prstGeom prst="rect">
            <a:avLst/>
          </a:prstGeom>
          <a:noFill/>
          <a:ln w="9525">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String</a:t>
            </a:r>
            <a:r>
              <a:rPr lang="zh-CN" altLang="en-US"/>
              <a:t>类</a:t>
            </a:r>
            <a:endParaRPr lang="zh-CN" altLang="en-US"/>
          </a:p>
        </p:txBody>
      </p:sp>
      <p:sp>
        <p:nvSpPr>
          <p:cNvPr id="3" name="内容占位符 2"/>
          <p:cNvSpPr>
            <a:spLocks noGrp="1"/>
          </p:cNvSpPr>
          <p:nvPr>
            <p:ph sz="quarter" idx="12"/>
          </p:nvPr>
        </p:nvSpPr>
        <p:spPr/>
        <p:txBody>
          <a:bodyPr/>
          <a:p>
            <a:r>
              <a:rPr lang="en-US" altLang="zh-CN"/>
              <a:t>String</a:t>
            </a:r>
            <a:r>
              <a:rPr lang="zh-CN" altLang="en-US"/>
              <a:t>类是不可改变的，一旦创建，内容不能再改变</a:t>
            </a:r>
            <a:endParaRPr lang="zh-CN" altLang="en-US"/>
          </a:p>
          <a:p>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graphicFrame>
        <p:nvGraphicFramePr>
          <p:cNvPr id="34828" name="Object 11"/>
          <p:cNvGraphicFramePr>
            <a:graphicFrameLocks noChangeAspect="1"/>
          </p:cNvGraphicFramePr>
          <p:nvPr/>
        </p:nvGraphicFramePr>
        <p:xfrm>
          <a:off x="152400" y="3505200"/>
          <a:ext cx="8839200" cy="2339975"/>
        </p:xfrm>
        <a:graphic>
          <a:graphicData uri="http://schemas.openxmlformats.org/presentationml/2006/ole">
            <mc:AlternateContent xmlns:mc="http://schemas.openxmlformats.org/markup-compatibility/2006">
              <mc:Choice xmlns:v="urn:schemas-microsoft-com:vml" Requires="v">
                <p:oleObj spid="_x0000_s3076" name="" r:id="rId1" imgW="5190490" imgH="1371600" progId="Word.Picture.8">
                  <p:embed/>
                </p:oleObj>
              </mc:Choice>
              <mc:Fallback>
                <p:oleObj name="" r:id="rId1" imgW="5190490" imgH="1371600" progId="Word.Picture.8">
                  <p:embed/>
                  <p:pic>
                    <p:nvPicPr>
                      <p:cNvPr id="0" name="图片 3075"/>
                      <p:cNvPicPr/>
                      <p:nvPr/>
                    </p:nvPicPr>
                    <p:blipFill>
                      <a:blip r:embed="rId2"/>
                      <a:stretch>
                        <a:fillRect/>
                      </a:stretch>
                    </p:blipFill>
                    <p:spPr>
                      <a:xfrm>
                        <a:off x="152400" y="3505200"/>
                        <a:ext cx="8839200" cy="2339975"/>
                      </a:xfrm>
                      <a:prstGeom prst="rect">
                        <a:avLst/>
                      </a:prstGeom>
                      <a:noFill/>
                      <a:ln w="38100">
                        <a:noFill/>
                        <a:miter/>
                      </a:ln>
                    </p:spPr>
                  </p:pic>
                </p:oleObj>
              </mc:Fallback>
            </mc:AlternateContent>
          </a:graphicData>
        </a:graphic>
      </p:graphicFrame>
      <p:sp>
        <p:nvSpPr>
          <p:cNvPr id="34830" name="Rectangle 13"/>
          <p:cNvSpPr/>
          <p:nvPr/>
        </p:nvSpPr>
        <p:spPr>
          <a:xfrm>
            <a:off x="152400" y="3352800"/>
            <a:ext cx="3962400" cy="2590800"/>
          </a:xfrm>
          <a:prstGeom prst="rect">
            <a:avLst/>
          </a:prstGeom>
          <a:noFill/>
          <a:ln w="12700" cap="flat" cmpd="sng">
            <a:solidFill>
              <a:schemeClr val="tx1"/>
            </a:solidFill>
            <a:prstDash val="solid"/>
            <a:miter/>
            <a:headEnd type="none" w="sm" len="sm"/>
            <a:tailEnd type="none" w="sm" len="sm"/>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en-US" altLang="en-US" sz="2400" dirty="0"/>
          </a:p>
        </p:txBody>
      </p:sp>
      <p:sp>
        <p:nvSpPr>
          <p:cNvPr id="34820" name="Rectangle 3"/>
          <p:cNvSpPr>
            <a:spLocks noGrp="1"/>
          </p:cNvSpPr>
          <p:nvPr>
            <p:ph idx="1"/>
          </p:nvPr>
        </p:nvSpPr>
        <p:spPr>
          <a:xfrm>
            <a:off x="695325" y="1704975"/>
            <a:ext cx="4419600" cy="1447800"/>
          </a:xfrm>
        </p:spPr>
        <p:txBody>
          <a:bodyPr vert="horz" wrap="square" lIns="92075" tIns="46038" rIns="92075" bIns="46038" anchor="t"/>
          <a:p>
            <a:pPr marL="0" indent="0">
              <a:buNone/>
            </a:pPr>
            <a:r>
              <a:rPr lang="en-US" altLang="en-US" sz="2800" dirty="0">
                <a:cs typeface="Times New Roman" panose="02020603050405020304" pitchFamily="18" charset="0"/>
              </a:rPr>
              <a:t>       </a:t>
            </a:r>
            <a:r>
              <a:rPr lang="en-US" altLang="en-US" sz="2800" dirty="0">
                <a:solidFill>
                  <a:schemeClr val="tx2"/>
                </a:solidFill>
                <a:cs typeface="Times New Roman" panose="02020603050405020304" pitchFamily="18" charset="0"/>
              </a:rPr>
              <a:t>String s = "Java";</a:t>
            </a:r>
            <a:endParaRPr lang="en-US" altLang="en-US" sz="2800" dirty="0">
              <a:solidFill>
                <a:schemeClr val="tx2"/>
              </a:solidFill>
              <a:cs typeface="Times New Roman" panose="02020603050405020304" pitchFamily="18" charset="0"/>
            </a:endParaRPr>
          </a:p>
          <a:p>
            <a:pPr marL="0" indent="0">
              <a:buNone/>
            </a:pPr>
            <a:r>
              <a:rPr lang="en-US" altLang="en-US" sz="2800" dirty="0">
                <a:solidFill>
                  <a:schemeClr val="tx2"/>
                </a:solidFill>
                <a:cs typeface="Times New Roman" panose="02020603050405020304" pitchFamily="18" charset="0"/>
              </a:rPr>
              <a:t>       s = "HTML";</a:t>
            </a:r>
            <a:endParaRPr lang="en-US" altLang="en-US" sz="2800" dirty="0">
              <a:solidFill>
                <a:schemeClr val="tx2"/>
              </a:solidFill>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
        <p:nvSpPr>
          <p:cNvPr id="36871" name="Rectangle 9"/>
          <p:cNvSpPr/>
          <p:nvPr/>
        </p:nvSpPr>
        <p:spPr>
          <a:xfrm>
            <a:off x="3048000" y="3810000"/>
            <a:ext cx="5867400" cy="19812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lnSpc>
                <a:spcPct val="90000"/>
              </a:lnSpc>
              <a:buNone/>
            </a:pPr>
            <a:r>
              <a:rPr lang="en-US" altLang="en-US" sz="2800" dirty="0">
                <a:cs typeface="Courier New" panose="02070309020205020404" charset="0"/>
              </a:rPr>
              <a:t>A new object is created if you use the new operator. </a:t>
            </a:r>
            <a:endParaRPr lang="en-US" altLang="en-US" sz="2800" dirty="0">
              <a:cs typeface="Courier New" panose="02070309020205020404" charset="0"/>
            </a:endParaRPr>
          </a:p>
          <a:p>
            <a:pPr marL="0" lvl="0" indent="0">
              <a:lnSpc>
                <a:spcPct val="90000"/>
              </a:lnSpc>
              <a:buNone/>
            </a:pPr>
            <a:r>
              <a:rPr lang="en-US" altLang="en-US" sz="2800" dirty="0">
                <a:cs typeface="Courier New" panose="02070309020205020404" charset="0"/>
              </a:rPr>
              <a:t>If you use the string initializer, no new object is created if the interned object is already created.</a:t>
            </a:r>
            <a:endParaRPr lang="en-US" altLang="en-US" sz="2800" dirty="0">
              <a:ea typeface="Times New Roman" panose="02020603050405020304" pitchFamily="18" charset="0"/>
            </a:endParaRPr>
          </a:p>
        </p:txBody>
      </p:sp>
      <p:graphicFrame>
        <p:nvGraphicFramePr>
          <p:cNvPr id="36877" name="Object 18"/>
          <p:cNvGraphicFramePr>
            <a:graphicFrameLocks noChangeAspect="1"/>
          </p:cNvGraphicFramePr>
          <p:nvPr/>
        </p:nvGraphicFramePr>
        <p:xfrm>
          <a:off x="152400" y="1066800"/>
          <a:ext cx="8763000" cy="2336800"/>
        </p:xfrm>
        <a:graphic>
          <a:graphicData uri="http://schemas.openxmlformats.org/presentationml/2006/ole">
            <mc:AlternateContent xmlns:mc="http://schemas.openxmlformats.org/markup-compatibility/2006">
              <mc:Choice xmlns:v="urn:schemas-microsoft-com:vml" Requires="v">
                <p:oleObj spid="_x0000_s3079" name="" r:id="rId1" imgW="4578350" imgH="1219200" progId="Word.Picture.8">
                  <p:embed/>
                </p:oleObj>
              </mc:Choice>
              <mc:Fallback>
                <p:oleObj name="" r:id="rId1" imgW="4578350" imgH="1219200" progId="Word.Picture.8">
                  <p:embed/>
                  <p:pic>
                    <p:nvPicPr>
                      <p:cNvPr id="0" name="图片 3078"/>
                      <p:cNvPicPr/>
                      <p:nvPr/>
                    </p:nvPicPr>
                    <p:blipFill>
                      <a:blip r:embed="rId2"/>
                      <a:stretch>
                        <a:fillRect/>
                      </a:stretch>
                    </p:blipFill>
                    <p:spPr>
                      <a:xfrm>
                        <a:off x="152400" y="1066800"/>
                        <a:ext cx="8763000" cy="2336800"/>
                      </a:xfrm>
                      <a:prstGeom prst="rect">
                        <a:avLst/>
                      </a:prstGeom>
                      <a:noFill/>
                      <a:ln w="38100">
                        <a:noFill/>
                        <a:miter/>
                      </a:ln>
                    </p:spPr>
                  </p:pic>
                </p:oleObj>
              </mc:Fallback>
            </mc:AlternateContent>
          </a:graphicData>
        </a:graphic>
      </p:graphicFrame>
      <p:sp>
        <p:nvSpPr>
          <p:cNvPr id="36868" name="Rectangle 3"/>
          <p:cNvSpPr>
            <a:spLocks noGrp="1"/>
          </p:cNvSpPr>
          <p:nvPr>
            <p:ph idx="1"/>
          </p:nvPr>
        </p:nvSpPr>
        <p:spPr>
          <a:xfrm>
            <a:off x="152400" y="3886200"/>
            <a:ext cx="2819400" cy="1905000"/>
          </a:xfrm>
        </p:spPr>
        <p:txBody>
          <a:bodyPr vert="horz" wrap="square" lIns="92075" tIns="46038" rIns="92075" bIns="46038" anchor="t">
            <a:normAutofit fontScale="90000"/>
          </a:bodyPr>
          <a:p>
            <a:pPr marL="0" indent="0">
              <a:buNone/>
            </a:pPr>
            <a:r>
              <a:rPr lang="en-US" altLang="en-US" sz="2800" dirty="0">
                <a:cs typeface="Courier New" panose="02070309020205020404" charset="0"/>
              </a:rPr>
              <a:t>display</a:t>
            </a:r>
            <a:endParaRPr lang="en-US" altLang="en-US" sz="2800" dirty="0">
              <a:cs typeface="Courier New" panose="02070309020205020404" charset="0"/>
            </a:endParaRPr>
          </a:p>
          <a:p>
            <a:pPr marL="0" indent="0">
              <a:buNone/>
            </a:pPr>
            <a:r>
              <a:rPr lang="en-US" altLang="en-US" sz="2800" dirty="0">
                <a:cs typeface="Courier New" panose="02070309020205020404" charset="0"/>
              </a:rPr>
              <a:t> </a:t>
            </a:r>
            <a:r>
              <a:rPr lang="en-US" altLang="en-US" sz="2800" dirty="0">
                <a:cs typeface="Times New Roman" panose="02020603050405020304" pitchFamily="18" charset="0"/>
              </a:rPr>
              <a:t>  s1 == s is false    </a:t>
            </a:r>
            <a:endParaRPr lang="en-US" altLang="en-US" sz="2800" dirty="0">
              <a:cs typeface="Times New Roman" panose="02020603050405020304" pitchFamily="18" charset="0"/>
            </a:endParaRPr>
          </a:p>
          <a:p>
            <a:pPr marL="0" indent="0">
              <a:buNone/>
            </a:pPr>
            <a:r>
              <a:rPr lang="en-US" altLang="en-US" sz="2800" dirty="0">
                <a:cs typeface="Times New Roman" panose="02020603050405020304" pitchFamily="18" charset="0"/>
              </a:rPr>
              <a:t>   s1 == s3 is true</a:t>
            </a:r>
            <a:endParaRPr lang="en-US" altLang="en-US" sz="2800" dirty="0">
              <a:ea typeface="Times New Roman" panose="02020603050405020304" pitchFamily="18" charset="0"/>
            </a:endParaRPr>
          </a:p>
        </p:txBody>
      </p:sp>
      <p:sp>
        <p:nvSpPr>
          <p:cNvPr id="6" name="标题 5"/>
          <p:cNvSpPr/>
          <p:nvPr>
            <p:ph type="title"/>
          </p:nvPr>
        </p:nvSpPr>
        <p:spPr/>
        <p:txBody>
          <a:bodyPr/>
          <a:p>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a:xfrm>
            <a:off x="409575" y="-131127"/>
            <a:ext cx="7772400" cy="1143000"/>
          </a:xfrm>
        </p:spPr>
        <p:txBody>
          <a:bodyPr vert="horz" wrap="square" lIns="92075" tIns="46038" rIns="92075" bIns="46038" anchor="ctr"/>
          <a:p>
            <a:r>
              <a:rPr lang="zh-CN" altLang="zh-CN" b="0" dirty="0">
                <a:latin typeface="微软雅黑" panose="020B0503020204020204" pitchFamily="34" charset="-122"/>
                <a:ea typeface="微软雅黑" panose="020B0503020204020204" pitchFamily="34" charset="-122"/>
              </a:rPr>
              <a:t>字符串的替换和分割</a:t>
            </a:r>
            <a:endParaRPr lang="zh-CN" altLang="zh-CN" b="0" dirty="0">
              <a:latin typeface="微软雅黑" panose="020B0503020204020204" pitchFamily="34" charset="-122"/>
              <a:ea typeface="微软雅黑" panose="020B0503020204020204" pitchFamily="34" charset="-122"/>
            </a:endParaRPr>
          </a:p>
        </p:txBody>
      </p:sp>
      <p:sp>
        <p:nvSpPr>
          <p:cNvPr id="21507"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r>
              <a:rPr lang="en-US" altLang="zh-CN" sz="1400" dirty="0">
                <a:ea typeface="宋体" panose="02010600030101010101" pitchFamily="2" charset="-122"/>
              </a:rPr>
              <a:t>P</a:t>
            </a: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graphicFrame>
        <p:nvGraphicFramePr>
          <p:cNvPr id="40965" name="Object 5"/>
          <p:cNvGraphicFramePr>
            <a:graphicFrameLocks noChangeAspect="1"/>
          </p:cNvGraphicFramePr>
          <p:nvPr/>
        </p:nvGraphicFramePr>
        <p:xfrm>
          <a:off x="98425" y="1012190"/>
          <a:ext cx="8756650" cy="2936875"/>
        </p:xfrm>
        <a:graphic>
          <a:graphicData uri="http://schemas.openxmlformats.org/presentationml/2006/ole">
            <mc:AlternateContent xmlns:mc="http://schemas.openxmlformats.org/markup-compatibility/2006">
              <mc:Choice xmlns:v="urn:schemas-microsoft-com:vml" Requires="v">
                <p:oleObj spid="_x0000_s3091" name="" r:id="rId1" imgW="4266565" imgH="1428115" progId="Word.Picture.8">
                  <p:embed/>
                </p:oleObj>
              </mc:Choice>
              <mc:Fallback>
                <p:oleObj name="" r:id="rId1" imgW="4266565" imgH="1428115" progId="Word.Picture.8">
                  <p:embed/>
                  <p:pic>
                    <p:nvPicPr>
                      <p:cNvPr id="0" name="图片 3090"/>
                      <p:cNvPicPr/>
                      <p:nvPr/>
                    </p:nvPicPr>
                    <p:blipFill>
                      <a:blip r:embed="rId2"/>
                      <a:stretch>
                        <a:fillRect/>
                      </a:stretch>
                    </p:blipFill>
                    <p:spPr>
                      <a:xfrm>
                        <a:off x="98425" y="1012190"/>
                        <a:ext cx="8756650" cy="2936875"/>
                      </a:xfrm>
                      <a:prstGeom prst="rect">
                        <a:avLst/>
                      </a:prstGeom>
                      <a:noFill/>
                      <a:ln w="38100">
                        <a:noFill/>
                        <a:miter/>
                      </a:ln>
                    </p:spPr>
                  </p:pic>
                </p:oleObj>
              </mc:Fallback>
            </mc:AlternateContent>
          </a:graphicData>
        </a:graphic>
      </p:graphicFrame>
      <p:sp>
        <p:nvSpPr>
          <p:cNvPr id="41988" name="Rectangle 3"/>
          <p:cNvSpPr>
            <a:spLocks noGrp="1"/>
          </p:cNvSpPr>
          <p:nvPr>
            <p:ph idx="1"/>
          </p:nvPr>
        </p:nvSpPr>
        <p:spPr>
          <a:xfrm>
            <a:off x="257175" y="3949065"/>
            <a:ext cx="8763000" cy="1629410"/>
          </a:xfrm>
        </p:spPr>
        <p:txBody>
          <a:bodyPr vert="horz" wrap="square" lIns="92075" tIns="46038" rIns="92075" bIns="46038" anchor="t">
            <a:normAutofit/>
          </a:bodyPr>
          <a:p>
            <a:pPr marL="0" indent="0">
              <a:buNone/>
            </a:pPr>
            <a:r>
              <a:rPr lang="en-US" altLang="en-US" sz="1600" dirty="0"/>
              <a:t>"Welcome".replace('e', 'A') returns a new string, WAlcomA.</a:t>
            </a:r>
            <a:endParaRPr lang="en-US" altLang="en-US" sz="1600" b="1" i="1" dirty="0"/>
          </a:p>
          <a:p>
            <a:pPr marL="0" indent="0">
              <a:buNone/>
            </a:pPr>
            <a:r>
              <a:rPr lang="en-US" altLang="en-US" sz="1600" dirty="0"/>
              <a:t>"Welcome".replaceFirst("e", "AB") returns a new string, WABlcome.</a:t>
            </a:r>
            <a:endParaRPr lang="en-US" altLang="en-US" sz="1600" b="1" i="1" dirty="0"/>
          </a:p>
          <a:p>
            <a:pPr marL="0" indent="0">
              <a:buNone/>
            </a:pPr>
            <a:r>
              <a:rPr lang="en-US" altLang="en-US" sz="1600" dirty="0"/>
              <a:t>"Welcome".replace("e", "AB") returns a new string, WABlcomAB.</a:t>
            </a:r>
            <a:endParaRPr lang="en-US" altLang="en-US" sz="1600" b="1" i="1" dirty="0"/>
          </a:p>
          <a:p>
            <a:pPr marL="0" indent="0">
              <a:buNone/>
            </a:pPr>
            <a:r>
              <a:rPr lang="en-US" altLang="en-US" sz="1600" dirty="0"/>
              <a:t>"Welcome".replace("el", "AB") returns a new string, WABcome.</a:t>
            </a:r>
            <a:endParaRPr lang="en-US" altLang="en-US" sz="1600" dirty="0"/>
          </a:p>
        </p:txBody>
      </p:sp>
      <p:sp>
        <p:nvSpPr>
          <p:cNvPr id="43012" name="Rectangle 3"/>
          <p:cNvSpPr>
            <a:spLocks noGrp="1"/>
          </p:cNvSpPr>
          <p:nvPr/>
        </p:nvSpPr>
        <p:spPr>
          <a:xfrm>
            <a:off x="0" y="5578475"/>
            <a:ext cx="9144000" cy="1371600"/>
          </a:xfrm>
          <a:prstGeom prst="rect">
            <a:avLst/>
          </a:prstGeom>
          <a:noFill/>
          <a:ln w="9525">
            <a:noFill/>
          </a:ln>
        </p:spPr>
        <p:txBody>
          <a:bodyPr vert="horz" wrap="square" lIns="92075" tIns="46038" rIns="92075" bIns="46038" anchor="t"/>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400" b="1" dirty="0">
                <a:solidFill>
                  <a:schemeClr val="tx2"/>
                </a:solidFill>
                <a:latin typeface="Courier New" panose="02070309020205020404" charset="0"/>
              </a:rPr>
              <a:t>String[] tokens = "Java#HTML#Perl".split("#", 0);</a:t>
            </a:r>
            <a:endParaRPr lang="en-US" altLang="en-US" sz="1400" b="1" dirty="0">
              <a:solidFill>
                <a:schemeClr val="tx2"/>
              </a:solidFill>
              <a:latin typeface="Courier New" panose="02070309020205020404" charset="0"/>
            </a:endParaRPr>
          </a:p>
          <a:p>
            <a:pPr marL="0" indent="0">
              <a:buNone/>
            </a:pPr>
            <a:r>
              <a:rPr lang="en-US" altLang="en-US" sz="1400" b="1" dirty="0">
                <a:solidFill>
                  <a:schemeClr val="tx2"/>
                </a:solidFill>
                <a:latin typeface="Courier New" panose="02070309020205020404" charset="0"/>
              </a:rPr>
              <a:t>for (int i = 0; i &lt; tokens.length; i++) </a:t>
            </a:r>
            <a:endParaRPr lang="en-US" altLang="en-US" sz="1400" b="1" dirty="0">
              <a:solidFill>
                <a:schemeClr val="tx2"/>
              </a:solidFill>
              <a:latin typeface="Courier New" panose="02070309020205020404" charset="0"/>
            </a:endParaRPr>
          </a:p>
          <a:p>
            <a:pPr marL="0" indent="0">
              <a:buNone/>
            </a:pPr>
            <a:r>
              <a:rPr lang="en-US" altLang="en-US" sz="1400" b="1" dirty="0">
                <a:solidFill>
                  <a:schemeClr val="tx2"/>
                </a:solidFill>
                <a:latin typeface="Courier New" panose="02070309020205020404" charset="0"/>
              </a:rPr>
              <a:t>  System.out.print(tokens[i] + " ");</a:t>
            </a:r>
            <a:endParaRPr lang="en-US" altLang="en-US" sz="1400" b="1" dirty="0">
              <a:solidFill>
                <a:schemeClr val="tx2"/>
              </a:solidFill>
              <a:latin typeface="Courier New" panose="02070309020205020404" charset="0"/>
            </a:endParaRPr>
          </a:p>
        </p:txBody>
      </p:sp>
      <p:sp>
        <p:nvSpPr>
          <p:cNvPr id="43013" name="Rectangle 4"/>
          <p:cNvSpPr/>
          <p:nvPr/>
        </p:nvSpPr>
        <p:spPr>
          <a:xfrm>
            <a:off x="5276850" y="5953125"/>
            <a:ext cx="2391410" cy="40957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buNone/>
            </a:pPr>
            <a:r>
              <a:rPr lang="en-US" altLang="en-US" sz="2000" dirty="0"/>
              <a:t>Java HTML Perl</a:t>
            </a:r>
            <a:endParaRPr lang="en-US" altLang="en-US" sz="20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a:xfrm>
            <a:off x="165418" y="179116"/>
            <a:ext cx="7078190" cy="34925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字符串与数组之间的转换</a:t>
            </a:r>
            <a:endParaRPr lang="zh-CN" altLang="en-US" b="0" dirty="0">
              <a:latin typeface="微软雅黑" panose="020B0503020204020204" pitchFamily="34" charset="-122"/>
              <a:ea typeface="微软雅黑" panose="020B0503020204020204" pitchFamily="34" charset="-122"/>
            </a:endParaRPr>
          </a:p>
        </p:txBody>
      </p:sp>
      <p:sp>
        <p:nvSpPr>
          <p:cNvPr id="27651" name="内容占位符 2"/>
          <p:cNvSpPr>
            <a:spLocks noGrp="1"/>
          </p:cNvSpPr>
          <p:nvPr>
            <p:ph idx="1"/>
          </p:nvPr>
        </p:nvSpPr>
        <p:spPr>
          <a:xfrm>
            <a:off x="468630" y="1638300"/>
            <a:ext cx="7772400" cy="1372870"/>
          </a:xfrm>
        </p:spPr>
        <p:txBody>
          <a:bodyPr vert="horz" wrap="square" lIns="92075" tIns="46038" rIns="92075" bIns="46038" anchor="t">
            <a:normAutofit fontScale="70000"/>
          </a:bodyPr>
          <a:p>
            <a:pPr>
              <a:buFont typeface="Wingdings" panose="05000000000000000000" charset="0"/>
              <a:buChar char="n"/>
            </a:pP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rPr>
              <a:t>toArray</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rPr>
              <a:t>方法</a:t>
            </a:r>
            <a:endParaRPr lang="zh-CN" altLang="en-US" sz="40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4000" dirty="0">
                <a:latin typeface="微软雅黑" panose="020B0503020204020204" pitchFamily="34" charset="-122"/>
                <a:ea typeface="微软雅黑" panose="020B0503020204020204" pitchFamily="34" charset="-122"/>
                <a:cs typeface="微软雅黑" panose="020B0503020204020204" pitchFamily="34" charset="-122"/>
              </a:rPr>
              <a:t>char[] chars= “Java”.toCharArray();</a:t>
            </a:r>
            <a:endParaRPr lang="en-US" altLang="zh-CN" sz="4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652" name="灯片编号占位符 3"/>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7654" name="内容占位符 2"/>
          <p:cNvSpPr txBox="1"/>
          <p:nvPr/>
        </p:nvSpPr>
        <p:spPr>
          <a:xfrm>
            <a:off x="542925" y="3492500"/>
            <a:ext cx="7772400" cy="1465263"/>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lvl="0">
              <a:buFont typeface="Wingdings" panose="05000000000000000000" charset="0"/>
              <a:buChar char="n"/>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构造方法或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valueOf</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2400" dirty="0">
                <a:ea typeface="宋体" panose="02010600030101010101" pitchFamily="2" charset="-122"/>
              </a:rPr>
              <a:t>String str=new String(new char[]{'J','a','v','a'});</a:t>
            </a:r>
            <a:endParaRPr lang="en-US" altLang="zh-CN" sz="2400" dirty="0">
              <a:ea typeface="宋体" panose="02010600030101010101" pitchFamily="2" charset="-122"/>
            </a:endParaRPr>
          </a:p>
          <a:p>
            <a:pPr lvl="1"/>
            <a:r>
              <a:rPr lang="en-US" altLang="zh-CN" sz="2395" dirty="0">
                <a:ea typeface="宋体" panose="02010600030101010101" pitchFamily="2" charset="-122"/>
              </a:rPr>
              <a:t>String str=String.valueOf(</a:t>
            </a:r>
            <a:r>
              <a:rPr lang="en-US" altLang="zh-CN" sz="2395" dirty="0">
                <a:ea typeface="宋体" panose="02010600030101010101" pitchFamily="2" charset="-122"/>
                <a:sym typeface="+mn-ea"/>
              </a:rPr>
              <a:t>new char[]{'J','a','v','a'});</a:t>
            </a:r>
            <a:endParaRPr lang="en-US" altLang="zh-CN" sz="2395" dirty="0">
              <a:ea typeface="宋体" panose="02010600030101010101" pitchFamily="2" charset="-122"/>
            </a:endParaRPr>
          </a:p>
          <a:p>
            <a:pPr lvl="1">
              <a:buNone/>
            </a:pPr>
            <a:endParaRPr lang="en-US" altLang="zh-CN"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a:xfrm>
            <a:off x="409575" y="-635"/>
            <a:ext cx="7772400" cy="822325"/>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正则表达式</a:t>
            </a:r>
            <a:endParaRPr lang="zh-CN" altLang="en-US" b="0" dirty="0">
              <a:latin typeface="微软雅黑" panose="020B0503020204020204" pitchFamily="34" charset="-122"/>
              <a:ea typeface="微软雅黑" panose="020B0503020204020204" pitchFamily="34" charset="-122"/>
            </a:endParaRPr>
          </a:p>
        </p:txBody>
      </p:sp>
      <p:sp>
        <p:nvSpPr>
          <p:cNvPr id="21507"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r>
              <a:rPr lang="en-US" altLang="zh-CN" sz="1400" dirty="0">
                <a:ea typeface="宋体" panose="02010600030101010101" pitchFamily="2" charset="-122"/>
              </a:rPr>
              <a:t>P</a:t>
            </a: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21508" name="内容占位符 3"/>
          <p:cNvSpPr>
            <a:spLocks noGrp="1"/>
          </p:cNvSpPr>
          <p:nvPr>
            <p:ph sz="quarter" idx="1"/>
          </p:nvPr>
        </p:nvSpPr>
        <p:spPr>
          <a:xfrm>
            <a:off x="347663" y="893763"/>
            <a:ext cx="8207375" cy="3265487"/>
          </a:xfrm>
        </p:spPr>
        <p:txBody>
          <a:bodyPr vert="horz" wrap="square" lIns="92075" tIns="46038" rIns="92075" bIns="46038" anchor="t">
            <a:normAutofit fontScale="90000" lnSpcReduction="10000"/>
          </a:bodyPr>
          <a:p>
            <a:pPr>
              <a:buClr>
                <a:srgbClr val="7030A0"/>
              </a:buClr>
              <a:buSzPct val="75000"/>
              <a:buFont typeface="Wingdings" panose="05000000000000000000" charset="0"/>
              <a:buChar char="n"/>
            </a:pP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rPr>
              <a:t>正则表达式是一个字符串，用来描述字符串匹配的模式，可以进行字符串匹配、替换和分解。</a:t>
            </a:r>
            <a:endParaRPr lang="zh-CN"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SzPct val="75000"/>
              <a:buFont typeface="Wingdings" panose="05000000000000000000" charset="0"/>
              <a:buChar char="n"/>
            </a:pP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rPr>
              <a:t>一个正则表达式是由普通的字符（例如字符</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z</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rPr>
              <a:t>）以及特殊字符（元字符）组成的</a:t>
            </a: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rPr>
              <a:t>文字模式</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rPr>
              <a:t>，用以描述在查找文字主体时待匹配的一个或多个字符串。</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SzPct val="75000"/>
              <a:buFont typeface="Wingdings" panose="05000000000000000000" charset="0"/>
              <a:buChar char="n"/>
            </a:pP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rPr>
              <a:t>正则表达式作为一个</a:t>
            </a: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rPr>
              <a:t>模板</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rPr>
              <a:t>，将某个字符模式与所搜索的字符串进行匹配</a:t>
            </a:r>
            <a:r>
              <a:rPr lang="zh-CN" altLang="zh-CN" sz="2800" dirty="0">
                <a:ea typeface="宋体" panose="02010600030101010101" pitchFamily="2" charset="-122"/>
              </a:rPr>
              <a:t>。</a:t>
            </a:r>
            <a:endParaRPr lang="zh-CN" altLang="en-US" sz="2800" dirty="0">
              <a:ea typeface="宋体" panose="02010600030101010101" pitchFamily="2" charset="-122"/>
            </a:endParaRPr>
          </a:p>
        </p:txBody>
      </p:sp>
      <p:sp>
        <p:nvSpPr>
          <p:cNvPr id="21509" name="矩形 4"/>
          <p:cNvSpPr/>
          <p:nvPr/>
        </p:nvSpPr>
        <p:spPr>
          <a:xfrm>
            <a:off x="890588" y="4438650"/>
            <a:ext cx="7121525" cy="13239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r>
              <a:rPr lang="zh-CN" altLang="zh-CN" sz="2000" b="1" dirty="0">
                <a:ea typeface="宋体" panose="02010600030101010101" pitchFamily="2" charset="-122"/>
              </a:rPr>
              <a:t>“</a:t>
            </a:r>
            <a:r>
              <a:rPr lang="en-US" altLang="zh-CN" sz="2000" b="1" dirty="0">
                <a:ea typeface="宋体" panose="02010600030101010101" pitchFamily="2" charset="-122"/>
              </a:rPr>
              <a:t>java</a:t>
            </a:r>
            <a:r>
              <a:rPr lang="zh-CN" altLang="zh-CN" sz="2000" b="1" dirty="0">
                <a:ea typeface="宋体" panose="02010600030101010101" pitchFamily="2" charset="-122"/>
              </a:rPr>
              <a:t>”：由普通字符组成。</a:t>
            </a:r>
            <a:endParaRPr lang="zh-CN" altLang="zh-CN" sz="2000" b="1" dirty="0">
              <a:ea typeface="宋体" panose="02010600030101010101" pitchFamily="2" charset="-122"/>
            </a:endParaRPr>
          </a:p>
          <a:p>
            <a:pPr marL="0" lvl="0" indent="0">
              <a:spcBef>
                <a:spcPct val="0"/>
              </a:spcBef>
              <a:buClrTx/>
              <a:buSzTx/>
              <a:buFontTx/>
              <a:buNone/>
            </a:pPr>
            <a:r>
              <a:rPr lang="zh-CN" altLang="zh-CN" sz="2000" b="1" dirty="0">
                <a:ea typeface="宋体" panose="02010600030101010101" pitchFamily="2" charset="-122"/>
              </a:rPr>
              <a:t>“</a:t>
            </a:r>
            <a:r>
              <a:rPr lang="en-US" altLang="zh-CN" sz="2000" b="1" dirty="0">
                <a:ea typeface="宋体" panose="02010600030101010101" pitchFamily="2" charset="-122"/>
              </a:rPr>
              <a:t>java.*</a:t>
            </a:r>
            <a:r>
              <a:rPr lang="zh-CN" altLang="zh-CN" sz="2000" b="1" dirty="0">
                <a:ea typeface="宋体" panose="02010600030101010101" pitchFamily="2" charset="-122"/>
              </a:rPr>
              <a:t>”：包含有两个特殊字符</a:t>
            </a:r>
            <a:r>
              <a:rPr lang="en-US" altLang="zh-CN" sz="2000" b="1" dirty="0">
                <a:ea typeface="宋体" panose="02010600030101010101" pitchFamily="2" charset="-122"/>
              </a:rPr>
              <a:t>.*</a:t>
            </a:r>
            <a:r>
              <a:rPr lang="zh-CN" altLang="zh-CN" sz="2000" b="1" dirty="0">
                <a:ea typeface="宋体" panose="02010600030101010101" pitchFamily="2" charset="-122"/>
              </a:rPr>
              <a:t>，表示</a:t>
            </a:r>
            <a:r>
              <a:rPr lang="en-US" altLang="zh-CN" sz="2000" b="1" dirty="0">
                <a:ea typeface="宋体" panose="02010600030101010101" pitchFamily="2" charset="-122"/>
              </a:rPr>
              <a:t>java</a:t>
            </a:r>
            <a:r>
              <a:rPr lang="zh-CN" altLang="zh-CN" sz="2000" b="1" dirty="0">
                <a:ea typeface="宋体" panose="02010600030101010101" pitchFamily="2" charset="-122"/>
              </a:rPr>
              <a:t>后面跟有</a:t>
            </a:r>
            <a:r>
              <a:rPr lang="en-US" altLang="zh-CN" sz="2000" b="1" dirty="0">
                <a:ea typeface="宋体" panose="02010600030101010101" pitchFamily="2" charset="-122"/>
              </a:rPr>
              <a:t>0</a:t>
            </a:r>
            <a:r>
              <a:rPr lang="zh-CN" altLang="zh-CN" sz="2000" b="1" dirty="0">
                <a:ea typeface="宋体" panose="02010600030101010101" pitchFamily="2" charset="-122"/>
              </a:rPr>
              <a:t>个或者多个字符。</a:t>
            </a:r>
            <a:endParaRPr lang="zh-CN" altLang="zh-CN" sz="2000" b="1" dirty="0">
              <a:ea typeface="宋体" panose="02010600030101010101" pitchFamily="2" charset="-122"/>
            </a:endParaRPr>
          </a:p>
          <a:p>
            <a:pPr marL="0" lvl="0" indent="0">
              <a:spcBef>
                <a:spcPct val="0"/>
              </a:spcBef>
              <a:buClrTx/>
              <a:buSzTx/>
              <a:buFontTx/>
              <a:buNone/>
            </a:pPr>
            <a:r>
              <a:rPr lang="zh-CN" altLang="zh-CN" sz="2000" b="1" dirty="0">
                <a:ea typeface="宋体" panose="02010600030101010101" pitchFamily="2" charset="-122"/>
              </a:rPr>
              <a:t>“</a:t>
            </a:r>
            <a:r>
              <a:rPr lang="en-US" altLang="zh-CN" sz="2000" b="1" dirty="0">
                <a:ea typeface="宋体" panose="02010600030101010101" pitchFamily="2" charset="-122"/>
              </a:rPr>
              <a:t>[a-zA-Z] </a:t>
            </a:r>
            <a:r>
              <a:rPr lang="zh-CN" altLang="zh-CN" sz="2000" b="1" dirty="0">
                <a:ea typeface="宋体" panose="02010600030101010101" pitchFamily="2" charset="-122"/>
              </a:rPr>
              <a:t>”：</a:t>
            </a:r>
            <a:r>
              <a:rPr lang="zh-CN" altLang="zh-CN" sz="2000" b="1" dirty="0">
                <a:ea typeface="宋体" panose="02010600030101010101" pitchFamily="2" charset="-122"/>
              </a:rPr>
              <a:t>表示从</a:t>
            </a:r>
            <a:r>
              <a:rPr lang="en-US" altLang="zh-CN" sz="2000" b="1" dirty="0">
                <a:ea typeface="宋体" panose="02010600030101010101" pitchFamily="2" charset="-122"/>
              </a:rPr>
              <a:t>a</a:t>
            </a:r>
            <a:r>
              <a:rPr lang="zh-CN" altLang="zh-CN" sz="2000" b="1" dirty="0">
                <a:ea typeface="宋体" panose="02010600030101010101" pitchFamily="2" charset="-122"/>
              </a:rPr>
              <a:t>到</a:t>
            </a:r>
            <a:r>
              <a:rPr lang="en-US" altLang="zh-CN" sz="2000" b="1" dirty="0">
                <a:ea typeface="宋体" panose="02010600030101010101" pitchFamily="2" charset="-122"/>
              </a:rPr>
              <a:t>z</a:t>
            </a:r>
            <a:r>
              <a:rPr lang="zh-CN" altLang="zh-CN" sz="2000" b="1" dirty="0">
                <a:ea typeface="宋体" panose="02010600030101010101" pitchFamily="2" charset="-122"/>
              </a:rPr>
              <a:t>或</a:t>
            </a:r>
            <a:r>
              <a:rPr lang="en-US" altLang="zh-CN" sz="2000" b="1" dirty="0">
                <a:ea typeface="宋体" panose="02010600030101010101" pitchFamily="2" charset="-122"/>
              </a:rPr>
              <a:t>A</a:t>
            </a:r>
            <a:r>
              <a:rPr lang="zh-CN" altLang="zh-CN" sz="2000" b="1" dirty="0">
                <a:ea typeface="宋体" panose="02010600030101010101" pitchFamily="2" charset="-122"/>
              </a:rPr>
              <a:t>到</a:t>
            </a:r>
            <a:r>
              <a:rPr lang="en-US" altLang="zh-CN" sz="2000" b="1" dirty="0">
                <a:ea typeface="宋体" panose="02010600030101010101" pitchFamily="2" charset="-122"/>
              </a:rPr>
              <a:t>Z</a:t>
            </a:r>
            <a:r>
              <a:rPr lang="zh-CN" altLang="zh-CN" sz="2000" b="1" dirty="0">
                <a:ea typeface="宋体" panose="02010600030101010101" pitchFamily="2" charset="-122"/>
              </a:rPr>
              <a:t>当中的任意一个字符</a:t>
            </a:r>
            <a:r>
              <a:rPr lang="zh-CN" altLang="zh-CN" sz="2000" dirty="0">
                <a:solidFill>
                  <a:srgbClr val="333333"/>
                </a:solidFill>
                <a:ea typeface="宋体" panose="02010600030101010101" pitchFamily="2" charset="-122"/>
              </a:rPr>
              <a:t>。</a:t>
            </a:r>
            <a:endParaRPr lang="zh-CN" altLang="zh-CN" sz="20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54275" name="Rectangle 2"/>
          <p:cNvSpPr>
            <a:spLocks noGrp="1"/>
          </p:cNvSpPr>
          <p:nvPr>
            <p:ph type="title"/>
          </p:nvPr>
        </p:nvSpPr>
        <p:spPr>
          <a:xfrm>
            <a:off x="228600" y="0"/>
            <a:ext cx="7772400" cy="914400"/>
          </a:xfrm>
        </p:spPr>
        <p:txBody>
          <a:bodyPr vert="horz" wrap="square" lIns="92075" tIns="46038" rIns="92075" bIns="46038" anchor="ctr"/>
          <a:lstStyle/>
          <a:p>
            <a:r>
              <a:rPr lang="zh-CN" altLang="en-US" sz="4000" b="0" u="none" smtClean="0">
                <a:latin typeface="Arial" panose="020B0604020202020204" pitchFamily="34" charset="0"/>
                <a:ea typeface="微软雅黑" panose="020B0503020204020204" pitchFamily="34" charset="-122"/>
              </a:rPr>
              <a:t>补充正则表达式</a:t>
            </a:r>
            <a:endParaRPr lang="zh-CN" altLang="en-US" sz="4000" b="0" u="none" dirty="0">
              <a:latin typeface="Arial" panose="020B0604020202020204" pitchFamily="34" charset="0"/>
              <a:ea typeface="微软雅黑" panose="020B0503020204020204" pitchFamily="34" charset="-122"/>
            </a:endParaRPr>
          </a:p>
        </p:txBody>
      </p:sp>
      <p:sp>
        <p:nvSpPr>
          <p:cNvPr id="54276" name="Rectangle 3"/>
          <p:cNvSpPr>
            <a:spLocks noGrp="1"/>
          </p:cNvSpPr>
          <p:nvPr>
            <p:ph idx="4294967295"/>
          </p:nvPr>
        </p:nvSpPr>
        <p:spPr>
          <a:xfrm>
            <a:off x="182880" y="990600"/>
            <a:ext cx="8498205" cy="5105400"/>
          </a:xfrm>
        </p:spPr>
        <p:txBody>
          <a:bodyPr vert="horz" wrap="square" lIns="92075" tIns="46038" rIns="92075" bIns="46038" anchor="t">
            <a:normAutofit/>
          </a:bodyPr>
          <a:lstStyle/>
          <a:p>
            <a:pPr fontAlgn="auto">
              <a:lnSpc>
                <a:spcPct val="150000"/>
              </a:lnSpc>
              <a:spcBef>
                <a:spcPts val="0"/>
              </a:spcBef>
              <a:buClr>
                <a:srgbClr val="7030A0"/>
              </a:buClr>
              <a:buFont typeface="Wingdings" panose="05000000000000000000" pitchFamily="2" charset="2"/>
              <a:buChar char="n"/>
            </a:pPr>
            <a:r>
              <a:rPr lang="en-US" altLang="zh-CN" sz="2400" smtClean="0"/>
              <a:t>[]</a:t>
            </a:r>
            <a:r>
              <a:rPr lang="zh-CN" altLang="en-US" sz="2400"/>
              <a:t>代表匹配中括号中其中任一</a:t>
            </a:r>
            <a:r>
              <a:rPr lang="zh-CN" altLang="en-US" sz="2400"/>
              <a:t>个</a:t>
            </a:r>
            <a:r>
              <a:rPr lang="zh-CN" altLang="en-US" sz="2400" smtClean="0"/>
              <a:t>字符</a:t>
            </a:r>
            <a:endParaRPr lang="en-US" altLang="zh-CN" sz="2400" smtClean="0"/>
          </a:p>
          <a:p>
            <a:pPr lvl="1">
              <a:buClr>
                <a:srgbClr val="7030A0"/>
              </a:buClr>
              <a:buFont typeface="Wingdings" panose="05000000000000000000" pitchFamily="2" charset="2"/>
              <a:buChar char="l"/>
            </a:pPr>
            <a:r>
              <a:rPr lang="en-US" altLang="zh-CN" sz="1800">
                <a:latin typeface="+mn-ea"/>
                <a:ea typeface="+mn-ea"/>
              </a:rPr>
              <a:t>[a-zA-Z]</a:t>
            </a:r>
            <a:r>
              <a:rPr lang="zh-CN" altLang="en-US" sz="1800">
                <a:latin typeface="+mn-ea"/>
                <a:ea typeface="+mn-ea"/>
              </a:rPr>
              <a:t>，则匹配所有字母</a:t>
            </a:r>
            <a:endParaRPr lang="zh-CN" altLang="en-US" sz="1800">
              <a:latin typeface="+mn-ea"/>
              <a:ea typeface="+mn-ea"/>
            </a:endParaRPr>
          </a:p>
          <a:p>
            <a:pPr lvl="1">
              <a:buClr>
                <a:srgbClr val="7030A0"/>
              </a:buClr>
              <a:buFont typeface="Wingdings" panose="05000000000000000000" pitchFamily="2" charset="2"/>
              <a:buChar char="l"/>
            </a:pPr>
            <a:r>
              <a:rPr lang="en-US" altLang="zh-CN" sz="1800">
                <a:latin typeface="+mn-ea"/>
                <a:ea typeface="+mn-ea"/>
              </a:rPr>
              <a:t>[</a:t>
            </a:r>
            <a:r>
              <a:rPr lang="en-US" altLang="zh-CN" sz="1800">
                <a:latin typeface="+mn-ea"/>
                <a:ea typeface="+mn-ea"/>
              </a:rPr>
              <a:t>0-9</a:t>
            </a:r>
            <a:r>
              <a:rPr lang="en-US" altLang="zh-CN" sz="1800" smtClean="0">
                <a:latin typeface="+mn-ea"/>
                <a:ea typeface="+mn-ea"/>
              </a:rPr>
              <a:t>] </a:t>
            </a:r>
            <a:r>
              <a:rPr lang="zh-CN" altLang="en-US" sz="1800" smtClean="0">
                <a:latin typeface="+mn-ea"/>
                <a:ea typeface="+mn-ea"/>
              </a:rPr>
              <a:t> 则</a:t>
            </a:r>
            <a:r>
              <a:rPr lang="zh-CN" altLang="en-US" sz="1800">
                <a:latin typeface="+mn-ea"/>
                <a:ea typeface="+mn-ea"/>
              </a:rPr>
              <a:t>匹配</a:t>
            </a:r>
            <a:r>
              <a:rPr lang="zh-CN" altLang="en-US" sz="1800">
                <a:latin typeface="+mn-ea"/>
                <a:ea typeface="+mn-ea"/>
              </a:rPr>
              <a:t>所有</a:t>
            </a:r>
            <a:r>
              <a:rPr lang="zh-CN" altLang="en-US" sz="1800" smtClean="0">
                <a:latin typeface="+mn-ea"/>
                <a:ea typeface="+mn-ea"/>
              </a:rPr>
              <a:t>数字</a:t>
            </a:r>
            <a:endParaRPr lang="en-US" altLang="zh-CN" sz="1800" smtClean="0">
              <a:latin typeface="+mn-ea"/>
              <a:ea typeface="+mn-ea"/>
            </a:endParaRPr>
          </a:p>
          <a:p>
            <a:pPr lvl="1">
              <a:buClr>
                <a:srgbClr val="7030A0"/>
              </a:buClr>
              <a:buFont typeface="Wingdings" panose="05000000000000000000" pitchFamily="2" charset="2"/>
              <a:buChar char="l"/>
            </a:pPr>
            <a:r>
              <a:rPr lang="en-US" altLang="zh-CN" sz="1800">
                <a:latin typeface="+mn-ea"/>
                <a:ea typeface="+mn-ea"/>
              </a:rPr>
              <a:t>^</a:t>
            </a:r>
            <a:r>
              <a:rPr lang="zh-CN" altLang="en-US" sz="1800" smtClean="0">
                <a:latin typeface="+mn-ea"/>
                <a:ea typeface="+mn-ea"/>
              </a:rPr>
              <a:t>如果</a:t>
            </a:r>
            <a:r>
              <a:rPr lang="zh-CN" altLang="en-US" sz="1800">
                <a:latin typeface="+mn-ea"/>
                <a:ea typeface="+mn-ea"/>
              </a:rPr>
              <a:t>在中括号里面，表示除了这个字符之外的任意字符</a:t>
            </a:r>
            <a:r>
              <a:rPr lang="en-US" altLang="zh-CN" sz="1800">
                <a:latin typeface="+mn-ea"/>
                <a:ea typeface="+mn-ea"/>
              </a:rPr>
              <a:t>(</a:t>
            </a:r>
            <a:r>
              <a:rPr lang="zh-CN" altLang="en-US" sz="1800">
                <a:latin typeface="+mn-ea"/>
                <a:ea typeface="+mn-ea"/>
              </a:rPr>
              <a:t>包括数字，特殊字符</a:t>
            </a:r>
            <a:r>
              <a:rPr lang="en-US" altLang="zh-CN" sz="1800">
                <a:latin typeface="+mn-ea"/>
                <a:ea typeface="+mn-ea"/>
              </a:rPr>
              <a:t>)</a:t>
            </a:r>
            <a:r>
              <a:rPr lang="zh-CN" altLang="en-US" sz="1800">
                <a:latin typeface="+mn-ea"/>
                <a:ea typeface="+mn-ea"/>
              </a:rPr>
              <a:t>，如</a:t>
            </a:r>
            <a:r>
              <a:rPr lang="en-US" altLang="zh-CN" sz="1800">
                <a:latin typeface="+mn-ea"/>
                <a:ea typeface="+mn-ea"/>
              </a:rPr>
              <a:t>[^abc]</a:t>
            </a:r>
            <a:r>
              <a:rPr lang="zh-CN" altLang="en-US" sz="1800">
                <a:latin typeface="+mn-ea"/>
                <a:ea typeface="+mn-ea"/>
              </a:rPr>
              <a:t>表示匹配出去</a:t>
            </a:r>
            <a:r>
              <a:rPr lang="en-US" altLang="zh-CN" sz="1800">
                <a:latin typeface="+mn-ea"/>
                <a:ea typeface="+mn-ea"/>
              </a:rPr>
              <a:t>abc</a:t>
            </a:r>
            <a:r>
              <a:rPr lang="zh-CN" altLang="en-US" sz="1800">
                <a:latin typeface="+mn-ea"/>
                <a:ea typeface="+mn-ea"/>
              </a:rPr>
              <a:t>之外的其他任</a:t>
            </a:r>
            <a:r>
              <a:rPr lang="zh-CN" altLang="en-US" sz="1800">
                <a:latin typeface="+mn-ea"/>
                <a:ea typeface="+mn-ea"/>
              </a:rPr>
              <a:t>一</a:t>
            </a:r>
            <a:r>
              <a:rPr lang="zh-CN" altLang="en-US" sz="1800" smtClean="0">
                <a:latin typeface="+mn-ea"/>
                <a:ea typeface="+mn-ea"/>
              </a:rPr>
              <a:t>字符</a:t>
            </a:r>
            <a:endParaRPr lang="en-US" altLang="zh-CN" sz="1800" smtClean="0">
              <a:latin typeface="+mn-ea"/>
              <a:ea typeface="+mn-ea"/>
            </a:endParaRPr>
          </a:p>
          <a:p>
            <a:pPr>
              <a:buClr>
                <a:srgbClr val="7030A0"/>
              </a:buClr>
              <a:buFont typeface="Wingdings" panose="05000000000000000000" pitchFamily="2" charset="2"/>
              <a:buChar char="n"/>
            </a:pPr>
            <a:r>
              <a:rPr lang="zh-CN" altLang="en-US" sz="2400">
                <a:latin typeface="+mn-ea"/>
                <a:ea typeface="+mn-ea"/>
              </a:rPr>
              <a:t>预定</a:t>
            </a:r>
            <a:r>
              <a:rPr lang="zh-CN" altLang="en-US" sz="2400" smtClean="0">
                <a:latin typeface="+mn-ea"/>
                <a:ea typeface="+mn-ea"/>
              </a:rPr>
              <a:t>义</a:t>
            </a:r>
            <a:endParaRPr lang="en-US" altLang="zh-CN" sz="2400" smtClean="0">
              <a:latin typeface="+mn-ea"/>
              <a:ea typeface="+mn-ea"/>
            </a:endParaRPr>
          </a:p>
          <a:p>
            <a:pPr lvl="1">
              <a:buClr>
                <a:srgbClr val="7030A0"/>
              </a:buClr>
              <a:buFont typeface="Wingdings" panose="05000000000000000000" pitchFamily="2" charset="2"/>
              <a:buChar char="l"/>
            </a:pPr>
            <a:r>
              <a:rPr lang="en-US" altLang="zh-CN"/>
              <a:t> </a:t>
            </a:r>
            <a:r>
              <a:rPr lang="en-US" altLang="zh-CN"/>
              <a:t>\</a:t>
            </a:r>
            <a:r>
              <a:rPr lang="en-US" altLang="zh-CN" smtClean="0"/>
              <a:t>d </a:t>
            </a:r>
            <a:r>
              <a:rPr lang="zh-CN" altLang="en-US" smtClean="0"/>
              <a:t>表示数字 </a:t>
            </a:r>
            <a:r>
              <a:rPr lang="en-US" altLang="zh-CN">
                <a:latin typeface="+mn-ea"/>
              </a:rPr>
              <a:t>[0-9</a:t>
            </a:r>
            <a:r>
              <a:rPr lang="en-US" altLang="zh-CN">
                <a:latin typeface="+mn-ea"/>
              </a:rPr>
              <a:t>] </a:t>
            </a:r>
            <a:endParaRPr lang="en-US" altLang="zh-CN" smtClean="0">
              <a:latin typeface="+mn-ea"/>
            </a:endParaRPr>
          </a:p>
          <a:p>
            <a:pPr lvl="1">
              <a:buClr>
                <a:srgbClr val="7030A0"/>
              </a:buClr>
              <a:buFont typeface="Wingdings" panose="05000000000000000000" pitchFamily="2" charset="2"/>
              <a:buChar char="l"/>
            </a:pPr>
            <a:r>
              <a:rPr lang="en-US" altLang="zh-CN"/>
              <a:t>\</a:t>
            </a:r>
            <a:r>
              <a:rPr lang="en-US" altLang="zh-CN" smtClean="0"/>
              <a:t>w  </a:t>
            </a:r>
            <a:r>
              <a:rPr lang="zh-CN" altLang="en-US" smtClean="0"/>
              <a:t>表示 </a:t>
            </a:r>
            <a:r>
              <a:rPr lang="en-US" altLang="zh-CN" smtClean="0"/>
              <a:t>[</a:t>
            </a:r>
            <a:r>
              <a:rPr lang="en-US" altLang="zh-CN"/>
              <a:t>a-zA-Z0-9</a:t>
            </a:r>
            <a:r>
              <a:rPr lang="en-US" altLang="zh-CN" smtClean="0"/>
              <a:t>_]  </a:t>
            </a:r>
            <a:r>
              <a:rPr lang="zh-CN" altLang="en-US" smtClean="0"/>
              <a:t>字母</a:t>
            </a:r>
            <a:r>
              <a:rPr lang="zh-CN" altLang="en-US"/>
              <a:t>、数字</a:t>
            </a:r>
            <a:r>
              <a:rPr lang="zh-CN" altLang="en-US"/>
              <a:t>、</a:t>
            </a:r>
            <a:r>
              <a:rPr lang="zh-CN" altLang="en-US" smtClean="0"/>
              <a:t>下划线</a:t>
            </a:r>
            <a:endParaRPr lang="zh-CN" altLang="en-US" smtClean="0"/>
          </a:p>
          <a:p>
            <a:pPr lvl="1">
              <a:buClr>
                <a:srgbClr val="7030A0"/>
              </a:buClr>
              <a:buFont typeface="Wingdings" panose="05000000000000000000" pitchFamily="2" charset="2"/>
              <a:buChar char="l"/>
            </a:pPr>
            <a:r>
              <a:rPr lang="en-US" altLang="zh-CN" smtClean="0"/>
              <a:t>\W </a:t>
            </a:r>
            <a:r>
              <a:rPr lang="zh-CN" altLang="en-US" smtClean="0">
                <a:sym typeface="+mn-ea"/>
              </a:rPr>
              <a:t>表示</a:t>
            </a:r>
            <a:r>
              <a:rPr lang="en-US" altLang="zh-CN" smtClean="0">
                <a:sym typeface="+mn-ea"/>
              </a:rPr>
              <a:t>非单词字符</a:t>
            </a:r>
            <a:endParaRPr lang="en-US" altLang="zh-CN" smtClean="0"/>
          </a:p>
          <a:p>
            <a:pPr lvl="1">
              <a:buClr>
                <a:srgbClr val="7030A0"/>
              </a:buClr>
              <a:buFont typeface="Wingdings" panose="05000000000000000000" pitchFamily="2" charset="2"/>
              <a:buChar char="l"/>
            </a:pPr>
            <a:r>
              <a:rPr lang="en-US" altLang="zh-CN" smtClean="0"/>
              <a:t>. </a:t>
            </a:r>
            <a:r>
              <a:rPr lang="zh-CN" altLang="en-US" smtClean="0">
                <a:sym typeface="+mn-ea"/>
              </a:rPr>
              <a:t>表示</a:t>
            </a:r>
            <a:r>
              <a:rPr lang="en-US" altLang="zh-CN" smtClean="0"/>
              <a:t>除回车换行以外的所有字符</a:t>
            </a:r>
            <a:endParaRPr lang="en-US" altLang="zh-CN" smtClean="0"/>
          </a:p>
          <a:p>
            <a:pPr lvl="1">
              <a:buClr>
                <a:srgbClr val="7030A0"/>
              </a:buClr>
              <a:buFont typeface="Wingdings" panose="05000000000000000000" pitchFamily="2" charset="2"/>
              <a:buChar char="l"/>
            </a:pPr>
            <a:r>
              <a:rPr lang="en-US" altLang="zh-CN" smtClean="0"/>
              <a:t>\s </a:t>
            </a:r>
            <a:r>
              <a:rPr lang="zh-CN" altLang="en-US" smtClean="0">
                <a:sym typeface="+mn-ea"/>
              </a:rPr>
              <a:t>表示</a:t>
            </a:r>
            <a:r>
              <a:rPr lang="en-US" altLang="zh-CN" smtClean="0"/>
              <a:t>空白符</a:t>
            </a:r>
            <a:endParaRPr lang="en-US" altLang="zh-CN" smtClean="0"/>
          </a:p>
          <a:p>
            <a:pPr lvl="1">
              <a:buClr>
                <a:srgbClr val="7030A0"/>
              </a:buClr>
              <a:buFont typeface="Wingdings" panose="05000000000000000000" pitchFamily="2" charset="2"/>
              <a:buChar char="l"/>
            </a:pPr>
            <a:r>
              <a:rPr lang="en-US" altLang="zh-CN" smtClean="0"/>
              <a:t>\S </a:t>
            </a:r>
            <a:r>
              <a:rPr lang="zh-CN" altLang="en-US" smtClean="0">
                <a:sym typeface="+mn-ea"/>
              </a:rPr>
              <a:t>表示</a:t>
            </a:r>
            <a:r>
              <a:rPr lang="en-US" altLang="zh-CN" smtClean="0"/>
              <a:t>非空白符</a:t>
            </a:r>
            <a:endParaRPr lang="en-US" altLang="zh-CN" smtClean="0"/>
          </a:p>
          <a:p>
            <a:pPr lvl="1">
              <a:buClr>
                <a:srgbClr val="7030A0"/>
              </a:buClr>
              <a:buFont typeface="Wingdings" panose="05000000000000000000" pitchFamily="2" charset="2"/>
              <a:buChar char="l"/>
            </a:pPr>
            <a:endParaRPr lang="en-US" altLang="zh-CN" smtClean="0"/>
          </a:p>
          <a:p>
            <a:pPr lvl="1">
              <a:buClr>
                <a:srgbClr val="7030A0"/>
              </a:buClr>
              <a:buFont typeface="Wingdings" panose="05000000000000000000" pitchFamily="2" charset="2"/>
              <a:buChar char="l"/>
            </a:pPr>
            <a:endParaRPr lang="en-US" altLang="zh-CN" smtClean="0">
              <a:latin typeface="+mn-ea"/>
              <a:ea typeface="+mn-ea"/>
            </a:endParaRPr>
          </a:p>
          <a:p>
            <a:pPr lvl="1">
              <a:buFont typeface="Wingdings" panose="05000000000000000000" pitchFamily="2" charset="2"/>
              <a:buChar char="n"/>
            </a:pPr>
            <a:endParaRPr lang="zh-CN" altLang="en-US">
              <a:latin typeface="+mn-ea"/>
              <a:ea typeface="+mn-ea"/>
            </a:endParaRPr>
          </a:p>
          <a:p>
            <a:pPr lvl="1" indent="0">
              <a:lnSpc>
                <a:spcPct val="150000"/>
              </a:lnSpc>
              <a:spcBef>
                <a:spcPts val="0"/>
              </a:spcBef>
              <a:buClr>
                <a:srgbClr val="7030A0"/>
              </a:buClr>
              <a:buFont typeface="Wingdings" panose="05000000000000000000" charset="0"/>
              <a:buChar char="n"/>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54276" name="Rectangle 3"/>
          <p:cNvSpPr>
            <a:spLocks noGrp="1"/>
          </p:cNvSpPr>
          <p:nvPr>
            <p:ph idx="4294967295"/>
          </p:nvPr>
        </p:nvSpPr>
        <p:spPr>
          <a:xfrm>
            <a:off x="182880" y="990600"/>
            <a:ext cx="8498205" cy="5105400"/>
          </a:xfrm>
        </p:spPr>
        <p:txBody>
          <a:bodyPr vert="horz" wrap="square" lIns="92075" tIns="46038" rIns="92075" bIns="46038" anchor="t">
            <a:normAutofit fontScale="90000" lnSpcReduction="10000"/>
          </a:bodyPr>
          <a:lstStyle/>
          <a:p>
            <a:pPr>
              <a:buClr>
                <a:srgbClr val="7030A0"/>
              </a:buClr>
              <a:buFont typeface="Wingdings" panose="05000000000000000000" pitchFamily="2" charset="2"/>
              <a:buChar char="n"/>
            </a:pPr>
            <a:r>
              <a:rPr lang="zh-CN" altLang="en-US" sz="2000" smtClean="0">
                <a:latin typeface="+mn-ea"/>
                <a:sym typeface="+mn-ea"/>
              </a:rPr>
              <a:t>量词</a:t>
            </a:r>
            <a:endParaRPr lang="en-US" altLang="zh-CN" sz="2000" smtClean="0">
              <a:latin typeface="+mn-ea"/>
            </a:endParaRPr>
          </a:p>
          <a:p>
            <a:pPr lvl="1">
              <a:buClr>
                <a:srgbClr val="7030A0"/>
              </a:buClr>
              <a:buFont typeface="Wingdings" panose="05000000000000000000" pitchFamily="2" charset="2"/>
              <a:buChar char="l"/>
            </a:pPr>
            <a:r>
              <a:rPr lang="en-US" altLang="zh-CN" sz="2000" smtClean="0">
                <a:sym typeface="+mn-ea"/>
              </a:rPr>
              <a:t>?  </a:t>
            </a:r>
            <a:r>
              <a:rPr lang="zh-CN" altLang="en-US" sz="2000">
                <a:sym typeface="+mn-ea"/>
              </a:rPr>
              <a:t>表示出现</a:t>
            </a:r>
            <a:r>
              <a:rPr lang="en-US" altLang="zh-CN" sz="2000">
                <a:sym typeface="+mn-ea"/>
              </a:rPr>
              <a:t>0</a:t>
            </a:r>
            <a:r>
              <a:rPr lang="zh-CN" altLang="en-US" sz="2000">
                <a:sym typeface="+mn-ea"/>
              </a:rPr>
              <a:t>次或</a:t>
            </a:r>
            <a:r>
              <a:rPr lang="en-US" altLang="zh-CN" sz="2000">
                <a:sym typeface="+mn-ea"/>
              </a:rPr>
              <a:t>1</a:t>
            </a:r>
            <a:r>
              <a:rPr lang="zh-CN" altLang="en-US" sz="2000">
                <a:sym typeface="+mn-ea"/>
              </a:rPr>
              <a:t>次。</a:t>
            </a:r>
            <a:endParaRPr lang="zh-CN" altLang="en-US" sz="2000"/>
          </a:p>
          <a:p>
            <a:pPr lvl="1">
              <a:buClr>
                <a:srgbClr val="7030A0"/>
              </a:buClr>
              <a:buFont typeface="Wingdings" panose="05000000000000000000" pitchFamily="2" charset="2"/>
              <a:buChar char="l"/>
            </a:pPr>
            <a:r>
              <a:rPr lang="en-US" altLang="zh-CN" sz="2000" smtClean="0">
                <a:sym typeface="+mn-ea"/>
              </a:rPr>
              <a:t>+ </a:t>
            </a:r>
            <a:r>
              <a:rPr lang="zh-CN" altLang="en-US" sz="2000" smtClean="0">
                <a:sym typeface="+mn-ea"/>
              </a:rPr>
              <a:t>表示</a:t>
            </a:r>
            <a:r>
              <a:rPr lang="zh-CN" altLang="en-US" sz="2000">
                <a:sym typeface="+mn-ea"/>
              </a:rPr>
              <a:t>出现</a:t>
            </a:r>
            <a:r>
              <a:rPr lang="en-US" altLang="zh-CN" sz="2000">
                <a:sym typeface="+mn-ea"/>
              </a:rPr>
              <a:t>1</a:t>
            </a:r>
            <a:r>
              <a:rPr lang="zh-CN" altLang="en-US" sz="2000">
                <a:sym typeface="+mn-ea"/>
              </a:rPr>
              <a:t>次或多次。</a:t>
            </a:r>
            <a:endParaRPr lang="zh-CN" altLang="en-US" sz="2000"/>
          </a:p>
          <a:p>
            <a:pPr lvl="1">
              <a:buClr>
                <a:srgbClr val="7030A0"/>
              </a:buClr>
              <a:buFont typeface="Wingdings" panose="05000000000000000000" pitchFamily="2" charset="2"/>
              <a:buChar char="l"/>
            </a:pPr>
            <a:r>
              <a:rPr lang="en-US" altLang="zh-CN" sz="2000" smtClean="0">
                <a:sym typeface="+mn-ea"/>
              </a:rPr>
              <a:t>* </a:t>
            </a:r>
            <a:r>
              <a:rPr lang="zh-CN" altLang="en-US" sz="2000" smtClean="0">
                <a:sym typeface="+mn-ea"/>
              </a:rPr>
              <a:t>表示</a:t>
            </a:r>
            <a:r>
              <a:rPr lang="zh-CN" altLang="en-US" sz="2000">
                <a:sym typeface="+mn-ea"/>
              </a:rPr>
              <a:t>出现</a:t>
            </a:r>
            <a:r>
              <a:rPr lang="en-US" altLang="zh-CN" sz="2000">
                <a:sym typeface="+mn-ea"/>
              </a:rPr>
              <a:t>0</a:t>
            </a:r>
            <a:r>
              <a:rPr lang="zh-CN" altLang="en-US" sz="2000">
                <a:sym typeface="+mn-ea"/>
              </a:rPr>
              <a:t>次、</a:t>
            </a:r>
            <a:r>
              <a:rPr lang="en-US" altLang="zh-CN" sz="2000">
                <a:sym typeface="+mn-ea"/>
              </a:rPr>
              <a:t>1</a:t>
            </a:r>
            <a:r>
              <a:rPr lang="zh-CN" altLang="en-US" sz="2000">
                <a:sym typeface="+mn-ea"/>
              </a:rPr>
              <a:t>次或多次。</a:t>
            </a:r>
            <a:endParaRPr lang="zh-CN" altLang="en-US" sz="2000"/>
          </a:p>
          <a:p>
            <a:pPr lvl="1">
              <a:buClr>
                <a:srgbClr val="7030A0"/>
              </a:buClr>
              <a:buFont typeface="Wingdings" panose="05000000000000000000" pitchFamily="2" charset="2"/>
              <a:buChar char="l"/>
            </a:pPr>
            <a:r>
              <a:rPr lang="en-US" altLang="zh-CN" sz="2000" smtClean="0">
                <a:sym typeface="+mn-ea"/>
              </a:rPr>
              <a:t> {</a:t>
            </a:r>
            <a:r>
              <a:rPr lang="en-US" altLang="zh-CN" sz="2000">
                <a:sym typeface="+mn-ea"/>
              </a:rPr>
              <a:t>n</a:t>
            </a:r>
            <a:r>
              <a:rPr lang="en-US" altLang="zh-CN" sz="2000" smtClean="0">
                <a:sym typeface="+mn-ea"/>
              </a:rPr>
              <a:t>} </a:t>
            </a:r>
            <a:r>
              <a:rPr lang="zh-CN" altLang="en-US" sz="2000" smtClean="0">
                <a:sym typeface="+mn-ea"/>
              </a:rPr>
              <a:t>表示</a:t>
            </a:r>
            <a:r>
              <a:rPr lang="zh-CN" altLang="en-US" sz="2000">
                <a:sym typeface="+mn-ea"/>
              </a:rPr>
              <a:t>出现</a:t>
            </a:r>
            <a:r>
              <a:rPr lang="en-US" altLang="zh-CN" sz="2000">
                <a:sym typeface="+mn-ea"/>
              </a:rPr>
              <a:t>n</a:t>
            </a:r>
            <a:r>
              <a:rPr lang="zh-CN" altLang="en-US" sz="2000">
                <a:sym typeface="+mn-ea"/>
              </a:rPr>
              <a:t>次。</a:t>
            </a:r>
            <a:endParaRPr lang="zh-CN" altLang="en-US" sz="2000"/>
          </a:p>
          <a:p>
            <a:pPr lvl="1">
              <a:buClr>
                <a:srgbClr val="7030A0"/>
              </a:buClr>
              <a:buFont typeface="Wingdings" panose="05000000000000000000" pitchFamily="2" charset="2"/>
              <a:buChar char="l"/>
            </a:pPr>
            <a:r>
              <a:rPr lang="en-US" altLang="zh-CN" sz="2000" smtClean="0">
                <a:sym typeface="+mn-ea"/>
              </a:rPr>
              <a:t>{</a:t>
            </a:r>
            <a:r>
              <a:rPr lang="en-US" altLang="zh-CN" sz="2000">
                <a:sym typeface="+mn-ea"/>
              </a:rPr>
              <a:t>n,m</a:t>
            </a:r>
            <a:r>
              <a:rPr lang="en-US" altLang="zh-CN" sz="2000" smtClean="0">
                <a:sym typeface="+mn-ea"/>
              </a:rPr>
              <a:t>} </a:t>
            </a:r>
            <a:r>
              <a:rPr lang="zh-CN" altLang="en-US" sz="2000" smtClean="0">
                <a:sym typeface="+mn-ea"/>
              </a:rPr>
              <a:t>表示</a:t>
            </a:r>
            <a:r>
              <a:rPr lang="zh-CN" altLang="en-US" sz="2000">
                <a:sym typeface="+mn-ea"/>
              </a:rPr>
              <a:t>出现</a:t>
            </a:r>
            <a:r>
              <a:rPr lang="en-US" altLang="zh-CN" sz="2000">
                <a:sym typeface="+mn-ea"/>
              </a:rPr>
              <a:t>n~m</a:t>
            </a:r>
            <a:r>
              <a:rPr lang="zh-CN" altLang="en-US" sz="2000">
                <a:sym typeface="+mn-ea"/>
              </a:rPr>
              <a:t>次。</a:t>
            </a:r>
            <a:endParaRPr lang="zh-CN" altLang="en-US" sz="2000"/>
          </a:p>
          <a:p>
            <a:pPr lvl="1">
              <a:buClr>
                <a:srgbClr val="7030A0"/>
              </a:buClr>
              <a:buFont typeface="Wingdings" panose="05000000000000000000" pitchFamily="2" charset="2"/>
              <a:buChar char="l"/>
            </a:pPr>
            <a:r>
              <a:rPr lang="en-US" altLang="zh-CN" sz="2000">
                <a:sym typeface="+mn-ea"/>
              </a:rPr>
              <a:t> {n</a:t>
            </a:r>
            <a:r>
              <a:rPr lang="en-US" altLang="zh-CN" sz="2000" smtClean="0">
                <a:sym typeface="+mn-ea"/>
              </a:rPr>
              <a:t>,} </a:t>
            </a:r>
            <a:r>
              <a:rPr lang="zh-CN" altLang="en-US" sz="2000" smtClean="0">
                <a:sym typeface="+mn-ea"/>
              </a:rPr>
              <a:t>表示</a:t>
            </a:r>
            <a:r>
              <a:rPr lang="zh-CN" altLang="en-US" sz="2000">
                <a:sym typeface="+mn-ea"/>
              </a:rPr>
              <a:t>出现</a:t>
            </a:r>
            <a:r>
              <a:rPr lang="en-US" altLang="zh-CN" sz="2000">
                <a:sym typeface="+mn-ea"/>
              </a:rPr>
              <a:t>n</a:t>
            </a:r>
            <a:r>
              <a:rPr lang="zh-CN" altLang="en-US" sz="2000">
                <a:sym typeface="+mn-ea"/>
              </a:rPr>
              <a:t>次或</a:t>
            </a:r>
            <a:r>
              <a:rPr lang="en-US" altLang="zh-CN" sz="2000">
                <a:sym typeface="+mn-ea"/>
              </a:rPr>
              <a:t>n</a:t>
            </a:r>
            <a:r>
              <a:rPr lang="zh-CN" altLang="en-US" sz="2000">
                <a:sym typeface="+mn-ea"/>
              </a:rPr>
              <a:t>次以上。</a:t>
            </a:r>
            <a:endParaRPr lang="en-US" altLang="zh-CN" sz="2000" smtClean="0"/>
          </a:p>
          <a:p>
            <a:pPr fontAlgn="auto">
              <a:lnSpc>
                <a:spcPct val="150000"/>
              </a:lnSpc>
              <a:spcBef>
                <a:spcPts val="0"/>
              </a:spcBef>
              <a:buClr>
                <a:srgbClr val="7030A0"/>
              </a:buClr>
              <a:buFont typeface="Wingdings" panose="05000000000000000000" pitchFamily="2" charset="2"/>
              <a:buChar char="n"/>
            </a:pPr>
            <a:r>
              <a:rPr lang="en-US" altLang="zh-CN" sz="2000" smtClean="0"/>
              <a:t>()</a:t>
            </a:r>
            <a:r>
              <a:rPr lang="zh-CN" altLang="en-US" sz="2000" smtClean="0"/>
              <a:t>表示分组</a:t>
            </a:r>
            <a:endParaRPr lang="en-US" altLang="zh-CN" sz="2000" smtClean="0"/>
          </a:p>
          <a:p>
            <a:pPr lvl="1">
              <a:lnSpc>
                <a:spcPct val="150000"/>
              </a:lnSpc>
              <a:spcBef>
                <a:spcPts val="0"/>
              </a:spcBef>
              <a:buClr>
                <a:srgbClr val="7030A0"/>
              </a:buClr>
              <a:buFont typeface="Wingdings" panose="05000000000000000000" pitchFamily="2" charset="2"/>
              <a:buChar char="n"/>
            </a:pPr>
            <a:r>
              <a:rPr lang="zh-CN" altLang="en-US" sz="2000"/>
              <a:t>例：</a:t>
            </a:r>
            <a:r>
              <a:rPr lang="en-US" altLang="zh-CN" sz="2000"/>
              <a:t>(aaa){5}</a:t>
            </a:r>
            <a:r>
              <a:rPr lang="zh-CN" altLang="en-US" sz="2000"/>
              <a:t>，匹配’</a:t>
            </a:r>
            <a:r>
              <a:rPr lang="en-US" altLang="zh-CN" sz="2000"/>
              <a:t>aaa’5</a:t>
            </a:r>
            <a:r>
              <a:rPr lang="zh-CN" altLang="en-US" sz="2000"/>
              <a:t>次</a:t>
            </a:r>
            <a:endParaRPr lang="en-US" altLang="zh-CN" sz="2000" smtClean="0"/>
          </a:p>
          <a:p>
            <a:pPr fontAlgn="auto">
              <a:lnSpc>
                <a:spcPct val="150000"/>
              </a:lnSpc>
              <a:spcBef>
                <a:spcPts val="0"/>
              </a:spcBef>
              <a:buClr>
                <a:srgbClr val="7030A0"/>
              </a:buClr>
              <a:buFont typeface="Wingdings" panose="05000000000000000000" pitchFamily="2" charset="2"/>
              <a:buChar char="n"/>
            </a:pPr>
            <a:r>
              <a:rPr lang="en-US" altLang="zh-CN" sz="2000" smtClean="0"/>
              <a:t>X|Y</a:t>
            </a:r>
            <a:r>
              <a:rPr lang="zh-CN" altLang="en-US" sz="2000"/>
              <a:t>表示</a:t>
            </a:r>
            <a:r>
              <a:rPr lang="en-US" altLang="zh-CN" sz="2000"/>
              <a:t>X</a:t>
            </a:r>
            <a:r>
              <a:rPr lang="zh-CN" altLang="en-US" sz="2000"/>
              <a:t>或</a:t>
            </a:r>
            <a:r>
              <a:rPr lang="en-US" altLang="zh-CN" sz="2000" smtClean="0"/>
              <a:t>Y</a:t>
            </a:r>
            <a:endParaRPr lang="en-US" altLang="zh-CN" sz="2000"/>
          </a:p>
          <a:p>
            <a:pPr lvl="1">
              <a:lnSpc>
                <a:spcPct val="150000"/>
              </a:lnSpc>
              <a:spcBef>
                <a:spcPts val="0"/>
              </a:spcBef>
              <a:buClr>
                <a:srgbClr val="7030A0"/>
              </a:buClr>
              <a:buFont typeface="Wingdings" panose="05000000000000000000" pitchFamily="2" charset="2"/>
              <a:buChar char="l"/>
            </a:pPr>
            <a:r>
              <a:rPr lang="zh-CN" altLang="en-US" sz="2000"/>
              <a:t>例：</a:t>
            </a:r>
            <a:r>
              <a:rPr lang="en-US" altLang="zh-CN" sz="2000"/>
              <a:t>"food|f"</a:t>
            </a:r>
            <a:r>
              <a:rPr lang="zh-CN" altLang="en-US" sz="2000"/>
              <a:t>匹配的是</a:t>
            </a:r>
            <a:r>
              <a:rPr lang="en-US" altLang="zh-CN" sz="2000"/>
              <a:t>foo</a:t>
            </a:r>
            <a:r>
              <a:rPr lang="zh-CN" altLang="en-US" sz="2000"/>
              <a:t>（</a:t>
            </a:r>
            <a:r>
              <a:rPr lang="en-US" altLang="zh-CN" sz="2000"/>
              <a:t>d</a:t>
            </a:r>
            <a:r>
              <a:rPr lang="zh-CN" altLang="en-US" sz="2000"/>
              <a:t>或</a:t>
            </a:r>
            <a:r>
              <a:rPr lang="en-US" altLang="zh-CN" sz="2000"/>
              <a:t>f</a:t>
            </a:r>
            <a:r>
              <a:rPr lang="zh-CN" altLang="en-US" sz="2000"/>
              <a:t>），而</a:t>
            </a:r>
            <a:r>
              <a:rPr lang="en-US" altLang="zh-CN" sz="2000"/>
              <a:t>"(food)|f"</a:t>
            </a:r>
            <a:r>
              <a:rPr lang="zh-CN" altLang="en-US" sz="2000"/>
              <a:t>匹配的是</a:t>
            </a:r>
            <a:r>
              <a:rPr lang="en-US" altLang="zh-CN" sz="2000"/>
              <a:t>food</a:t>
            </a:r>
            <a:r>
              <a:rPr lang="zh-CN" altLang="en-US" sz="2000"/>
              <a:t>或</a:t>
            </a:r>
            <a:r>
              <a:rPr lang="en-US" altLang="zh-CN" sz="2000" smtClean="0"/>
              <a:t>f</a:t>
            </a:r>
            <a:endParaRPr lang="en-US" altLang="zh-CN" sz="2000" smtClean="0"/>
          </a:p>
          <a:p>
            <a:pPr>
              <a:buClr>
                <a:srgbClr val="7030A0"/>
              </a:buClr>
              <a:buFont typeface="Wingdings" panose="05000000000000000000" pitchFamily="2" charset="2"/>
              <a:buChar char="n"/>
            </a:pPr>
            <a:r>
              <a:rPr lang="zh-CN" altLang="en-US" sz="2400" smtClean="0">
                <a:latin typeface="+mn-ea"/>
              </a:rPr>
              <a:t>^：开头</a:t>
            </a:r>
            <a:endParaRPr lang="zh-CN" altLang="en-US" sz="2400" smtClean="0">
              <a:latin typeface="+mn-ea"/>
            </a:endParaRPr>
          </a:p>
          <a:p>
            <a:pPr>
              <a:buClr>
                <a:srgbClr val="7030A0"/>
              </a:buClr>
              <a:buFont typeface="Wingdings" panose="05000000000000000000" pitchFamily="2" charset="2"/>
              <a:buChar char="n"/>
            </a:pPr>
            <a:r>
              <a:rPr lang="zh-CN" altLang="en-US" sz="2400" smtClean="0">
                <a:latin typeface="+mn-ea"/>
              </a:rPr>
              <a:t>$：结尾</a:t>
            </a:r>
            <a:endParaRPr lang="zh-CN" altLang="en-US" sz="2400" smtClean="0">
              <a:latin typeface="+mn-ea"/>
            </a:endParaRPr>
          </a:p>
          <a:p>
            <a:pPr lvl="1">
              <a:buClr>
                <a:srgbClr val="7030A0"/>
              </a:buClr>
              <a:buFont typeface="Wingdings" panose="05000000000000000000" pitchFamily="2" charset="2"/>
              <a:buChar char="l"/>
            </a:pPr>
            <a:endParaRPr lang="en-US" altLang="zh-CN" smtClean="0">
              <a:latin typeface="+mn-ea"/>
              <a:ea typeface="+mn-ea"/>
            </a:endParaRPr>
          </a:p>
          <a:p>
            <a:pPr lvl="1">
              <a:buFont typeface="Wingdings" panose="05000000000000000000" pitchFamily="2" charset="2"/>
              <a:buChar char="n"/>
            </a:pPr>
            <a:endParaRPr lang="zh-CN" altLang="en-US">
              <a:latin typeface="+mn-ea"/>
              <a:ea typeface="+mn-ea"/>
            </a:endParaRPr>
          </a:p>
          <a:p>
            <a:pPr lvl="1" indent="0">
              <a:lnSpc>
                <a:spcPct val="150000"/>
              </a:lnSpc>
              <a:spcBef>
                <a:spcPts val="0"/>
              </a:spcBef>
              <a:buClr>
                <a:srgbClr val="7030A0"/>
              </a:buClr>
              <a:buFont typeface="Wingdings" panose="05000000000000000000" charset="0"/>
              <a:buChar char="n"/>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p:txBody>
          <a:bodyPr vert="horz" wrap="square" lIns="92075" tIns="46038" rIns="92075" bIns="46038" anchor="ctr"/>
          <a:p>
            <a:r>
              <a:rPr lang="zh-CN" altLang="zh-CN" b="0" dirty="0">
                <a:latin typeface="微软雅黑" panose="020B0503020204020204" pitchFamily="34" charset="-122"/>
                <a:ea typeface="微软雅黑" panose="020B0503020204020204" pitchFamily="34" charset="-122"/>
              </a:rPr>
              <a:t>正则表达式的特殊字符</a:t>
            </a:r>
            <a:endParaRPr lang="zh-CN" altLang="en-US" b="0" dirty="0">
              <a:latin typeface="微软雅黑" panose="020B0503020204020204" pitchFamily="34" charset="-122"/>
              <a:ea typeface="微软雅黑" panose="020B0503020204020204" pitchFamily="34" charset="-122"/>
            </a:endParaRPr>
          </a:p>
        </p:txBody>
      </p:sp>
      <p:sp>
        <p:nvSpPr>
          <p:cNvPr id="23555"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r>
              <a:rPr lang="en-US" altLang="zh-CN" sz="1400" dirty="0">
                <a:ea typeface="宋体" panose="02010600030101010101" pitchFamily="2" charset="-122"/>
              </a:rPr>
              <a:t>P</a:t>
            </a: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pic>
        <p:nvPicPr>
          <p:cNvPr id="6" name="内容占位符 5"/>
          <p:cNvPicPr>
            <a:picLocks noGrp="1" noChangeAspect="1"/>
          </p:cNvPicPr>
          <p:nvPr>
            <p:ph sz="quarter" idx="1"/>
          </p:nvPr>
        </p:nvPicPr>
        <p:blipFill>
          <a:blip r:embed="rId1"/>
          <a:srcRect t="4850"/>
          <a:stretch>
            <a:fillRect/>
          </a:stretch>
        </p:blipFill>
        <p:spPr>
          <a:xfrm>
            <a:off x="468630" y="807720"/>
            <a:ext cx="8058785" cy="5375910"/>
          </a:xfrm>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9" name="灯片编号占位符 2"/>
          <p:cNvSpPr txBox="1">
            <a:spLocks noGrp="1"/>
          </p:cNvSpPr>
          <p:nvPr>
            <p:ph type="sldNum" sz="quarter" idx="11"/>
          </p:nvPr>
        </p:nvSpPr>
        <p:spPr/>
        <p:txBody>
          <a:bodyPr wrap="none" lIns="92075" tIns="46038" rIns="92075" bIns="46038" anchor="ctr"/>
          <a:p>
            <a:pPr marL="0" indent="0" algn="r">
              <a:spcBef>
                <a:spcPct val="0"/>
              </a:spcBef>
              <a:buClrTx/>
              <a:buSzTx/>
              <a:buFontTx/>
              <a:buNone/>
            </a:pPr>
            <a:r>
              <a:rPr lang="en-US" altLang="zh-CN" sz="1400" dirty="0">
                <a:ea typeface="宋体" panose="02010600030101010101" pitchFamily="2" charset="-122"/>
              </a:rPr>
              <a:t>P</a:t>
            </a: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24580" name="内容占位符 3"/>
          <p:cNvSpPr>
            <a:spLocks noGrp="1"/>
          </p:cNvSpPr>
          <p:nvPr>
            <p:ph sz="quarter" idx="1"/>
          </p:nvPr>
        </p:nvSpPr>
        <p:spPr>
          <a:xfrm>
            <a:off x="468313" y="981075"/>
            <a:ext cx="8207375" cy="5400675"/>
          </a:xfrm>
        </p:spPr>
        <p:txBody>
          <a:bodyPr vert="horz" wrap="square" lIns="92075" tIns="46038" rIns="92075" bIns="46038" anchor="t"/>
          <a:p>
            <a:pPr lvl="1">
              <a:lnSpc>
                <a:spcPct val="90000"/>
              </a:lnSpc>
              <a:buClr>
                <a:srgbClr val="7030A0"/>
              </a:buClr>
              <a:buSzTx/>
              <a:buFont typeface="Wingdings" panose="05000000000000000000" charset="0"/>
              <a:buChar char="n"/>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Clr>
                <a:srgbClr val="7030A0"/>
              </a:buClr>
              <a:buSzPct val="75000"/>
              <a:buFont typeface="Wingdings" panose="05000000000000000000" charset="0"/>
              <a:buChar char="n"/>
            </a:pP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rPr>
              <a:t>正则表达式的工具类</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90000"/>
              </a:lnSpc>
              <a:buClr>
                <a:srgbClr val="7030A0"/>
              </a:buClr>
              <a:buSzTx/>
              <a:buFont typeface="Wingdings" panose="05000000000000000000" charset="0"/>
              <a:buChar char="n"/>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构造一个模式：</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Pattern p=Pattern.compile("[a-z]*");</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90000"/>
              </a:lnSpc>
              <a:buClr>
                <a:srgbClr val="7030A0"/>
              </a:buClr>
              <a:buSzTx/>
              <a:buFont typeface="Wingdings" panose="05000000000000000000" charset="0"/>
              <a:buChar char="n"/>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构造一个匹配器：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Matcher m = p.matcher(str)</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str</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是需要匹配的字符串；</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90000"/>
              </a:lnSpc>
              <a:buClr>
                <a:srgbClr val="7030A0"/>
              </a:buClr>
              <a:buSzTx/>
              <a:buFont typeface="Wingdings" panose="05000000000000000000" charset="0"/>
              <a:buChar char="n"/>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进行匹配，得到结果：</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boolean b = m.matches()</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90000"/>
              </a:lnSpc>
              <a:buSzTx/>
              <a:buNone/>
            </a:pPr>
            <a:endParaRPr lang="zh-CN" altLang="zh-CN" sz="2600" dirty="0">
              <a:ea typeface="宋体" panose="02010600030101010101" pitchFamily="2" charset="-122"/>
            </a:endParaRPr>
          </a:p>
          <a:p>
            <a:pPr>
              <a:lnSpc>
                <a:spcPct val="90000"/>
              </a:lnSpc>
              <a:buClr>
                <a:schemeClr val="tx2"/>
              </a:buClr>
              <a:buSzPct val="75000"/>
              <a:buFont typeface="Monotype Sorts" pitchFamily="2" charset="2"/>
            </a:pPr>
            <a:endParaRPr lang="zh-CN" altLang="en-US" sz="30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54276" name="Rectangle 3"/>
          <p:cNvSpPr>
            <a:spLocks noGrp="1"/>
          </p:cNvSpPr>
          <p:nvPr>
            <p:ph idx="4294967295"/>
          </p:nvPr>
        </p:nvSpPr>
        <p:spPr>
          <a:xfrm>
            <a:off x="182880" y="990600"/>
            <a:ext cx="8854440" cy="5105400"/>
          </a:xfrm>
        </p:spPr>
        <p:txBody>
          <a:bodyPr vert="horz" wrap="square" lIns="92075" tIns="46038" rIns="92075" bIns="46038" anchor="t">
            <a:normAutofit fontScale="90000"/>
          </a:bodyPr>
          <a:lstStyle/>
          <a:p>
            <a:pPr>
              <a:buClr>
                <a:srgbClr val="7030A0"/>
              </a:buClr>
              <a:buFont typeface="Wingdings" panose="05000000000000000000" pitchFamily="2" charset="2"/>
              <a:buChar char="n"/>
            </a:pPr>
            <a:r>
              <a:rPr lang="zh-CN" altLang="en-US" sz="2400" smtClean="0">
                <a:latin typeface="+mn-ea"/>
              </a:rPr>
              <a:t>正则表达式示例</a:t>
            </a:r>
            <a:endParaRPr lang="zh-CN" altLang="en-US" sz="2400" smtClean="0">
              <a:latin typeface="+mn-ea"/>
            </a:endParaRPr>
          </a:p>
          <a:p>
            <a:pPr lvl="1">
              <a:buClr>
                <a:srgbClr val="7030A0"/>
              </a:buClr>
              <a:buFont typeface="Wingdings" panose="05000000000000000000" charset="0"/>
              <a:buChar char="l"/>
            </a:pPr>
            <a:r>
              <a:rPr lang="zh-CN" altLang="en-US" sz="2000" smtClean="0">
                <a:latin typeface="+mn-ea"/>
              </a:rPr>
              <a:t>数值 ：  ^[+\-]?\d+(</a:t>
            </a:r>
            <a:r>
              <a:rPr lang="en-US" altLang="zh-CN" sz="2000" smtClean="0">
                <a:latin typeface="+mn-ea"/>
              </a:rPr>
              <a:t>\</a:t>
            </a:r>
            <a:r>
              <a:rPr lang="zh-CN" altLang="en-US" sz="2000" smtClean="0">
                <a:latin typeface="+mn-ea"/>
              </a:rPr>
              <a:t>.\d+)?$</a:t>
            </a:r>
            <a:endParaRPr lang="zh-CN" altLang="en-US" sz="2000" smtClean="0">
              <a:latin typeface="+mn-ea"/>
            </a:endParaRPr>
          </a:p>
          <a:p>
            <a:pPr lvl="1">
              <a:buClr>
                <a:srgbClr val="7030A0"/>
              </a:buClr>
              <a:buFont typeface="Wingdings" panose="05000000000000000000" charset="0"/>
              <a:buChar char="l"/>
            </a:pPr>
            <a:r>
              <a:rPr lang="zh-CN" altLang="en-US" sz="2000" smtClean="0">
                <a:latin typeface="+mn-ea"/>
              </a:rPr>
              <a:t>密码(以字母开头，长度在6~18之间，只能包含字母、数字和下划线)：</a:t>
            </a:r>
            <a:endParaRPr lang="zh-CN" altLang="en-US" sz="2000" smtClean="0">
              <a:latin typeface="+mn-ea"/>
            </a:endParaRPr>
          </a:p>
          <a:p>
            <a:pPr marL="457200" lvl="1" indent="0">
              <a:buClr>
                <a:srgbClr val="7030A0"/>
              </a:buClr>
              <a:buFont typeface="Wingdings" panose="05000000000000000000" charset="0"/>
              <a:buNone/>
            </a:pPr>
            <a:r>
              <a:rPr lang="en-US" altLang="zh-CN" sz="2000" smtClean="0">
                <a:latin typeface="+mn-ea"/>
              </a:rPr>
              <a:t>    </a:t>
            </a:r>
            <a:r>
              <a:rPr lang="zh-CN" altLang="en-US" sz="2000" smtClean="0">
                <a:latin typeface="+mn-ea"/>
              </a:rPr>
              <a:t>^[a-zA-Z]\w{5,17}$</a:t>
            </a:r>
            <a:endParaRPr lang="zh-CN" altLang="en-US" sz="2000" smtClean="0">
              <a:latin typeface="+mn-ea"/>
            </a:endParaRPr>
          </a:p>
          <a:p>
            <a:pPr lvl="1">
              <a:buClr>
                <a:srgbClr val="7030A0"/>
              </a:buClr>
              <a:buFont typeface="Wingdings" panose="05000000000000000000" charset="0"/>
              <a:buChar char="l"/>
            </a:pPr>
            <a:r>
              <a:rPr lang="zh-CN" altLang="en-US" sz="2000" smtClean="0">
                <a:latin typeface="+mn-ea"/>
                <a:ea typeface="+mn-ea"/>
              </a:rPr>
              <a:t>中文   ：   </a:t>
            </a:r>
            <a:r>
              <a:rPr lang="en-US" altLang="zh-CN" sz="2000" smtClean="0">
                <a:latin typeface="+mn-ea"/>
                <a:ea typeface="+mn-ea"/>
              </a:rPr>
              <a:t>[\u4e00-\u9fa5]</a:t>
            </a:r>
            <a:endParaRPr lang="en-US" altLang="zh-CN" sz="2000" smtClean="0">
              <a:latin typeface="+mn-ea"/>
              <a:ea typeface="+mn-ea"/>
            </a:endParaRPr>
          </a:p>
          <a:p>
            <a:pPr lvl="1">
              <a:buClr>
                <a:srgbClr val="7030A0"/>
              </a:buClr>
              <a:buFont typeface="Wingdings" panose="05000000000000000000" charset="0"/>
              <a:buChar char="l"/>
            </a:pPr>
            <a:r>
              <a:rPr lang="zh-CN" altLang="en-US" sz="2000" smtClean="0">
                <a:latin typeface="+mn-ea"/>
                <a:ea typeface="+mn-ea"/>
              </a:rPr>
              <a:t>手机号码：</a:t>
            </a:r>
            <a:r>
              <a:rPr lang="en-US" altLang="zh-CN" sz="2000" smtClean="0">
                <a:latin typeface="+mn-ea"/>
                <a:ea typeface="+mn-ea"/>
              </a:rPr>
              <a:t> ^1[3-9]\d{9}$</a:t>
            </a:r>
            <a:endParaRPr lang="en-US" altLang="zh-CN" sz="2000" smtClean="0">
              <a:latin typeface="+mn-ea"/>
              <a:ea typeface="+mn-ea"/>
            </a:endParaRPr>
          </a:p>
          <a:p>
            <a:pPr marL="457200" lvl="1" indent="0">
              <a:buClr>
                <a:srgbClr val="7030A0"/>
              </a:buClr>
              <a:buFont typeface="Wingdings" panose="05000000000000000000" charset="0"/>
              <a:buNone/>
            </a:pPr>
            <a:r>
              <a:rPr lang="en-US" altLang="zh-CN" smtClean="0">
                <a:latin typeface="+mn-ea"/>
                <a:ea typeface="+mn-ea"/>
              </a:rPr>
              <a:t>            ^1(3[0-9]|4[01456879]|5[0-35-9]|6[2567]|7[0-8]|8[0-9]|9[0-35-9])\d{8}$</a:t>
            </a:r>
            <a:endParaRPr lang="en-US" altLang="zh-CN" smtClean="0">
              <a:latin typeface="+mn-ea"/>
              <a:ea typeface="+mn-ea"/>
            </a:endParaRPr>
          </a:p>
          <a:p>
            <a:pPr marL="457200" lvl="1" indent="0">
              <a:buClr>
                <a:srgbClr val="7030A0"/>
              </a:buClr>
              <a:buFont typeface="Wingdings" panose="05000000000000000000" charset="0"/>
              <a:buNone/>
            </a:pPr>
            <a:r>
              <a:rPr lang="en-US" altLang="zh-CN" sz="2000" smtClean="0">
                <a:latin typeface="+mn-ea"/>
                <a:sym typeface="+mn-ea"/>
              </a:rPr>
              <a:t>E-mail </a:t>
            </a:r>
            <a:r>
              <a:rPr lang="zh-CN" altLang="en-US" sz="2000" smtClean="0">
                <a:latin typeface="+mn-ea"/>
                <a:sym typeface="+mn-ea"/>
              </a:rPr>
              <a:t>：^\w+([-+.]\w+)*@\w+([-.]\w+)*\.\w+([-.]\w+)*$</a:t>
            </a:r>
            <a:endParaRPr lang="zh-CN" altLang="en-US" sz="2000" smtClean="0">
              <a:latin typeface="+mn-ea"/>
              <a:sym typeface="+mn-ea"/>
            </a:endParaRPr>
          </a:p>
          <a:p>
            <a:pPr marL="457200" lvl="1" indent="0">
              <a:buClr>
                <a:srgbClr val="7030A0"/>
              </a:buClr>
              <a:buFont typeface="Wingdings" panose="05000000000000000000" charset="0"/>
              <a:buNone/>
            </a:pPr>
            <a:endParaRPr lang="zh-CN" altLang="en-US" sz="2000" smtClean="0">
              <a:latin typeface="+mn-ea"/>
            </a:endParaRPr>
          </a:p>
          <a:p>
            <a:pPr lvl="1">
              <a:buClr>
                <a:srgbClr val="7030A0"/>
              </a:buClr>
              <a:buFont typeface="Wingdings" panose="05000000000000000000" charset="0"/>
              <a:buChar char="l"/>
            </a:pPr>
            <a:r>
              <a:rPr lang="zh-CN" altLang="en-US" smtClean="0">
                <a:latin typeface="+mn-ea"/>
                <a:ea typeface="+mn-ea"/>
              </a:rPr>
              <a:t>身份证号码：</a:t>
            </a:r>
            <a:r>
              <a:rPr lang="en-US" altLang="zh-CN" smtClean="0">
                <a:latin typeface="+mn-ea"/>
                <a:ea typeface="+mn-ea"/>
              </a:rPr>
              <a:t>^[1-9]\d{5}(19|20)\d{2}((0[1-9]|1[0-2])(0[1-9]|[12]\d|30|31))\d{3}[\dXx]$</a:t>
            </a:r>
            <a:endParaRPr lang="en-US" altLang="zh-CN" smtClean="0">
              <a:latin typeface="+mn-ea"/>
              <a:ea typeface="+mn-ea"/>
            </a:endParaRPr>
          </a:p>
          <a:p>
            <a:pPr lvl="1">
              <a:buClr>
                <a:srgbClr val="7030A0"/>
              </a:buClr>
              <a:buFont typeface="Wingdings" panose="05000000000000000000" charset="0"/>
              <a:buChar char="l"/>
            </a:pPr>
            <a:endParaRPr lang="en-US" altLang="zh-CN" smtClean="0">
              <a:latin typeface="+mn-ea"/>
              <a:ea typeface="+mn-ea"/>
            </a:endParaRPr>
          </a:p>
          <a:p>
            <a:pPr marL="457200" lvl="1" indent="0">
              <a:buClr>
                <a:srgbClr val="7030A0"/>
              </a:buClr>
              <a:buFont typeface="Wingdings" panose="05000000000000000000" charset="0"/>
              <a:buNone/>
            </a:pPr>
            <a:r>
              <a:rPr lang="en-US" altLang="zh-CN" smtClean="0">
                <a:latin typeface="+mn-ea"/>
                <a:ea typeface="+mn-ea"/>
              </a:rPr>
              <a:t>                               </a:t>
            </a:r>
            <a:r>
              <a:rPr lang="en-US" altLang="zh-CN" sz="2000" smtClean="0">
                <a:latin typeface="+mn-ea"/>
                <a:ea typeface="+mn-ea"/>
              </a:rPr>
              <a:t>s.matches("</a:t>
            </a:r>
            <a:r>
              <a:rPr lang="zh-CN" altLang="en-US" sz="2000" smtClean="0">
                <a:latin typeface="+mn-ea"/>
                <a:sym typeface="+mn-ea"/>
              </a:rPr>
              <a:t>^[+\\-]?\\d*(\\.\\d+)?$"</a:t>
            </a:r>
            <a:r>
              <a:rPr lang="en-US" altLang="zh-CN" sz="2000" smtClean="0">
                <a:latin typeface="+mn-ea"/>
                <a:ea typeface="+mn-ea"/>
              </a:rPr>
              <a:t>)</a:t>
            </a:r>
            <a:endParaRPr lang="en-US" altLang="zh-CN" sz="2000" smtClean="0">
              <a:latin typeface="+mn-ea"/>
              <a:ea typeface="+mn-ea"/>
            </a:endParaRPr>
          </a:p>
          <a:p>
            <a:pPr lvl="1">
              <a:buClr>
                <a:srgbClr val="7030A0"/>
              </a:buClr>
              <a:buFont typeface="Wingdings" panose="05000000000000000000" pitchFamily="2" charset="2"/>
              <a:buChar char="l"/>
            </a:pPr>
            <a:endParaRPr lang="en-US" altLang="zh-CN" smtClean="0">
              <a:latin typeface="+mn-ea"/>
              <a:ea typeface="+mn-ea"/>
            </a:endParaRPr>
          </a:p>
          <a:p>
            <a:pPr lvl="1">
              <a:buFont typeface="Wingdings" panose="05000000000000000000" pitchFamily="2" charset="2"/>
              <a:buChar char="n"/>
            </a:pPr>
            <a:endParaRPr lang="zh-CN" altLang="en-US">
              <a:latin typeface="+mn-ea"/>
              <a:ea typeface="+mn-ea"/>
            </a:endParaRPr>
          </a:p>
          <a:p>
            <a:pPr lvl="1" indent="0">
              <a:lnSpc>
                <a:spcPct val="150000"/>
              </a:lnSpc>
              <a:spcBef>
                <a:spcPts val="0"/>
              </a:spcBef>
              <a:buClr>
                <a:srgbClr val="7030A0"/>
              </a:buClr>
              <a:buFont typeface="Wingdings" panose="05000000000000000000" charset="0"/>
              <a:buChar char="n"/>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
        <p:nvSpPr>
          <p:cNvPr id="44038" name="Rectangle 5"/>
          <p:cNvSpPr/>
          <p:nvPr/>
        </p:nvSpPr>
        <p:spPr>
          <a:xfrm>
            <a:off x="266700" y="1180465"/>
            <a:ext cx="8610600" cy="65786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buNone/>
            </a:pPr>
            <a:r>
              <a:rPr lang="en-US" altLang="en-US" sz="1400" dirty="0"/>
              <a:t>"Java is fun".matches("Java.*");</a:t>
            </a:r>
            <a:endParaRPr lang="en-US" altLang="en-US" sz="1400" dirty="0"/>
          </a:p>
          <a:p>
            <a:pPr marL="0" lvl="0" indent="0">
              <a:buNone/>
            </a:pPr>
            <a:r>
              <a:rPr lang="en-US" altLang="en-US" sz="1400" dirty="0"/>
              <a:t>"Java is cool".matches("Java.*");</a:t>
            </a:r>
            <a:endParaRPr lang="en-US" altLang="en-US" sz="1400" dirty="0"/>
          </a:p>
        </p:txBody>
      </p:sp>
      <p:sp>
        <p:nvSpPr>
          <p:cNvPr id="45060" name="Rectangle 3"/>
          <p:cNvSpPr>
            <a:spLocks noGrp="1"/>
          </p:cNvSpPr>
          <p:nvPr>
            <p:ph idx="1"/>
          </p:nvPr>
        </p:nvSpPr>
        <p:spPr>
          <a:xfrm>
            <a:off x="266700" y="2133600"/>
            <a:ext cx="8686800" cy="2724150"/>
          </a:xfrm>
        </p:spPr>
        <p:txBody>
          <a:bodyPr vert="horz" wrap="square" lIns="92075" tIns="46038" rIns="92075" bIns="46038" anchor="t">
            <a:normAutofit fontScale="25000"/>
          </a:bodyPr>
          <a:p>
            <a:pPr marL="0" indent="0" fontAlgn="auto">
              <a:lnSpc>
                <a:spcPct val="150000"/>
              </a:lnSpc>
              <a:spcBef>
                <a:spcPts val="0"/>
              </a:spcBef>
              <a:buNone/>
            </a:pPr>
            <a:r>
              <a:rPr lang="en-US" altLang="en-US" sz="5600" dirty="0"/>
              <a:t>The replaceAll, replaceFirst, and split methods can be used with a regular expression. For example, the following statement returns a new string that replaces $, +, or # in "a+b$#c" by the string NNN.</a:t>
            </a:r>
            <a:endParaRPr lang="en-US" altLang="en-US" sz="5600" b="1" i="1" dirty="0"/>
          </a:p>
          <a:p>
            <a:pPr marL="0" indent="0" fontAlgn="auto">
              <a:lnSpc>
                <a:spcPct val="150000"/>
              </a:lnSpc>
              <a:spcBef>
                <a:spcPts val="0"/>
              </a:spcBef>
              <a:buNone/>
            </a:pPr>
            <a:r>
              <a:rPr lang="en-US" altLang="zh-CN" sz="5600" dirty="0">
                <a:ea typeface="宋体" panose="02010600030101010101" pitchFamily="2" charset="-122"/>
              </a:rPr>
              <a:t>              String s = "a+b$#c".replaceAll("[$+#]", "NNN");</a:t>
            </a:r>
            <a:endParaRPr lang="en-US" altLang="zh-CN" sz="5600" dirty="0">
              <a:ea typeface="宋体" panose="02010600030101010101" pitchFamily="2" charset="-122"/>
            </a:endParaRPr>
          </a:p>
          <a:p>
            <a:pPr marL="0" indent="0" fontAlgn="auto">
              <a:lnSpc>
                <a:spcPct val="150000"/>
              </a:lnSpc>
              <a:spcBef>
                <a:spcPts val="0"/>
              </a:spcBef>
              <a:buNone/>
            </a:pPr>
            <a:r>
              <a:rPr lang="en-US" altLang="zh-CN" sz="5600" dirty="0">
                <a:ea typeface="宋体" panose="02010600030101010101" pitchFamily="2" charset="-122"/>
              </a:rPr>
              <a:t>              System.out.println(s);</a:t>
            </a:r>
            <a:endParaRPr lang="en-US" altLang="zh-CN" sz="5600" dirty="0">
              <a:ea typeface="宋体" panose="02010600030101010101" pitchFamily="2" charset="-122"/>
            </a:endParaRPr>
          </a:p>
          <a:p>
            <a:pPr marL="0" indent="0" fontAlgn="auto">
              <a:lnSpc>
                <a:spcPct val="150000"/>
              </a:lnSpc>
              <a:spcBef>
                <a:spcPts val="0"/>
              </a:spcBef>
              <a:buNone/>
            </a:pPr>
            <a:r>
              <a:rPr lang="en-US" altLang="zh-CN" sz="5600" dirty="0">
                <a:ea typeface="宋体" panose="02010600030101010101" pitchFamily="2" charset="-122"/>
              </a:rPr>
              <a:t>Here the regular expression [$+#] specifies a pattern that matches $, +, or #. So, the output is aNNNbNNNNNNc.</a:t>
            </a:r>
            <a:endParaRPr lang="en-US" altLang="en-US" sz="5600" dirty="0"/>
          </a:p>
        </p:txBody>
      </p:sp>
      <p:sp>
        <p:nvSpPr>
          <p:cNvPr id="5" name="文本框 4"/>
          <p:cNvSpPr txBox="1"/>
          <p:nvPr/>
        </p:nvSpPr>
        <p:spPr>
          <a:xfrm>
            <a:off x="266700" y="4657725"/>
            <a:ext cx="7663815" cy="865505"/>
          </a:xfrm>
          <a:prstGeom prst="rect">
            <a:avLst/>
          </a:prstGeom>
          <a:noFill/>
        </p:spPr>
        <p:txBody>
          <a:bodyPr wrap="square" rtlCol="0" anchor="t">
            <a:spAutoFit/>
          </a:bodyPr>
          <a:p>
            <a:pPr marL="0" indent="0">
              <a:lnSpc>
                <a:spcPct val="90000"/>
              </a:lnSpc>
              <a:buNone/>
            </a:pPr>
            <a:r>
              <a:rPr lang="en-US" altLang="zh-CN" sz="1400" dirty="0">
                <a:ea typeface="宋体" panose="02010600030101010101" pitchFamily="2" charset="-122"/>
                <a:sym typeface="+mn-ea"/>
              </a:rPr>
              <a:t>String[] tokens = "Java,C?C#,C++".split("[.,:;?]");</a:t>
            </a:r>
            <a:endParaRPr lang="en-US" altLang="zh-CN" sz="1400" dirty="0">
              <a:ea typeface="宋体" panose="02010600030101010101" pitchFamily="2" charset="-122"/>
            </a:endParaRPr>
          </a:p>
          <a:p>
            <a:pPr marL="0" indent="0">
              <a:lnSpc>
                <a:spcPct val="90000"/>
              </a:lnSpc>
              <a:buNone/>
            </a:pPr>
            <a:r>
              <a:rPr lang="en-US" altLang="zh-CN" sz="1400" dirty="0">
                <a:ea typeface="宋体" panose="02010600030101010101" pitchFamily="2" charset="-122"/>
                <a:sym typeface="+mn-ea"/>
              </a:rPr>
              <a:t>    </a:t>
            </a:r>
            <a:endParaRPr lang="en-US" altLang="zh-CN" sz="1400" dirty="0">
              <a:ea typeface="宋体" panose="02010600030101010101" pitchFamily="2" charset="-122"/>
            </a:endParaRPr>
          </a:p>
          <a:p>
            <a:pPr marL="0" indent="0">
              <a:lnSpc>
                <a:spcPct val="90000"/>
              </a:lnSpc>
              <a:buNone/>
            </a:pPr>
            <a:r>
              <a:rPr lang="en-US" altLang="zh-CN" sz="1400" dirty="0">
                <a:ea typeface="宋体" panose="02010600030101010101" pitchFamily="2" charset="-122"/>
                <a:sym typeface="+mn-ea"/>
              </a:rPr>
              <a:t>for (int i = 0; i &lt; tokens.length; i++)</a:t>
            </a:r>
            <a:endParaRPr lang="en-US" altLang="zh-CN" sz="1400" dirty="0">
              <a:ea typeface="宋体" panose="02010600030101010101" pitchFamily="2" charset="-122"/>
            </a:endParaRPr>
          </a:p>
          <a:p>
            <a:pPr marL="0" indent="0">
              <a:lnSpc>
                <a:spcPct val="90000"/>
              </a:lnSpc>
              <a:buNone/>
            </a:pPr>
            <a:r>
              <a:rPr lang="en-US" altLang="zh-CN" sz="1400" dirty="0">
                <a:ea typeface="宋体" panose="02010600030101010101" pitchFamily="2" charset="-122"/>
                <a:sym typeface="+mn-ea"/>
              </a:rPr>
              <a:t>  System.out.println(tokens[i]);</a:t>
            </a:r>
            <a:endParaRPr lang="zh-CN" altLang="en-US" sz="14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3370,&quot;width&quot;:12925}"/>
</p:tagLst>
</file>

<file path=ppt/theme/theme1.xml><?xml version="1.0" encoding="utf-8"?>
<a:theme xmlns:a="http://schemas.openxmlformats.org/drawingml/2006/main" name="由Nordri®（www.nordridesign.com ） 设计提供">
  <a:themeElements>
    <a:clrScheme name="自定义 56">
      <a:dk1>
        <a:sysClr val="windowText" lastClr="000000"/>
      </a:dk1>
      <a:lt1>
        <a:sysClr val="window" lastClr="FFFFFF"/>
      </a:lt1>
      <a:dk2>
        <a:srgbClr val="595959"/>
      </a:dk2>
      <a:lt2>
        <a:srgbClr val="D8D8D8"/>
      </a:lt2>
      <a:accent1>
        <a:srgbClr val="FFC000"/>
      </a:accent1>
      <a:accent2>
        <a:srgbClr val="6DAA2D"/>
      </a:accent2>
      <a:accent3>
        <a:srgbClr val="5F5F5F"/>
      </a:accent3>
      <a:accent4>
        <a:srgbClr val="777777"/>
      </a:accent4>
      <a:accent5>
        <a:srgbClr val="B2B2B2"/>
      </a:accent5>
      <a:accent6>
        <a:srgbClr val="DDDDDD"/>
      </a:accent6>
      <a:hlink>
        <a:srgbClr val="0070C0"/>
      </a:hlink>
      <a:folHlink>
        <a:srgbClr val="7030A0"/>
      </a:folHlink>
    </a:clrScheme>
    <a:fontScheme name="Nordri开发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w="9525">
          <a:noFill/>
        </a:ln>
      </a:spPr>
      <a:bodyPr lIns="92075" tIns="46038" rIns="92075" bIns="46038"/>
      <a:lstStyle>
        <a:defPPr marL="0" lvl="0" indent="0">
          <a:buNone/>
          <a:defRPr lang="en-US" altLang="zh-CN" sz="1600" dirty="0">
            <a:solidFill>
              <a:schemeClr val="bg2"/>
            </a:solidFill>
            <a:latin typeface="Courier New" panose="02070309020205020404" charset="0"/>
            <a:ea typeface="宋体" panose="02010600030101010101" pitchFamily="2" charset="-122"/>
          </a:defRPr>
        </a:defPPr>
      </a:lstStyle>
    </a:spDef>
    <a:txDef>
      <a:spPr>
        <a:noFill/>
      </a:spPr>
      <a:bodyPr wrap="none" rtlCol="0">
        <a:spAutoFit/>
      </a:bodyPr>
      <a:lstStyle>
        <a:defPPr>
          <a:lnSpc>
            <a:spcPct val="120000"/>
          </a:lnSpc>
          <a:defRPr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5586</Words>
  <Application>WPS 演示</Application>
  <PresentationFormat>全屏显示(4:3)</PresentationFormat>
  <Paragraphs>316</Paragraphs>
  <Slides>33</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11</vt:i4>
      </vt:variant>
      <vt:variant>
        <vt:lpstr>幻灯片标题</vt:lpstr>
      </vt:variant>
      <vt:variant>
        <vt:i4>33</vt:i4>
      </vt:variant>
    </vt:vector>
  </HeadingPairs>
  <TitlesOfParts>
    <vt:vector size="57" baseType="lpstr">
      <vt:lpstr>Arial</vt:lpstr>
      <vt:lpstr>宋体</vt:lpstr>
      <vt:lpstr>Wingdings</vt:lpstr>
      <vt:lpstr>Courier New</vt:lpstr>
      <vt:lpstr>微软雅黑</vt:lpstr>
      <vt:lpstr>黑体</vt:lpstr>
      <vt:lpstr>Times New Roman</vt:lpstr>
      <vt:lpstr>Calibri</vt:lpstr>
      <vt:lpstr>Wingdings</vt:lpstr>
      <vt:lpstr>Courier</vt:lpstr>
      <vt:lpstr>Monotype Sorts</vt:lpstr>
      <vt:lpstr>Arial Unicode MS</vt:lpstr>
      <vt:lpstr>由Nordri®（www.nordridesign.com ） 设计提供</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面向对象程序设计</vt:lpstr>
      <vt:lpstr>可见修饰符</vt:lpstr>
      <vt:lpstr>数据域封装</vt:lpstr>
      <vt:lpstr>给方法传递对象参数</vt:lpstr>
      <vt:lpstr>对象数组</vt:lpstr>
      <vt:lpstr>不可变对象和类</vt:lpstr>
      <vt:lpstr>举 例</vt:lpstr>
      <vt:lpstr>PowerPoint 演示文稿</vt:lpstr>
      <vt:lpstr>变量的作用域</vt:lpstr>
      <vt:lpstr>this关键字</vt:lpstr>
      <vt:lpstr>类的抽象和封装</vt:lpstr>
      <vt:lpstr>设计Loan类</vt:lpstr>
      <vt:lpstr>PowerPoint 演示文稿</vt:lpstr>
      <vt:lpstr>类的关系</vt:lpstr>
      <vt:lpstr>PowerPoint 演示文稿</vt:lpstr>
      <vt:lpstr>PowerPoint 演示文稿</vt:lpstr>
      <vt:lpstr>PowerPoint 演示文稿</vt:lpstr>
      <vt:lpstr>示例：Course类</vt:lpstr>
      <vt:lpstr>PowerPoint 演示文稿</vt:lpstr>
      <vt:lpstr>将基本数据类型值作为对象处理</vt:lpstr>
      <vt:lpstr>PowerPoint 演示文稿</vt:lpstr>
      <vt:lpstr>BigInteger和BigDecimal</vt:lpstr>
      <vt:lpstr>String类</vt:lpstr>
      <vt:lpstr>PowerPoint 演示文稿</vt:lpstr>
      <vt:lpstr>字符串的替换和分割</vt:lpstr>
      <vt:lpstr>字符串与数组之间的转换</vt:lpstr>
      <vt:lpstr>正则表达式</vt:lpstr>
      <vt:lpstr>补充正则表达式</vt:lpstr>
      <vt:lpstr>PowerPoint 演示文稿</vt:lpstr>
      <vt:lpstr>正则表达式的特殊字符</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Java程序设计</dc:title>
  <dc:creator>yangrl</dc:creator>
  <dc:description>Nordri® 
专注于有效的信息传递设计
www.nordridesign.com</dc:description>
  <dc:subject>PPT模板/图示</dc:subject>
  <cp:lastModifiedBy>大灰很</cp:lastModifiedBy>
  <cp:revision>551</cp:revision>
  <dcterms:created xsi:type="dcterms:W3CDTF">2017-02-24T02:44:00Z</dcterms:created>
  <dcterms:modified xsi:type="dcterms:W3CDTF">2026-04-27T15:12:55Z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280499</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KSOProductBuildVer">
    <vt:lpwstr>2052-12.1.0.25865</vt:lpwstr>
  </property>
  <property fmtid="{D5CDD505-2E9C-101B-9397-08002B2CF9AE}" pid="6" name="ICV">
    <vt:lpwstr>066D444879624AE7A736985AB1263095</vt:lpwstr>
  </property>
</Properties>
</file>