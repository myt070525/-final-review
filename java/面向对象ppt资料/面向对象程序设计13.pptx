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emf" ContentType="image/x-emf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30"/>
  </p:handoutMasterIdLst>
  <p:sldIdLst>
    <p:sldId id="256" r:id="rId3"/>
    <p:sldId id="1476" r:id="rId5"/>
    <p:sldId id="1497" r:id="rId6"/>
    <p:sldId id="1498" r:id="rId7"/>
    <p:sldId id="1499" r:id="rId8"/>
    <p:sldId id="1500" r:id="rId9"/>
    <p:sldId id="1501" r:id="rId10"/>
    <p:sldId id="1502" r:id="rId11"/>
    <p:sldId id="1503" r:id="rId12"/>
    <p:sldId id="1504" r:id="rId13"/>
    <p:sldId id="1506" r:id="rId14"/>
    <p:sldId id="1505" r:id="rId15"/>
    <p:sldId id="1507" r:id="rId16"/>
    <p:sldId id="1508" r:id="rId17"/>
    <p:sldId id="1509" r:id="rId18"/>
    <p:sldId id="1510" r:id="rId19"/>
    <p:sldId id="1511" r:id="rId20"/>
    <p:sldId id="1573" r:id="rId21"/>
    <p:sldId id="1513" r:id="rId22"/>
    <p:sldId id="1575" r:id="rId23"/>
    <p:sldId id="1518" r:id="rId24"/>
    <p:sldId id="1517" r:id="rId25"/>
    <p:sldId id="1531" r:id="rId26"/>
    <p:sldId id="1574" r:id="rId27"/>
    <p:sldId id="1534" r:id="rId28"/>
    <p:sldId id="1536" r:id="rId2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orient="horz" pos="4234" userDrawn="1">
          <p15:clr>
            <a:srgbClr val="A4A3A4"/>
          </p15:clr>
        </p15:guide>
        <p15:guide id="3" orient="horz" pos="4065" userDrawn="1">
          <p15:clr>
            <a:srgbClr val="A4A3A4"/>
          </p15:clr>
        </p15:guide>
        <p15:guide id="4" orient="horz" pos="618" userDrawn="1">
          <p15:clr>
            <a:srgbClr val="A4A3A4"/>
          </p15:clr>
        </p15:guide>
        <p15:guide id="5" pos="2712" userDrawn="1">
          <p15:clr>
            <a:srgbClr val="A4A3A4"/>
          </p15:clr>
        </p15:guide>
        <p15:guide id="6" pos="5465" userDrawn="1">
          <p15:clr>
            <a:srgbClr val="A4A3A4"/>
          </p15:clr>
        </p15:guide>
        <p15:guide id="7" pos="29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5200"/>
    <a:srgbClr val="C06000"/>
    <a:srgbClr val="039ABD"/>
    <a:srgbClr val="1D8DA3"/>
    <a:srgbClr val="099AB7"/>
    <a:srgbClr val="33CCFF"/>
    <a:srgbClr val="CCFFFF"/>
    <a:srgbClr val="F3B10D"/>
    <a:srgbClr val="CCFF66"/>
    <a:srgbClr val="66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howGuides="1">
      <p:cViewPr varScale="1">
        <p:scale>
          <a:sx n="114" d="100"/>
          <a:sy n="114" d="100"/>
        </p:scale>
        <p:origin x="-1542" y="60"/>
      </p:cViewPr>
      <p:guideLst>
        <p:guide orient="horz" pos="2184"/>
        <p:guide orient="horz" pos="4234"/>
        <p:guide orient="horz" pos="4065"/>
        <p:guide orient="horz" pos="618"/>
        <p:guide pos="2712"/>
        <p:guide pos="5465"/>
        <p:guide pos="295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2454" y="24"/>
      </p:cViewPr>
      <p:guideLst>
        <p:guide orient="horz" pos="2912"/>
        <p:guide pos="203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image" Target="../media/image10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B19548-F454-4331-83C2-8A7F164E39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E25D8A-A620-4ACE-B1CF-F6E9B44ECD2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CE75B1-D996-41EC-AA92-8E0F9339AE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CBB548-4544-46A5-8423-F94A584A161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lIns="19050" tIns="0" rIns="19050" bIns="0" anchor="b"/>
          <a:p>
            <a:pPr lvl="0" algn="r"/>
            <a:fld id="{9A0DB2DC-4C9A-4742-B13C-FB6460FD3503}" type="slidenum">
              <a:rPr lang="en-US" altLang="zh-CN" sz="1000" i="1" dirty="0">
                <a:ea typeface="宋体" panose="02010600030101010101" pitchFamily="2" charset="-122"/>
              </a:rPr>
            </a:fld>
            <a:endParaRPr lang="en-US" altLang="zh-CN" sz="1000" i="1" dirty="0">
              <a:ea typeface="宋体" panose="02010600030101010101" pitchFamily="2" charset="-122"/>
            </a:endParaRPr>
          </a:p>
        </p:txBody>
      </p:sp>
      <p:sp>
        <p:nvSpPr>
          <p:cNvPr id="16387" name="Rectangle 2"/>
          <p:cNvSpPr>
            <a:spLocks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1638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2075" tIns="46038" rIns="92075" bIns="46038" anchor="t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nordridesign.com/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nordridesign.com/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Picture 5" descr="E:\PAT 图片资源素材\PPT\待整理\精选 0 (13)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74" r="11656" b="3263"/>
          <a:stretch>
            <a:fillRect/>
          </a:stretch>
        </p:blipFill>
        <p:spPr bwMode="auto">
          <a:xfrm flipV="1">
            <a:off x="3111190" y="-1"/>
            <a:ext cx="6057842" cy="6857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矩形 11"/>
          <p:cNvSpPr>
            <a:spLocks noChangeArrowheads="1"/>
          </p:cNvSpPr>
          <p:nvPr userDrawn="1"/>
        </p:nvSpPr>
        <p:spPr bwMode="auto">
          <a:xfrm>
            <a:off x="19228" y="6886078"/>
            <a:ext cx="9144000" cy="287338"/>
          </a:xfrm>
          <a:prstGeom prst="rect">
            <a:avLst/>
          </a:prstGeom>
          <a:solidFill>
            <a:srgbClr val="BBBFC3">
              <a:alpha val="0"/>
            </a:srgbClr>
          </a:solidFill>
          <a:ln>
            <a:noFill/>
          </a:ln>
        </p:spPr>
        <p:txBody>
          <a:bodyPr anchor="ctr"/>
          <a:lstStyle/>
          <a:p>
            <a:pPr marL="622300" lvl="0"/>
            <a:endParaRPr lang="en-US" altLang="zh-CN" sz="1100" dirty="0">
              <a:cs typeface="Arial" panose="020B0604020202020204" pitchFamily="34" charset="0"/>
            </a:endParaRPr>
          </a:p>
        </p:txBody>
      </p:sp>
      <p:sp>
        <p:nvSpPr>
          <p:cNvPr id="23" name="Rectangle 5">
            <a:hlinkClick r:id="rId3"/>
          </p:cNvPr>
          <p:cNvSpPr txBox="1">
            <a:spLocks noChangeArrowheads="1"/>
          </p:cNvSpPr>
          <p:nvPr userDrawn="1"/>
        </p:nvSpPr>
        <p:spPr bwMode="gray">
          <a:xfrm>
            <a:off x="-17285" y="5876800"/>
            <a:ext cx="3059832" cy="504527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29000"/>
                </a:schemeClr>
              </a:gs>
              <a:gs pos="100000">
                <a:schemeClr val="bg1">
                  <a:lumMod val="75000"/>
                  <a:alpha val="48000"/>
                </a:schemeClr>
              </a:gs>
            </a:gsLst>
            <a:lin ang="10800000" scaled="1"/>
            <a:tileRect/>
          </a:gradFill>
          <a:ln>
            <a:noFill/>
          </a:ln>
        </p:spPr>
        <p:txBody>
          <a:bodyPr lIns="144000" rIns="50400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9pPr>
          </a:lstStyle>
          <a:p>
            <a:pPr marL="0" indent="355600" algn="l" eaLnBrk="0" hangingPunct="0">
              <a:spcBef>
                <a:spcPct val="60000"/>
              </a:spcBef>
              <a:buClr>
                <a:schemeClr val="accent1"/>
              </a:buClr>
            </a:pPr>
            <a:endParaRPr lang="en-US" altLang="zh-CN" sz="1400" i="1" noProof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ctrTitle"/>
          </p:nvPr>
        </p:nvSpPr>
        <p:spPr>
          <a:xfrm>
            <a:off x="468313" y="2132856"/>
            <a:ext cx="6047903" cy="639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5400" b="1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68314" y="2952936"/>
            <a:ext cx="6047292" cy="37224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3600"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zh-CN" dirty="0" smtClean="0"/>
              <a:t>P</a:t>
            </a:r>
            <a:fld id="{62DCC93C-90AC-48A1-9D9E-CBAB17A91522}" type="slidenum">
              <a:rPr lang="zh-CN" altLang="en-US" dirty="0" smtClean="0"/>
            </a:fld>
            <a:endParaRPr lang="zh-CN" altLang="en-US" dirty="0"/>
          </a:p>
        </p:txBody>
      </p:sp>
      <p:sp>
        <p:nvSpPr>
          <p:cNvPr id="5" name="内容占位符 8"/>
          <p:cNvSpPr>
            <a:spLocks noGrp="1"/>
          </p:cNvSpPr>
          <p:nvPr>
            <p:ph sz="quarter" idx="12" hasCustomPrompt="1"/>
          </p:nvPr>
        </p:nvSpPr>
        <p:spPr>
          <a:xfrm>
            <a:off x="468312" y="981075"/>
            <a:ext cx="8207376" cy="5400675"/>
          </a:xfrm>
        </p:spPr>
        <p:txBody>
          <a:bodyPr/>
          <a:lstStyle>
            <a:lvl1pPr>
              <a:lnSpc>
                <a:spcPct val="120000"/>
              </a:lnSpc>
              <a:buClr>
                <a:srgbClr val="7030A0"/>
              </a:buClr>
              <a:buSzPct val="70000"/>
              <a:buFont typeface="Wingdings" panose="05000000000000000000" pitchFamily="2" charset="2"/>
              <a:buChar char="n"/>
              <a:defRPr sz="2600" baseline="0"/>
            </a:lvl1pPr>
            <a:lvl2pPr marL="742950" indent="-285750">
              <a:buFont typeface="Wingdings" panose="05000000000000000000" pitchFamily="2" charset="2"/>
              <a:buChar char="l"/>
              <a:defRPr sz="2200"/>
            </a:lvl2pPr>
            <a:lvl3pPr>
              <a:defRPr sz="1600"/>
            </a:lvl3pPr>
          </a:lstStyle>
          <a:p>
            <a:pPr lvl="0"/>
            <a:r>
              <a:rPr lang="zh-CN" altLang="en-US" dirty="0" smtClean="0"/>
              <a:t>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7838" y="6381750"/>
            <a:ext cx="8188325" cy="115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468313" y="6453188"/>
            <a:ext cx="1007343" cy="268287"/>
          </a:xfrm>
        </p:spPr>
        <p:txBody>
          <a:bodyPr/>
          <a:lstStyle/>
          <a:p>
            <a:r>
              <a:rPr lang="en-US" altLang="zh-CN" dirty="0" smtClean="0"/>
              <a:t>P</a:t>
            </a:r>
            <a:fld id="{62DCC93C-90AC-48A1-9D9E-CBAB17A91522}" type="slidenum">
              <a:rPr lang="zh-CN" altLang="en-US" dirty="0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468313" y="6453188"/>
            <a:ext cx="1007343" cy="268287"/>
          </a:xfrm>
        </p:spPr>
        <p:txBody>
          <a:bodyPr/>
          <a:lstStyle/>
          <a:p>
            <a:r>
              <a:rPr lang="en-US" altLang="zh-CN" dirty="0" smtClean="0"/>
              <a:t>P</a:t>
            </a:r>
            <a:fld id="{62DCC93C-90AC-48A1-9D9E-CBAB17A91522}" type="slidenum">
              <a:rPr lang="zh-CN" altLang="en-US" dirty="0" smtClean="0"/>
            </a:fld>
            <a:endParaRPr lang="zh-CN" altLang="en-US" dirty="0"/>
          </a:p>
        </p:txBody>
      </p:sp>
      <p:sp>
        <p:nvSpPr>
          <p:cNvPr id="7" name="矩形 11"/>
          <p:cNvSpPr>
            <a:spLocks noChangeArrowheads="1"/>
          </p:cNvSpPr>
          <p:nvPr userDrawn="1"/>
        </p:nvSpPr>
        <p:spPr bwMode="auto">
          <a:xfrm>
            <a:off x="0" y="6864350"/>
            <a:ext cx="9144000" cy="287338"/>
          </a:xfrm>
          <a:prstGeom prst="rect">
            <a:avLst/>
          </a:prstGeom>
          <a:solidFill>
            <a:srgbClr val="BBBFC3">
              <a:alpha val="0"/>
            </a:srgbClr>
          </a:solidFill>
          <a:ln>
            <a:noFill/>
          </a:ln>
        </p:spPr>
        <p:txBody>
          <a:bodyPr anchor="ctr"/>
          <a:lstStyle/>
          <a:p>
            <a:pPr marL="622300" lvl="0"/>
            <a:endParaRPr lang="en-US" altLang="zh-CN" sz="1100" dirty="0"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配色方案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日期占位符 55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7" name="页脚占位符 56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8" name="灯片编号占位符 57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 altLang="zh-CN" smtClean="0"/>
              <a:t>P</a:t>
            </a:r>
            <a:fld id="{62DCC93C-90AC-48A1-9D9E-CBAB17A91522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741702" y="1398826"/>
            <a:ext cx="7672274" cy="4811474"/>
            <a:chOff x="468311" y="1227376"/>
            <a:chExt cx="8219055" cy="5154374"/>
          </a:xfrm>
        </p:grpSpPr>
        <p:sp>
          <p:nvSpPr>
            <p:cNvPr id="6" name="矩形 5"/>
            <p:cNvSpPr/>
            <p:nvPr userDrawn="1"/>
          </p:nvSpPr>
          <p:spPr bwMode="auto">
            <a:xfrm>
              <a:off x="7477213" y="2816932"/>
              <a:ext cx="1210153" cy="1213910"/>
            </a:xfrm>
            <a:prstGeom prst="rect">
              <a:avLst/>
            </a:prstGeom>
            <a:gradFill flip="none" rotWithShape="1">
              <a:gsLst>
                <a:gs pos="100000">
                  <a:schemeClr val="bg1">
                    <a:alpha val="0"/>
                  </a:schemeClr>
                </a:gs>
                <a:gs pos="0">
                  <a:schemeClr val="bg1">
                    <a:lumMod val="95000"/>
                    <a:alpha val="0"/>
                  </a:schemeClr>
                </a:gs>
                <a:gs pos="47000">
                  <a:schemeClr val="bg1">
                    <a:lumMod val="8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 userDrawn="1"/>
          </p:nvSpPr>
          <p:spPr bwMode="auto">
            <a:xfrm>
              <a:off x="3266666" y="2816932"/>
              <a:ext cx="1210153" cy="1213910"/>
            </a:xfrm>
            <a:prstGeom prst="rect">
              <a:avLst/>
            </a:prstGeom>
            <a:gradFill flip="none" rotWithShape="1">
              <a:gsLst>
                <a:gs pos="100000">
                  <a:schemeClr val="bg1">
                    <a:alpha val="0"/>
                  </a:schemeClr>
                </a:gs>
                <a:gs pos="0">
                  <a:schemeClr val="bg1">
                    <a:lumMod val="95000"/>
                    <a:alpha val="0"/>
                  </a:schemeClr>
                </a:gs>
                <a:gs pos="47000">
                  <a:schemeClr val="bg1">
                    <a:lumMod val="8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 userDrawn="1"/>
          </p:nvSpPr>
          <p:spPr bwMode="auto">
            <a:xfrm>
              <a:off x="468314" y="2816932"/>
              <a:ext cx="2606725" cy="1213910"/>
            </a:xfrm>
            <a:prstGeom prst="rect">
              <a:avLst/>
            </a:prstGeom>
            <a:gradFill flip="none" rotWithShape="1">
              <a:gsLst>
                <a:gs pos="100000">
                  <a:schemeClr val="bg1">
                    <a:alpha val="0"/>
                  </a:schemeClr>
                </a:gs>
                <a:gs pos="0">
                  <a:schemeClr val="bg1">
                    <a:lumMod val="95000"/>
                    <a:alpha val="0"/>
                  </a:schemeClr>
                </a:gs>
                <a:gs pos="47000">
                  <a:schemeClr val="bg1">
                    <a:lumMod val="8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algn="ctr"/>
              <a:endParaRPr lang="zh-CN" altLang="en-US"/>
            </a:p>
          </p:txBody>
        </p:sp>
        <p:sp>
          <p:nvSpPr>
            <p:cNvPr id="10" name="左大括号 9"/>
            <p:cNvSpPr/>
            <p:nvPr userDrawn="1"/>
          </p:nvSpPr>
          <p:spPr>
            <a:xfrm rot="5400000">
              <a:off x="4342637" y="-2230069"/>
              <a:ext cx="454784" cy="8203433"/>
            </a:xfrm>
            <a:prstGeom prst="leftBrace">
              <a:avLst>
                <a:gd name="adj1" fmla="val 51183"/>
                <a:gd name="adj2" fmla="val 50000"/>
              </a:avLst>
            </a:prstGeom>
            <a:ln w="31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/>
            <p:cNvSpPr/>
            <p:nvPr userDrawn="1"/>
          </p:nvSpPr>
          <p:spPr bwMode="auto">
            <a:xfrm>
              <a:off x="468313" y="2564904"/>
              <a:ext cx="504056" cy="50405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1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12" name="椭圆 11"/>
            <p:cNvSpPr/>
            <p:nvPr userDrawn="1"/>
          </p:nvSpPr>
          <p:spPr bwMode="auto">
            <a:xfrm>
              <a:off x="1169203" y="2564904"/>
              <a:ext cx="504056" cy="50405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2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13" name="椭圆 12"/>
            <p:cNvSpPr/>
            <p:nvPr userDrawn="1"/>
          </p:nvSpPr>
          <p:spPr bwMode="auto">
            <a:xfrm>
              <a:off x="1870093" y="2564904"/>
              <a:ext cx="504056" cy="504056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3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14" name="椭圆 13"/>
            <p:cNvSpPr/>
            <p:nvPr userDrawn="1"/>
          </p:nvSpPr>
          <p:spPr bwMode="auto">
            <a:xfrm>
              <a:off x="2570983" y="2564904"/>
              <a:ext cx="504056" cy="504056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4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15" name="椭圆 14"/>
            <p:cNvSpPr/>
            <p:nvPr userDrawn="1"/>
          </p:nvSpPr>
          <p:spPr bwMode="auto">
            <a:xfrm>
              <a:off x="3271873" y="2564904"/>
              <a:ext cx="504056" cy="50405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5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16" name="椭圆 15"/>
            <p:cNvSpPr/>
            <p:nvPr userDrawn="1"/>
          </p:nvSpPr>
          <p:spPr bwMode="auto">
            <a:xfrm>
              <a:off x="3972763" y="2564904"/>
              <a:ext cx="504056" cy="50405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6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17" name="椭圆 16"/>
            <p:cNvSpPr/>
            <p:nvPr userDrawn="1"/>
          </p:nvSpPr>
          <p:spPr bwMode="auto">
            <a:xfrm>
              <a:off x="4673653" y="2564904"/>
              <a:ext cx="504056" cy="50405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7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18" name="椭圆 17"/>
            <p:cNvSpPr/>
            <p:nvPr userDrawn="1"/>
          </p:nvSpPr>
          <p:spPr bwMode="auto">
            <a:xfrm>
              <a:off x="5374543" y="2564904"/>
              <a:ext cx="504056" cy="50405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8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19" name="椭圆 18"/>
            <p:cNvSpPr/>
            <p:nvPr userDrawn="1"/>
          </p:nvSpPr>
          <p:spPr bwMode="auto">
            <a:xfrm>
              <a:off x="6075433" y="2564904"/>
              <a:ext cx="504056" cy="504056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9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20" name="椭圆 19"/>
            <p:cNvSpPr/>
            <p:nvPr userDrawn="1"/>
          </p:nvSpPr>
          <p:spPr bwMode="auto">
            <a:xfrm>
              <a:off x="6776323" y="2564904"/>
              <a:ext cx="504056" cy="50405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10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21" name="椭圆 20"/>
            <p:cNvSpPr/>
            <p:nvPr userDrawn="1"/>
          </p:nvSpPr>
          <p:spPr bwMode="auto">
            <a:xfrm>
              <a:off x="7477213" y="2564904"/>
              <a:ext cx="504056" cy="504056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11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22" name="椭圆 21"/>
            <p:cNvSpPr/>
            <p:nvPr userDrawn="1"/>
          </p:nvSpPr>
          <p:spPr bwMode="auto">
            <a:xfrm>
              <a:off x="8178102" y="2564904"/>
              <a:ext cx="504056" cy="504056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11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23" name="左大括号 22"/>
            <p:cNvSpPr/>
            <p:nvPr userDrawn="1"/>
          </p:nvSpPr>
          <p:spPr>
            <a:xfrm rot="5400000">
              <a:off x="3736233" y="1751874"/>
              <a:ext cx="227392" cy="1156110"/>
            </a:xfrm>
            <a:prstGeom prst="leftBrace">
              <a:avLst>
                <a:gd name="adj1" fmla="val 51183"/>
                <a:gd name="adj2" fmla="val 50000"/>
              </a:avLst>
            </a:prstGeom>
            <a:ln w="31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左大括号 23"/>
            <p:cNvSpPr/>
            <p:nvPr userDrawn="1"/>
          </p:nvSpPr>
          <p:spPr>
            <a:xfrm rot="5400000">
              <a:off x="5887737" y="1050984"/>
              <a:ext cx="227392" cy="2557890"/>
            </a:xfrm>
            <a:prstGeom prst="leftBrace">
              <a:avLst>
                <a:gd name="adj1" fmla="val 51183"/>
                <a:gd name="adj2" fmla="val 50000"/>
              </a:avLst>
            </a:prstGeom>
            <a:ln w="31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左大括号 24"/>
            <p:cNvSpPr/>
            <p:nvPr userDrawn="1"/>
          </p:nvSpPr>
          <p:spPr>
            <a:xfrm rot="5400000">
              <a:off x="7941572" y="1751874"/>
              <a:ext cx="227392" cy="1156110"/>
            </a:xfrm>
            <a:prstGeom prst="leftBrace">
              <a:avLst>
                <a:gd name="adj1" fmla="val 51183"/>
                <a:gd name="adj2" fmla="val 50000"/>
              </a:avLst>
            </a:prstGeom>
            <a:ln w="31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左大括号 25"/>
            <p:cNvSpPr/>
            <p:nvPr userDrawn="1"/>
          </p:nvSpPr>
          <p:spPr>
            <a:xfrm rot="5400000">
              <a:off x="1605452" y="1079093"/>
              <a:ext cx="227392" cy="2501673"/>
            </a:xfrm>
            <a:prstGeom prst="leftBrace">
              <a:avLst>
                <a:gd name="adj1" fmla="val 51183"/>
                <a:gd name="adj2" fmla="val 50000"/>
              </a:avLst>
            </a:prstGeom>
            <a:ln w="31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左大括号 26"/>
            <p:cNvSpPr/>
            <p:nvPr userDrawn="1"/>
          </p:nvSpPr>
          <p:spPr>
            <a:xfrm rot="5400000" flipH="1">
              <a:off x="4342828" y="632797"/>
              <a:ext cx="415982" cy="8165010"/>
            </a:xfrm>
            <a:prstGeom prst="leftBrace">
              <a:avLst>
                <a:gd name="adj1" fmla="val 51183"/>
                <a:gd name="adj2" fmla="val 50000"/>
              </a:avLst>
            </a:prstGeom>
            <a:ln w="31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内容占位符 4"/>
            <p:cNvSpPr txBox="1"/>
            <p:nvPr userDrawn="1"/>
          </p:nvSpPr>
          <p:spPr>
            <a:xfrm>
              <a:off x="468314" y="5008949"/>
              <a:ext cx="8203430" cy="425203"/>
            </a:xfrm>
            <a:prstGeom prst="rect">
              <a:avLst/>
            </a:prstGeom>
            <a:noFill/>
          </p:spPr>
          <p:txBody>
            <a:bodyPr vert="horz" lIns="91440" tIns="45720" rIns="91440" bIns="45720" rtlCol="0" anchor="ctr">
              <a:noAutofit/>
            </a:bodyPr>
            <a:lstStyle>
              <a:lvl1pPr marL="342900" indent="-342900" algn="l" defTabSz="914400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j-ea"/>
                  <a:ea typeface="+mj-ea"/>
                  <a:cs typeface="+mn-cs"/>
                </a:defRPr>
              </a:lvl1pPr>
              <a:lvl2pPr marL="742950" indent="-285750" algn="l" defTabSz="914400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–"/>
                <a:defRPr sz="1600" kern="1200">
                  <a:solidFill>
                    <a:schemeClr val="tx1"/>
                  </a:solidFill>
                  <a:latin typeface="+mj-ea"/>
                  <a:ea typeface="+mj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j-ea"/>
                  <a:ea typeface="+mj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–"/>
                <a:defRPr sz="1200" kern="1200">
                  <a:solidFill>
                    <a:schemeClr val="tx1"/>
                  </a:solidFill>
                  <a:latin typeface="+mj-ea"/>
                  <a:ea typeface="+mj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»"/>
                <a:defRPr sz="1200" kern="1200">
                  <a:solidFill>
                    <a:schemeClr val="tx1"/>
                  </a:solidFill>
                  <a:latin typeface="+mj-ea"/>
                  <a:ea typeface="+mj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en-US" altLang="zh-CN" sz="1600" b="1" dirty="0">
                  <a:solidFill>
                    <a:schemeClr val="bg1">
                      <a:lumMod val="50000"/>
                    </a:schemeClr>
                  </a:solidFill>
                </a:rPr>
                <a:t>2003</a:t>
              </a:r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</a:rPr>
                <a:t>版本配色方案 </a:t>
              </a:r>
              <a:r>
                <a:rPr lang="zh-CN" altLang="en-US" sz="1600" b="1" dirty="0" smtClean="0"/>
                <a:t>（</a:t>
              </a:r>
              <a:r>
                <a:rPr lang="en-US" altLang="zh-CN" sz="1600" b="1" dirty="0" smtClean="0"/>
                <a:t>8</a:t>
              </a:r>
              <a:r>
                <a:rPr lang="zh-CN" altLang="en-US" sz="1600" b="1" dirty="0" smtClean="0"/>
                <a:t>种配色）</a:t>
              </a:r>
              <a:endParaRPr lang="zh-CN" altLang="en-US" sz="1600" b="1" dirty="0"/>
            </a:p>
          </p:txBody>
        </p:sp>
        <p:sp>
          <p:nvSpPr>
            <p:cNvPr id="29" name="TextBox 28"/>
            <p:cNvSpPr txBox="1"/>
            <p:nvPr userDrawn="1"/>
          </p:nvSpPr>
          <p:spPr>
            <a:xfrm>
              <a:off x="1305749" y="1916832"/>
              <a:ext cx="889987" cy="2779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050" dirty="0" smtClean="0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文字与背景</a:t>
              </a:r>
              <a:endParaRPr lang="zh-CN" altLang="en-US" sz="1050" dirty="0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30" name="TextBox 29"/>
            <p:cNvSpPr txBox="1"/>
            <p:nvPr userDrawn="1"/>
          </p:nvSpPr>
          <p:spPr>
            <a:xfrm>
              <a:off x="3555616" y="1916832"/>
              <a:ext cx="588624" cy="2695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050" dirty="0" smtClean="0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常用色</a:t>
              </a:r>
              <a:endParaRPr lang="zh-CN" altLang="en-US" sz="1050" dirty="0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31" name="TextBox 30"/>
            <p:cNvSpPr txBox="1"/>
            <p:nvPr userDrawn="1"/>
          </p:nvSpPr>
          <p:spPr>
            <a:xfrm>
              <a:off x="5707120" y="1916832"/>
              <a:ext cx="588624" cy="2695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050" dirty="0" smtClean="0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辅助色</a:t>
              </a:r>
              <a:endParaRPr lang="zh-CN" altLang="en-US" sz="1050" dirty="0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32" name="TextBox 31"/>
            <p:cNvSpPr txBox="1"/>
            <p:nvPr userDrawn="1"/>
          </p:nvSpPr>
          <p:spPr>
            <a:xfrm>
              <a:off x="7729242" y="1916832"/>
              <a:ext cx="588623" cy="2695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050" dirty="0" smtClean="0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链接色</a:t>
              </a:r>
              <a:endParaRPr lang="zh-CN" altLang="en-US" sz="1050" dirty="0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cxnSp>
          <p:nvCxnSpPr>
            <p:cNvPr id="33" name="直接连接符 32"/>
            <p:cNvCxnSpPr>
              <a:stCxn id="11" idx="7"/>
              <a:endCxn id="11" idx="3"/>
            </p:cNvCxnSpPr>
            <p:nvPr userDrawn="1"/>
          </p:nvCxnSpPr>
          <p:spPr>
            <a:xfrm flipH="1">
              <a:off x="542130" y="2638721"/>
              <a:ext cx="356422" cy="356422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>
              <a:stCxn id="12" idx="7"/>
              <a:endCxn id="12" idx="3"/>
            </p:cNvCxnSpPr>
            <p:nvPr userDrawn="1"/>
          </p:nvCxnSpPr>
          <p:spPr>
            <a:xfrm flipH="1">
              <a:off x="1243020" y="2638721"/>
              <a:ext cx="356422" cy="356422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>
              <a:stCxn id="13" idx="7"/>
              <a:endCxn id="13" idx="3"/>
            </p:cNvCxnSpPr>
            <p:nvPr userDrawn="1"/>
          </p:nvCxnSpPr>
          <p:spPr>
            <a:xfrm flipH="1">
              <a:off x="1943910" y="2638721"/>
              <a:ext cx="356422" cy="356422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>
              <a:stCxn id="14" idx="7"/>
              <a:endCxn id="14" idx="3"/>
            </p:cNvCxnSpPr>
            <p:nvPr userDrawn="1"/>
          </p:nvCxnSpPr>
          <p:spPr>
            <a:xfrm flipH="1">
              <a:off x="2644800" y="2638721"/>
              <a:ext cx="356422" cy="356422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37" name="TextBox 36"/>
            <p:cNvSpPr txBox="1"/>
            <p:nvPr userDrawn="1"/>
          </p:nvSpPr>
          <p:spPr>
            <a:xfrm>
              <a:off x="468314" y="5610918"/>
              <a:ext cx="8203430" cy="770832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7843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txBody>
            <a:bodyPr wrap="square" rtlCol="0" anchor="ctr">
              <a:no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800" b="1" dirty="0" smtClean="0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配色规则：</a:t>
              </a:r>
              <a:endParaRPr lang="en-US" altLang="zh-CN" sz="800" b="1" dirty="0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通常情况下，配色方案中的前四种色彩文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——</a:t>
              </a: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“字与背景色”固定不变。常用色与模板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/logo/</a:t>
              </a: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企业标准色一致。辅助色可根据对色彩的要求进行调整。链接色可根据需求进行调整。</a:t>
              </a:r>
              <a:endParaRPr lang="en-US" altLang="zh-CN" sz="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配色方案的编辑：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07/10</a:t>
              </a: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版本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【</a:t>
              </a: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设计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】</a:t>
              </a: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菜单中 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Wingdings" panose="05000000000000000000" pitchFamily="2" charset="2"/>
                </a:rPr>
                <a:t>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【</a:t>
              </a: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颜色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】</a:t>
              </a: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中修改；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03</a:t>
              </a: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版本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【</a:t>
              </a: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格式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】</a:t>
              </a: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菜单</a:t>
              </a:r>
              <a:r>
                <a:rPr lang="en-US" altLang="zh-CN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Wingdings" panose="05000000000000000000" pitchFamily="2" charset="2"/>
                </a:rPr>
                <a:t>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【</a:t>
              </a: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幻灯片设计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】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Wingdings" panose="05000000000000000000" pitchFamily="2" charset="2"/>
                </a:rPr>
                <a:t> </a:t>
              </a:r>
              <a:r>
                <a:rPr lang="en-US" altLang="zh-CN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Wingdings" panose="05000000000000000000" pitchFamily="2" charset="2"/>
                </a:rPr>
                <a:t>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【</a:t>
              </a: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配色方案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】</a:t>
              </a:r>
              <a:endParaRPr lang="zh-CN" altLang="en-US" sz="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38" name="椭圆 37"/>
            <p:cNvSpPr/>
            <p:nvPr userDrawn="1"/>
          </p:nvSpPr>
          <p:spPr bwMode="auto">
            <a:xfrm>
              <a:off x="468313" y="3778814"/>
              <a:ext cx="504056" cy="50405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1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39" name="椭圆 38"/>
            <p:cNvSpPr/>
            <p:nvPr userDrawn="1"/>
          </p:nvSpPr>
          <p:spPr bwMode="auto">
            <a:xfrm>
              <a:off x="1169203" y="3778814"/>
              <a:ext cx="504056" cy="50405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2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40" name="椭圆 39"/>
            <p:cNvSpPr/>
            <p:nvPr userDrawn="1"/>
          </p:nvSpPr>
          <p:spPr bwMode="auto">
            <a:xfrm>
              <a:off x="1870093" y="3778814"/>
              <a:ext cx="504056" cy="504056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3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41" name="椭圆 40"/>
            <p:cNvSpPr/>
            <p:nvPr userDrawn="1"/>
          </p:nvSpPr>
          <p:spPr bwMode="auto">
            <a:xfrm>
              <a:off x="2570983" y="3778814"/>
              <a:ext cx="504056" cy="504056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4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cxnSp>
          <p:nvCxnSpPr>
            <p:cNvPr id="42" name="直接连接符 41"/>
            <p:cNvCxnSpPr>
              <a:stCxn id="38" idx="7"/>
              <a:endCxn id="38" idx="3"/>
            </p:cNvCxnSpPr>
            <p:nvPr userDrawn="1"/>
          </p:nvCxnSpPr>
          <p:spPr>
            <a:xfrm flipH="1">
              <a:off x="542130" y="3852631"/>
              <a:ext cx="356422" cy="356422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>
              <a:stCxn id="39" idx="7"/>
              <a:endCxn id="39" idx="3"/>
            </p:cNvCxnSpPr>
            <p:nvPr userDrawn="1"/>
          </p:nvCxnSpPr>
          <p:spPr>
            <a:xfrm flipH="1">
              <a:off x="1243020" y="3852631"/>
              <a:ext cx="356422" cy="356422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>
              <a:stCxn id="40" idx="7"/>
              <a:endCxn id="40" idx="3"/>
            </p:cNvCxnSpPr>
            <p:nvPr userDrawn="1"/>
          </p:nvCxnSpPr>
          <p:spPr>
            <a:xfrm flipH="1">
              <a:off x="1943910" y="3852631"/>
              <a:ext cx="356422" cy="356422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>
              <a:stCxn id="41" idx="7"/>
              <a:endCxn id="41" idx="3"/>
            </p:cNvCxnSpPr>
            <p:nvPr userDrawn="1"/>
          </p:nvCxnSpPr>
          <p:spPr>
            <a:xfrm flipH="1">
              <a:off x="2644800" y="3852631"/>
              <a:ext cx="356422" cy="356422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46" name="椭圆 45"/>
            <p:cNvSpPr/>
            <p:nvPr userDrawn="1"/>
          </p:nvSpPr>
          <p:spPr bwMode="auto">
            <a:xfrm>
              <a:off x="3271873" y="3778814"/>
              <a:ext cx="504056" cy="50405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5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47" name="椭圆 46"/>
            <p:cNvSpPr/>
            <p:nvPr userDrawn="1"/>
          </p:nvSpPr>
          <p:spPr bwMode="auto">
            <a:xfrm>
              <a:off x="3972763" y="3778814"/>
              <a:ext cx="504056" cy="50405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6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48" name="椭圆 47"/>
            <p:cNvSpPr/>
            <p:nvPr userDrawn="1"/>
          </p:nvSpPr>
          <p:spPr bwMode="auto">
            <a:xfrm>
              <a:off x="7477213" y="3778814"/>
              <a:ext cx="504056" cy="504056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7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49" name="椭圆 48"/>
            <p:cNvSpPr/>
            <p:nvPr userDrawn="1"/>
          </p:nvSpPr>
          <p:spPr bwMode="auto">
            <a:xfrm>
              <a:off x="8178102" y="3778814"/>
              <a:ext cx="504056" cy="504056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8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59" name="内容占位符 4"/>
            <p:cNvSpPr txBox="1"/>
            <p:nvPr userDrawn="1"/>
          </p:nvSpPr>
          <p:spPr>
            <a:xfrm>
              <a:off x="468314" y="1227376"/>
              <a:ext cx="8203430" cy="425203"/>
            </a:xfrm>
            <a:prstGeom prst="rect">
              <a:avLst/>
            </a:prstGeom>
            <a:noFill/>
          </p:spPr>
          <p:txBody>
            <a:bodyPr vert="horz" lIns="91440" tIns="45720" rIns="91440" bIns="45720" rtlCol="0" anchor="ctr">
              <a:noAutofit/>
            </a:bodyPr>
            <a:lstStyle>
              <a:lvl1pPr marL="342900" indent="-342900" algn="l" defTabSz="914400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j-ea"/>
                  <a:ea typeface="+mj-ea"/>
                  <a:cs typeface="+mn-cs"/>
                </a:defRPr>
              </a:lvl1pPr>
              <a:lvl2pPr marL="742950" indent="-285750" algn="l" defTabSz="914400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–"/>
                <a:defRPr sz="1600" kern="1200">
                  <a:solidFill>
                    <a:schemeClr val="tx1"/>
                  </a:solidFill>
                  <a:latin typeface="+mj-ea"/>
                  <a:ea typeface="+mj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j-ea"/>
                  <a:ea typeface="+mj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–"/>
                <a:defRPr sz="1200" kern="1200">
                  <a:solidFill>
                    <a:schemeClr val="tx1"/>
                  </a:solidFill>
                  <a:latin typeface="+mj-ea"/>
                  <a:ea typeface="+mj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»"/>
                <a:defRPr sz="1200" kern="1200">
                  <a:solidFill>
                    <a:schemeClr val="tx1"/>
                  </a:solidFill>
                  <a:latin typeface="+mj-ea"/>
                  <a:ea typeface="+mj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altLang="zh-CN" sz="1600" b="1" dirty="0" smtClean="0">
                  <a:solidFill>
                    <a:schemeClr val="bg1">
                      <a:lumMod val="50000"/>
                    </a:schemeClr>
                  </a:solidFill>
                </a:rPr>
                <a:t>2007/2010</a:t>
              </a:r>
              <a:r>
                <a:rPr lang="zh-CN" altLang="en-US" sz="1600" b="1" dirty="0" smtClean="0">
                  <a:solidFill>
                    <a:schemeClr val="bg1">
                      <a:lumMod val="50000"/>
                    </a:schemeClr>
                  </a:solidFill>
                </a:rPr>
                <a:t>版本配色方案 </a:t>
              </a:r>
              <a:r>
                <a:rPr lang="zh-CN" altLang="en-US" sz="1600" b="1" dirty="0" smtClean="0"/>
                <a:t>（</a:t>
              </a:r>
              <a:r>
                <a:rPr lang="en-US" altLang="zh-CN" sz="1600" b="1" dirty="0" smtClean="0"/>
                <a:t>12</a:t>
              </a:r>
              <a:r>
                <a:rPr lang="zh-CN" altLang="en-US" sz="1600" b="1" dirty="0" smtClean="0"/>
                <a:t>种配色）</a:t>
              </a:r>
              <a:endParaRPr lang="zh-CN" altLang="en-US" sz="1600" b="1" dirty="0"/>
            </a:p>
          </p:txBody>
        </p:sp>
      </p:grp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5" descr="E:\PAT 图片资源素材\PPT\待整理\精选 0 (13)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59" r="33230" b="6423"/>
          <a:stretch>
            <a:fillRect/>
          </a:stretch>
        </p:blipFill>
        <p:spPr bwMode="auto">
          <a:xfrm>
            <a:off x="3851921" y="0"/>
            <a:ext cx="529208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11"/>
          <p:cNvSpPr>
            <a:spLocks noChangeArrowheads="1"/>
          </p:cNvSpPr>
          <p:nvPr userDrawn="1"/>
        </p:nvSpPr>
        <p:spPr bwMode="auto">
          <a:xfrm>
            <a:off x="0" y="6864350"/>
            <a:ext cx="9144000" cy="287338"/>
          </a:xfrm>
          <a:prstGeom prst="rect">
            <a:avLst/>
          </a:prstGeom>
          <a:solidFill>
            <a:srgbClr val="BBBFC3">
              <a:alpha val="0"/>
            </a:srgbClr>
          </a:solidFill>
          <a:ln>
            <a:noFill/>
          </a:ln>
        </p:spPr>
        <p:txBody>
          <a:bodyPr anchor="ctr"/>
          <a:lstStyle/>
          <a:p>
            <a:pPr marL="622300" lvl="0"/>
            <a:endParaRPr lang="en-US" altLang="zh-CN" sz="1100" dirty="0">
              <a:cs typeface="Arial" panose="020B0604020202020204" pitchFamily="34" charset="0"/>
            </a:endParaRPr>
          </a:p>
        </p:txBody>
      </p:sp>
      <p:sp>
        <p:nvSpPr>
          <p:cNvPr id="13" name="Rectangle 5">
            <a:hlinkClick r:id="rId3"/>
          </p:cNvPr>
          <p:cNvSpPr txBox="1">
            <a:spLocks noChangeArrowheads="1"/>
          </p:cNvSpPr>
          <p:nvPr userDrawn="1"/>
        </p:nvSpPr>
        <p:spPr bwMode="gray">
          <a:xfrm>
            <a:off x="0" y="5886624"/>
            <a:ext cx="3347367" cy="504527"/>
          </a:xfrm>
          <a:prstGeom prst="rect">
            <a:avLst/>
          </a:prstGeom>
          <a:gradFill flip="none" rotWithShape="1">
            <a:gsLst>
              <a:gs pos="100000">
                <a:schemeClr val="bg1">
                  <a:alpha val="49000"/>
                </a:schemeClr>
              </a:gs>
              <a:gs pos="0">
                <a:schemeClr val="accent1">
                  <a:tint val="23500"/>
                  <a:satMod val="160000"/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txBody>
          <a:bodyPr lIns="144000" rIns="50400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9pPr>
          </a:lstStyle>
          <a:p>
            <a:pPr marL="355600" indent="0" algn="l" eaLnBrk="0" hangingPunct="0">
              <a:spcBef>
                <a:spcPct val="60000"/>
              </a:spcBef>
              <a:buClr>
                <a:schemeClr val="accent1"/>
              </a:buClr>
            </a:pPr>
            <a:endParaRPr lang="en-US" altLang="zh-CN" sz="1400" i="1" noProof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85750"/>
            <a:ext cx="77724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657350"/>
            <a:ext cx="381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57350"/>
            <a:ext cx="381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418D58E-1A28-429D-A6C0-1EC971DF880D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85800" y="285750"/>
            <a:ext cx="77724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85800" y="1657350"/>
            <a:ext cx="38100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57350"/>
            <a:ext cx="38100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85800" y="3790950"/>
            <a:ext cx="38100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3790950"/>
            <a:ext cx="38100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418D58E-1A28-429D-A6C0-1EC971DF880D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标题和文本在内容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7886700" cy="20986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8650" y="4076700"/>
            <a:ext cx="7886700" cy="21002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>
              <a:buNone/>
            </a:pPr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>
              <a:buNone/>
            </a:pPr>
            <a:fld id="{9A0DB2DC-4C9A-4742-B13C-FB6460FD3503}" type="slidenum">
              <a:rPr lang="en-US" dirty="0">
                <a:latin typeface="Times New Roman" panose="02020603050405020304" pitchFamily="18" charset="0"/>
              </a:rPr>
            </a:fld>
            <a:endParaRPr 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>
              <a:buNone/>
            </a:pPr>
            <a:fld id="{BB962C8B-B14F-4D97-AF65-F5344CB8AC3E}" type="datetime1">
              <a:rPr lang="en-US" dirty="0">
                <a:latin typeface="Times New Roman" panose="02020603050405020304" pitchFamily="18" charset="0"/>
              </a:rPr>
            </a:fld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>
              <a:buNone/>
            </a:pPr>
            <a:fld id="{9A0DB2DC-4C9A-4742-B13C-FB6460FD3503}" type="slidenum">
              <a:rPr lang="en-US" dirty="0">
                <a:latin typeface="Times New Roman" panose="02020603050405020304" pitchFamily="18" charset="0"/>
              </a:rPr>
            </a:fld>
            <a:endParaRPr 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2.png"/><Relationship Id="rId13" Type="http://schemas.openxmlformats.org/officeDocument/2006/relationships/image" Target="../media/image3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5" descr="E:\PAT 图片资源素材\PPT\待整理\精选 0 (13).jpg"/>
          <p:cNvPicPr>
            <a:picLocks noChangeAspect="1" noChangeArrowheads="1"/>
          </p:cNvPicPr>
          <p:nvPr userDrawn="1"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74" r="20205" b="3263"/>
          <a:stretch>
            <a:fillRect/>
          </a:stretch>
        </p:blipFill>
        <p:spPr bwMode="auto">
          <a:xfrm rot="10800000" flipH="1" flipV="1">
            <a:off x="5353149" y="765173"/>
            <a:ext cx="3790851" cy="609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梯形 34"/>
          <p:cNvSpPr/>
          <p:nvPr userDrawn="1"/>
        </p:nvSpPr>
        <p:spPr bwMode="auto">
          <a:xfrm rot="16200000">
            <a:off x="4178903" y="-4199923"/>
            <a:ext cx="786193" cy="9144000"/>
          </a:xfrm>
          <a:prstGeom prst="trapezoid">
            <a:avLst>
              <a:gd name="adj" fmla="val 0"/>
            </a:avLst>
          </a:prstGeom>
          <a:gradFill flip="none" rotWithShape="1">
            <a:gsLst>
              <a:gs pos="73000">
                <a:srgbClr val="FFFF00">
                  <a:lumMod val="0"/>
                  <a:lumOff val="100000"/>
                  <a:alpha val="47000"/>
                </a:srgbClr>
              </a:gs>
              <a:gs pos="90000">
                <a:srgbClr val="039ABD">
                  <a:alpha val="12000"/>
                </a:srgbClr>
              </a:gs>
              <a:gs pos="100000">
                <a:srgbClr val="92D050">
                  <a:lumMod val="0"/>
                  <a:alpha val="0"/>
                </a:srgbClr>
              </a:gs>
              <a:gs pos="47000">
                <a:srgbClr val="92D050">
                  <a:alpha val="0"/>
                </a:srgbClr>
              </a:gs>
              <a:gs pos="9000">
                <a:srgbClr val="FFC000">
                  <a:alpha val="59000"/>
                </a:srgbClr>
              </a:gs>
            </a:gsLst>
            <a:lin ang="5400000" scaled="0"/>
            <a:tileRect/>
          </a:gradFill>
          <a:ln>
            <a:noFill/>
          </a:ln>
          <a:effectLst>
            <a:outerShdw blurRad="381000" dist="1143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 userDrawn="1"/>
        </p:nvSpPr>
        <p:spPr bwMode="auto">
          <a:xfrm>
            <a:off x="0" y="765175"/>
            <a:ext cx="8675688" cy="5616575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algn="ctr"/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453188"/>
            <a:ext cx="2895600" cy="268287"/>
          </a:xfrm>
          <a:prstGeom prst="rect">
            <a:avLst/>
          </a:prstGeom>
          <a:solidFill>
            <a:srgbClr val="FFFFFF">
              <a:alpha val="69804"/>
            </a:srgbClr>
          </a:solidFill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"/>
          </p:nvPr>
        </p:nvSpPr>
        <p:spPr>
          <a:xfrm flipH="1">
            <a:off x="468313" y="981076"/>
            <a:ext cx="8207375" cy="54006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0" name="矩形 11"/>
          <p:cNvSpPr>
            <a:spLocks noChangeArrowheads="1"/>
          </p:cNvSpPr>
          <p:nvPr userDrawn="1"/>
        </p:nvSpPr>
        <p:spPr bwMode="auto">
          <a:xfrm>
            <a:off x="0" y="6864350"/>
            <a:ext cx="9144000" cy="287338"/>
          </a:xfrm>
          <a:prstGeom prst="rect">
            <a:avLst/>
          </a:prstGeom>
          <a:solidFill>
            <a:srgbClr val="BBBFC3">
              <a:alpha val="0"/>
            </a:srgbClr>
          </a:solidFill>
          <a:ln>
            <a:noFill/>
          </a:ln>
        </p:spPr>
        <p:txBody>
          <a:bodyPr anchor="ctr"/>
          <a:lstStyle/>
          <a:p>
            <a:pPr marL="622300"/>
            <a:endParaRPr lang="en-US" altLang="zh-CN" sz="11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2"/>
          </p:nvPr>
        </p:nvSpPr>
        <p:spPr>
          <a:xfrm>
            <a:off x="6530976" y="6453188"/>
            <a:ext cx="2133600" cy="268287"/>
          </a:xfrm>
          <a:prstGeom prst="rect">
            <a:avLst/>
          </a:prstGeom>
          <a:solidFill>
            <a:srgbClr val="FFFFFF">
              <a:alpha val="69804"/>
            </a:srgbClr>
          </a:solidFill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68313" y="6453188"/>
            <a:ext cx="1007343" cy="268287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smtClean="0"/>
              <a:t>P</a:t>
            </a:r>
            <a:fld id="{62DCC93C-90AC-48A1-9D9E-CBAB17A91522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27" name="Picture 2"/>
          <p:cNvPicPr>
            <a:picLocks noChangeAspect="1" noChangeArrowheads="1"/>
          </p:cNvPicPr>
          <p:nvPr userDrawn="1"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7838" y="6381750"/>
            <a:ext cx="8188325" cy="115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5" name="Picture 2"/>
          <p:cNvPicPr>
            <a:picLocks noChangeAspect="1" noChangeArrowheads="1"/>
          </p:cNvPicPr>
          <p:nvPr userDrawn="1"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765968"/>
            <a:ext cx="8666164" cy="122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标题占位符 12"/>
          <p:cNvSpPr>
            <a:spLocks noGrp="1"/>
          </p:cNvSpPr>
          <p:nvPr>
            <p:ph type="title"/>
          </p:nvPr>
        </p:nvSpPr>
        <p:spPr>
          <a:xfrm>
            <a:off x="477838" y="188641"/>
            <a:ext cx="7078190" cy="349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spcBef>
          <a:spcPct val="0"/>
        </a:spcBef>
        <a:buNone/>
        <a:defRPr sz="28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j-ea"/>
          <a:cs typeface="+mn-cs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j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j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+mn-lt"/>
          <a:ea typeface="+mj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anose="020B0604020202020204" pitchFamily="34" charset="0"/>
        <a:buChar char="»"/>
        <a:defRPr sz="1200" kern="1200">
          <a:solidFill>
            <a:schemeClr val="tx1"/>
          </a:solidFill>
          <a:latin typeface="+mn-lt"/>
          <a:ea typeface="+mj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wmf"/><Relationship Id="rId1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wmf"/><Relationship Id="rId1" Type="http://schemas.openxmlformats.org/officeDocument/2006/relationships/oleObject" Target="../embeddings/oleObject2.bin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wmf"/><Relationship Id="rId1" Type="http://schemas.openxmlformats.org/officeDocument/2006/relationships/oleObject" Target="../embeddings/oleObject3.bin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wmf"/><Relationship Id="rId1" Type="http://schemas.openxmlformats.org/officeDocument/2006/relationships/oleObject" Target="../embeddings/oleObject4.bin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wmf"/><Relationship Id="rId1" Type="http://schemas.openxmlformats.org/officeDocument/2006/relationships/oleObject" Target="../embeddings/oleObject5.bin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wmf"/><Relationship Id="rId1" Type="http://schemas.openxmlformats.org/officeDocument/2006/relationships/oleObject" Target="../embeddings/oleObject6.bin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7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1.emf"/><Relationship Id="rId3" Type="http://schemas.openxmlformats.org/officeDocument/2006/relationships/oleObject" Target="../embeddings/oleObject8.bin"/><Relationship Id="rId2" Type="http://schemas.openxmlformats.org/officeDocument/2006/relationships/image" Target="../media/image10.emf"/><Relationship Id="rId1" Type="http://schemas.openxmlformats.org/officeDocument/2006/relationships/oleObject" Target="../embeddings/oleObject7.bin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8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wmf"/><Relationship Id="rId1" Type="http://schemas.openxmlformats.org/officeDocument/2006/relationships/oleObject" Target="../embeddings/oleObject9.bin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26390" y="2209165"/>
            <a:ext cx="4479925" cy="639445"/>
          </a:xfrm>
        </p:spPr>
        <p:txBody>
          <a:bodyPr>
            <a:noAutofit/>
          </a:bodyPr>
          <a:lstStyle/>
          <a:p>
            <a:pPr marL="342900" lvl="0" indent="-342900" fontAlgn="base">
              <a:lnSpc>
                <a:spcPct val="110000"/>
              </a:lnSpc>
              <a:spcAft>
                <a:spcPct val="0"/>
              </a:spcAft>
            </a:pPr>
            <a:r>
              <a:rPr lang="zh-CN" altLang="en-US" sz="4000" b="0" u="none" kern="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面向对象程序设计</a:t>
            </a:r>
            <a:endParaRPr lang="zh-CN" altLang="en-US" sz="4000" b="0" u="none" kern="0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916940" y="3282950"/>
            <a:ext cx="4380865" cy="779145"/>
          </a:xfrm>
        </p:spPr>
        <p:txBody>
          <a:bodyPr>
            <a:noAutofit/>
          </a:bodyPr>
          <a:lstStyle/>
          <a:p>
            <a:r>
              <a:rPr lang="zh-CN" altLang="en-US" sz="2800" u="none" dirty="0" smtClean="0">
                <a:solidFill>
                  <a:srgbClr val="000000"/>
                </a:solidFill>
                <a:latin typeface="微软雅黑" panose="020B0503020204020204" pitchFamily="34" charset="-122"/>
              </a:rPr>
              <a:t>第</a:t>
            </a:r>
            <a:r>
              <a:rPr lang="en-US" altLang="zh-CN" sz="2800" u="none" dirty="0" smtClean="0">
                <a:solidFill>
                  <a:srgbClr val="000000"/>
                </a:solidFill>
                <a:latin typeface="微软雅黑" panose="020B0503020204020204" pitchFamily="34" charset="-122"/>
              </a:rPr>
              <a:t>13章 </a:t>
            </a:r>
            <a:r>
              <a:rPr lang="en-US" altLang="zh-CN" sz="2800" dirty="0" smtClean="0">
                <a:solidFill>
                  <a:srgbClr val="000000"/>
                </a:solidFill>
                <a:latin typeface="微软雅黑" panose="020B0503020204020204" pitchFamily="34" charset="-122"/>
                <a:sym typeface="+mn-ea"/>
              </a:rPr>
              <a:t>异常处理</a:t>
            </a:r>
            <a:endParaRPr lang="zh-CN" altLang="en-US" sz="2800" u="none" dirty="0" smtClean="0">
              <a:solidFill>
                <a:srgbClr val="000000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8172400" y="16351"/>
            <a:ext cx="648072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素材下载：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图表下载：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优秀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Word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www.1ppt.com/word/              Excel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www.1ppt.com/excel/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资料下载：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www.1ppt.com/ziliao/       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课件下载：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www.1ppt.com/kejian/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范文下载：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www.1ppt.com/fanwen/        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试卷下载：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www.1ppt.com/shiti/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教案下载：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www.1ppt.com/jiaoan/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endParaRPr lang="zh-CN" altLang="en-US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为什么</a:t>
            </a:r>
            <a:r>
              <a:rPr lang="zh-CN" altLang="en-US" dirty="0"/>
              <a:t>需要异常处理</a:t>
            </a:r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zh-CN" smtClean="0"/>
              <a:t>P</a:t>
            </a:r>
            <a:fld id="{62DCC93C-90AC-48A1-9D9E-CBAB17A91522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异常处理使得程序可以处理非预期的情景，并且继续正常的处理。</a:t>
            </a:r>
            <a:endParaRPr lang="zh-CN" altLang="zh-CN" dirty="0"/>
          </a:p>
          <a:p>
            <a:r>
              <a:rPr lang="zh-CN" altLang="zh-CN" dirty="0"/>
              <a:t>Java异常机制可以使程序中异常处理代码和正常业务代码分离，保证程序代码更加优雅，并提高程序健壮性。</a:t>
            </a:r>
            <a:endParaRPr lang="zh-CN" altLang="zh-CN" dirty="0"/>
          </a:p>
          <a:p>
            <a:r>
              <a:rPr lang="zh-CN" altLang="zh-CN" dirty="0"/>
              <a:t>方法运行时错误时会作为异常抛出（异常就是一个对象），调用方法者能截获异常进行处理，或</a:t>
            </a:r>
            <a:r>
              <a:rPr lang="zh-CN" altLang="zh-CN" dirty="0">
                <a:sym typeface="+mn-ea"/>
              </a:rPr>
              <a:t>者使程序能够体面地退出。</a:t>
            </a:r>
            <a:endParaRPr lang="en-US" altLang="zh-CN" dirty="0" smtClean="0"/>
          </a:p>
          <a:p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灯片编号占位符 2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sp>
        <p:nvSpPr>
          <p:cNvPr id="25603" name="Slide Number Placeholder 4"/>
          <p:cNvSpPr txBox="1">
            <a:spLocks noGrp="1"/>
          </p:cNvSpPr>
          <p:nvPr/>
        </p:nvSpPr>
        <p:spPr>
          <a:xfrm>
            <a:off x="6553200" y="639921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sp>
        <p:nvSpPr>
          <p:cNvPr id="25604" name="Rectangle 2"/>
          <p:cNvSpPr>
            <a:spLocks noGrp="1"/>
          </p:cNvSpPr>
          <p:nvPr>
            <p:ph type="title"/>
          </p:nvPr>
        </p:nvSpPr>
        <p:spPr>
          <a:xfrm>
            <a:off x="281940" y="1013460"/>
            <a:ext cx="8364220" cy="349250"/>
          </a:xfrm>
        </p:spPr>
        <p:txBody>
          <a:bodyPr vert="horz" wrap="square" lIns="92075" tIns="46038" rIns="92075" bIns="46038" anchor="ctr"/>
          <a:p>
            <a:r>
              <a:rPr lang="zh-CN" altLang="en-US" sz="32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程序清单</a:t>
            </a:r>
            <a:r>
              <a:rPr lang="en-US" altLang="zh-CN" sz="32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12-3</a:t>
            </a:r>
            <a:endParaRPr lang="en-US" altLang="zh-CN" sz="3200" b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5605" name="Rectangle 3"/>
          <p:cNvSpPr>
            <a:spLocks noGrp="1"/>
          </p:cNvSpPr>
          <p:nvPr>
            <p:ph type="body" idx="4294967295"/>
          </p:nvPr>
        </p:nvSpPr>
        <p:spPr>
          <a:xfrm>
            <a:off x="342900" y="1781175"/>
            <a:ext cx="8458200" cy="4888230"/>
          </a:xfrm>
          <a:noFill/>
        </p:spPr>
        <p:txBody>
          <a:bodyPr vert="horz" wrap="square" lIns="92075" tIns="46038" rIns="92075" bIns="46038" anchor="t">
            <a:normAutofit fontScale="25000"/>
          </a:bodyPr>
          <a:p>
            <a:pPr>
              <a:lnSpc>
                <a:spcPct val="90000"/>
              </a:lnSpc>
              <a:buNone/>
            </a:pPr>
            <a:r>
              <a:rPr lang="en-US" altLang="zh-CN" sz="4800" b="1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import java.util.Scanner;</a:t>
            </a:r>
            <a:endParaRPr lang="en-US" altLang="zh-CN" sz="48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4800" b="1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public class QuotientWithMethod { </a:t>
            </a:r>
            <a:endParaRPr lang="en-US" altLang="zh-CN" sz="48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4800" b="1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  public static int quotient(int number1, int number2) {</a:t>
            </a:r>
            <a:endParaRPr lang="en-US" altLang="zh-CN" sz="48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4800" b="1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    if (number2 == 0) {</a:t>
            </a:r>
            <a:endParaRPr lang="en-US" altLang="zh-CN" sz="48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4800" b="1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      System.out.println("Divisor cannot be zero");</a:t>
            </a:r>
            <a:endParaRPr lang="en-US" altLang="zh-CN" sz="48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4800" b="1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      System.exit(1);</a:t>
            </a:r>
            <a:endParaRPr lang="en-US" altLang="zh-CN" sz="48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4800" b="1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    }</a:t>
            </a:r>
            <a:endParaRPr lang="en-US" altLang="zh-CN" sz="48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endParaRPr lang="en-US" altLang="zh-CN" sz="48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4800" b="1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    return number1 / number2;</a:t>
            </a:r>
            <a:endParaRPr lang="en-US" altLang="zh-CN" sz="48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4800" b="1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  }</a:t>
            </a:r>
            <a:endParaRPr lang="en-US" altLang="zh-CN" sz="48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4800" b="1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  public static void main(String[] args) {</a:t>
            </a:r>
            <a:endParaRPr lang="en-US" altLang="zh-CN" sz="48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4800" b="1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    Scanner input = new Scanner(System.in);</a:t>
            </a:r>
            <a:endParaRPr lang="en-US" altLang="zh-CN" sz="48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4800" b="1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    </a:t>
            </a:r>
            <a:endParaRPr lang="en-US" altLang="zh-CN" sz="48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4800" b="1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    // Prompt the user to enter two integers</a:t>
            </a:r>
            <a:endParaRPr lang="en-US" altLang="zh-CN" sz="48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4800" b="1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    System.out.print("Enter two integers: ");</a:t>
            </a:r>
            <a:endParaRPr lang="en-US" altLang="zh-CN" sz="48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4800" b="1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    int number1 = input.nextInt();</a:t>
            </a:r>
            <a:endParaRPr lang="en-US" altLang="zh-CN" sz="48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4800" b="1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    int number2 = input.nextInt();</a:t>
            </a:r>
            <a:endParaRPr lang="en-US" altLang="zh-CN" sz="48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4800" b="1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    </a:t>
            </a:r>
            <a:endParaRPr lang="en-US" altLang="zh-CN" sz="48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4800" b="1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    int result = quotient(number1, number2);</a:t>
            </a:r>
            <a:endParaRPr lang="en-US" altLang="zh-CN" sz="48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4800" b="1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    System.out.println(number1 + " / " + number2 + " is " </a:t>
            </a:r>
            <a:endParaRPr lang="en-US" altLang="zh-CN" sz="48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4800" b="1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      + result);</a:t>
            </a:r>
            <a:endParaRPr lang="en-US" altLang="zh-CN" sz="48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4800" b="1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  }</a:t>
            </a:r>
            <a:endParaRPr lang="en-US" altLang="zh-CN" sz="48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4800" b="1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}</a:t>
            </a:r>
            <a:endParaRPr lang="en-US" altLang="zh-CN" sz="48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灯片编号占位符 2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sp>
        <p:nvSpPr>
          <p:cNvPr id="25603" name="Slide Number Placeholder 4"/>
          <p:cNvSpPr txBox="1">
            <a:spLocks noGrp="1"/>
          </p:cNvSpPr>
          <p:nvPr/>
        </p:nvSpPr>
        <p:spPr>
          <a:xfrm>
            <a:off x="6553200" y="639921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sp>
        <p:nvSpPr>
          <p:cNvPr id="25604" name="Rectangle 2"/>
          <p:cNvSpPr>
            <a:spLocks noGrp="1"/>
          </p:cNvSpPr>
          <p:nvPr>
            <p:ph type="title"/>
          </p:nvPr>
        </p:nvSpPr>
        <p:spPr>
          <a:xfrm>
            <a:off x="0" y="934085"/>
            <a:ext cx="8364220" cy="349250"/>
          </a:xfrm>
        </p:spPr>
        <p:txBody>
          <a:bodyPr vert="horz" wrap="square" lIns="92075" tIns="46038" rIns="92075" bIns="46038" anchor="ctr"/>
          <a:p>
            <a:r>
              <a:rPr lang="zh-CN" altLang="en-US" sz="32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程序清单</a:t>
            </a:r>
            <a:r>
              <a:rPr lang="en-US" altLang="zh-CN" sz="32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12-4</a:t>
            </a:r>
            <a:endParaRPr lang="en-US" altLang="zh-CN" sz="3200" b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5605" name="Rectangle 3"/>
          <p:cNvSpPr>
            <a:spLocks noGrp="1"/>
          </p:cNvSpPr>
          <p:nvPr>
            <p:ph type="body" idx="4294967295"/>
          </p:nvPr>
        </p:nvSpPr>
        <p:spPr>
          <a:xfrm>
            <a:off x="342900" y="1311910"/>
            <a:ext cx="8458200" cy="5429250"/>
          </a:xfrm>
          <a:noFill/>
        </p:spPr>
        <p:txBody>
          <a:bodyPr vert="horz" wrap="square" lIns="92075" tIns="46038" rIns="92075" bIns="46038" anchor="t">
            <a:normAutofit fontScale="25000"/>
          </a:bodyPr>
          <a:p>
            <a:pPr>
              <a:lnSpc>
                <a:spcPct val="90000"/>
              </a:lnSpc>
              <a:buNone/>
            </a:pPr>
            <a:r>
              <a:rPr lang="en-US" altLang="zh-CN" sz="5200" b="1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public class QuotientWithException { </a:t>
            </a:r>
            <a:endParaRPr lang="en-US" altLang="zh-CN" sz="52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5200" b="1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  public static int quotient(int number1, int number2) {</a:t>
            </a:r>
            <a:endParaRPr lang="en-US" altLang="zh-CN" sz="52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5200" b="1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    if (number2 == 0)</a:t>
            </a:r>
            <a:endParaRPr lang="en-US" altLang="zh-CN" sz="52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5200" b="1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      throw new ArithmeticException("Divisor cannot be zero");</a:t>
            </a:r>
            <a:endParaRPr lang="en-US" altLang="zh-CN" sz="52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endParaRPr lang="en-US" altLang="zh-CN" sz="52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5200" b="1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    return number1 / number2;</a:t>
            </a:r>
            <a:endParaRPr lang="en-US" altLang="zh-CN" sz="52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5200" b="1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  }  </a:t>
            </a:r>
            <a:endParaRPr lang="en-US" altLang="zh-CN" sz="52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5200" b="1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  public static void main(String[] args) {</a:t>
            </a:r>
            <a:endParaRPr lang="en-US" altLang="zh-CN" sz="52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5200" b="1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    Scanner input = new Scanner(System.in);</a:t>
            </a:r>
            <a:endParaRPr lang="en-US" altLang="zh-CN" sz="52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5200" b="1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    System.out.print("Enter two integers: ");</a:t>
            </a:r>
            <a:endParaRPr lang="en-US" altLang="zh-CN" sz="52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5200" b="1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    int number1 = input.nextInt();</a:t>
            </a:r>
            <a:endParaRPr lang="en-US" altLang="zh-CN" sz="52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5200" b="1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    int number2 = input.nextInt();</a:t>
            </a:r>
            <a:endParaRPr lang="en-US" altLang="zh-CN" sz="52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5200" b="1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    try {</a:t>
            </a:r>
            <a:endParaRPr lang="en-US" altLang="zh-CN" sz="52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5200" b="1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      int result = quotient(number1, number2);</a:t>
            </a:r>
            <a:endParaRPr lang="en-US" altLang="zh-CN" sz="52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5200" b="1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      System.out.println(number1 + " / " + number2 + " is " </a:t>
            </a:r>
            <a:endParaRPr lang="en-US" altLang="zh-CN" sz="52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5200" b="1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        + result);</a:t>
            </a:r>
            <a:endParaRPr lang="en-US" altLang="zh-CN" sz="52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5200" b="1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    }</a:t>
            </a:r>
            <a:endParaRPr lang="en-US" altLang="zh-CN" sz="52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5200" b="1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    catch (ArithmeticException ex) {</a:t>
            </a:r>
            <a:endParaRPr lang="en-US" altLang="zh-CN" sz="52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5200" b="1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      System.out.println("Exception: an integer " + </a:t>
            </a:r>
            <a:endParaRPr lang="en-US" altLang="zh-CN" sz="52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5200" b="1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        "cannot be divided by zero ");</a:t>
            </a:r>
            <a:endParaRPr lang="en-US" altLang="zh-CN" sz="52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5200" b="1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    }</a:t>
            </a:r>
            <a:endParaRPr lang="en-US" altLang="zh-CN" sz="52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5200" b="1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    System.out.println("Execution continues ...");</a:t>
            </a:r>
            <a:endParaRPr lang="en-US" altLang="zh-CN" sz="52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5200" b="1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  }</a:t>
            </a:r>
            <a:endParaRPr lang="en-US" altLang="zh-CN" sz="52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5200" b="1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}</a:t>
            </a:r>
            <a:endParaRPr lang="en-US" altLang="zh-CN" sz="52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sp>
        <p:nvSpPr>
          <p:cNvPr id="15363" name="Rectangle 2"/>
          <p:cNvSpPr>
            <a:spLocks noGrp="1"/>
          </p:cNvSpPr>
          <p:nvPr>
            <p:ph type="title"/>
          </p:nvPr>
        </p:nvSpPr>
        <p:spPr>
          <a:xfrm>
            <a:off x="175895" y="77470"/>
            <a:ext cx="8534400" cy="609600"/>
          </a:xfrm>
        </p:spPr>
        <p:txBody>
          <a:bodyPr vert="horz" wrap="square" lIns="92075" tIns="46038" rIns="92075" bIns="46038" anchor="ctr"/>
          <a:p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异常处理的优点</a:t>
            </a:r>
            <a:endParaRPr lang="en-US" altLang="zh-CN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364" name="Text Box 9"/>
          <p:cNvSpPr txBox="1"/>
          <p:nvPr/>
        </p:nvSpPr>
        <p:spPr>
          <a:xfrm>
            <a:off x="304800" y="1496060"/>
            <a:ext cx="8534400" cy="437451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lvl="0">
              <a:lnSpc>
                <a:spcPct val="120000"/>
              </a:lnSpc>
              <a:spcBef>
                <a:spcPct val="50000"/>
              </a:spcBef>
              <a:buSzTx/>
              <a:buFont typeface="Wingdings" panose="05000000000000000000" charset="0"/>
              <a:buChar char="n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被调用的方法通常不知道在出错的情况下该做些什么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  <a:spcBef>
                <a:spcPct val="50000"/>
              </a:spcBef>
              <a:buSzTx/>
              <a:buFont typeface="Wingdings" panose="05000000000000000000" charset="0"/>
              <a:buChar char="l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例如库中的方法，库方法可以检测出错误，但是只有调用者才知道出现错误时做些什么呢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20000"/>
              </a:lnSpc>
              <a:spcBef>
                <a:spcPct val="50000"/>
              </a:spcBef>
              <a:buSzTx/>
              <a:buFont typeface="Wingdings" panose="05000000000000000000" charset="0"/>
              <a:buChar char="n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能使方法抛出一个异常给它的调用者。这个调用者可以处理该异常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20000"/>
              </a:lnSpc>
              <a:spcBef>
                <a:spcPct val="50000"/>
              </a:spcBef>
              <a:buSzTx/>
              <a:buFont typeface="Wingdings" panose="05000000000000000000" charset="0"/>
              <a:buChar char="n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异常处理最根本的优势就是将检测错误（由被调用的方法完成）从处理错误（由调用方法完成）中分离出来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sp>
        <p:nvSpPr>
          <p:cNvPr id="19459" name="Rectangle 2"/>
          <p:cNvSpPr>
            <a:spLocks noGrp="1"/>
          </p:cNvSpPr>
          <p:nvPr>
            <p:ph type="title"/>
          </p:nvPr>
        </p:nvSpPr>
        <p:spPr>
          <a:xfrm>
            <a:off x="158750" y="0"/>
            <a:ext cx="7772400" cy="819150"/>
          </a:xfrm>
        </p:spPr>
        <p:txBody>
          <a:bodyPr vert="horz" wrap="square" lIns="92075" tIns="46038" rIns="92075" bIns="46038" anchor="ctr"/>
          <a:p>
            <a:r>
              <a:rPr lang="zh-CN" altLang="en-US" sz="3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异常类型</a:t>
            </a:r>
            <a:endParaRPr lang="en-US" altLang="zh-CN" sz="3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460" name="Rectangle 10"/>
          <p:cNvSpPr/>
          <p:nvPr/>
        </p:nvSpPr>
        <p:spPr>
          <a:xfrm>
            <a:off x="0" y="2000250"/>
            <a:ext cx="9144000" cy="0"/>
          </a:xfrm>
          <a:prstGeom prst="rect">
            <a:avLst/>
          </a:prstGeom>
          <a:noFill/>
          <a:ln w="12700">
            <a:noFill/>
          </a:ln>
        </p:spPr>
        <p:txBody>
          <a:bodyPr wrap="none" anchor="ctr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ea typeface="宋体" panose="02010600030101010101" pitchFamily="2" charset="-122"/>
            </a:endParaRPr>
          </a:p>
        </p:txBody>
      </p:sp>
      <p:graphicFrame>
        <p:nvGraphicFramePr>
          <p:cNvPr id="19461" name="Object 9"/>
          <p:cNvGraphicFramePr>
            <a:graphicFrameLocks noChangeAspect="1"/>
          </p:cNvGraphicFramePr>
          <p:nvPr/>
        </p:nvGraphicFramePr>
        <p:xfrm>
          <a:off x="158750" y="2698750"/>
          <a:ext cx="8131175" cy="415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5605145" imgH="2854325" progId="Word.Picture.8">
                  <p:embed/>
                </p:oleObj>
              </mc:Choice>
              <mc:Fallback>
                <p:oleObj name="" r:id="rId1" imgW="5605145" imgH="2854325" progId="Word.Picture.8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8750" y="2698750"/>
                        <a:ext cx="8131175" cy="41592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0278" name="Text Box 6"/>
          <p:cNvSpPr txBox="1"/>
          <p:nvPr/>
        </p:nvSpPr>
        <p:spPr>
          <a:xfrm>
            <a:off x="158750" y="906780"/>
            <a:ext cx="7592060" cy="337185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异常是对象，而对象都是采用类来定义。异常的根类是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java.lang.Throwable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58750" y="1243965"/>
            <a:ext cx="836485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1" fontAlgn="auto"/>
            <a:r>
              <a:rPr lang="zh-CN" altLang="en-US" sz="1200" dirty="0">
                <a:sym typeface="+mn-ea"/>
              </a:rPr>
              <a:t>常用的方法有：</a:t>
            </a:r>
            <a:endParaRPr lang="zh-CN" altLang="en-US" sz="1200" dirty="0"/>
          </a:p>
          <a:p>
            <a:pPr marL="0" lvl="2" fontAlgn="auto"/>
            <a:r>
              <a:rPr lang="en-US" altLang="zh-CN" sz="1200" dirty="0">
                <a:sym typeface="+mn-ea"/>
              </a:rPr>
              <a:t>	String </a:t>
            </a:r>
            <a:r>
              <a:rPr lang="en-US" altLang="zh-CN" sz="1200" dirty="0" err="1">
                <a:sym typeface="+mn-ea"/>
              </a:rPr>
              <a:t>getMessage</a:t>
            </a:r>
            <a:r>
              <a:rPr lang="en-US" altLang="zh-CN" sz="1200" dirty="0">
                <a:sym typeface="+mn-ea"/>
              </a:rPr>
              <a:t>() 	</a:t>
            </a:r>
            <a:r>
              <a:rPr lang="zh-CN" altLang="en-US" sz="1200" dirty="0" smtClean="0">
                <a:sym typeface="+mn-ea"/>
              </a:rPr>
              <a:t>返回</a:t>
            </a:r>
            <a:r>
              <a:rPr lang="zh-CN" altLang="en-US" sz="1200" dirty="0">
                <a:sym typeface="+mn-ea"/>
              </a:rPr>
              <a:t>该</a:t>
            </a:r>
            <a:r>
              <a:rPr lang="en-US" altLang="zh-CN" sz="1200" dirty="0" err="1">
                <a:sym typeface="+mn-ea"/>
              </a:rPr>
              <a:t>Throwable</a:t>
            </a:r>
            <a:r>
              <a:rPr lang="zh-CN" altLang="en-US" sz="1200" dirty="0">
                <a:sym typeface="+mn-ea"/>
              </a:rPr>
              <a:t>对象详细信息。 </a:t>
            </a:r>
            <a:endParaRPr lang="zh-CN" altLang="en-US" sz="1200" dirty="0"/>
          </a:p>
          <a:p>
            <a:pPr marL="0" lvl="2" fontAlgn="auto"/>
            <a:r>
              <a:rPr lang="en-US" altLang="zh-CN" sz="1200" dirty="0">
                <a:sym typeface="+mn-ea"/>
              </a:rPr>
              <a:t>	void </a:t>
            </a:r>
            <a:r>
              <a:rPr lang="en-US" altLang="zh-CN" sz="1200" dirty="0" err="1">
                <a:sym typeface="+mn-ea"/>
              </a:rPr>
              <a:t>printStackTrace</a:t>
            </a:r>
            <a:r>
              <a:rPr lang="en-US" altLang="zh-CN" sz="1200" dirty="0">
                <a:sym typeface="+mn-ea"/>
              </a:rPr>
              <a:t>() 	</a:t>
            </a:r>
            <a:r>
              <a:rPr lang="zh-CN" altLang="en-US" sz="1200" dirty="0" smtClean="0">
                <a:sym typeface="+mn-ea"/>
              </a:rPr>
              <a:t>把</a:t>
            </a:r>
            <a:r>
              <a:rPr lang="zh-CN" altLang="en-US" sz="1200" dirty="0">
                <a:sym typeface="+mn-ea"/>
              </a:rPr>
              <a:t>该</a:t>
            </a:r>
            <a:r>
              <a:rPr lang="en-US" altLang="zh-CN" sz="1200" dirty="0" err="1">
                <a:sym typeface="+mn-ea"/>
              </a:rPr>
              <a:t>Throwable</a:t>
            </a:r>
            <a:r>
              <a:rPr lang="zh-CN" altLang="en-US" sz="1200" dirty="0">
                <a:sym typeface="+mn-ea"/>
              </a:rPr>
              <a:t>对象和它的跟踪情况打印到</a:t>
            </a:r>
            <a:r>
              <a:rPr lang="zh-CN" altLang="en-US" sz="1200" dirty="0" smtClean="0">
                <a:sym typeface="+mn-ea"/>
              </a:rPr>
              <a:t>标准错误</a:t>
            </a:r>
            <a:r>
              <a:rPr lang="zh-CN" altLang="en-US" sz="1200" dirty="0">
                <a:sym typeface="+mn-ea"/>
              </a:rPr>
              <a:t>流。</a:t>
            </a:r>
            <a:endParaRPr lang="zh-CN" altLang="en-US" sz="1200" dirty="0"/>
          </a:p>
          <a:p>
            <a:pPr marL="0" lvl="2" fontAlgn="auto"/>
            <a:r>
              <a:rPr lang="en-US" altLang="zh-CN" sz="1200" dirty="0">
                <a:sym typeface="+mn-ea"/>
              </a:rPr>
              <a:t>	void </a:t>
            </a:r>
            <a:r>
              <a:rPr lang="en-US" altLang="zh-CN" sz="1200" dirty="0" err="1">
                <a:sym typeface="+mn-ea"/>
              </a:rPr>
              <a:t>printStackTrace</a:t>
            </a:r>
            <a:r>
              <a:rPr lang="en-US" altLang="zh-CN" sz="1200" dirty="0">
                <a:sym typeface="+mn-ea"/>
              </a:rPr>
              <a:t>(</a:t>
            </a:r>
            <a:r>
              <a:rPr lang="en-US" altLang="zh-CN" sz="1200" dirty="0" err="1">
                <a:sym typeface="+mn-ea"/>
              </a:rPr>
              <a:t>PrintStream</a:t>
            </a:r>
            <a:r>
              <a:rPr lang="en-US" altLang="zh-CN" sz="1200" dirty="0">
                <a:sym typeface="+mn-ea"/>
              </a:rPr>
              <a:t> s</a:t>
            </a:r>
            <a:r>
              <a:rPr lang="en-US" altLang="zh-CN" sz="1200" dirty="0" smtClean="0">
                <a:sym typeface="+mn-ea"/>
              </a:rPr>
              <a:t>)	</a:t>
            </a:r>
            <a:r>
              <a:rPr lang="zh-CN" altLang="en-US" sz="1200" dirty="0" smtClean="0">
                <a:sym typeface="+mn-ea"/>
              </a:rPr>
              <a:t>把</a:t>
            </a:r>
            <a:r>
              <a:rPr lang="zh-CN" altLang="en-US" sz="1200" dirty="0">
                <a:sym typeface="+mn-ea"/>
              </a:rPr>
              <a:t>该</a:t>
            </a:r>
            <a:r>
              <a:rPr lang="en-US" altLang="zh-CN" sz="1200" dirty="0" err="1">
                <a:sym typeface="+mn-ea"/>
              </a:rPr>
              <a:t>Throwable</a:t>
            </a:r>
            <a:r>
              <a:rPr lang="zh-CN" altLang="en-US" sz="1200" dirty="0">
                <a:sym typeface="+mn-ea"/>
              </a:rPr>
              <a:t>对象和它的跟踪情况</a:t>
            </a:r>
            <a:r>
              <a:rPr lang="zh-CN" altLang="en-US" sz="1200" dirty="0" smtClean="0">
                <a:sym typeface="+mn-ea"/>
              </a:rPr>
              <a:t>打印</a:t>
            </a:r>
            <a:r>
              <a:rPr lang="zh-CN" altLang="en-US" sz="1200" dirty="0">
                <a:sym typeface="+mn-ea"/>
              </a:rPr>
              <a:t>到指定的打印流。</a:t>
            </a:r>
            <a:endParaRPr lang="zh-CN" altLang="en-US" sz="1200" dirty="0"/>
          </a:p>
          <a:p>
            <a:pPr marL="0" lvl="2" fontAlgn="auto"/>
            <a:r>
              <a:rPr lang="en-US" altLang="zh-CN" sz="1200" dirty="0">
                <a:sym typeface="+mn-ea"/>
              </a:rPr>
              <a:t>	void </a:t>
            </a:r>
            <a:r>
              <a:rPr lang="en-US" altLang="zh-CN" sz="1200" dirty="0" err="1">
                <a:sym typeface="+mn-ea"/>
              </a:rPr>
              <a:t>printStackTrace</a:t>
            </a:r>
            <a:r>
              <a:rPr lang="en-US" altLang="zh-CN" sz="1200" dirty="0">
                <a:sym typeface="+mn-ea"/>
              </a:rPr>
              <a:t>(</a:t>
            </a:r>
            <a:r>
              <a:rPr lang="en-US" altLang="zh-CN" sz="1200" dirty="0" err="1">
                <a:sym typeface="+mn-ea"/>
              </a:rPr>
              <a:t>PrintWriter</a:t>
            </a:r>
            <a:r>
              <a:rPr lang="en-US" altLang="zh-CN" sz="1200" dirty="0">
                <a:sym typeface="+mn-ea"/>
              </a:rPr>
              <a:t> s)	</a:t>
            </a:r>
            <a:r>
              <a:rPr lang="zh-CN" altLang="en-US" sz="1200" dirty="0" smtClean="0">
                <a:sym typeface="+mn-ea"/>
              </a:rPr>
              <a:t>把</a:t>
            </a:r>
            <a:r>
              <a:rPr lang="zh-CN" altLang="en-US" sz="1200" dirty="0">
                <a:sym typeface="+mn-ea"/>
              </a:rPr>
              <a:t>该</a:t>
            </a:r>
            <a:r>
              <a:rPr lang="en-US" altLang="zh-CN" sz="1200" dirty="0" err="1">
                <a:sym typeface="+mn-ea"/>
              </a:rPr>
              <a:t>Throwable</a:t>
            </a:r>
            <a:r>
              <a:rPr lang="zh-CN" altLang="en-US" sz="1200" dirty="0">
                <a:sym typeface="+mn-ea"/>
              </a:rPr>
              <a:t>对象和它的跟踪情况</a:t>
            </a:r>
            <a:r>
              <a:rPr lang="zh-CN" altLang="en-US" sz="1200" dirty="0" smtClean="0">
                <a:sym typeface="+mn-ea"/>
              </a:rPr>
              <a:t>打印</a:t>
            </a:r>
            <a:r>
              <a:rPr lang="zh-CN" altLang="en-US" sz="1200" dirty="0">
                <a:sym typeface="+mn-ea"/>
              </a:rPr>
              <a:t>到指定的打印流。</a:t>
            </a:r>
            <a:endParaRPr lang="zh-CN" altLang="en-US" sz="1200" dirty="0"/>
          </a:p>
          <a:p>
            <a:pPr marL="0" lvl="2" fontAlgn="auto"/>
            <a:r>
              <a:rPr lang="en-US" altLang="zh-CN" sz="1200" dirty="0">
                <a:sym typeface="+mn-ea"/>
              </a:rPr>
              <a:t>	String </a:t>
            </a:r>
            <a:r>
              <a:rPr lang="en-US" altLang="zh-CN" sz="1200" dirty="0" err="1">
                <a:sym typeface="+mn-ea"/>
              </a:rPr>
              <a:t>toString</a:t>
            </a:r>
            <a:r>
              <a:rPr lang="en-US" altLang="zh-CN" sz="1200" dirty="0">
                <a:sym typeface="+mn-ea"/>
              </a:rPr>
              <a:t>()		</a:t>
            </a:r>
            <a:r>
              <a:rPr lang="zh-CN" altLang="en-US" sz="1200" dirty="0" smtClean="0">
                <a:sym typeface="+mn-ea"/>
              </a:rPr>
              <a:t>返回</a:t>
            </a:r>
            <a:r>
              <a:rPr lang="zh-CN" altLang="en-US" sz="1200" dirty="0">
                <a:sym typeface="+mn-ea"/>
              </a:rPr>
              <a:t>该</a:t>
            </a:r>
            <a:r>
              <a:rPr lang="en-US" altLang="zh-CN" sz="1200" dirty="0" err="1">
                <a:sym typeface="+mn-ea"/>
              </a:rPr>
              <a:t>Throwable</a:t>
            </a:r>
            <a:r>
              <a:rPr lang="zh-CN" altLang="en-US" sz="1200" dirty="0">
                <a:sym typeface="+mn-ea"/>
              </a:rPr>
              <a:t>对象的简短字符串描述。 </a:t>
            </a:r>
            <a:endParaRPr lang="zh-CN" altLang="en-US" sz="12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02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0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0278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0482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sp>
        <p:nvSpPr>
          <p:cNvPr id="20483" name="Rectangle 2"/>
          <p:cNvSpPr>
            <a:spLocks noGrp="1"/>
          </p:cNvSpPr>
          <p:nvPr>
            <p:ph type="title"/>
          </p:nvPr>
        </p:nvSpPr>
        <p:spPr>
          <a:xfrm>
            <a:off x="259080" y="0"/>
            <a:ext cx="7772400" cy="819150"/>
          </a:xfrm>
        </p:spPr>
        <p:txBody>
          <a:bodyPr vert="horz" wrap="square" lIns="92075" tIns="46038" rIns="92075" bIns="46038" anchor="ctr"/>
          <a:p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系统错误</a:t>
            </a:r>
            <a:endParaRPr lang="en-US" altLang="zh-CN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484" name="Rectangle 3"/>
          <p:cNvSpPr/>
          <p:nvPr/>
        </p:nvSpPr>
        <p:spPr>
          <a:xfrm>
            <a:off x="0" y="2000250"/>
            <a:ext cx="9144000" cy="0"/>
          </a:xfrm>
          <a:prstGeom prst="rect">
            <a:avLst/>
          </a:prstGeom>
          <a:noFill/>
          <a:ln w="12700">
            <a:noFill/>
          </a:ln>
        </p:spPr>
        <p:txBody>
          <a:bodyPr wrap="none" anchor="ctr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ea typeface="宋体" panose="02010600030101010101" pitchFamily="2" charset="-122"/>
            </a:endParaRPr>
          </a:p>
        </p:txBody>
      </p:sp>
      <p:graphicFrame>
        <p:nvGraphicFramePr>
          <p:cNvPr id="20485" name="Object 4"/>
          <p:cNvGraphicFramePr>
            <a:graphicFrameLocks noChangeAspect="1"/>
          </p:cNvGraphicFramePr>
          <p:nvPr/>
        </p:nvGraphicFramePr>
        <p:xfrm>
          <a:off x="311150" y="1370013"/>
          <a:ext cx="8826500" cy="451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5605145" imgH="2854325" progId="Word.Picture.8">
                  <p:embed/>
                </p:oleObj>
              </mc:Choice>
              <mc:Fallback>
                <p:oleObj name="" r:id="rId1" imgW="5605145" imgH="2854325" progId="Word.Picture.8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11150" y="1370013"/>
                        <a:ext cx="8826500" cy="45148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0277" name="Rectangle 5"/>
          <p:cNvSpPr/>
          <p:nvPr/>
        </p:nvSpPr>
        <p:spPr>
          <a:xfrm>
            <a:off x="2971800" y="4038600"/>
            <a:ext cx="3194050" cy="1828800"/>
          </a:xfrm>
          <a:prstGeom prst="rect">
            <a:avLst/>
          </a:prstGeom>
          <a:solidFill>
            <a:schemeClr val="accent1">
              <a:alpha val="18823"/>
            </a:schemeClr>
          </a:solidFill>
          <a:ln w="127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ea typeface="宋体" panose="02010600030101010101" pitchFamily="2" charset="-122"/>
            </a:endParaRPr>
          </a:p>
        </p:txBody>
      </p:sp>
      <p:sp>
        <p:nvSpPr>
          <p:cNvPr id="310278" name="Text Box 6"/>
          <p:cNvSpPr txBox="1"/>
          <p:nvPr/>
        </p:nvSpPr>
        <p:spPr>
          <a:xfrm>
            <a:off x="83820" y="899160"/>
            <a:ext cx="2971800" cy="181483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系统错误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(System errors) 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是由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Java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虚拟机抛出的，它用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Error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类表示。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Error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类描述的是内部系统错误。这样的错误很少发生。如果发生，除了通知用户以及尽量稳妥地终止程序外，几乎什么也不能做。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02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0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102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102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0277" grpId="0" bldLvl="0" animBg="1"/>
      <p:bldP spid="310278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sp>
        <p:nvSpPr>
          <p:cNvPr id="21507" name="Rectangle 2"/>
          <p:cNvSpPr>
            <a:spLocks noGrp="1"/>
          </p:cNvSpPr>
          <p:nvPr>
            <p:ph type="title"/>
          </p:nvPr>
        </p:nvSpPr>
        <p:spPr>
          <a:xfrm>
            <a:off x="99060" y="0"/>
            <a:ext cx="7772400" cy="819150"/>
          </a:xfrm>
        </p:spPr>
        <p:txBody>
          <a:bodyPr vert="horz" wrap="square" lIns="92075" tIns="46038" rIns="92075" bIns="46038" anchor="ctr"/>
          <a:p>
            <a:r>
              <a:rPr lang="zh-CN" altLang="en-US" sz="32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异 常</a:t>
            </a:r>
            <a:endParaRPr lang="en-US" altLang="zh-CN" sz="3200" b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1508" name="Rectangle 3"/>
          <p:cNvSpPr/>
          <p:nvPr/>
        </p:nvSpPr>
        <p:spPr>
          <a:xfrm>
            <a:off x="0" y="2000250"/>
            <a:ext cx="9144000" cy="0"/>
          </a:xfrm>
          <a:prstGeom prst="rect">
            <a:avLst/>
          </a:prstGeom>
          <a:noFill/>
          <a:ln w="12700">
            <a:noFill/>
          </a:ln>
        </p:spPr>
        <p:txBody>
          <a:bodyPr wrap="none" anchor="ctr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ea typeface="宋体" panose="02010600030101010101" pitchFamily="2" charset="-122"/>
            </a:endParaRPr>
          </a:p>
        </p:txBody>
      </p:sp>
      <p:graphicFrame>
        <p:nvGraphicFramePr>
          <p:cNvPr id="21509" name="Object 4"/>
          <p:cNvGraphicFramePr>
            <a:graphicFrameLocks noChangeAspect="1"/>
          </p:cNvGraphicFramePr>
          <p:nvPr/>
        </p:nvGraphicFramePr>
        <p:xfrm>
          <a:off x="158750" y="1370013"/>
          <a:ext cx="8826500" cy="451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5605145" imgH="2854325" progId="Word.Picture.8">
                  <p:embed/>
                </p:oleObj>
              </mc:Choice>
              <mc:Fallback>
                <p:oleObj name="" r:id="rId1" imgW="5605145" imgH="2854325" progId="Word.Picture.8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8750" y="1370013"/>
                        <a:ext cx="8826500" cy="4514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1301" name="Text Box 5"/>
          <p:cNvSpPr txBox="1"/>
          <p:nvPr/>
        </p:nvSpPr>
        <p:spPr>
          <a:xfrm>
            <a:off x="76200" y="937260"/>
            <a:ext cx="2667000" cy="119888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异常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(Exception) 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描述的是由程序和外部环境所引起的错误，这些错误能被程序捕获和处理。</a:t>
            </a:r>
            <a:endParaRPr lang="zh-CN" altLang="en-US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11302" name="Rectangle 6"/>
          <p:cNvSpPr/>
          <p:nvPr/>
        </p:nvSpPr>
        <p:spPr>
          <a:xfrm>
            <a:off x="2743200" y="1447800"/>
            <a:ext cx="6172200" cy="2895600"/>
          </a:xfrm>
          <a:prstGeom prst="rect">
            <a:avLst/>
          </a:prstGeom>
          <a:solidFill>
            <a:schemeClr val="accent1">
              <a:alpha val="18823"/>
            </a:schemeClr>
          </a:solidFill>
          <a:ln w="127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13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13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113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113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1301" grpId="0" bldLvl="0" animBg="1"/>
      <p:bldP spid="311302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sp>
        <p:nvSpPr>
          <p:cNvPr id="22531" name="Rectangle 2"/>
          <p:cNvSpPr>
            <a:spLocks noGrp="1"/>
          </p:cNvSpPr>
          <p:nvPr>
            <p:ph type="title"/>
          </p:nvPr>
        </p:nvSpPr>
        <p:spPr>
          <a:xfrm>
            <a:off x="274320" y="45720"/>
            <a:ext cx="7772400" cy="819150"/>
          </a:xfrm>
        </p:spPr>
        <p:txBody>
          <a:bodyPr vert="horz" wrap="square" lIns="92075" tIns="46038" rIns="92075" bIns="46038" anchor="ctr"/>
          <a:p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运行时异常</a:t>
            </a:r>
            <a:endParaRPr lang="en-US" altLang="zh-CN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532" name="Rectangle 3"/>
          <p:cNvSpPr/>
          <p:nvPr/>
        </p:nvSpPr>
        <p:spPr>
          <a:xfrm>
            <a:off x="0" y="2000250"/>
            <a:ext cx="9144000" cy="0"/>
          </a:xfrm>
          <a:prstGeom prst="rect">
            <a:avLst/>
          </a:prstGeom>
          <a:noFill/>
          <a:ln w="12700">
            <a:noFill/>
          </a:ln>
        </p:spPr>
        <p:txBody>
          <a:bodyPr wrap="none" anchor="ctr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ea typeface="宋体" panose="02010600030101010101" pitchFamily="2" charset="-122"/>
            </a:endParaRPr>
          </a:p>
        </p:txBody>
      </p:sp>
      <p:graphicFrame>
        <p:nvGraphicFramePr>
          <p:cNvPr id="22533" name="Object 4"/>
          <p:cNvGraphicFramePr>
            <a:graphicFrameLocks noChangeAspect="1"/>
          </p:cNvGraphicFramePr>
          <p:nvPr/>
        </p:nvGraphicFramePr>
        <p:xfrm>
          <a:off x="158750" y="1370013"/>
          <a:ext cx="8826500" cy="451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5605145" imgH="2854325" progId="Word.Picture.8">
                  <p:embed/>
                </p:oleObj>
              </mc:Choice>
              <mc:Fallback>
                <p:oleObj name="" r:id="rId1" imgW="5605145" imgH="2854325" progId="Word.Picture.8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8750" y="1370013"/>
                        <a:ext cx="8826500" cy="4514850"/>
                      </a:xfrm>
                      <a:prstGeom prst="rect">
                        <a:avLst/>
                      </a:prstGeom>
                      <a:solidFill>
                        <a:schemeClr val="bg1">
                          <a:alpha val="19000"/>
                        </a:scheme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2325" name="Text Box 5"/>
          <p:cNvSpPr txBox="1"/>
          <p:nvPr/>
        </p:nvSpPr>
        <p:spPr>
          <a:xfrm>
            <a:off x="113030" y="864870"/>
            <a:ext cx="2743200" cy="175323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运行时异常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(RuntimeException) 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是程序设计错误所引起的，例如，错误的类型转换、访问越界数组或数值错误。</a:t>
            </a:r>
            <a:endParaRPr lang="zh-CN" altLang="en-US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12326" name="Rectangle 6"/>
          <p:cNvSpPr/>
          <p:nvPr/>
        </p:nvSpPr>
        <p:spPr>
          <a:xfrm>
            <a:off x="5943600" y="1905000"/>
            <a:ext cx="2743200" cy="2438400"/>
          </a:xfrm>
          <a:prstGeom prst="rect">
            <a:avLst/>
          </a:prstGeom>
          <a:solidFill>
            <a:schemeClr val="accent1">
              <a:alpha val="18823"/>
            </a:schemeClr>
          </a:solidFill>
          <a:ln w="127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ea typeface="宋体" panose="02010600030101010101" pitchFamily="2" charset="-122"/>
            </a:endParaRPr>
          </a:p>
        </p:txBody>
      </p:sp>
      <p:sp>
        <p:nvSpPr>
          <p:cNvPr id="312327" name="Rectangle 7"/>
          <p:cNvSpPr/>
          <p:nvPr/>
        </p:nvSpPr>
        <p:spPr>
          <a:xfrm>
            <a:off x="4267200" y="2743200"/>
            <a:ext cx="1676400" cy="533400"/>
          </a:xfrm>
          <a:prstGeom prst="rect">
            <a:avLst/>
          </a:prstGeom>
          <a:solidFill>
            <a:schemeClr val="accent1">
              <a:alpha val="18823"/>
            </a:schemeClr>
          </a:solidFill>
          <a:ln w="127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23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23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123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123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123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123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23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23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2325" grpId="0" bldLvl="0" animBg="1"/>
      <p:bldP spid="312325" grpId="1" bldLvl="0" animBg="1"/>
      <p:bldP spid="312326" grpId="0" bldLvl="0" animBg="1"/>
      <p:bldP spid="312327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sp>
        <p:nvSpPr>
          <p:cNvPr id="23555" name="Rectangle 2"/>
          <p:cNvSpPr>
            <a:spLocks noGrp="1"/>
          </p:cNvSpPr>
          <p:nvPr>
            <p:ph type="title"/>
          </p:nvPr>
        </p:nvSpPr>
        <p:spPr>
          <a:xfrm>
            <a:off x="149860" y="-210820"/>
            <a:ext cx="7772400" cy="1249680"/>
          </a:xfrm>
        </p:spPr>
        <p:txBody>
          <a:bodyPr vert="horz" wrap="square" lIns="92075" tIns="46038" rIns="92075" bIns="46038" anchor="ctr"/>
          <a:p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必检异常和免检异常</a:t>
            </a:r>
            <a:endParaRPr lang="en-US" altLang="zh-CN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556" name="Rectangle 3"/>
          <p:cNvSpPr/>
          <p:nvPr/>
        </p:nvSpPr>
        <p:spPr>
          <a:xfrm>
            <a:off x="2000250" y="2571750"/>
            <a:ext cx="9144000" cy="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ea typeface="宋体" panose="02010600030101010101" pitchFamily="2" charset="-122"/>
            </a:endParaRPr>
          </a:p>
        </p:txBody>
      </p:sp>
      <p:sp>
        <p:nvSpPr>
          <p:cNvPr id="23557" name="Text Box 4"/>
          <p:cNvSpPr txBox="1"/>
          <p:nvPr/>
        </p:nvSpPr>
        <p:spPr>
          <a:xfrm>
            <a:off x="149860" y="1181100"/>
            <a:ext cx="8534400" cy="267652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lvl="0">
              <a:lnSpc>
                <a:spcPct val="150000"/>
              </a:lnSpc>
              <a:spcBef>
                <a:spcPts val="0"/>
              </a:spcBef>
              <a:buSzTx/>
              <a:buFont typeface="Wingdings" panose="05000000000000000000" charset="0"/>
              <a:buChar char="n"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RuntimeException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Error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以及它们的子类都被称为免检异常（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unchecked exceptions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）。所有其它异常都被称为必检异常（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checked exceptions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），意思是编译器会强制程序员检查并处理它们。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sp>
        <p:nvSpPr>
          <p:cNvPr id="25604" name="Rectangle 3"/>
          <p:cNvSpPr/>
          <p:nvPr/>
        </p:nvSpPr>
        <p:spPr>
          <a:xfrm>
            <a:off x="0" y="2000250"/>
            <a:ext cx="9144000" cy="0"/>
          </a:xfrm>
          <a:prstGeom prst="rect">
            <a:avLst/>
          </a:prstGeom>
          <a:noFill/>
          <a:ln w="12700">
            <a:noFill/>
          </a:ln>
        </p:spPr>
        <p:txBody>
          <a:bodyPr wrap="none" anchor="ctr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ea typeface="宋体" panose="02010600030101010101" pitchFamily="2" charset="-122"/>
            </a:endParaRPr>
          </a:p>
        </p:txBody>
      </p:sp>
      <p:graphicFrame>
        <p:nvGraphicFramePr>
          <p:cNvPr id="25605" name="Object 4"/>
          <p:cNvGraphicFramePr>
            <a:graphicFrameLocks noChangeAspect="1"/>
          </p:cNvGraphicFramePr>
          <p:nvPr/>
        </p:nvGraphicFramePr>
        <p:xfrm>
          <a:off x="158750" y="1370013"/>
          <a:ext cx="8826500" cy="451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5605145" imgH="2854325" progId="Word.Picture.8">
                  <p:embed/>
                </p:oleObj>
              </mc:Choice>
              <mc:Fallback>
                <p:oleObj name="" r:id="rId1" imgW="5605145" imgH="2854325" progId="Word.Picture.8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8750" y="1370013"/>
                        <a:ext cx="8826500" cy="45148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3349" name="Text Box 5"/>
          <p:cNvSpPr txBox="1"/>
          <p:nvPr/>
        </p:nvSpPr>
        <p:spPr>
          <a:xfrm>
            <a:off x="6454140" y="4592320"/>
            <a:ext cx="2362835" cy="645160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3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免检异常</a:t>
            </a:r>
            <a:r>
              <a:rPr lang="zh-CN" altLang="en-US" sz="1400" dirty="0">
                <a:solidFill>
                  <a:schemeClr val="bg2"/>
                </a:solidFill>
                <a:ea typeface="宋体" panose="02010600030101010101" pitchFamily="2" charset="-122"/>
              </a:rPr>
              <a:t>。</a:t>
            </a:r>
            <a:endParaRPr lang="en-US" altLang="zh-CN" sz="1400" dirty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313350" name="Rectangle 6"/>
          <p:cNvSpPr/>
          <p:nvPr/>
        </p:nvSpPr>
        <p:spPr>
          <a:xfrm>
            <a:off x="4114800" y="2743200"/>
            <a:ext cx="2209800" cy="533400"/>
          </a:xfrm>
          <a:prstGeom prst="rect">
            <a:avLst/>
          </a:prstGeom>
          <a:solidFill>
            <a:schemeClr val="accent1">
              <a:alpha val="18823"/>
            </a:schemeClr>
          </a:solidFill>
          <a:ln w="127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ea typeface="宋体" panose="02010600030101010101" pitchFamily="2" charset="-122"/>
            </a:endParaRPr>
          </a:p>
        </p:txBody>
      </p:sp>
      <p:sp>
        <p:nvSpPr>
          <p:cNvPr id="313351" name="Rectangle 7"/>
          <p:cNvSpPr/>
          <p:nvPr/>
        </p:nvSpPr>
        <p:spPr>
          <a:xfrm>
            <a:off x="6248400" y="1905000"/>
            <a:ext cx="2514600" cy="2514600"/>
          </a:xfrm>
          <a:prstGeom prst="rect">
            <a:avLst/>
          </a:prstGeom>
          <a:solidFill>
            <a:schemeClr val="accent1">
              <a:alpha val="18823"/>
            </a:schemeClr>
          </a:solidFill>
          <a:ln w="127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ea typeface="宋体" panose="02010600030101010101" pitchFamily="2" charset="-122"/>
            </a:endParaRPr>
          </a:p>
        </p:txBody>
      </p:sp>
      <p:sp>
        <p:nvSpPr>
          <p:cNvPr id="313352" name="Rectangle 8"/>
          <p:cNvSpPr/>
          <p:nvPr/>
        </p:nvSpPr>
        <p:spPr>
          <a:xfrm>
            <a:off x="2743200" y="3962400"/>
            <a:ext cx="3581400" cy="1828800"/>
          </a:xfrm>
          <a:prstGeom prst="rect">
            <a:avLst/>
          </a:prstGeom>
          <a:solidFill>
            <a:schemeClr val="accent1">
              <a:alpha val="18823"/>
            </a:schemeClr>
          </a:solidFill>
          <a:ln w="127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33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33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133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133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133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133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33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33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3349" grpId="0" bldLvl="0" animBg="1"/>
      <p:bldP spid="313350" grpId="0" bldLvl="0" animBg="1"/>
      <p:bldP spid="313351" grpId="0" bldLvl="0" animBg="1"/>
      <p:bldP spid="313352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sp>
        <p:nvSpPr>
          <p:cNvPr id="24579" name="Rectangle 2"/>
          <p:cNvSpPr>
            <a:spLocks noGrp="1"/>
          </p:cNvSpPr>
          <p:nvPr>
            <p:ph type="title"/>
          </p:nvPr>
        </p:nvSpPr>
        <p:spPr>
          <a:xfrm>
            <a:off x="237490" y="0"/>
            <a:ext cx="7772400" cy="666750"/>
          </a:xfrm>
        </p:spPr>
        <p:txBody>
          <a:bodyPr vert="horz" wrap="square" lIns="92075" tIns="46038" rIns="92075" bIns="46038" anchor="ctr"/>
          <a:p>
            <a:r>
              <a:rPr lang="zh-CN" altLang="en-US" sz="3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免检异常</a:t>
            </a:r>
            <a:endParaRPr lang="en-US" altLang="zh-CN" sz="3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580" name="Rectangle 3"/>
          <p:cNvSpPr/>
          <p:nvPr/>
        </p:nvSpPr>
        <p:spPr>
          <a:xfrm>
            <a:off x="2000250" y="2571750"/>
            <a:ext cx="9144000" cy="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ea typeface="宋体" panose="02010600030101010101" pitchFamily="2" charset="-122"/>
            </a:endParaRPr>
          </a:p>
        </p:txBody>
      </p:sp>
      <p:sp>
        <p:nvSpPr>
          <p:cNvPr id="24581" name="Text Box 4"/>
          <p:cNvSpPr txBox="1"/>
          <p:nvPr/>
        </p:nvSpPr>
        <p:spPr>
          <a:xfrm>
            <a:off x="304800" y="1066800"/>
            <a:ext cx="8534400" cy="458914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lvl="0">
              <a:lnSpc>
                <a:spcPct val="120000"/>
              </a:lnSpc>
              <a:spcBef>
                <a:spcPct val="50000"/>
              </a:spcBef>
              <a:buSzTx/>
              <a:buFont typeface="Wingdings" panose="05000000000000000000" charset="0"/>
              <a:buChar char="n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在大多数情况下，免检异常都会反映出程序设计中不可恢复的逻辑错误。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  <a:spcBef>
                <a:spcPct val="50000"/>
              </a:spcBef>
              <a:buSzTx/>
              <a:buFont typeface="Wingdings" panose="05000000000000000000" charset="0"/>
              <a:buChar char="n"/>
            </a:pP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例如：如果通过一个引用变量访问一个对象之前并未将一个对象赋值给它，就会抛出一个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NullPointerException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异常；如果访问一个数组的界限外的元素，就会抛出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IndexOutOfBoundsException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异常。这些都是程序中必须纠正的逻辑错误。</a:t>
            </a:r>
            <a:endParaRPr lang="zh-CN" altLang="en-US" sz="21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0">
              <a:lnSpc>
                <a:spcPct val="120000"/>
              </a:lnSpc>
              <a:spcBef>
                <a:spcPct val="50000"/>
              </a:spcBef>
              <a:buSzTx/>
              <a:buFont typeface="Wingdings" panose="05000000000000000000" charset="0"/>
              <a:buChar char="n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免检异常可能在程序的任何一个地方出现。为避免过多地使用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try-catch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块，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Java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语言不强制要求编写代码捕获或声明免检异常。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sp>
        <p:nvSpPr>
          <p:cNvPr id="26627" name="Rectangle 2"/>
          <p:cNvSpPr>
            <a:spLocks noGrp="1"/>
          </p:cNvSpPr>
          <p:nvPr>
            <p:ph type="title"/>
          </p:nvPr>
        </p:nvSpPr>
        <p:spPr>
          <a:xfrm>
            <a:off x="0" y="0"/>
            <a:ext cx="7772400" cy="819150"/>
          </a:xfrm>
        </p:spPr>
        <p:txBody>
          <a:bodyPr vert="horz" wrap="square" lIns="92075" tIns="46038" rIns="92075" bIns="46038" anchor="ctr"/>
          <a:p>
            <a:r>
              <a:rPr lang="zh-CN" altLang="en-US" sz="3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声明、抛出和捕获异常</a:t>
            </a:r>
            <a:endParaRPr lang="en-US" altLang="zh-CN" sz="3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628" name="Rectangle 3"/>
          <p:cNvSpPr/>
          <p:nvPr/>
        </p:nvSpPr>
        <p:spPr>
          <a:xfrm>
            <a:off x="2000250" y="2571750"/>
            <a:ext cx="9144000" cy="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ea typeface="宋体" panose="02010600030101010101" pitchFamily="2" charset="-122"/>
            </a:endParaRPr>
          </a:p>
        </p:txBody>
      </p:sp>
      <p:graphicFrame>
        <p:nvGraphicFramePr>
          <p:cNvPr id="26629" name="Object 4"/>
          <p:cNvGraphicFramePr>
            <a:graphicFrameLocks noChangeAspect="1"/>
          </p:cNvGraphicFramePr>
          <p:nvPr/>
        </p:nvGraphicFramePr>
        <p:xfrm>
          <a:off x="0" y="2019300"/>
          <a:ext cx="8936990" cy="22212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" imgW="5108575" imgH="1219200" progId="Word.Picture.8">
                  <p:embed/>
                </p:oleObj>
              </mc:Choice>
              <mc:Fallback>
                <p:oleObj name="" r:id="rId1" imgW="5108575" imgH="1219200" progId="Word.Picture.8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0" y="2019300"/>
                        <a:ext cx="8936990" cy="222123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sp>
        <p:nvSpPr>
          <p:cNvPr id="27651" name="Rectangle 2"/>
          <p:cNvSpPr>
            <a:spLocks noGrp="1"/>
          </p:cNvSpPr>
          <p:nvPr>
            <p:ph type="title"/>
          </p:nvPr>
        </p:nvSpPr>
        <p:spPr>
          <a:xfrm>
            <a:off x="304800" y="0"/>
            <a:ext cx="7772400" cy="838835"/>
          </a:xfrm>
        </p:spPr>
        <p:txBody>
          <a:bodyPr vert="horz" wrap="square" lIns="92075" tIns="46038" rIns="92075" bIns="46038" anchor="ctr"/>
          <a:p>
            <a:r>
              <a:rPr lang="zh-CN" altLang="en-US" sz="3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声明异常</a:t>
            </a:r>
            <a:endParaRPr lang="en-US" altLang="zh-CN" sz="3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2" name="Rectangle 3"/>
          <p:cNvSpPr>
            <a:spLocks noGrp="1"/>
          </p:cNvSpPr>
          <p:nvPr>
            <p:ph idx="1"/>
          </p:nvPr>
        </p:nvSpPr>
        <p:spPr>
          <a:xfrm>
            <a:off x="304800" y="1371600"/>
            <a:ext cx="8229600" cy="4343400"/>
          </a:xfrm>
        </p:spPr>
        <p:txBody>
          <a:bodyPr vert="horz" wrap="square" lIns="92075" tIns="46038" rIns="92075" bIns="46038" anchor="t">
            <a:noAutofit/>
          </a:bodyPr>
          <a:p>
            <a:pPr>
              <a:spcBef>
                <a:spcPct val="0"/>
              </a:spcBef>
              <a:buClr>
                <a:srgbClr val="7030A0"/>
              </a:buClr>
              <a:buFont typeface="Wingdings" panose="05000000000000000000" charset="0"/>
              <a:buChar char="n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每个方法都必须声明它可能抛出的必检异常的类型。这被称为声明异常（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declaring exceptions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）。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spcBef>
                <a:spcPct val="0"/>
              </a:spcBef>
              <a:buNone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public void myMethod()   throws IOException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spcBef>
                <a:spcPct val="100000"/>
              </a:spcBef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public void myMethod()   throws Exception1,......Exception2N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sp>
        <p:nvSpPr>
          <p:cNvPr id="28675" name="Rectangle 2"/>
          <p:cNvSpPr>
            <a:spLocks noGrp="1"/>
          </p:cNvSpPr>
          <p:nvPr>
            <p:ph type="title"/>
          </p:nvPr>
        </p:nvSpPr>
        <p:spPr>
          <a:xfrm>
            <a:off x="142875" y="0"/>
            <a:ext cx="7772400" cy="705485"/>
          </a:xfrm>
        </p:spPr>
        <p:txBody>
          <a:bodyPr vert="horz" wrap="square" lIns="92075" tIns="46038" rIns="92075" bIns="46038" anchor="ctr"/>
          <a:p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抛出异常</a:t>
            </a:r>
            <a:r>
              <a:rPr lang="zh-CN" altLang="en-US" dirty="0">
                <a:ea typeface="宋体" panose="02010600030101010101" pitchFamily="2" charset="-122"/>
              </a:rPr>
              <a:t> </a:t>
            </a:r>
            <a:endParaRPr lang="en-US" altLang="zh-CN" b="1" dirty="0">
              <a:ea typeface="宋体" panose="02010600030101010101" pitchFamily="2" charset="-122"/>
            </a:endParaRPr>
          </a:p>
        </p:txBody>
      </p:sp>
      <p:sp>
        <p:nvSpPr>
          <p:cNvPr id="28676" name="Rectangle 3"/>
          <p:cNvSpPr>
            <a:spLocks noGrp="1"/>
          </p:cNvSpPr>
          <p:nvPr>
            <p:ph idx="1"/>
          </p:nvPr>
        </p:nvSpPr>
        <p:spPr>
          <a:xfrm>
            <a:off x="457200" y="1371600"/>
            <a:ext cx="8382000" cy="4191000"/>
          </a:xfrm>
        </p:spPr>
        <p:txBody>
          <a:bodyPr vert="horz" wrap="square" lIns="92075" tIns="46038" rIns="92075" bIns="46038" anchor="t">
            <a:noAutofit/>
          </a:bodyPr>
          <a:p>
            <a:pPr>
              <a:lnSpc>
                <a:spcPct val="120000"/>
              </a:lnSpc>
              <a:buClr>
                <a:srgbClr val="7030A0"/>
              </a:buClr>
              <a:buFont typeface="Wingdings" panose="05000000000000000000" charset="0"/>
              <a:buChar char="n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当程序检测一个错误时，程序可以创建一个恰当的异常类型的实例并抛出它。这就被称为抛出一个异常（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throwing an exception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）。这里有一个例子：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  <a:buNone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throw new IlleaglArgumentException(“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错误参数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”); 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IlleaglArgumentException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ex = new 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IlleaglArgumentException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错误参数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);</a:t>
            </a:r>
            <a:b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throw ex;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sp>
        <p:nvSpPr>
          <p:cNvPr id="29699" name="Rectangle 2"/>
          <p:cNvSpPr>
            <a:spLocks noGrp="1"/>
          </p:cNvSpPr>
          <p:nvPr>
            <p:ph type="title"/>
          </p:nvPr>
        </p:nvSpPr>
        <p:spPr>
          <a:xfrm>
            <a:off x="76200" y="0"/>
            <a:ext cx="7772400" cy="885825"/>
          </a:xfrm>
        </p:spPr>
        <p:txBody>
          <a:bodyPr vert="horz" wrap="square" lIns="92075" tIns="46038" rIns="92075" bIns="46038" anchor="ctr"/>
          <a:p>
            <a:r>
              <a:rPr lang="zh-CN" altLang="en-US" sz="3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抛出异常举例</a:t>
            </a:r>
            <a:endParaRPr lang="en-US" altLang="zh-CN" sz="3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2579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447800"/>
            <a:ext cx="8686800" cy="4495800"/>
          </a:xfrm>
          <a:noFill/>
        </p:spPr>
        <p:txBody>
          <a:bodyPr vert="horz" wrap="square" lIns="92075" tIns="46038" rIns="92075" bIns="46038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309020205020404" charset="0"/>
                <a:ea typeface="宋体" panose="02010600030101010101" pitchFamily="2" charset="-122"/>
                <a:cs typeface="Times New Roman" panose="02020603050405020304" pitchFamily="18" charset="0"/>
              </a:rPr>
              <a:t>/** Set a new radius */</a:t>
            </a:r>
            <a:endParaRPr kumimoji="0" lang="en-US" altLang="zh-CN" sz="20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30902020502040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309020205020404" charset="0"/>
                <a:ea typeface="宋体" panose="02010600030101010101" pitchFamily="2" charset="-122"/>
                <a:cs typeface="Times New Roman" panose="02020603050405020304" pitchFamily="18" charset="0"/>
              </a:rPr>
              <a:t>  public void setRadius(double newRadius) </a:t>
            </a:r>
            <a:endParaRPr kumimoji="0" lang="en-US" altLang="zh-CN" sz="20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30902020502040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309020205020404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kumimoji="0" lang="en-US" altLang="zh-CN" sz="20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anose="02070309020205020404" charset="0"/>
                <a:ea typeface="宋体" panose="02010600030101010101" pitchFamily="2" charset="-122"/>
                <a:cs typeface="Times New Roman" panose="02020603050405020304" pitchFamily="18" charset="0"/>
              </a:rPr>
              <a:t>throws IllegalArgumentException</a:t>
            </a:r>
            <a:r>
              <a:rPr kumimoji="0" lang="en-US" altLang="zh-CN" sz="20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309020205020404" charset="0"/>
                <a:ea typeface="宋体" panose="02010600030101010101" pitchFamily="2" charset="-122"/>
                <a:cs typeface="Times New Roman" panose="02020603050405020304" pitchFamily="18" charset="0"/>
              </a:rPr>
              <a:t> {</a:t>
            </a:r>
            <a:endParaRPr kumimoji="0" lang="en-US" altLang="zh-CN" sz="20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30902020502040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309020205020404" charset="0"/>
                <a:ea typeface="宋体" panose="02010600030101010101" pitchFamily="2" charset="-122"/>
                <a:cs typeface="Times New Roman" panose="02020603050405020304" pitchFamily="18" charset="0"/>
              </a:rPr>
              <a:t>    if (newRadius &gt;= 0)</a:t>
            </a:r>
            <a:endParaRPr kumimoji="0" lang="en-US" altLang="zh-CN" sz="20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30902020502040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309020205020404" charset="0"/>
                <a:ea typeface="宋体" panose="02010600030101010101" pitchFamily="2" charset="-122"/>
                <a:cs typeface="Times New Roman" panose="02020603050405020304" pitchFamily="18" charset="0"/>
              </a:rPr>
              <a:t>      radius =  newRadius;</a:t>
            </a:r>
            <a:endParaRPr kumimoji="0" lang="en-US" altLang="zh-CN" sz="20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30902020502040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309020205020404" charset="0"/>
                <a:ea typeface="宋体" panose="02010600030101010101" pitchFamily="2" charset="-122"/>
                <a:cs typeface="Times New Roman" panose="02020603050405020304" pitchFamily="18" charset="0"/>
              </a:rPr>
              <a:t>    else</a:t>
            </a:r>
            <a:endParaRPr kumimoji="0" lang="en-US" altLang="zh-CN" sz="20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30902020502040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309020205020404" charset="0"/>
                <a:ea typeface="宋体" panose="02010600030101010101" pitchFamily="2" charset="-122"/>
                <a:cs typeface="Times New Roman" panose="02020603050405020304" pitchFamily="18" charset="0"/>
              </a:rPr>
              <a:t>      throw new IllegalArgumentException(</a:t>
            </a:r>
            <a:endParaRPr kumimoji="0" lang="en-US" altLang="zh-CN" sz="20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30902020502040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309020205020404" charset="0"/>
                <a:ea typeface="宋体" panose="02010600030101010101" pitchFamily="2" charset="-122"/>
                <a:cs typeface="Times New Roman" panose="02020603050405020304" pitchFamily="18" charset="0"/>
              </a:rPr>
              <a:t>        "Radius cannot be negative");</a:t>
            </a:r>
            <a:endParaRPr kumimoji="0" lang="en-US" altLang="zh-CN" sz="20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30902020502040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309020205020404" charset="0"/>
                <a:ea typeface="宋体" panose="02010600030101010101" pitchFamily="2" charset="-122"/>
                <a:cs typeface="Times New Roman" panose="02020603050405020304" pitchFamily="18" charset="0"/>
              </a:rPr>
              <a:t>  }</a:t>
            </a:r>
            <a:endParaRPr kumimoji="0" lang="en-US" altLang="zh-CN" sz="20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30902020502040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sp>
        <p:nvSpPr>
          <p:cNvPr id="30723" name="Rectangle 2"/>
          <p:cNvSpPr>
            <a:spLocks noGrp="1"/>
          </p:cNvSpPr>
          <p:nvPr>
            <p:ph type="title"/>
          </p:nvPr>
        </p:nvSpPr>
        <p:spPr>
          <a:xfrm>
            <a:off x="0" y="-57150"/>
            <a:ext cx="7772400" cy="828675"/>
          </a:xfrm>
        </p:spPr>
        <p:txBody>
          <a:bodyPr vert="horz" wrap="square" lIns="92075" tIns="46038" rIns="92075" bIns="46038" anchor="ctr"/>
          <a:p>
            <a:r>
              <a:rPr lang="zh-CN" altLang="en-US" sz="3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捕获异常</a:t>
            </a:r>
            <a:endParaRPr lang="en-US" altLang="zh-CN" sz="3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724" name="Rectangle 3"/>
          <p:cNvSpPr>
            <a:spLocks noGrp="1"/>
          </p:cNvSpPr>
          <p:nvPr>
            <p:ph idx="1"/>
          </p:nvPr>
        </p:nvSpPr>
        <p:spPr>
          <a:xfrm>
            <a:off x="0" y="1143000"/>
            <a:ext cx="8610600" cy="5029200"/>
          </a:xfrm>
          <a:noFill/>
        </p:spPr>
        <p:txBody>
          <a:bodyPr vert="horz" wrap="square" lIns="92075" tIns="46038" rIns="92075" bIns="46038" anchor="t"/>
          <a:p>
            <a:pPr algn="just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000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try {</a:t>
            </a:r>
            <a:endParaRPr lang="en-US" altLang="zh-CN" sz="2000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 algn="just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000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  statements;  // Statements that may throw exceptions</a:t>
            </a:r>
            <a:endParaRPr lang="en-US" altLang="zh-CN" sz="2000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 algn="just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000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}</a:t>
            </a:r>
            <a:endParaRPr lang="en-US" altLang="zh-CN" sz="2000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 algn="just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000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catch (Exception1 exVar1) {</a:t>
            </a:r>
            <a:endParaRPr lang="en-US" altLang="zh-CN" sz="2000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 algn="just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000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  handler for exception1;</a:t>
            </a:r>
            <a:endParaRPr lang="en-US" altLang="zh-CN" sz="2000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 algn="just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000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}</a:t>
            </a:r>
            <a:endParaRPr lang="en-US" altLang="zh-CN" sz="2000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 algn="just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000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catch (Exception2 exVar2) { </a:t>
            </a:r>
            <a:endParaRPr lang="en-US" altLang="zh-CN" sz="2000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 algn="just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000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  handler for exception2;</a:t>
            </a:r>
            <a:endParaRPr lang="en-US" altLang="zh-CN" sz="2000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 algn="just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000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}</a:t>
            </a:r>
            <a:endParaRPr lang="en-US" altLang="zh-CN" sz="2000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 algn="just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000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...</a:t>
            </a:r>
            <a:endParaRPr lang="en-US" altLang="zh-CN" sz="2000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 algn="just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000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catch (ExceptionN exVar3) {</a:t>
            </a:r>
            <a:endParaRPr lang="en-US" altLang="zh-CN" sz="2000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 algn="just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000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  handler for exceptionN;</a:t>
            </a:r>
            <a:endParaRPr lang="en-US" altLang="zh-CN" sz="2000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 algn="just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000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}</a:t>
            </a:r>
            <a:r>
              <a:rPr lang="en-US" altLang="zh-CN" sz="2400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endParaRPr lang="en-US" altLang="zh-CN" sz="2400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388" y="255316"/>
            <a:ext cx="7078190" cy="349250"/>
          </a:xfrm>
        </p:spPr>
        <p:txBody>
          <a:bodyPr/>
          <a:lstStyle/>
          <a:p>
            <a:r>
              <a:rPr lang="zh-CN" altLang="zh-CN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捕获</a:t>
            </a:r>
            <a:r>
              <a:rPr lang="zh-CN" altLang="zh-CN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异常</a:t>
            </a:r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zh-CN" smtClean="0"/>
              <a:t>P</a:t>
            </a:r>
            <a:fld id="{62DCC93C-90AC-48A1-9D9E-CBAB17A91522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当方法抛出异常后，运行时系统将沿着方法的调用栈逐层回溯，去查找能处理该异常的异常处理程序。这一过程称为捕获异常（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catching exception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）。</a:t>
            </a:r>
            <a:endParaRPr lang="zh-CN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151112" y="3899797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010008" y="2949639"/>
          <a:ext cx="2569576" cy="27048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9" name="" r:id="rId1" imgW="2303145" imgH="2415540" progId="Visio.Drawing.11">
                  <p:embed/>
                </p:oleObj>
              </mc:Choice>
              <mc:Fallback>
                <p:oleObj name="" r:id="rId1" imgW="2303145" imgH="2415540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0008" y="2949639"/>
                        <a:ext cx="2569576" cy="270481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79512" y="909637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3604924" y="2949639"/>
          <a:ext cx="5071532" cy="27048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0" name="" r:id="rId3" imgW="4515485" imgH="2415540" progId="Visio.Drawing.11">
                  <p:embed/>
                </p:oleObj>
              </mc:Choice>
              <mc:Fallback>
                <p:oleObj name="" r:id="rId3" imgW="4515485" imgH="2415540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4924" y="2949639"/>
                        <a:ext cx="5071532" cy="270481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1260483" y="5798472"/>
            <a:ext cx="1151277" cy="2948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1200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方法的调用栈 </a:t>
            </a:r>
            <a:endParaRPr kumimoji="1" lang="zh-CN" altLang="en-US" sz="1600" dirty="0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076056" y="5798472"/>
            <a:ext cx="1920719" cy="2948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zh-CN" sz="1200"/>
              <a:t>查找异常处理程序的过程 </a:t>
            </a:r>
            <a:endParaRPr kumimoji="1" lang="zh-CN" altLang="en-US" sz="12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sp>
        <p:nvSpPr>
          <p:cNvPr id="32771" name="Rectangle 2"/>
          <p:cNvSpPr>
            <a:spLocks noGrp="1"/>
          </p:cNvSpPr>
          <p:nvPr>
            <p:ph type="title"/>
          </p:nvPr>
        </p:nvSpPr>
        <p:spPr>
          <a:xfrm>
            <a:off x="85725" y="85725"/>
            <a:ext cx="8458200" cy="685800"/>
          </a:xfrm>
        </p:spPr>
        <p:txBody>
          <a:bodyPr vert="horz" wrap="square" lIns="92075" tIns="46038" rIns="92075" bIns="46038" anchor="ctr"/>
          <a:p>
            <a:r>
              <a:rPr lang="zh-CN" altLang="en-US" sz="4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捕获或声明必检异常</a:t>
            </a:r>
            <a:endParaRPr lang="zh-CN" altLang="en-US" sz="40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772" name="Rectangle 3"/>
          <p:cNvSpPr>
            <a:spLocks noGrp="1"/>
          </p:cNvSpPr>
          <p:nvPr>
            <p:ph idx="1"/>
          </p:nvPr>
        </p:nvSpPr>
        <p:spPr>
          <a:xfrm>
            <a:off x="228600" y="885825"/>
            <a:ext cx="8315960" cy="2286000"/>
          </a:xfrm>
        </p:spPr>
        <p:txBody>
          <a:bodyPr vert="horz" wrap="square" lIns="92075" tIns="46038" rIns="92075" bIns="46038" anchor="t"/>
          <a:p>
            <a:pPr marL="0" indent="0">
              <a:lnSpc>
                <a:spcPct val="120000"/>
              </a:lnSpc>
              <a:buNone/>
            </a:pPr>
            <a:r>
              <a:rPr lang="en-US" altLang="zh-CN" sz="2200" dirty="0">
                <a:ea typeface="宋体" panose="02010600030101010101" pitchFamily="2" charset="-122"/>
              </a:rPr>
              <a:t>J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ava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强迫程序员处理必检异常。如果方法声明了一个必检异常（即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Error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或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Runtime Exception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之外的异常），就必须在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try-catch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块中调用它，或者在调用方法中声明要抛出异常。例如：假定方法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p1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调用方法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p2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，而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p2 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可能会抛出一个必检异常（例如： 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IOException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），就必须编写如图（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）或（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）所示代码。</a:t>
            </a:r>
            <a:endParaRPr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2773" name="Rectangle 8"/>
          <p:cNvSpPr/>
          <p:nvPr/>
        </p:nvSpPr>
        <p:spPr>
          <a:xfrm>
            <a:off x="2362200" y="2747963"/>
            <a:ext cx="9144000" cy="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ea typeface="宋体" panose="02010600030101010101" pitchFamily="2" charset="-122"/>
            </a:endParaRPr>
          </a:p>
        </p:txBody>
      </p:sp>
      <p:graphicFrame>
        <p:nvGraphicFramePr>
          <p:cNvPr id="32774" name="Object 7"/>
          <p:cNvGraphicFramePr>
            <a:graphicFrameLocks noChangeAspect="1"/>
          </p:cNvGraphicFramePr>
          <p:nvPr/>
        </p:nvGraphicFramePr>
        <p:xfrm>
          <a:off x="228600" y="3505200"/>
          <a:ext cx="8458200" cy="2606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1" imgW="4424045" imgH="1357630" progId="Word.Picture.8">
                  <p:embed/>
                </p:oleObj>
              </mc:Choice>
              <mc:Fallback>
                <p:oleObj name="" r:id="rId1" imgW="4424045" imgH="1357630" progId="Word.Picture.8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8600" y="3505200"/>
                        <a:ext cx="8458200" cy="2606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5" name="Line 9"/>
          <p:cNvSpPr/>
          <p:nvPr/>
        </p:nvSpPr>
        <p:spPr>
          <a:xfrm>
            <a:off x="1581150" y="2057400"/>
            <a:ext cx="542925" cy="1638935"/>
          </a:xfrm>
          <a:prstGeom prst="line">
            <a:avLst/>
          </a:prstGeom>
          <a:ln w="12700" cap="flat" cmpd="sng">
            <a:solidFill>
              <a:srgbClr val="FF0000"/>
            </a:solidFill>
            <a:prstDash val="solid"/>
            <a:headEnd type="none" w="sm" len="sm"/>
            <a:tailEnd type="stealth" w="sm" len="sm"/>
          </a:ln>
        </p:spPr>
      </p:sp>
      <p:sp>
        <p:nvSpPr>
          <p:cNvPr id="32776" name="Line 10"/>
          <p:cNvSpPr/>
          <p:nvPr/>
        </p:nvSpPr>
        <p:spPr>
          <a:xfrm>
            <a:off x="5734050" y="2058035"/>
            <a:ext cx="971550" cy="1751965"/>
          </a:xfrm>
          <a:prstGeom prst="line">
            <a:avLst/>
          </a:prstGeom>
          <a:ln w="12700" cap="flat" cmpd="sng">
            <a:solidFill>
              <a:srgbClr val="FF0000"/>
            </a:solidFill>
            <a:prstDash val="solid"/>
            <a:headEnd type="none" w="sm" len="sm"/>
            <a:tailEnd type="stealth" w="sm" len="sm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异常栈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2"/>
          </p:nvPr>
        </p:nvSpPr>
        <p:spPr/>
        <p:txBody>
          <a:bodyPr/>
          <a:p>
            <a:r>
              <a:rPr lang="en-US" altLang="zh-CN"/>
              <a:t>printStackTrace()</a:t>
            </a:r>
            <a:r>
              <a:rPr lang="zh-CN" altLang="en-US"/>
              <a:t>：直接输出到标准错误流</a:t>
            </a:r>
            <a:endParaRPr lang="zh-CN" altLang="en-US"/>
          </a:p>
          <a:p>
            <a:r>
              <a:rPr lang="en-US" altLang="zh-CN"/>
              <a:t>getStackTrace()</a:t>
            </a:r>
            <a:r>
              <a:rPr lang="zh-CN" altLang="en-US"/>
              <a:t>：返回</a:t>
            </a:r>
            <a:r>
              <a:rPr lang="en-US" altLang="zh-CN"/>
              <a:t>StackTraceElement</a:t>
            </a:r>
            <a:r>
              <a:rPr lang="zh-CN" altLang="en-US"/>
              <a:t>数组</a:t>
            </a:r>
            <a:endParaRPr lang="zh-CN" altLang="en-US"/>
          </a:p>
          <a:p>
            <a:pPr marL="457200" lvl="1" indent="0">
              <a:buNone/>
            </a:pPr>
            <a:endParaRPr lang="en-US" altLang="zh-CN" sz="2400"/>
          </a:p>
          <a:p>
            <a:pPr marL="457200" lvl="1" indent="0">
              <a:buNone/>
            </a:pPr>
            <a:r>
              <a:rPr lang="en-US" altLang="zh-CN" sz="2400"/>
              <a:t>StackTraceElement[] traces = e.getStackTrace();</a:t>
            </a:r>
            <a:endParaRPr lang="en-US" altLang="zh-CN" sz="2400"/>
          </a:p>
          <a:p>
            <a:pPr marL="457200" lvl="1" indent="0">
              <a:buNone/>
            </a:pPr>
            <a:r>
              <a:rPr lang="en-US" altLang="zh-CN" sz="2400"/>
              <a:t>for (StackTraceElement trace : traces) {</a:t>
            </a:r>
            <a:endParaRPr lang="en-US" altLang="zh-CN" sz="2400"/>
          </a:p>
          <a:p>
            <a:pPr marL="457200" lvl="1" indent="0">
              <a:buNone/>
            </a:pPr>
            <a:r>
              <a:rPr lang="en-US" altLang="zh-CN" sz="2400"/>
              <a:t>    System.out.println(trace.getClassName() + ":" + trace.getLineNumber());</a:t>
            </a:r>
            <a:endParaRPr lang="en-US" altLang="zh-CN" sz="2400"/>
          </a:p>
          <a:p>
            <a:pPr marL="457200" lvl="1" indent="0">
              <a:buNone/>
            </a:pPr>
            <a:r>
              <a:rPr lang="en-US" altLang="zh-CN" sz="2400"/>
              <a:t>}</a:t>
            </a:r>
            <a:endParaRPr lang="en-US" altLang="zh-CN" sz="24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r>
              <a:rPr lang="en-US" altLang="zh-CN" dirty="0" smtClean="0"/>
              <a:t>P</a:t>
            </a:r>
            <a:fld id="{62DCC93C-90AC-48A1-9D9E-CBAB17A91522}" type="slidenum">
              <a:rPr lang="zh-CN" altLang="en-US" dirty="0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sp>
        <p:nvSpPr>
          <p:cNvPr id="37891" name="Rectangle 2"/>
          <p:cNvSpPr>
            <a:spLocks noGrp="1"/>
          </p:cNvSpPr>
          <p:nvPr>
            <p:ph type="title"/>
          </p:nvPr>
        </p:nvSpPr>
        <p:spPr>
          <a:xfrm>
            <a:off x="161925" y="0"/>
            <a:ext cx="7772400" cy="905510"/>
          </a:xfrm>
        </p:spPr>
        <p:txBody>
          <a:bodyPr vert="horz" wrap="square" lIns="92075" tIns="46038" rIns="92075" bIns="46038" anchor="ctr"/>
          <a:p>
            <a:r>
              <a:rPr lang="en-US" altLang="zh-CN" sz="32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finally</a:t>
            </a:r>
            <a:r>
              <a:rPr lang="zh-CN" altLang="en-US" sz="32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子句</a:t>
            </a:r>
            <a:endParaRPr lang="en-US" altLang="zh-CN" sz="3200" b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7892" name="Rectangle 3"/>
          <p:cNvSpPr>
            <a:spLocks noGrp="1"/>
          </p:cNvSpPr>
          <p:nvPr>
            <p:ph idx="1"/>
          </p:nvPr>
        </p:nvSpPr>
        <p:spPr>
          <a:xfrm>
            <a:off x="1871345" y="3014345"/>
            <a:ext cx="5010150" cy="3439160"/>
          </a:xfrm>
          <a:noFill/>
        </p:spPr>
        <p:txBody>
          <a:bodyPr vert="horz" wrap="square" lIns="92075" tIns="46038" rIns="92075" bIns="46038" anchor="t">
            <a:normAutofit fontScale="90000" lnSpcReduction="10000"/>
          </a:bodyPr>
          <a:p>
            <a:pPr algn="just">
              <a:lnSpc>
                <a:spcPct val="90000"/>
              </a:lnSpc>
              <a:buNone/>
            </a:pPr>
            <a:r>
              <a:rPr lang="en-US" altLang="zh-CN" sz="3000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try {  </a:t>
            </a:r>
            <a:endParaRPr lang="en-US" altLang="zh-CN" sz="3000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 algn="just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3000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  statements;</a:t>
            </a:r>
            <a:endParaRPr lang="en-US" altLang="zh-CN" sz="3000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 algn="just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3000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}</a:t>
            </a:r>
            <a:endParaRPr lang="en-US" altLang="zh-CN" sz="3000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 algn="just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3000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catch(TheException ex){ </a:t>
            </a:r>
            <a:endParaRPr lang="en-US" altLang="zh-CN" sz="3000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 algn="just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3000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  handling ex; </a:t>
            </a:r>
            <a:endParaRPr lang="en-US" altLang="zh-CN" sz="3000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 algn="just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3000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}</a:t>
            </a:r>
            <a:endParaRPr lang="en-US" altLang="zh-CN" sz="3000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 algn="just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3000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finally { </a:t>
            </a:r>
            <a:endParaRPr lang="en-US" altLang="zh-CN" sz="3000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 algn="just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3000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  finalStatements; </a:t>
            </a:r>
            <a:endParaRPr lang="en-US" altLang="zh-CN" sz="3000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 algn="just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3000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}</a:t>
            </a:r>
            <a:endParaRPr lang="en-US" altLang="zh-CN" sz="3000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92100" y="905510"/>
            <a:ext cx="8168640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lvl="1" indent="-342900" fontAlgn="auto">
              <a:lnSpc>
                <a:spcPct val="150000"/>
              </a:lnSpc>
              <a:buClr>
                <a:srgbClr val="7030A0"/>
              </a:buClr>
              <a:buFont typeface="Wingdings" panose="05000000000000000000" charset="0"/>
              <a:buChar char="n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finally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语句块在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try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语句块退出后总会被执行，这保证了不论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try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语句块中是否有异常发生，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finally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语句块都会被执行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lvl="1" indent="-342900" fontAlgn="auto">
              <a:lnSpc>
                <a:spcPct val="150000"/>
              </a:lnSpc>
              <a:buClr>
                <a:srgbClr val="7030A0"/>
              </a:buClr>
              <a:buFont typeface="Wingdings" panose="05000000000000000000" charset="0"/>
              <a:buChar char="n"/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finally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语句块在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try-catch-finally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结构中是可选的。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finally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语句块最大的作用是防止资源泄漏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zh-CN" altLang="en-US" sz="2000" dirty="0" err="1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sp>
        <p:nvSpPr>
          <p:cNvPr id="36867" name="Rectangle 2"/>
          <p:cNvSpPr>
            <a:spLocks noGrp="1"/>
          </p:cNvSpPr>
          <p:nvPr>
            <p:ph type="title"/>
          </p:nvPr>
        </p:nvSpPr>
        <p:spPr>
          <a:xfrm>
            <a:off x="0" y="0"/>
            <a:ext cx="7772400" cy="800735"/>
          </a:xfrm>
        </p:spPr>
        <p:txBody>
          <a:bodyPr vert="horz" wrap="square" lIns="92075" tIns="46038" rIns="92075" bIns="46038" anchor="ctr"/>
          <a:p>
            <a:r>
              <a:rPr lang="zh-CN" altLang="en-US" sz="3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重新抛出异常</a:t>
            </a:r>
            <a:endParaRPr lang="en-US" altLang="zh-CN" sz="3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868" name="Rectangle 3"/>
          <p:cNvSpPr>
            <a:spLocks noGrp="1"/>
          </p:cNvSpPr>
          <p:nvPr>
            <p:ph idx="1"/>
          </p:nvPr>
        </p:nvSpPr>
        <p:spPr>
          <a:xfrm>
            <a:off x="1266825" y="3133725"/>
            <a:ext cx="6019800" cy="2715260"/>
          </a:xfrm>
          <a:noFill/>
        </p:spPr>
        <p:txBody>
          <a:bodyPr vert="horz" wrap="square" lIns="92075" tIns="46038" rIns="92075" bIns="46038" anchor="t">
            <a:normAutofit fontScale="60000"/>
          </a:bodyPr>
          <a:p>
            <a:pPr>
              <a:buNone/>
            </a:pPr>
            <a:r>
              <a:rPr lang="en-US" altLang="zh-CN" sz="3000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try {  </a:t>
            </a:r>
            <a:endParaRPr lang="en-US" altLang="zh-CN" sz="3000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zh-CN" sz="3000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  statements;</a:t>
            </a:r>
            <a:endParaRPr lang="en-US" altLang="zh-CN" sz="3000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zh-CN" sz="3000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}</a:t>
            </a:r>
            <a:endParaRPr lang="en-US" altLang="zh-CN" sz="3000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zh-CN" sz="3000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catch(TheException ex) { </a:t>
            </a:r>
            <a:endParaRPr lang="en-US" altLang="zh-CN" sz="3000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zh-CN" sz="3000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  perform operations before exits;</a:t>
            </a:r>
            <a:endParaRPr lang="en-US" altLang="zh-CN" sz="3000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zh-CN" sz="3000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  throw ex;</a:t>
            </a:r>
            <a:endParaRPr lang="en-US" altLang="zh-CN" sz="3000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zh-CN" sz="3000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}</a:t>
            </a:r>
            <a:endParaRPr lang="en-US" altLang="zh-CN" sz="3000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</p:txBody>
      </p:sp>
      <p:sp>
        <p:nvSpPr>
          <p:cNvPr id="2" name="Rectangle 2"/>
          <p:cNvSpPr>
            <a:spLocks noGrp="1"/>
          </p:cNvSpPr>
          <p:nvPr/>
        </p:nvSpPr>
        <p:spPr>
          <a:xfrm>
            <a:off x="117475" y="1041400"/>
            <a:ext cx="7772400" cy="1314450"/>
          </a:xfrm>
          <a:prstGeom prst="rect">
            <a:avLst/>
          </a:prstGeom>
        </p:spPr>
        <p:txBody>
          <a:bodyPr vert="horz" wrap="square" lIns="92075" tIns="46038" rIns="92075" bIns="46038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342900" indent="-342900" fontAlgn="auto">
              <a:lnSpc>
                <a:spcPct val="150000"/>
              </a:lnSpc>
              <a:buClr>
                <a:srgbClr val="7030A0"/>
              </a:buClr>
              <a:buFont typeface="Wingdings" panose="05000000000000000000" charset="0"/>
              <a:buChar char="n"/>
            </a:pP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如果异常处理器不能处理一个异常，或者只是简单地希望它的调用者注意到这异常，</a:t>
            </a:r>
            <a:r>
              <a: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允许该异常处理器重新抛出异常</a:t>
            </a:r>
            <a:endParaRPr lang="zh-CN" altLang="en-US" sz="24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sp>
        <p:nvSpPr>
          <p:cNvPr id="51203" name="Rectangle 2"/>
          <p:cNvSpPr>
            <a:spLocks noGrp="1"/>
          </p:cNvSpPr>
          <p:nvPr>
            <p:ph type="title"/>
          </p:nvPr>
        </p:nvSpPr>
        <p:spPr>
          <a:xfrm>
            <a:off x="85725" y="-152400"/>
            <a:ext cx="7772400" cy="1019810"/>
          </a:xfrm>
        </p:spPr>
        <p:txBody>
          <a:bodyPr vert="horz" wrap="square" lIns="92075" tIns="46038" rIns="92075" bIns="46038" anchor="ctr"/>
          <a:p>
            <a:r>
              <a:rPr lang="zh-CN" altLang="en-US" sz="3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何时使用异常</a:t>
            </a:r>
            <a:endParaRPr lang="en-US" altLang="zh-CN" sz="3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204" name="Rectangle 3"/>
          <p:cNvSpPr>
            <a:spLocks noGrp="1"/>
          </p:cNvSpPr>
          <p:nvPr>
            <p:ph idx="1"/>
          </p:nvPr>
        </p:nvSpPr>
        <p:spPr>
          <a:xfrm>
            <a:off x="381000" y="1009650"/>
            <a:ext cx="8077200" cy="4724400"/>
          </a:xfrm>
        </p:spPr>
        <p:txBody>
          <a:bodyPr vert="horz" wrap="square" lIns="92075" tIns="46038" rIns="92075" bIns="46038" anchor="t"/>
          <a:p>
            <a:pPr>
              <a:lnSpc>
                <a:spcPct val="120000"/>
              </a:lnSpc>
              <a:spcAft>
                <a:spcPts val="1200"/>
              </a:spcAft>
              <a:buClr>
                <a:srgbClr val="7030A0"/>
              </a:buClr>
              <a:buFont typeface="Wingdings" panose="05000000000000000000" charset="0"/>
              <a:buChar char="n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当错误需要被方法的调用者处理的时候，方法应该抛出异常。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965" name="Rectangle 4"/>
          <p:cNvSpPr/>
          <p:nvPr/>
        </p:nvSpPr>
        <p:spPr>
          <a:xfrm>
            <a:off x="386080" y="2767330"/>
            <a:ext cx="8372475" cy="1323975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800" b="1" dirty="0">
                <a:solidFill>
                  <a:schemeClr val="tx2"/>
                </a:solidFill>
                <a:latin typeface="Courier New" panose="02070309020205020404" charset="0"/>
                <a:cs typeface="Times New Roman" panose="02020603050405020304" pitchFamily="18" charset="0"/>
              </a:rPr>
              <a:t>try {</a:t>
            </a:r>
            <a:endParaRPr lang="en-US" altLang="en-US" sz="1800" b="1" dirty="0">
              <a:solidFill>
                <a:schemeClr val="tx2"/>
              </a:solidFill>
              <a:latin typeface="Courier New" panose="0207030902020502040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800" b="1" dirty="0">
                <a:solidFill>
                  <a:schemeClr val="tx2"/>
                </a:solidFill>
                <a:latin typeface="Courier New" panose="02070309020205020404" charset="0"/>
                <a:cs typeface="Times New Roman" panose="02020603050405020304" pitchFamily="18" charset="0"/>
              </a:rPr>
              <a:t>  System.out.println(refVar.toString());</a:t>
            </a:r>
            <a:endParaRPr lang="en-US" altLang="en-US" sz="1800" b="1" dirty="0">
              <a:solidFill>
                <a:schemeClr val="tx2"/>
              </a:solidFill>
              <a:latin typeface="Courier New" panose="0207030902020502040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800" b="1" dirty="0">
                <a:solidFill>
                  <a:schemeClr val="tx2"/>
                </a:solidFill>
                <a:latin typeface="Courier New" panose="02070309020205020404" charset="0"/>
                <a:cs typeface="Times New Roman" panose="02020603050405020304" pitchFamily="18" charset="0"/>
              </a:rPr>
              <a:t>}</a:t>
            </a:r>
            <a:endParaRPr lang="en-US" altLang="en-US" sz="1800" b="1" dirty="0">
              <a:solidFill>
                <a:schemeClr val="tx2"/>
              </a:solidFill>
              <a:latin typeface="Courier New" panose="0207030902020502040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800" b="1" dirty="0">
                <a:solidFill>
                  <a:schemeClr val="tx2"/>
                </a:solidFill>
                <a:latin typeface="Courier New" panose="02070309020205020404" charset="0"/>
                <a:cs typeface="Times New Roman" panose="02020603050405020304" pitchFamily="18" charset="0"/>
              </a:rPr>
              <a:t>catch (NullPointerException ex) {</a:t>
            </a:r>
            <a:endParaRPr lang="en-US" altLang="en-US" sz="1800" b="1" dirty="0">
              <a:solidFill>
                <a:schemeClr val="tx2"/>
              </a:solidFill>
              <a:latin typeface="Courier New" panose="0207030902020502040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800" b="1" dirty="0">
                <a:solidFill>
                  <a:schemeClr val="tx2"/>
                </a:solidFill>
                <a:latin typeface="Courier New" panose="02070309020205020404" charset="0"/>
                <a:cs typeface="Times New Roman" panose="02020603050405020304" pitchFamily="18" charset="0"/>
              </a:rPr>
              <a:t>  System.out.println("refVar is null");</a:t>
            </a:r>
            <a:endParaRPr lang="en-US" altLang="en-US" sz="1800" b="1" dirty="0">
              <a:solidFill>
                <a:schemeClr val="tx2"/>
              </a:solidFill>
              <a:latin typeface="Courier New" panose="0207030902020502040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800" b="1" dirty="0">
                <a:solidFill>
                  <a:schemeClr val="tx2"/>
                </a:solidFill>
                <a:latin typeface="Courier New" panose="02070309020205020404" charset="0"/>
                <a:cs typeface="Times New Roman" panose="02020603050405020304" pitchFamily="18" charset="0"/>
              </a:rPr>
              <a:t>}</a:t>
            </a:r>
            <a:endParaRPr lang="en-US" altLang="en-US" sz="1800" b="1" dirty="0">
              <a:solidFill>
                <a:schemeClr val="tx2"/>
              </a:solidFill>
              <a:latin typeface="Courier New" panose="02070309020205020404" charset="0"/>
              <a:ea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23850" y="2073910"/>
            <a:ext cx="6583680" cy="53403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>
              <a:lnSpc>
                <a:spcPct val="12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不要用异常来处理简单的、可预料的情况。例如</a:t>
            </a:r>
            <a:endParaRPr lang="zh-CN" altLang="en-US" sz="2400" dirty="0" err="1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53253" name="Rectangle 4"/>
          <p:cNvSpPr/>
          <p:nvPr/>
        </p:nvSpPr>
        <p:spPr>
          <a:xfrm>
            <a:off x="323850" y="5114925"/>
            <a:ext cx="8587740" cy="1337945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if (refVar != null)</a:t>
            </a:r>
            <a:endParaRPr lang="en-US" altLang="zh-CN" sz="18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  System.out.println(refVar.toString());</a:t>
            </a:r>
            <a:endParaRPr lang="en-US" altLang="zh-CN" sz="18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else</a:t>
            </a:r>
            <a:endParaRPr lang="en-US" altLang="zh-CN" sz="18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  System.out.println("refVar is null");</a:t>
            </a:r>
            <a:endParaRPr lang="en-US" altLang="zh-CN" sz="18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81000" y="4515485"/>
            <a:ext cx="3230880" cy="53403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>
              <a:lnSpc>
                <a:spcPct val="120000"/>
              </a:lnSpc>
            </a:pPr>
            <a:r>
              <a:rPr lang="zh-CN" altLang="en-US" sz="2400" dirty="0" err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最好用以下代码代替：</a:t>
            </a:r>
            <a:endParaRPr lang="zh-CN" altLang="en-US" sz="2400" dirty="0" err="1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链式异常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2"/>
          </p:nvPr>
        </p:nvSpPr>
        <p:spPr/>
        <p:txBody>
          <a:bodyPr/>
          <a:p>
            <a:r>
              <a:rPr lang="zh-CN" altLang="en-US"/>
              <a:t>使用链式异常可以提供更多上下文信息，帮助调试和理解错误来源。通过将一个异常包装在另一个异常中，可以保留原始异常的信息。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r>
              <a:rPr lang="en-US" altLang="zh-CN" dirty="0" smtClean="0"/>
              <a:t>P</a:t>
            </a:r>
            <a:fld id="{62DCC93C-90AC-48A1-9D9E-CBAB17A91522}" type="slidenum">
              <a:rPr lang="zh-CN" altLang="en-US" dirty="0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764030" y="2492375"/>
            <a:ext cx="5394325" cy="39928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20000"/>
              </a:lnSpc>
            </a:pPr>
            <a:r>
              <a:rPr lang="en-US" altLang="zh-CN" sz="10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public class ChainedExceptionDemo {</a:t>
            </a:r>
            <a:endParaRPr lang="en-US" altLang="zh-CN" sz="10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0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public static void main(String[] args) {</a:t>
            </a:r>
            <a:endParaRPr lang="en-US" altLang="zh-CN" sz="10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0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try {</a:t>
            </a:r>
            <a:endParaRPr lang="en-US" altLang="zh-CN" sz="10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0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 method1();</a:t>
            </a:r>
            <a:endParaRPr lang="en-US" altLang="zh-CN" sz="10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0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}</a:t>
            </a:r>
            <a:endParaRPr lang="en-US" altLang="zh-CN" sz="10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0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catch (Exception ex) {</a:t>
            </a:r>
            <a:endParaRPr lang="en-US" altLang="zh-CN" sz="10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0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 ex.printStackTrace();</a:t>
            </a:r>
            <a:endParaRPr lang="en-US" altLang="zh-CN" sz="10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0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}</a:t>
            </a:r>
            <a:endParaRPr lang="en-US" altLang="zh-CN" sz="10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0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}</a:t>
            </a:r>
            <a:endParaRPr lang="en-US" altLang="zh-CN" sz="10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en-US" altLang="zh-CN" sz="10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0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public static void method1() throws Exception {</a:t>
            </a:r>
            <a:endParaRPr lang="en-US" altLang="zh-CN" sz="10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0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try {</a:t>
            </a:r>
            <a:endParaRPr lang="en-US" altLang="zh-CN" sz="10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0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 method2();</a:t>
            </a:r>
            <a:endParaRPr lang="en-US" altLang="zh-CN" sz="10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0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}</a:t>
            </a:r>
            <a:endParaRPr lang="en-US" altLang="zh-CN" sz="10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0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catch (Exception ex) {</a:t>
            </a:r>
            <a:endParaRPr lang="en-US" altLang="zh-CN" sz="10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0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 throw new Exception("New info from method1", ex);</a:t>
            </a:r>
            <a:endParaRPr lang="en-US" altLang="zh-CN" sz="10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0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}</a:t>
            </a:r>
            <a:endParaRPr lang="en-US" altLang="zh-CN" sz="10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0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}</a:t>
            </a:r>
            <a:endParaRPr lang="en-US" altLang="zh-CN" sz="10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en-US" altLang="zh-CN" sz="10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0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public static void method2() throws Exception {</a:t>
            </a:r>
            <a:endParaRPr lang="en-US" altLang="zh-CN" sz="10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0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throw new Exception("New info from method2");</a:t>
            </a:r>
            <a:endParaRPr lang="en-US" altLang="zh-CN" sz="10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0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}</a:t>
            </a:r>
            <a:endParaRPr lang="en-US" altLang="zh-CN" sz="10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0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}</a:t>
            </a:r>
            <a:endParaRPr lang="zh-CN" altLang="en-US" sz="10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4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sp>
        <p:nvSpPr>
          <p:cNvPr id="54275" name="Rectangle 2"/>
          <p:cNvSpPr>
            <a:spLocks noGrp="1"/>
          </p:cNvSpPr>
          <p:nvPr>
            <p:ph type="title"/>
          </p:nvPr>
        </p:nvSpPr>
        <p:spPr>
          <a:xfrm>
            <a:off x="228600" y="142875"/>
            <a:ext cx="8153400" cy="457200"/>
          </a:xfrm>
        </p:spPr>
        <p:txBody>
          <a:bodyPr vert="horz" wrap="square" lIns="92075" tIns="46038" rIns="92075" bIns="46038" anchor="ctr"/>
          <a:p>
            <a:r>
              <a:rPr lang="zh-CN" altLang="en-US" sz="4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定义自定制异常类</a:t>
            </a:r>
            <a:endParaRPr lang="en-US" altLang="zh-CN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276" name="Text Box 3"/>
          <p:cNvSpPr txBox="1"/>
          <p:nvPr/>
        </p:nvSpPr>
        <p:spPr>
          <a:xfrm>
            <a:off x="228600" y="1524000"/>
            <a:ext cx="7790180" cy="1845310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lvl="0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n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尽量使用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Java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类库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中预定义的异常类。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n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如果预定义的类不够则定义自定制的异常类。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n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通过扩展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Exception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类或其子类定义自定制的异常类</a:t>
            </a:r>
            <a:r>
              <a:rPr lang="zh-CN" altLang="en-US" sz="2800" dirty="0">
                <a:ea typeface="宋体" panose="02010600030101010101" pitchFamily="2" charset="-122"/>
              </a:rPr>
              <a:t>。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6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2075" tIns="46038" rIns="92075" bIns="46038" anchor="ctr"/>
          <a:p>
            <a:pPr>
              <a:buNone/>
            </a:pPr>
            <a:r>
              <a:rPr lang="en-US" altLang="zh-CN" dirty="0"/>
              <a:t>File</a:t>
            </a:r>
            <a:endParaRPr lang="zh-CN" altLang="en-US" dirty="0"/>
          </a:p>
        </p:txBody>
      </p:sp>
      <p:sp>
        <p:nvSpPr>
          <p:cNvPr id="57347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2075" tIns="46038" rIns="92075" bIns="46038" anchor="t"/>
          <a:p>
            <a:r>
              <a:rPr lang="zh-CN" altLang="en-US" dirty="0"/>
              <a:t>获取文件</a:t>
            </a:r>
            <a:r>
              <a:rPr lang="en-US" altLang="zh-CN" dirty="0"/>
              <a:t>/</a:t>
            </a:r>
            <a:r>
              <a:rPr lang="zh-CN" altLang="en-US" dirty="0"/>
              <a:t>目录属性；对文件</a:t>
            </a:r>
            <a:r>
              <a:rPr lang="en-US" altLang="zh-CN" dirty="0"/>
              <a:t>/</a:t>
            </a:r>
            <a:r>
              <a:rPr lang="zh-CN" altLang="en-US" dirty="0"/>
              <a:t>目录进行改名和删除等方法</a:t>
            </a:r>
            <a:endParaRPr lang="zh-CN" altLang="en-US" dirty="0"/>
          </a:p>
        </p:txBody>
      </p:sp>
      <p:sp>
        <p:nvSpPr>
          <p:cNvPr id="57348" name="灯片编号占位符 3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r"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pic>
        <p:nvPicPr>
          <p:cNvPr id="56326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0990" y="1412240"/>
            <a:ext cx="6478905" cy="5363210"/>
          </a:xfrm>
          <a:prstGeom prst="rect">
            <a:avLst/>
          </a:prstGeom>
          <a:noFill/>
          <a:ln w="12700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由Nordri®（www.nordridesign.com ） 设计提供">
  <a:themeElements>
    <a:clrScheme name="自定义 56">
      <a:dk1>
        <a:sysClr val="windowText" lastClr="000000"/>
      </a:dk1>
      <a:lt1>
        <a:sysClr val="window" lastClr="FFFFFF"/>
      </a:lt1>
      <a:dk2>
        <a:srgbClr val="595959"/>
      </a:dk2>
      <a:lt2>
        <a:srgbClr val="D8D8D8"/>
      </a:lt2>
      <a:accent1>
        <a:srgbClr val="FFC000"/>
      </a:accent1>
      <a:accent2>
        <a:srgbClr val="6DAA2D"/>
      </a:accent2>
      <a:accent3>
        <a:srgbClr val="5F5F5F"/>
      </a:accent3>
      <a:accent4>
        <a:srgbClr val="777777"/>
      </a:accent4>
      <a:accent5>
        <a:srgbClr val="B2B2B2"/>
      </a:accent5>
      <a:accent6>
        <a:srgbClr val="DDDDDD"/>
      </a:accent6>
      <a:hlink>
        <a:srgbClr val="0070C0"/>
      </a:hlink>
      <a:folHlink>
        <a:srgbClr val="7030A0"/>
      </a:folHlink>
    </a:clrScheme>
    <a:fontScheme name="Nordri开发标准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/>
        </a:solidFill>
        <a:ln w="9525">
          <a:noFill/>
        </a:ln>
      </a:spPr>
      <a:bodyPr lIns="92075" tIns="46038" rIns="92075" bIns="46038"/>
      <a:lstStyle>
        <a:defPPr marL="0" lvl="0" indent="0">
          <a:buNone/>
          <a:defRPr lang="en-US" altLang="zh-CN" sz="1600" dirty="0">
            <a:solidFill>
              <a:schemeClr val="bg2"/>
            </a:solidFill>
            <a:latin typeface="Courier New" panose="02070309020205020404" charset="0"/>
            <a:ea typeface="宋体" panose="02010600030101010101" pitchFamily="2" charset="-122"/>
          </a:defRPr>
        </a:defPPr>
      </a:lstStyle>
    </a:spDef>
    <a:txDef>
      <a:spPr>
        <a:noFill/>
      </a:spPr>
      <a:bodyPr wrap="none" rtlCol="0">
        <a:spAutoFit/>
      </a:bodyPr>
      <a:lstStyle>
        <a:defPPr>
          <a:lnSpc>
            <a:spcPct val="120000"/>
          </a:lnSpc>
          <a:defRPr sz="1600" dirty="0" err="1" smtClean="0">
            <a:solidFill>
              <a:prstClr val="black"/>
            </a:solidFill>
            <a:latin typeface="Arial" panose="020B0604020202020204" pitchFamily="34" charset="0"/>
            <a:ea typeface="微软雅黑" panose="020B0503020204020204" pitchFamily="34" charset="-122"/>
            <a:cs typeface="Arial" panose="020B0604020202020204" pitchFamily="34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0</TotalTime>
  <Words>5763</Words>
  <Application>WPS 演示</Application>
  <PresentationFormat>全屏显示(4:3)</PresentationFormat>
  <Paragraphs>325</Paragraphs>
  <Slides>26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9</vt:i4>
      </vt:variant>
      <vt:variant>
        <vt:lpstr>幻灯片标题</vt:lpstr>
      </vt:variant>
      <vt:variant>
        <vt:i4>26</vt:i4>
      </vt:variant>
    </vt:vector>
  </HeadingPairs>
  <TitlesOfParts>
    <vt:vector size="48" baseType="lpstr">
      <vt:lpstr>Arial</vt:lpstr>
      <vt:lpstr>宋体</vt:lpstr>
      <vt:lpstr>Wingdings</vt:lpstr>
      <vt:lpstr>Courier New</vt:lpstr>
      <vt:lpstr>微软雅黑</vt:lpstr>
      <vt:lpstr>黑体</vt:lpstr>
      <vt:lpstr>Times New Roman</vt:lpstr>
      <vt:lpstr>Calibri</vt:lpstr>
      <vt:lpstr>Monotype Sorts</vt:lpstr>
      <vt:lpstr>Wingdings</vt:lpstr>
      <vt:lpstr>Arial Unicode MS</vt:lpstr>
      <vt:lpstr>Courier</vt:lpstr>
      <vt:lpstr>由Nordri®（www.nordridesign.com ） 设计提供</vt:lpstr>
      <vt:lpstr>Word.Picture.8</vt:lpstr>
      <vt:lpstr>Word.Picture.8</vt:lpstr>
      <vt:lpstr>Word.Picture.8</vt:lpstr>
      <vt:lpstr>Word.Picture.8</vt:lpstr>
      <vt:lpstr>Word.Picture.8</vt:lpstr>
      <vt:lpstr>Word.Picture.8</vt:lpstr>
      <vt:lpstr>Visio.Drawing.11</vt:lpstr>
      <vt:lpstr>Visio.Drawing.11</vt:lpstr>
      <vt:lpstr>Word.Picture.8</vt:lpstr>
      <vt:lpstr>面向对象程序设计</vt:lpstr>
      <vt:lpstr>为什么需要异常处理</vt:lpstr>
      <vt:lpstr>程序清单12-3</vt:lpstr>
      <vt:lpstr>程序清单12-4</vt:lpstr>
      <vt:lpstr>异常处理的优点</vt:lpstr>
      <vt:lpstr>异常类型</vt:lpstr>
      <vt:lpstr>系统错误</vt:lpstr>
      <vt:lpstr>异 常</vt:lpstr>
      <vt:lpstr>运行时异常</vt:lpstr>
      <vt:lpstr>必检异常和免检异常</vt:lpstr>
      <vt:lpstr>PowerPoint 演示文稿</vt:lpstr>
      <vt:lpstr>免检异常</vt:lpstr>
      <vt:lpstr>声明、抛出和捕获异常</vt:lpstr>
      <vt:lpstr>声明异常</vt:lpstr>
      <vt:lpstr>抛出异常 </vt:lpstr>
      <vt:lpstr>抛出异常举例</vt:lpstr>
      <vt:lpstr>捕获异常</vt:lpstr>
      <vt:lpstr>捕获异常</vt:lpstr>
      <vt:lpstr>捕获或声明必检异常</vt:lpstr>
      <vt:lpstr>异常栈</vt:lpstr>
      <vt:lpstr>finally子句</vt:lpstr>
      <vt:lpstr>重新抛出异常</vt:lpstr>
      <vt:lpstr>何时使用异常</vt:lpstr>
      <vt:lpstr>链式异常</vt:lpstr>
      <vt:lpstr>定义自定制异常类</vt:lpstr>
      <vt:lpstr>File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Java程序设计</dc:title>
  <dc:creator>yangrl</dc:creator>
  <dc:description>Nordri® 
专注于有效的信息传递设计
www.nordridesign.com</dc:description>
  <dc:subject>PPT模板/图示</dc:subject>
  <cp:lastModifiedBy>大灰很</cp:lastModifiedBy>
  <cp:revision>835</cp:revision>
  <dcterms:created xsi:type="dcterms:W3CDTF">2017-02-24T02:44:00Z</dcterms:created>
  <dcterms:modified xsi:type="dcterms:W3CDTF">2026-05-30T11:47:40Z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280499</vt:lpwstr>
  </property>
  <property fmtid="{D5CDD505-2E9C-101B-9397-08002B2CF9AE}" pid="3" name="NXPowerLiteSettings">
    <vt:lpwstr>F7000400038000</vt:lpwstr>
  </property>
  <property fmtid="{D5CDD505-2E9C-101B-9397-08002B2CF9AE}" pid="4" name="NXPowerLiteVersion">
    <vt:lpwstr>D5.0.6</vt:lpwstr>
  </property>
  <property fmtid="{D5CDD505-2E9C-101B-9397-08002B2CF9AE}" pid="5" name="KSOProductBuildVer">
    <vt:lpwstr>2052-12.1.0.26375</vt:lpwstr>
  </property>
  <property fmtid="{D5CDD505-2E9C-101B-9397-08002B2CF9AE}" pid="6" name="ICV">
    <vt:lpwstr>C72F6AC1727F424FA22208580607A28A</vt:lpwstr>
  </property>
</Properties>
</file>