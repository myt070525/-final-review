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wmf" ContentType="image/x-wmf"/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4"/>
  </p:notesMasterIdLst>
  <p:handoutMasterIdLst>
    <p:handoutMasterId r:id="rId50"/>
  </p:handoutMasterIdLst>
  <p:sldIdLst>
    <p:sldId id="256" r:id="rId3"/>
    <p:sldId id="817" r:id="rId5"/>
    <p:sldId id="818" r:id="rId6"/>
    <p:sldId id="819" r:id="rId7"/>
    <p:sldId id="820" r:id="rId8"/>
    <p:sldId id="502" r:id="rId9"/>
    <p:sldId id="517" r:id="rId10"/>
    <p:sldId id="616" r:id="rId11"/>
    <p:sldId id="518" r:id="rId12"/>
    <p:sldId id="519" r:id="rId13"/>
    <p:sldId id="530" r:id="rId14"/>
    <p:sldId id="531" r:id="rId15"/>
    <p:sldId id="534" r:id="rId16"/>
    <p:sldId id="535" r:id="rId17"/>
    <p:sldId id="538" r:id="rId18"/>
    <p:sldId id="544" r:id="rId19"/>
    <p:sldId id="553" r:id="rId20"/>
    <p:sldId id="557" r:id="rId21"/>
    <p:sldId id="570" r:id="rId22"/>
    <p:sldId id="823" r:id="rId23"/>
    <p:sldId id="572" r:id="rId24"/>
    <p:sldId id="587" r:id="rId25"/>
    <p:sldId id="590" r:id="rId26"/>
    <p:sldId id="592" r:id="rId27"/>
    <p:sldId id="595" r:id="rId28"/>
    <p:sldId id="822" r:id="rId29"/>
    <p:sldId id="821" r:id="rId30"/>
    <p:sldId id="715" r:id="rId31"/>
    <p:sldId id="824" r:id="rId32"/>
    <p:sldId id="716" r:id="rId33"/>
    <p:sldId id="717" r:id="rId34"/>
    <p:sldId id="718" r:id="rId35"/>
    <p:sldId id="719" r:id="rId36"/>
    <p:sldId id="720" r:id="rId37"/>
    <p:sldId id="723" r:id="rId38"/>
    <p:sldId id="721" r:id="rId39"/>
    <p:sldId id="742" r:id="rId40"/>
    <p:sldId id="748" r:id="rId41"/>
    <p:sldId id="749" r:id="rId42"/>
    <p:sldId id="750" r:id="rId43"/>
    <p:sldId id="755" r:id="rId44"/>
    <p:sldId id="756" r:id="rId45"/>
    <p:sldId id="757" r:id="rId46"/>
    <p:sldId id="758" r:id="rId47"/>
    <p:sldId id="759" r:id="rId48"/>
    <p:sldId id="760" r:id="rId49"/>
  </p:sldIdLst>
  <p:sldSz cx="9144000" cy="6858000" type="screen4x3"/>
  <p:notesSz cx="6858000" cy="9144000"/>
  <p:custDataLst>
    <p:tags r:id="rId5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5" userDrawn="1">
          <p15:clr>
            <a:srgbClr val="A4A3A4"/>
          </p15:clr>
        </p15:guide>
        <p15:guide id="2" orient="horz" pos="4234" userDrawn="1">
          <p15:clr>
            <a:srgbClr val="A4A3A4"/>
          </p15:clr>
        </p15:guide>
        <p15:guide id="3" orient="horz" pos="4065" userDrawn="1">
          <p15:clr>
            <a:srgbClr val="A4A3A4"/>
          </p15:clr>
        </p15:guide>
        <p15:guide id="4" orient="horz" pos="503" userDrawn="1">
          <p15:clr>
            <a:srgbClr val="A4A3A4"/>
          </p15:clr>
        </p15:guide>
        <p15:guide id="5" orient="horz" pos="617" userDrawn="1">
          <p15:clr>
            <a:srgbClr val="A4A3A4"/>
          </p15:clr>
        </p15:guide>
        <p15:guide id="6" pos="2795" userDrawn="1">
          <p15:clr>
            <a:srgbClr val="A4A3A4"/>
          </p15:clr>
        </p15:guide>
        <p15:guide id="7" pos="5465" userDrawn="1">
          <p15:clr>
            <a:srgbClr val="A4A3A4"/>
          </p15:clr>
        </p15:guide>
        <p15:guide id="8" pos="29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05200"/>
    <a:srgbClr val="C06000"/>
    <a:srgbClr val="039ABD"/>
    <a:srgbClr val="1D8DA3"/>
    <a:srgbClr val="099AB7"/>
    <a:srgbClr val="33CCFF"/>
    <a:srgbClr val="CCFFFF"/>
    <a:srgbClr val="F3B10D"/>
    <a:srgbClr val="CCFF66"/>
    <a:srgbClr val="66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14" autoAdjust="0"/>
    <p:restoredTop sz="94660"/>
  </p:normalViewPr>
  <p:slideViewPr>
    <p:cSldViewPr showGuides="1">
      <p:cViewPr varScale="1">
        <p:scale>
          <a:sx n="89" d="100"/>
          <a:sy n="89" d="100"/>
        </p:scale>
        <p:origin x="1238" y="-106"/>
      </p:cViewPr>
      <p:guideLst>
        <p:guide orient="horz" pos="2135"/>
        <p:guide orient="horz" pos="4234"/>
        <p:guide orient="horz" pos="4065"/>
        <p:guide orient="horz" pos="503"/>
        <p:guide orient="horz" pos="617"/>
        <p:guide pos="2795"/>
        <p:guide pos="5465"/>
        <p:guide pos="295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59" d="100"/>
          <a:sy n="59" d="100"/>
        </p:scale>
        <p:origin x="2454" y="24"/>
      </p:cViewPr>
      <p:guideLst>
        <p:guide orient="horz" pos="2846"/>
        <p:guide pos="2096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4" Type="http://schemas.openxmlformats.org/officeDocument/2006/relationships/tags" Target="tags/tag2.xml"/><Relationship Id="rId53" Type="http://schemas.openxmlformats.org/officeDocument/2006/relationships/tableStyles" Target="tableStyles.xml"/><Relationship Id="rId52" Type="http://schemas.openxmlformats.org/officeDocument/2006/relationships/viewProps" Target="viewProps.xml"/><Relationship Id="rId51" Type="http://schemas.openxmlformats.org/officeDocument/2006/relationships/presProps" Target="presProps.xml"/><Relationship Id="rId50" Type="http://schemas.openxmlformats.org/officeDocument/2006/relationships/handoutMaster" Target="handoutMasters/handoutMaster1.xml"/><Relationship Id="rId5" Type="http://schemas.openxmlformats.org/officeDocument/2006/relationships/slide" Target="slides/slide2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wmf"/></Relationships>
</file>

<file path=ppt/drawings/_rels/vmlDrawing5.vml.rels><?xml version="1.0" encoding="UTF-8" standalone="yes"?>
<Relationships xmlns="http://schemas.openxmlformats.org/package/2006/relationships"><Relationship Id="rId2" Type="http://schemas.openxmlformats.org/officeDocument/2006/relationships/image" Target="../media/image11.wmf"/><Relationship Id="rId1" Type="http://schemas.openxmlformats.org/officeDocument/2006/relationships/image" Target="../media/image10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w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6.e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9.w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20.w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21.e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2.w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4.w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26.wmf"/></Relationships>
</file>

<file path=ppt/drawings/_rels/vmlDrawing14.vml.rels><?xml version="1.0" encoding="UTF-8" standalone="yes"?>
<Relationships xmlns="http://schemas.openxmlformats.org/package/2006/relationships"><Relationship Id="rId1" Type="http://schemas.openxmlformats.org/officeDocument/2006/relationships/image" Target="../media/image27.wmf"/></Relationships>
</file>

<file path=ppt/drawings/_rels/vmlDrawing15.vml.rels><?xml version="1.0" encoding="UTF-8" standalone="yes"?>
<Relationships xmlns="http://schemas.openxmlformats.org/package/2006/relationships"><Relationship Id="rId1" Type="http://schemas.openxmlformats.org/officeDocument/2006/relationships/image" Target="../media/image28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AB19548-F454-4331-83C2-8A7F164E39A3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E25D8A-A620-4ACE-B1CF-F6E9B44ECD23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CE75B1-D996-41EC-AA92-8E0F9339AE2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ACBB548-4544-46A5-8423-F94A584A1612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5602" name="Rectangle 2"/>
          <p:cNvSpPr>
            <a:spLocks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5603" name="Rectangle 3"/>
          <p:cNvSpPr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 w="12700">
            <a:noFill/>
          </a:ln>
        </p:spPr>
        <p:txBody>
          <a:bodyPr/>
          <a:p>
            <a:pPr lvl="0"/>
            <a:endParaRPr lang="zh-CN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3794" name="Rectangle 2"/>
          <p:cNvSpPr>
            <a:spLocks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3795" name="Rectangle 3"/>
          <p:cNvSpPr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 w="12700">
            <a:noFill/>
          </a:ln>
        </p:spPr>
        <p:txBody>
          <a:bodyPr/>
          <a:p>
            <a:pPr lvl="0"/>
            <a:endParaRPr lang="zh-CN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8066" name="Rectangle 2"/>
          <p:cNvSpPr>
            <a:spLocks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88067" name="Rectangle 3"/>
          <p:cNvSpPr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 w="12700">
            <a:noFill/>
          </a:ln>
        </p:spPr>
        <p:txBody>
          <a:bodyPr/>
          <a:p>
            <a:pPr lvl="0"/>
            <a:endParaRPr lang="zh-CN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3186" name="Rectangle 2"/>
          <p:cNvSpPr>
            <a:spLocks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3187" name="Rectangle 3"/>
          <p:cNvSpPr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 w="12700">
            <a:noFill/>
          </a:ln>
        </p:spPr>
        <p:txBody>
          <a:bodyPr/>
          <a:p>
            <a:pPr lvl="0"/>
            <a:endParaRPr lang="zh-CN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1378" name="Rectangle 2"/>
          <p:cNvSpPr>
            <a:spLocks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01379" name="Rectangle 3"/>
          <p:cNvSpPr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 w="12700">
            <a:noFill/>
          </a:ln>
        </p:spPr>
        <p:txBody>
          <a:bodyPr/>
          <a:p>
            <a:pPr lvl="0"/>
            <a:endParaRPr lang="zh-CN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zh-CN"/>
              <a:t>Java</a:t>
            </a:r>
            <a:r>
              <a:rPr lang="zh-CN" altLang="en-US"/>
              <a:t>对象（</a:t>
            </a:r>
            <a:r>
              <a:rPr lang="en-US" altLang="zh-CN"/>
              <a:t>Object</a:t>
            </a:r>
            <a:r>
              <a:rPr lang="zh-CN" altLang="en-US"/>
              <a:t>实例）的三部分</a:t>
            </a:r>
            <a:endParaRPr lang="zh-CN" altLang="en-US"/>
          </a:p>
          <a:p>
            <a:r>
              <a:rPr lang="zh-CN" altLang="en-US"/>
              <a:t>对象头</a:t>
            </a:r>
            <a:endParaRPr lang="zh-CN" altLang="en-US"/>
          </a:p>
          <a:p>
            <a:r>
              <a:rPr lang="zh-CN" altLang="en-US"/>
              <a:t>对象头包括三个字段，第一个字段叫作</a:t>
            </a:r>
            <a:r>
              <a:rPr lang="en-US" altLang="zh-CN"/>
              <a:t>Mark Word</a:t>
            </a:r>
            <a:r>
              <a:rPr lang="zh-CN" altLang="en-US"/>
              <a:t>（标记字），用于存储自身运行时的数据，例如</a:t>
            </a:r>
            <a:r>
              <a:rPr lang="en-US" altLang="zh-CN"/>
              <a:t>GC</a:t>
            </a:r>
            <a:r>
              <a:rPr lang="zh-CN" altLang="en-US"/>
              <a:t>标志位、哈希码、锁状态等信息。第二个字段叫作</a:t>
            </a:r>
            <a:r>
              <a:rPr lang="en-US" altLang="zh-CN"/>
              <a:t>Class Pointer</a:t>
            </a:r>
            <a:r>
              <a:rPr lang="zh-CN" altLang="en-US"/>
              <a:t>（类对象指针），用于存放方法区</a:t>
            </a:r>
            <a:r>
              <a:rPr lang="en-US" altLang="zh-CN"/>
              <a:t>Class</a:t>
            </a:r>
            <a:r>
              <a:rPr lang="zh-CN" altLang="en-US"/>
              <a:t>对象的地址，虚拟机通过这个指针来确定这个对象是哪个类的实例；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第三个字段叫作</a:t>
            </a:r>
            <a:r>
              <a:rPr lang="en-US" altLang="zh-CN"/>
              <a:t>Array Length</a:t>
            </a:r>
            <a:r>
              <a:rPr lang="zh-CN" altLang="en-US"/>
              <a:t>（数组长度）。如果对象是一个</a:t>
            </a:r>
            <a:r>
              <a:rPr lang="en-US" altLang="zh-CN"/>
              <a:t>Java</a:t>
            </a:r>
            <a:r>
              <a:rPr lang="zh-CN" altLang="en-US"/>
              <a:t>数组，那么此字段必须有，用于记录数组长度的数据；如果对象不是一个</a:t>
            </a:r>
            <a:r>
              <a:rPr lang="en-US" altLang="zh-CN"/>
              <a:t>Java</a:t>
            </a:r>
            <a:r>
              <a:rPr lang="zh-CN" altLang="en-US"/>
              <a:t>数组，那么此字段不存在，所以这是一个可选字段；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对象体</a:t>
            </a:r>
            <a:endParaRPr lang="zh-CN" altLang="en-US"/>
          </a:p>
          <a:p>
            <a:r>
              <a:rPr lang="zh-CN" altLang="en-US"/>
              <a:t>对象体包含对象的实例变量（成员变量），用于成员属性值，包括父类的成员属性值。这部分内存按</a:t>
            </a:r>
            <a:r>
              <a:rPr lang="en-US" altLang="zh-CN"/>
              <a:t>4</a:t>
            </a:r>
            <a:r>
              <a:rPr lang="zh-CN" altLang="en-US"/>
              <a:t>字节对齐；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对齐字节</a:t>
            </a:r>
            <a:endParaRPr lang="zh-CN" altLang="en-US"/>
          </a:p>
          <a:p>
            <a:r>
              <a:rPr lang="zh-CN" altLang="en-US"/>
              <a:t>对齐字节也叫作填充对齐，其作用是用来保证</a:t>
            </a:r>
            <a:r>
              <a:rPr lang="en-US" altLang="zh-CN"/>
              <a:t>Java</a:t>
            </a:r>
            <a:r>
              <a:rPr lang="zh-CN" altLang="en-US"/>
              <a:t>对象所占内存字节数为</a:t>
            </a:r>
            <a:r>
              <a:rPr lang="en-US" altLang="zh-CN"/>
              <a:t>8</a:t>
            </a:r>
            <a:r>
              <a:rPr lang="zh-CN" altLang="en-US"/>
              <a:t>的倍</a:t>
            </a:r>
            <a:r>
              <a:rPr lang="en-US" altLang="zh-CN"/>
              <a:t>HotSpot VM</a:t>
            </a:r>
            <a:r>
              <a:rPr lang="zh-CN" altLang="en-US"/>
              <a:t>的内存管理要求对象起始地址必须是</a:t>
            </a:r>
            <a:r>
              <a:rPr lang="en-US" altLang="zh-CN"/>
              <a:t>8</a:t>
            </a:r>
            <a:r>
              <a:rPr lang="zh-CN" altLang="en-US"/>
              <a:t>字节的整数倍。对象头本身是</a:t>
            </a:r>
            <a:r>
              <a:rPr lang="en-US" altLang="zh-CN"/>
              <a:t>8</a:t>
            </a:r>
            <a:r>
              <a:rPr lang="zh-CN" altLang="en-US"/>
              <a:t>的数，当对象的实例变量数据不是</a:t>
            </a:r>
            <a:r>
              <a:rPr lang="en-US" altLang="zh-CN"/>
              <a:t>8</a:t>
            </a:r>
            <a:r>
              <a:rPr lang="zh-CN" altLang="en-US"/>
              <a:t>的倍数时，便需要填充数据来保证</a:t>
            </a:r>
            <a:r>
              <a:rPr lang="en-US" altLang="zh-CN"/>
              <a:t>8</a:t>
            </a:r>
            <a:r>
              <a:rPr lang="zh-CN" altLang="en-US"/>
              <a:t>字节的对齐；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对象结构中核心字段的作用</a:t>
            </a:r>
            <a:endParaRPr lang="zh-CN" altLang="en-US"/>
          </a:p>
          <a:p>
            <a:r>
              <a:rPr lang="zh-CN" altLang="en-US"/>
              <a:t>接下来，对</a:t>
            </a:r>
            <a:r>
              <a:rPr lang="en-US" altLang="zh-CN"/>
              <a:t>Object</a:t>
            </a:r>
            <a:r>
              <a:rPr lang="zh-CN" altLang="en-US"/>
              <a:t>实例结构中几个重要的字段的作用做一下简要说明：</a:t>
            </a:r>
            <a:endParaRPr lang="zh-CN" altLang="en-US"/>
          </a:p>
          <a:p>
            <a:endParaRPr lang="en-US" altLang="zh-CN"/>
          </a:p>
          <a:p>
            <a:r>
              <a:rPr lang="en-US" altLang="zh-CN"/>
              <a:t>Mark Word</a:t>
            </a:r>
            <a:r>
              <a:rPr lang="zh-CN" altLang="en-US"/>
              <a:t>（标记字）</a:t>
            </a:r>
            <a:endParaRPr lang="zh-CN" altLang="en-US"/>
          </a:p>
          <a:p>
            <a:r>
              <a:rPr lang="zh-CN" altLang="en-US"/>
              <a:t>主要用来表示对象的线程锁状态，另外还可以用来配合</a:t>
            </a:r>
            <a:r>
              <a:rPr lang="en-US" altLang="zh-CN"/>
              <a:t>GC</a:t>
            </a:r>
            <a:r>
              <a:rPr lang="zh-CN" altLang="en-US"/>
              <a:t>存放该对象的</a:t>
            </a:r>
            <a:r>
              <a:rPr lang="en-US" altLang="zh-CN"/>
              <a:t>hashCode</a:t>
            </a:r>
            <a:r>
              <a:rPr lang="zh-CN" altLang="en-US"/>
              <a:t>。</a:t>
            </a:r>
            <a:endParaRPr lang="zh-CN" altLang="en-US"/>
          </a:p>
          <a:p>
            <a:endParaRPr lang="en-US" altLang="zh-CN"/>
          </a:p>
          <a:p>
            <a:r>
              <a:rPr lang="en-US" altLang="zh-CN"/>
              <a:t>Class Pointer</a:t>
            </a:r>
            <a:r>
              <a:rPr lang="zh-CN" altLang="en-US"/>
              <a:t>（类对象指针）</a:t>
            </a:r>
            <a:endParaRPr lang="zh-CN" altLang="en-US"/>
          </a:p>
          <a:p>
            <a:r>
              <a:rPr lang="zh-CN" altLang="en-US"/>
              <a:t>一个指向方法区中</a:t>
            </a:r>
            <a:r>
              <a:rPr lang="en-US" altLang="zh-CN"/>
              <a:t>Class</a:t>
            </a:r>
            <a:r>
              <a:rPr lang="zh-CN" altLang="en-US"/>
              <a:t>信息的指针，意味着该对象可随时知道自己是哪个</a:t>
            </a:r>
            <a:r>
              <a:rPr lang="en-US" altLang="zh-CN"/>
              <a:t>Class</a:t>
            </a:r>
            <a:r>
              <a:rPr lang="zh-CN" altLang="en-US"/>
              <a:t>的实例。</a:t>
            </a:r>
            <a:endParaRPr lang="zh-CN" altLang="en-US"/>
          </a:p>
          <a:p>
            <a:endParaRPr lang="en-US" altLang="zh-CN"/>
          </a:p>
          <a:p>
            <a:r>
              <a:rPr lang="en-US" altLang="zh-CN"/>
              <a:t>Array Length</a:t>
            </a:r>
            <a:r>
              <a:rPr lang="zh-CN" altLang="en-US"/>
              <a:t>（数组长度）</a:t>
            </a:r>
            <a:endParaRPr lang="zh-CN" altLang="en-US"/>
          </a:p>
          <a:p>
            <a:r>
              <a:rPr lang="zh-CN" altLang="en-US"/>
              <a:t>占用</a:t>
            </a:r>
            <a:r>
              <a:rPr lang="en-US" altLang="zh-CN"/>
              <a:t>32</a:t>
            </a:r>
            <a:r>
              <a:rPr lang="zh-CN" altLang="en-US"/>
              <a:t>位（在</a:t>
            </a:r>
            <a:r>
              <a:rPr lang="en-US" altLang="zh-CN"/>
              <a:t>32</a:t>
            </a:r>
            <a:r>
              <a:rPr lang="zh-CN" altLang="en-US"/>
              <a:t>位</a:t>
            </a:r>
            <a:r>
              <a:rPr lang="en-US" altLang="zh-CN"/>
              <a:t>JVM</a:t>
            </a:r>
            <a:r>
              <a:rPr lang="zh-CN" altLang="en-US"/>
              <a:t>中）字节，这是可选的，只有当本对象是一个数组对象时才会有这个部分。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对象体</a:t>
            </a:r>
            <a:endParaRPr lang="zh-CN" altLang="en-US"/>
          </a:p>
          <a:p>
            <a:r>
              <a:rPr lang="zh-CN" altLang="en-US"/>
              <a:t>用于保存对象属性值，是对象的主体部分，占用的内存空间大小取决于对象的属性数量和类型。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对齐字节</a:t>
            </a:r>
            <a:endParaRPr lang="zh-CN" altLang="en-US"/>
          </a:p>
          <a:p>
            <a:r>
              <a:rPr lang="zh-CN" altLang="en-US"/>
              <a:t>不是必然存在的，也没有特别的含义，它仅仅起着占位符的作用。当对象实例数据部分没有对齐（</a:t>
            </a:r>
            <a:r>
              <a:rPr lang="en-US" altLang="zh-CN"/>
              <a:t>8</a:t>
            </a:r>
            <a:r>
              <a:rPr lang="zh-CN" altLang="en-US"/>
              <a:t>字节的整数倍）时，就需要通过对齐填充来补全。</a:t>
            </a:r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hyperlink" Target="http://www.nordridesign.com/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://www.nordridesign.com/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Picture 5" descr="E:\PAT 图片资源素材\PPT\待整理\精选 0 (13).jpg"/>
          <p:cNvPicPr>
            <a:picLocks noChangeAspect="1" noChangeArrowheads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074" r="11656" b="3263"/>
          <a:stretch>
            <a:fillRect/>
          </a:stretch>
        </p:blipFill>
        <p:spPr bwMode="auto">
          <a:xfrm flipV="1">
            <a:off x="3111190" y="-1"/>
            <a:ext cx="6057842" cy="6857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5" name="矩形 11"/>
          <p:cNvSpPr>
            <a:spLocks noChangeArrowheads="1"/>
          </p:cNvSpPr>
          <p:nvPr userDrawn="1"/>
        </p:nvSpPr>
        <p:spPr bwMode="auto">
          <a:xfrm>
            <a:off x="19228" y="6886078"/>
            <a:ext cx="9144000" cy="287338"/>
          </a:xfrm>
          <a:prstGeom prst="rect">
            <a:avLst/>
          </a:prstGeom>
          <a:solidFill>
            <a:srgbClr val="BBBFC3">
              <a:alpha val="0"/>
            </a:srgbClr>
          </a:solidFill>
          <a:ln>
            <a:noFill/>
          </a:ln>
        </p:spPr>
        <p:txBody>
          <a:bodyPr anchor="ctr"/>
          <a:lstStyle/>
          <a:p>
            <a:pPr marL="622300" lvl="0"/>
            <a:endParaRPr lang="en-US" altLang="zh-CN" sz="1100" dirty="0">
              <a:cs typeface="Arial" panose="020B0604020202020204" pitchFamily="34" charset="0"/>
            </a:endParaRPr>
          </a:p>
        </p:txBody>
      </p:sp>
      <p:sp>
        <p:nvSpPr>
          <p:cNvPr id="23" name="Rectangle 5">
            <a:hlinkClick r:id="rId3"/>
          </p:cNvPr>
          <p:cNvSpPr txBox="1">
            <a:spLocks noChangeArrowheads="1"/>
          </p:cNvSpPr>
          <p:nvPr userDrawn="1"/>
        </p:nvSpPr>
        <p:spPr bwMode="gray">
          <a:xfrm>
            <a:off x="-17285" y="5876800"/>
            <a:ext cx="3059832" cy="504527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29000"/>
                </a:schemeClr>
              </a:gs>
              <a:gs pos="100000">
                <a:schemeClr val="bg1">
                  <a:lumMod val="75000"/>
                  <a:alpha val="48000"/>
                </a:schemeClr>
              </a:gs>
            </a:gsLst>
            <a:lin ang="10800000" scaled="1"/>
            <a:tileRect/>
          </a:gradFill>
          <a:ln>
            <a:noFill/>
          </a:ln>
        </p:spPr>
        <p:txBody>
          <a:bodyPr lIns="144000" rIns="50400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2" charset="-122"/>
              </a:defRPr>
            </a:lvl9pPr>
          </a:lstStyle>
          <a:p>
            <a:pPr marL="0" indent="355600" algn="l" eaLnBrk="0" hangingPunct="0">
              <a:spcBef>
                <a:spcPct val="60000"/>
              </a:spcBef>
              <a:buClr>
                <a:schemeClr val="accent1"/>
              </a:buClr>
            </a:pPr>
            <a:endParaRPr lang="en-US" altLang="zh-CN" sz="1400" i="1" noProof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 userDrawn="1">
            <p:ph type="ctrTitle"/>
          </p:nvPr>
        </p:nvSpPr>
        <p:spPr>
          <a:xfrm>
            <a:off x="468313" y="2132856"/>
            <a:ext cx="6047903" cy="639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5400" b="1">
                <a:solidFill>
                  <a:schemeClr val="tx1"/>
                </a:solidFill>
                <a:latin typeface="+mj-ea"/>
                <a:ea typeface="+mj-ea"/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 userDrawn="1">
            <p:ph type="subTitle" idx="1" hasCustomPrompt="1"/>
          </p:nvPr>
        </p:nvSpPr>
        <p:spPr>
          <a:xfrm>
            <a:off x="468314" y="2952936"/>
            <a:ext cx="6047292" cy="372244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3600">
                <a:solidFill>
                  <a:schemeClr val="tx1"/>
                </a:solidFill>
                <a:latin typeface="+mj-ea"/>
                <a:ea typeface="+mj-ea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6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altLang="zh-CN" dirty="0" smtClean="0"/>
              <a:t>P</a:t>
            </a:r>
            <a:fld id="{62DCC93C-90AC-48A1-9D9E-CBAB17A91522}" type="slidenum">
              <a:rPr lang="zh-CN" altLang="en-US" dirty="0" smtClean="0"/>
            </a:fld>
            <a:endParaRPr lang="zh-CN" altLang="en-US" dirty="0"/>
          </a:p>
        </p:txBody>
      </p:sp>
      <p:sp>
        <p:nvSpPr>
          <p:cNvPr id="5" name="内容占位符 8"/>
          <p:cNvSpPr>
            <a:spLocks noGrp="1"/>
          </p:cNvSpPr>
          <p:nvPr>
            <p:ph sz="quarter" idx="12" hasCustomPrompt="1"/>
          </p:nvPr>
        </p:nvSpPr>
        <p:spPr>
          <a:xfrm>
            <a:off x="468312" y="981075"/>
            <a:ext cx="8207376" cy="5400675"/>
          </a:xfrm>
        </p:spPr>
        <p:txBody>
          <a:bodyPr/>
          <a:lstStyle>
            <a:lvl1pPr>
              <a:lnSpc>
                <a:spcPct val="120000"/>
              </a:lnSpc>
              <a:buClr>
                <a:srgbClr val="7030A0"/>
              </a:buClr>
              <a:buSzPct val="70000"/>
              <a:buFont typeface="Wingdings" panose="05000000000000000000" pitchFamily="2" charset="2"/>
              <a:buChar char="n"/>
              <a:defRPr sz="2600" baseline="0"/>
            </a:lvl1pPr>
            <a:lvl2pPr marL="742950" indent="-285750">
              <a:buFont typeface="Wingdings" panose="05000000000000000000" pitchFamily="2" charset="2"/>
              <a:buChar char="l"/>
              <a:defRPr sz="2200"/>
            </a:lvl2pPr>
            <a:lvl3pPr>
              <a:defRPr sz="1600"/>
            </a:lvl3pPr>
          </a:lstStyle>
          <a:p>
            <a:pPr lvl="0"/>
            <a:r>
              <a:rPr lang="zh-CN" altLang="en-US" dirty="0" smtClean="0"/>
              <a:t>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pic>
        <p:nvPicPr>
          <p:cNvPr id="6" name="Picture 2"/>
          <p:cNvPicPr>
            <a:picLocks noChangeAspect="1" noChangeArrowheads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77838" y="6381750"/>
            <a:ext cx="8188325" cy="115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3"/>
          <p:cNvSpPr>
            <a:spLocks noGrp="1"/>
          </p:cNvSpPr>
          <p:nvPr>
            <p:ph type="sldNum" sz="quarter" idx="11"/>
          </p:nvPr>
        </p:nvSpPr>
        <p:spPr>
          <a:xfrm>
            <a:off x="468313" y="6453188"/>
            <a:ext cx="1007343" cy="268287"/>
          </a:xfrm>
        </p:spPr>
        <p:txBody>
          <a:bodyPr/>
          <a:lstStyle/>
          <a:p>
            <a:r>
              <a:rPr lang="en-US" altLang="zh-CN" dirty="0" smtClean="0"/>
              <a:t>P</a:t>
            </a:r>
            <a:fld id="{62DCC93C-90AC-48A1-9D9E-CBAB17A91522}" type="slidenum">
              <a:rPr lang="zh-CN" altLang="en-US" dirty="0" smtClean="0"/>
            </a:fld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3"/>
          <p:cNvSpPr>
            <a:spLocks noGrp="1"/>
          </p:cNvSpPr>
          <p:nvPr>
            <p:ph type="sldNum" sz="quarter" idx="11"/>
          </p:nvPr>
        </p:nvSpPr>
        <p:spPr>
          <a:xfrm>
            <a:off x="468313" y="6453188"/>
            <a:ext cx="1007343" cy="268287"/>
          </a:xfrm>
        </p:spPr>
        <p:txBody>
          <a:bodyPr/>
          <a:lstStyle/>
          <a:p>
            <a:r>
              <a:rPr lang="en-US" altLang="zh-CN" dirty="0" smtClean="0"/>
              <a:t>P</a:t>
            </a:r>
            <a:fld id="{62DCC93C-90AC-48A1-9D9E-CBAB17A91522}" type="slidenum">
              <a:rPr lang="zh-CN" altLang="en-US" dirty="0" smtClean="0"/>
            </a:fld>
            <a:endParaRPr lang="zh-CN" altLang="en-US" dirty="0"/>
          </a:p>
        </p:txBody>
      </p:sp>
      <p:sp>
        <p:nvSpPr>
          <p:cNvPr id="7" name="矩形 11"/>
          <p:cNvSpPr>
            <a:spLocks noChangeArrowheads="1"/>
          </p:cNvSpPr>
          <p:nvPr userDrawn="1"/>
        </p:nvSpPr>
        <p:spPr bwMode="auto">
          <a:xfrm>
            <a:off x="0" y="6864350"/>
            <a:ext cx="9144000" cy="287338"/>
          </a:xfrm>
          <a:prstGeom prst="rect">
            <a:avLst/>
          </a:prstGeom>
          <a:solidFill>
            <a:srgbClr val="BBBFC3">
              <a:alpha val="0"/>
            </a:srgbClr>
          </a:solidFill>
          <a:ln>
            <a:noFill/>
          </a:ln>
        </p:spPr>
        <p:txBody>
          <a:bodyPr anchor="ctr"/>
          <a:lstStyle/>
          <a:p>
            <a:pPr marL="622300" lvl="0"/>
            <a:endParaRPr lang="en-US" altLang="zh-CN" sz="1100" dirty="0"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配色方案说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日期占位符 55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7" name="页脚占位符 56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8" name="灯片编号占位符 57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r>
              <a:rPr lang="en-US" altLang="zh-CN" smtClean="0"/>
              <a:t>P</a:t>
            </a:r>
            <a:fld id="{62DCC93C-90AC-48A1-9D9E-CBAB17A91522}" type="slidenum">
              <a:rPr lang="zh-CN" altLang="en-US" smtClean="0"/>
            </a:fld>
            <a:endParaRPr lang="zh-CN" altLang="en-US" dirty="0"/>
          </a:p>
        </p:txBody>
      </p:sp>
      <p:grpSp>
        <p:nvGrpSpPr>
          <p:cNvPr id="2" name="组合 1"/>
          <p:cNvGrpSpPr/>
          <p:nvPr userDrawn="1"/>
        </p:nvGrpSpPr>
        <p:grpSpPr>
          <a:xfrm>
            <a:off x="741702" y="1398826"/>
            <a:ext cx="7672274" cy="4811474"/>
            <a:chOff x="468311" y="1227376"/>
            <a:chExt cx="8219055" cy="5154374"/>
          </a:xfrm>
        </p:grpSpPr>
        <p:sp>
          <p:nvSpPr>
            <p:cNvPr id="6" name="矩形 5"/>
            <p:cNvSpPr/>
            <p:nvPr userDrawn="1"/>
          </p:nvSpPr>
          <p:spPr bwMode="auto">
            <a:xfrm>
              <a:off x="7477213" y="2816932"/>
              <a:ext cx="1210153" cy="1213910"/>
            </a:xfrm>
            <a:prstGeom prst="rect">
              <a:avLst/>
            </a:prstGeom>
            <a:gradFill flip="none" rotWithShape="1">
              <a:gsLst>
                <a:gs pos="100000">
                  <a:schemeClr val="bg1">
                    <a:alpha val="0"/>
                  </a:schemeClr>
                </a:gs>
                <a:gs pos="0">
                  <a:schemeClr val="bg1">
                    <a:lumMod val="95000"/>
                    <a:alpha val="0"/>
                  </a:schemeClr>
                </a:gs>
                <a:gs pos="47000">
                  <a:schemeClr val="bg1">
                    <a:lumMod val="8500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algn="ctr"/>
              <a:endParaRPr lang="zh-CN" altLang="en-US"/>
            </a:p>
          </p:txBody>
        </p:sp>
        <p:sp>
          <p:nvSpPr>
            <p:cNvPr id="7" name="矩形 6"/>
            <p:cNvSpPr/>
            <p:nvPr userDrawn="1"/>
          </p:nvSpPr>
          <p:spPr bwMode="auto">
            <a:xfrm>
              <a:off x="3266666" y="2816932"/>
              <a:ext cx="1210153" cy="1213910"/>
            </a:xfrm>
            <a:prstGeom prst="rect">
              <a:avLst/>
            </a:prstGeom>
            <a:gradFill flip="none" rotWithShape="1">
              <a:gsLst>
                <a:gs pos="100000">
                  <a:schemeClr val="bg1">
                    <a:alpha val="0"/>
                  </a:schemeClr>
                </a:gs>
                <a:gs pos="0">
                  <a:schemeClr val="bg1">
                    <a:lumMod val="95000"/>
                    <a:alpha val="0"/>
                  </a:schemeClr>
                </a:gs>
                <a:gs pos="47000">
                  <a:schemeClr val="bg1">
                    <a:lumMod val="8500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algn="ctr"/>
              <a:endParaRPr lang="zh-CN" altLang="en-US"/>
            </a:p>
          </p:txBody>
        </p:sp>
        <p:sp>
          <p:nvSpPr>
            <p:cNvPr id="8" name="矩形 7"/>
            <p:cNvSpPr/>
            <p:nvPr userDrawn="1"/>
          </p:nvSpPr>
          <p:spPr bwMode="auto">
            <a:xfrm>
              <a:off x="468314" y="2816932"/>
              <a:ext cx="2606725" cy="1213910"/>
            </a:xfrm>
            <a:prstGeom prst="rect">
              <a:avLst/>
            </a:prstGeom>
            <a:gradFill flip="none" rotWithShape="1">
              <a:gsLst>
                <a:gs pos="100000">
                  <a:schemeClr val="bg1">
                    <a:alpha val="0"/>
                  </a:schemeClr>
                </a:gs>
                <a:gs pos="0">
                  <a:schemeClr val="bg1">
                    <a:lumMod val="95000"/>
                    <a:alpha val="0"/>
                  </a:schemeClr>
                </a:gs>
                <a:gs pos="47000">
                  <a:schemeClr val="bg1">
                    <a:lumMod val="8500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algn="ctr"/>
              <a:endParaRPr lang="zh-CN" altLang="en-US"/>
            </a:p>
          </p:txBody>
        </p:sp>
        <p:sp>
          <p:nvSpPr>
            <p:cNvPr id="10" name="左大括号 9"/>
            <p:cNvSpPr/>
            <p:nvPr userDrawn="1"/>
          </p:nvSpPr>
          <p:spPr>
            <a:xfrm rot="5400000">
              <a:off x="4342637" y="-2230069"/>
              <a:ext cx="454784" cy="8203433"/>
            </a:xfrm>
            <a:prstGeom prst="leftBrace">
              <a:avLst>
                <a:gd name="adj1" fmla="val 51183"/>
                <a:gd name="adj2" fmla="val 50000"/>
              </a:avLst>
            </a:prstGeom>
            <a:ln w="3175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椭圆 10"/>
            <p:cNvSpPr/>
            <p:nvPr userDrawn="1"/>
          </p:nvSpPr>
          <p:spPr bwMode="auto">
            <a:xfrm>
              <a:off x="468313" y="2564904"/>
              <a:ext cx="504056" cy="504056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txBody>
            <a:bodyPr vert="horz" wrap="square" lIns="0" tIns="0" rIns="0" bIns="0" numCol="1" rtlCol="0" anchor="ctr" anchorCtr="0" compatLnSpc="1"/>
            <a:lstStyle/>
            <a:p>
              <a:pPr algn="ctr"/>
              <a:r>
                <a:rPr lang="en-US" altLang="zh-CN" sz="1400" dirty="0" smtClean="0">
                  <a:ln w="18415" cmpd="sng">
                    <a:solidFill>
                      <a:srgbClr val="FFFFFF"/>
                    </a:solidFill>
                    <a:prstDash val="solid"/>
                  </a:ln>
                  <a:solidFill>
                    <a:srgbClr val="FFFFFF"/>
                  </a:solidFill>
                  <a:effectLst>
                    <a:outerShdw blurRad="63500" dir="3600000" algn="tl" rotWithShape="0">
                      <a:srgbClr val="000000">
                        <a:alpha val="70000"/>
                      </a:srgbClr>
                    </a:outerShdw>
                  </a:effectLst>
                </a:rPr>
                <a:t>1</a:t>
              </a:r>
              <a:endParaRPr lang="zh-CN" altLang="en-US" sz="14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endParaRPr>
            </a:p>
          </p:txBody>
        </p:sp>
        <p:sp>
          <p:nvSpPr>
            <p:cNvPr id="12" name="椭圆 11"/>
            <p:cNvSpPr/>
            <p:nvPr userDrawn="1"/>
          </p:nvSpPr>
          <p:spPr bwMode="auto">
            <a:xfrm>
              <a:off x="1169203" y="2564904"/>
              <a:ext cx="504056" cy="50405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txBody>
            <a:bodyPr vert="horz" wrap="square" lIns="0" tIns="0" rIns="0" bIns="0" numCol="1" rtlCol="0" anchor="ctr" anchorCtr="0" compatLnSpc="1"/>
            <a:lstStyle/>
            <a:p>
              <a:pPr algn="ctr"/>
              <a:r>
                <a:rPr lang="en-US" altLang="zh-CN" sz="1400" dirty="0" smtClean="0">
                  <a:ln w="18415" cmpd="sng">
                    <a:solidFill>
                      <a:srgbClr val="FFFFFF"/>
                    </a:solidFill>
                    <a:prstDash val="solid"/>
                  </a:ln>
                  <a:solidFill>
                    <a:srgbClr val="FFFFFF"/>
                  </a:solidFill>
                  <a:effectLst>
                    <a:outerShdw blurRad="63500" dir="3600000" algn="tl" rotWithShape="0">
                      <a:srgbClr val="000000">
                        <a:alpha val="70000"/>
                      </a:srgbClr>
                    </a:outerShdw>
                  </a:effectLst>
                </a:rPr>
                <a:t>2</a:t>
              </a:r>
              <a:endParaRPr lang="zh-CN" altLang="en-US" sz="14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endParaRPr>
            </a:p>
          </p:txBody>
        </p:sp>
        <p:sp>
          <p:nvSpPr>
            <p:cNvPr id="13" name="椭圆 12"/>
            <p:cNvSpPr/>
            <p:nvPr userDrawn="1"/>
          </p:nvSpPr>
          <p:spPr bwMode="auto">
            <a:xfrm>
              <a:off x="1870093" y="2564904"/>
              <a:ext cx="504056" cy="504056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txBody>
            <a:bodyPr vert="horz" wrap="square" lIns="0" tIns="0" rIns="0" bIns="0" numCol="1" rtlCol="0" anchor="ctr" anchorCtr="0" compatLnSpc="1"/>
            <a:lstStyle/>
            <a:p>
              <a:pPr algn="ctr"/>
              <a:r>
                <a:rPr lang="en-US" altLang="zh-CN" sz="1400" dirty="0" smtClean="0">
                  <a:ln w="18415" cmpd="sng">
                    <a:solidFill>
                      <a:srgbClr val="FFFFFF"/>
                    </a:solidFill>
                    <a:prstDash val="solid"/>
                  </a:ln>
                  <a:solidFill>
                    <a:srgbClr val="FFFFFF"/>
                  </a:solidFill>
                  <a:effectLst>
                    <a:outerShdw blurRad="63500" dir="3600000" algn="tl" rotWithShape="0">
                      <a:srgbClr val="000000">
                        <a:alpha val="70000"/>
                      </a:srgbClr>
                    </a:outerShdw>
                  </a:effectLst>
                </a:rPr>
                <a:t>3</a:t>
              </a:r>
              <a:endParaRPr lang="zh-CN" altLang="en-US" sz="14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endParaRPr>
            </a:p>
          </p:txBody>
        </p:sp>
        <p:sp>
          <p:nvSpPr>
            <p:cNvPr id="14" name="椭圆 13"/>
            <p:cNvSpPr/>
            <p:nvPr userDrawn="1"/>
          </p:nvSpPr>
          <p:spPr bwMode="auto">
            <a:xfrm>
              <a:off x="2570983" y="2564904"/>
              <a:ext cx="504056" cy="504056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txBody>
            <a:bodyPr vert="horz" wrap="square" lIns="0" tIns="0" rIns="0" bIns="0" numCol="1" rtlCol="0" anchor="ctr" anchorCtr="0" compatLnSpc="1"/>
            <a:lstStyle/>
            <a:p>
              <a:pPr algn="ctr"/>
              <a:r>
                <a:rPr lang="en-US" altLang="zh-CN" sz="1400" dirty="0" smtClean="0">
                  <a:ln w="18415" cmpd="sng">
                    <a:solidFill>
                      <a:srgbClr val="FFFFFF"/>
                    </a:solidFill>
                    <a:prstDash val="solid"/>
                  </a:ln>
                  <a:solidFill>
                    <a:srgbClr val="FFFFFF"/>
                  </a:solidFill>
                  <a:effectLst>
                    <a:outerShdw blurRad="63500" dir="3600000" algn="tl" rotWithShape="0">
                      <a:srgbClr val="000000">
                        <a:alpha val="70000"/>
                      </a:srgbClr>
                    </a:outerShdw>
                  </a:effectLst>
                </a:rPr>
                <a:t>4</a:t>
              </a:r>
              <a:endParaRPr lang="zh-CN" altLang="en-US" sz="14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endParaRPr>
            </a:p>
          </p:txBody>
        </p:sp>
        <p:sp>
          <p:nvSpPr>
            <p:cNvPr id="15" name="椭圆 14"/>
            <p:cNvSpPr/>
            <p:nvPr userDrawn="1"/>
          </p:nvSpPr>
          <p:spPr bwMode="auto">
            <a:xfrm>
              <a:off x="3271873" y="2564904"/>
              <a:ext cx="504056" cy="504056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vert="horz" wrap="square" lIns="0" tIns="0" rIns="0" bIns="0" numCol="1" rtlCol="0" anchor="ctr" anchorCtr="0" compatLnSpc="1"/>
            <a:lstStyle/>
            <a:p>
              <a:pPr algn="ctr"/>
              <a:r>
                <a:rPr lang="en-US" altLang="zh-CN" sz="1400" dirty="0" smtClean="0">
                  <a:ln w="18415" cmpd="sng">
                    <a:solidFill>
                      <a:srgbClr val="FFFFFF"/>
                    </a:solidFill>
                    <a:prstDash val="solid"/>
                  </a:ln>
                  <a:solidFill>
                    <a:srgbClr val="FFFFFF"/>
                  </a:solidFill>
                  <a:effectLst>
                    <a:outerShdw blurRad="63500" dir="3600000" algn="tl" rotWithShape="0">
                      <a:srgbClr val="000000">
                        <a:alpha val="70000"/>
                      </a:srgbClr>
                    </a:outerShdw>
                  </a:effectLst>
                </a:rPr>
                <a:t>5</a:t>
              </a:r>
              <a:endParaRPr lang="zh-CN" altLang="en-US" sz="14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endParaRPr>
            </a:p>
          </p:txBody>
        </p:sp>
        <p:sp>
          <p:nvSpPr>
            <p:cNvPr id="16" name="椭圆 15"/>
            <p:cNvSpPr/>
            <p:nvPr userDrawn="1"/>
          </p:nvSpPr>
          <p:spPr bwMode="auto">
            <a:xfrm>
              <a:off x="3972763" y="2564904"/>
              <a:ext cx="504056" cy="504056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vert="horz" wrap="square" lIns="0" tIns="0" rIns="0" bIns="0" numCol="1" rtlCol="0" anchor="ctr" anchorCtr="0" compatLnSpc="1"/>
            <a:lstStyle/>
            <a:p>
              <a:pPr algn="ctr"/>
              <a:r>
                <a:rPr lang="en-US" altLang="zh-CN" sz="1400" dirty="0" smtClean="0">
                  <a:ln w="18415" cmpd="sng">
                    <a:solidFill>
                      <a:srgbClr val="FFFFFF"/>
                    </a:solidFill>
                    <a:prstDash val="solid"/>
                  </a:ln>
                  <a:solidFill>
                    <a:srgbClr val="FFFFFF"/>
                  </a:solidFill>
                  <a:effectLst>
                    <a:outerShdw blurRad="63500" dir="3600000" algn="tl" rotWithShape="0">
                      <a:srgbClr val="000000">
                        <a:alpha val="70000"/>
                      </a:srgbClr>
                    </a:outerShdw>
                  </a:effectLst>
                </a:rPr>
                <a:t>6</a:t>
              </a:r>
              <a:endParaRPr lang="zh-CN" altLang="en-US" sz="14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endParaRPr>
            </a:p>
          </p:txBody>
        </p:sp>
        <p:sp>
          <p:nvSpPr>
            <p:cNvPr id="17" name="椭圆 16"/>
            <p:cNvSpPr/>
            <p:nvPr userDrawn="1"/>
          </p:nvSpPr>
          <p:spPr bwMode="auto">
            <a:xfrm>
              <a:off x="4673653" y="2564904"/>
              <a:ext cx="504056" cy="50405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vert="horz" wrap="square" lIns="0" tIns="0" rIns="0" bIns="0" numCol="1" rtlCol="0" anchor="ctr" anchorCtr="0" compatLnSpc="1"/>
            <a:lstStyle/>
            <a:p>
              <a:pPr algn="ctr"/>
              <a:r>
                <a:rPr lang="en-US" altLang="zh-CN" sz="1400" dirty="0" smtClean="0">
                  <a:ln w="18415" cmpd="sng">
                    <a:solidFill>
                      <a:srgbClr val="FFFFFF"/>
                    </a:solidFill>
                    <a:prstDash val="solid"/>
                  </a:ln>
                  <a:solidFill>
                    <a:srgbClr val="FFFFFF"/>
                  </a:solidFill>
                  <a:effectLst>
                    <a:outerShdw blurRad="63500" dir="3600000" algn="tl" rotWithShape="0">
                      <a:srgbClr val="000000">
                        <a:alpha val="70000"/>
                      </a:srgbClr>
                    </a:outerShdw>
                  </a:effectLst>
                </a:rPr>
                <a:t>7</a:t>
              </a:r>
              <a:endParaRPr lang="zh-CN" altLang="en-US" sz="14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endParaRPr>
            </a:p>
          </p:txBody>
        </p:sp>
        <p:sp>
          <p:nvSpPr>
            <p:cNvPr id="18" name="椭圆 17"/>
            <p:cNvSpPr/>
            <p:nvPr userDrawn="1"/>
          </p:nvSpPr>
          <p:spPr bwMode="auto">
            <a:xfrm>
              <a:off x="5374543" y="2564904"/>
              <a:ext cx="504056" cy="504056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vert="horz" wrap="square" lIns="0" tIns="0" rIns="0" bIns="0" numCol="1" rtlCol="0" anchor="ctr" anchorCtr="0" compatLnSpc="1"/>
            <a:lstStyle/>
            <a:p>
              <a:pPr algn="ctr"/>
              <a:r>
                <a:rPr lang="en-US" altLang="zh-CN" sz="1400" dirty="0" smtClean="0">
                  <a:ln w="18415" cmpd="sng">
                    <a:solidFill>
                      <a:srgbClr val="FFFFFF"/>
                    </a:solidFill>
                    <a:prstDash val="solid"/>
                  </a:ln>
                  <a:solidFill>
                    <a:srgbClr val="FFFFFF"/>
                  </a:solidFill>
                  <a:effectLst>
                    <a:outerShdw blurRad="63500" dir="3600000" algn="tl" rotWithShape="0">
                      <a:srgbClr val="000000">
                        <a:alpha val="70000"/>
                      </a:srgbClr>
                    </a:outerShdw>
                  </a:effectLst>
                </a:rPr>
                <a:t>8</a:t>
              </a:r>
              <a:endParaRPr lang="zh-CN" altLang="en-US" sz="14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endParaRPr>
            </a:p>
          </p:txBody>
        </p:sp>
        <p:sp>
          <p:nvSpPr>
            <p:cNvPr id="19" name="椭圆 18"/>
            <p:cNvSpPr/>
            <p:nvPr userDrawn="1"/>
          </p:nvSpPr>
          <p:spPr bwMode="auto">
            <a:xfrm>
              <a:off x="6075433" y="2564904"/>
              <a:ext cx="504056" cy="504056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vert="horz" wrap="square" lIns="0" tIns="0" rIns="0" bIns="0" numCol="1" rtlCol="0" anchor="ctr" anchorCtr="0" compatLnSpc="1"/>
            <a:lstStyle/>
            <a:p>
              <a:pPr algn="ctr"/>
              <a:r>
                <a:rPr lang="en-US" altLang="zh-CN" sz="1400" dirty="0" smtClean="0">
                  <a:ln w="18415" cmpd="sng">
                    <a:solidFill>
                      <a:srgbClr val="FFFFFF"/>
                    </a:solidFill>
                    <a:prstDash val="solid"/>
                  </a:ln>
                  <a:solidFill>
                    <a:srgbClr val="FFFFFF"/>
                  </a:solidFill>
                  <a:effectLst>
                    <a:outerShdw blurRad="63500" dir="3600000" algn="tl" rotWithShape="0">
                      <a:srgbClr val="000000">
                        <a:alpha val="70000"/>
                      </a:srgbClr>
                    </a:outerShdw>
                  </a:effectLst>
                </a:rPr>
                <a:t>9</a:t>
              </a:r>
              <a:endParaRPr lang="zh-CN" altLang="en-US" sz="14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endParaRPr>
            </a:p>
          </p:txBody>
        </p:sp>
        <p:sp>
          <p:nvSpPr>
            <p:cNvPr id="20" name="椭圆 19"/>
            <p:cNvSpPr/>
            <p:nvPr userDrawn="1"/>
          </p:nvSpPr>
          <p:spPr bwMode="auto">
            <a:xfrm>
              <a:off x="6776323" y="2564904"/>
              <a:ext cx="504056" cy="504056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vert="horz" wrap="square" lIns="0" tIns="0" rIns="0" bIns="0" numCol="1" rtlCol="0" anchor="ctr" anchorCtr="0" compatLnSpc="1"/>
            <a:lstStyle/>
            <a:p>
              <a:pPr algn="ctr"/>
              <a:r>
                <a:rPr lang="en-US" altLang="zh-CN" sz="1400" dirty="0" smtClean="0">
                  <a:ln w="18415" cmpd="sng">
                    <a:solidFill>
                      <a:srgbClr val="FFFFFF"/>
                    </a:solidFill>
                    <a:prstDash val="solid"/>
                  </a:ln>
                  <a:solidFill>
                    <a:srgbClr val="FFFFFF"/>
                  </a:solidFill>
                  <a:effectLst>
                    <a:outerShdw blurRad="63500" dir="3600000" algn="tl" rotWithShape="0">
                      <a:srgbClr val="000000">
                        <a:alpha val="70000"/>
                      </a:srgbClr>
                    </a:outerShdw>
                  </a:effectLst>
                </a:rPr>
                <a:t>10</a:t>
              </a:r>
              <a:endParaRPr lang="zh-CN" altLang="en-US" sz="14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endParaRPr>
            </a:p>
          </p:txBody>
        </p:sp>
        <p:sp>
          <p:nvSpPr>
            <p:cNvPr id="21" name="椭圆 20"/>
            <p:cNvSpPr/>
            <p:nvPr userDrawn="1"/>
          </p:nvSpPr>
          <p:spPr bwMode="auto">
            <a:xfrm>
              <a:off x="7477213" y="2564904"/>
              <a:ext cx="504056" cy="504056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txBody>
            <a:bodyPr vert="horz" wrap="square" lIns="0" tIns="0" rIns="0" bIns="0" numCol="1" rtlCol="0" anchor="ctr" anchorCtr="0" compatLnSpc="1"/>
            <a:lstStyle/>
            <a:p>
              <a:pPr algn="ctr"/>
              <a:r>
                <a:rPr lang="en-US" altLang="zh-CN" sz="1400" dirty="0" smtClean="0">
                  <a:ln w="18415" cmpd="sng">
                    <a:solidFill>
                      <a:srgbClr val="FFFFFF"/>
                    </a:solidFill>
                    <a:prstDash val="solid"/>
                  </a:ln>
                  <a:solidFill>
                    <a:srgbClr val="FFFFFF"/>
                  </a:solidFill>
                  <a:effectLst>
                    <a:outerShdw blurRad="63500" dir="3600000" algn="tl" rotWithShape="0">
                      <a:srgbClr val="000000">
                        <a:alpha val="70000"/>
                      </a:srgbClr>
                    </a:outerShdw>
                  </a:effectLst>
                </a:rPr>
                <a:t>11</a:t>
              </a:r>
              <a:endParaRPr lang="zh-CN" altLang="en-US" sz="14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endParaRPr>
            </a:p>
          </p:txBody>
        </p:sp>
        <p:sp>
          <p:nvSpPr>
            <p:cNvPr id="22" name="椭圆 21"/>
            <p:cNvSpPr/>
            <p:nvPr userDrawn="1"/>
          </p:nvSpPr>
          <p:spPr bwMode="auto">
            <a:xfrm>
              <a:off x="8178102" y="2564904"/>
              <a:ext cx="504056" cy="504056"/>
            </a:xfrm>
            <a:prstGeom prst="ellipse">
              <a:avLst/>
            </a:prstGeom>
            <a:solidFill>
              <a:srgbClr val="7030A0"/>
            </a:solidFill>
            <a:ln>
              <a:noFill/>
            </a:ln>
          </p:spPr>
          <p:txBody>
            <a:bodyPr vert="horz" wrap="square" lIns="0" tIns="0" rIns="0" bIns="0" numCol="1" rtlCol="0" anchor="ctr" anchorCtr="0" compatLnSpc="1"/>
            <a:lstStyle/>
            <a:p>
              <a:pPr algn="ctr"/>
              <a:r>
                <a:rPr lang="en-US" altLang="zh-CN" sz="1400" dirty="0" smtClean="0">
                  <a:ln w="18415" cmpd="sng">
                    <a:solidFill>
                      <a:srgbClr val="FFFFFF"/>
                    </a:solidFill>
                    <a:prstDash val="solid"/>
                  </a:ln>
                  <a:solidFill>
                    <a:srgbClr val="FFFFFF"/>
                  </a:solidFill>
                  <a:effectLst>
                    <a:outerShdw blurRad="63500" dir="3600000" algn="tl" rotWithShape="0">
                      <a:srgbClr val="000000">
                        <a:alpha val="70000"/>
                      </a:srgbClr>
                    </a:outerShdw>
                  </a:effectLst>
                </a:rPr>
                <a:t>11</a:t>
              </a:r>
              <a:endParaRPr lang="zh-CN" altLang="en-US" sz="14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endParaRPr>
            </a:p>
          </p:txBody>
        </p:sp>
        <p:sp>
          <p:nvSpPr>
            <p:cNvPr id="23" name="左大括号 22"/>
            <p:cNvSpPr/>
            <p:nvPr userDrawn="1"/>
          </p:nvSpPr>
          <p:spPr>
            <a:xfrm rot="5400000">
              <a:off x="3736233" y="1751874"/>
              <a:ext cx="227392" cy="1156110"/>
            </a:xfrm>
            <a:prstGeom prst="leftBrace">
              <a:avLst>
                <a:gd name="adj1" fmla="val 51183"/>
                <a:gd name="adj2" fmla="val 50000"/>
              </a:avLst>
            </a:prstGeom>
            <a:ln w="3175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左大括号 23"/>
            <p:cNvSpPr/>
            <p:nvPr userDrawn="1"/>
          </p:nvSpPr>
          <p:spPr>
            <a:xfrm rot="5400000">
              <a:off x="5887737" y="1050984"/>
              <a:ext cx="227392" cy="2557890"/>
            </a:xfrm>
            <a:prstGeom prst="leftBrace">
              <a:avLst>
                <a:gd name="adj1" fmla="val 51183"/>
                <a:gd name="adj2" fmla="val 50000"/>
              </a:avLst>
            </a:prstGeom>
            <a:ln w="3175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左大括号 24"/>
            <p:cNvSpPr/>
            <p:nvPr userDrawn="1"/>
          </p:nvSpPr>
          <p:spPr>
            <a:xfrm rot="5400000">
              <a:off x="7941572" y="1751874"/>
              <a:ext cx="227392" cy="1156110"/>
            </a:xfrm>
            <a:prstGeom prst="leftBrace">
              <a:avLst>
                <a:gd name="adj1" fmla="val 51183"/>
                <a:gd name="adj2" fmla="val 50000"/>
              </a:avLst>
            </a:prstGeom>
            <a:ln w="3175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左大括号 25"/>
            <p:cNvSpPr/>
            <p:nvPr userDrawn="1"/>
          </p:nvSpPr>
          <p:spPr>
            <a:xfrm rot="5400000">
              <a:off x="1605452" y="1079093"/>
              <a:ext cx="227392" cy="2501673"/>
            </a:xfrm>
            <a:prstGeom prst="leftBrace">
              <a:avLst>
                <a:gd name="adj1" fmla="val 51183"/>
                <a:gd name="adj2" fmla="val 50000"/>
              </a:avLst>
            </a:prstGeom>
            <a:ln w="3175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左大括号 26"/>
            <p:cNvSpPr/>
            <p:nvPr userDrawn="1"/>
          </p:nvSpPr>
          <p:spPr>
            <a:xfrm rot="5400000" flipH="1">
              <a:off x="4342828" y="632797"/>
              <a:ext cx="415982" cy="8165010"/>
            </a:xfrm>
            <a:prstGeom prst="leftBrace">
              <a:avLst>
                <a:gd name="adj1" fmla="val 51183"/>
                <a:gd name="adj2" fmla="val 50000"/>
              </a:avLst>
            </a:prstGeom>
            <a:ln w="3175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" name="内容占位符 4"/>
            <p:cNvSpPr txBox="1"/>
            <p:nvPr userDrawn="1"/>
          </p:nvSpPr>
          <p:spPr>
            <a:xfrm>
              <a:off x="468314" y="5008949"/>
              <a:ext cx="8203430" cy="425203"/>
            </a:xfrm>
            <a:prstGeom prst="rect">
              <a:avLst/>
            </a:prstGeom>
            <a:noFill/>
          </p:spPr>
          <p:txBody>
            <a:bodyPr vert="horz" lIns="91440" tIns="45720" rIns="91440" bIns="45720" rtlCol="0" anchor="ctr">
              <a:noAutofit/>
            </a:bodyPr>
            <a:lstStyle>
              <a:lvl1pPr marL="342900" indent="-342900" algn="l" defTabSz="914400" rtl="0" eaLnBrk="1" latinLnBrk="0" hangingPunct="1">
                <a:lnSpc>
                  <a:spcPct val="120000"/>
                </a:lnSpc>
                <a:spcBef>
                  <a:spcPct val="200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j-ea"/>
                  <a:ea typeface="+mj-ea"/>
                  <a:cs typeface="+mn-cs"/>
                </a:defRPr>
              </a:lvl1pPr>
              <a:lvl2pPr marL="742950" indent="-285750" algn="l" defTabSz="914400" rtl="0" eaLnBrk="1" latinLnBrk="0" hangingPunct="1">
                <a:lnSpc>
                  <a:spcPct val="120000"/>
                </a:lnSpc>
                <a:spcBef>
                  <a:spcPct val="20000"/>
                </a:spcBef>
                <a:buFont typeface="Arial" panose="020B0604020202020204" pitchFamily="34" charset="0"/>
                <a:buChar char="–"/>
                <a:defRPr sz="1600" kern="1200">
                  <a:solidFill>
                    <a:schemeClr val="tx1"/>
                  </a:solidFill>
                  <a:latin typeface="+mj-ea"/>
                  <a:ea typeface="+mj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120000"/>
                </a:lnSpc>
                <a:spcBef>
                  <a:spcPct val="20000"/>
                </a:spcBef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j-ea"/>
                  <a:ea typeface="+mj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120000"/>
                </a:lnSpc>
                <a:spcBef>
                  <a:spcPct val="20000"/>
                </a:spcBef>
                <a:buFont typeface="Arial" panose="020B0604020202020204" pitchFamily="34" charset="0"/>
                <a:buChar char="–"/>
                <a:defRPr sz="1200" kern="1200">
                  <a:solidFill>
                    <a:schemeClr val="tx1"/>
                  </a:solidFill>
                  <a:latin typeface="+mj-ea"/>
                  <a:ea typeface="+mj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120000"/>
                </a:lnSpc>
                <a:spcBef>
                  <a:spcPct val="20000"/>
                </a:spcBef>
                <a:buFont typeface="Arial" panose="020B0604020202020204" pitchFamily="34" charset="0"/>
                <a:buChar char="»"/>
                <a:defRPr sz="1200" kern="1200">
                  <a:solidFill>
                    <a:schemeClr val="tx1"/>
                  </a:solidFill>
                  <a:latin typeface="+mj-ea"/>
                  <a:ea typeface="+mj-ea"/>
                  <a:cs typeface="+mn-cs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Font typeface="Arial" panose="020B0604020202020204" pitchFamily="34" charset="0"/>
                <a:buNone/>
              </a:pPr>
              <a:r>
                <a:rPr lang="en-US" altLang="zh-CN" sz="1600" b="1" dirty="0">
                  <a:solidFill>
                    <a:schemeClr val="bg1">
                      <a:lumMod val="50000"/>
                    </a:schemeClr>
                  </a:solidFill>
                </a:rPr>
                <a:t>2003</a:t>
              </a:r>
              <a:r>
                <a:rPr lang="zh-CN" altLang="en-US" sz="1600" b="1" dirty="0">
                  <a:solidFill>
                    <a:schemeClr val="bg1">
                      <a:lumMod val="50000"/>
                    </a:schemeClr>
                  </a:solidFill>
                </a:rPr>
                <a:t>版本配色方案 </a:t>
              </a:r>
              <a:r>
                <a:rPr lang="zh-CN" altLang="en-US" sz="1600" b="1" dirty="0" smtClean="0"/>
                <a:t>（</a:t>
              </a:r>
              <a:r>
                <a:rPr lang="en-US" altLang="zh-CN" sz="1600" b="1" dirty="0" smtClean="0"/>
                <a:t>8</a:t>
              </a:r>
              <a:r>
                <a:rPr lang="zh-CN" altLang="en-US" sz="1600" b="1" dirty="0" smtClean="0"/>
                <a:t>种配色）</a:t>
              </a:r>
              <a:endParaRPr lang="zh-CN" altLang="en-US" sz="1600" b="1" dirty="0"/>
            </a:p>
          </p:txBody>
        </p:sp>
        <p:sp>
          <p:nvSpPr>
            <p:cNvPr id="29" name="TextBox 28"/>
            <p:cNvSpPr txBox="1"/>
            <p:nvPr userDrawn="1"/>
          </p:nvSpPr>
          <p:spPr>
            <a:xfrm>
              <a:off x="1305749" y="1916832"/>
              <a:ext cx="889987" cy="27796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zh-CN" altLang="en-US" sz="1050" dirty="0" smtClean="0">
                  <a:solidFill>
                    <a:prstClr val="black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文字与背景</a:t>
              </a:r>
              <a:endParaRPr lang="zh-CN" altLang="en-US" sz="1050" dirty="0" smtClean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30" name="TextBox 29"/>
            <p:cNvSpPr txBox="1"/>
            <p:nvPr userDrawn="1"/>
          </p:nvSpPr>
          <p:spPr>
            <a:xfrm>
              <a:off x="3555616" y="1916832"/>
              <a:ext cx="588624" cy="26956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zh-CN" altLang="en-US" sz="1050" dirty="0" smtClean="0">
                  <a:solidFill>
                    <a:prstClr val="black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常用色</a:t>
              </a:r>
              <a:endParaRPr lang="zh-CN" altLang="en-US" sz="1050" dirty="0" smtClean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31" name="TextBox 30"/>
            <p:cNvSpPr txBox="1"/>
            <p:nvPr userDrawn="1"/>
          </p:nvSpPr>
          <p:spPr>
            <a:xfrm>
              <a:off x="5707120" y="1916832"/>
              <a:ext cx="588624" cy="26956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zh-CN" altLang="en-US" sz="1050" dirty="0" smtClean="0">
                  <a:solidFill>
                    <a:prstClr val="black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辅助色</a:t>
              </a:r>
              <a:endParaRPr lang="zh-CN" altLang="en-US" sz="1050" dirty="0" smtClean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32" name="TextBox 31"/>
            <p:cNvSpPr txBox="1"/>
            <p:nvPr userDrawn="1"/>
          </p:nvSpPr>
          <p:spPr>
            <a:xfrm>
              <a:off x="7729242" y="1916832"/>
              <a:ext cx="588623" cy="26956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zh-CN" altLang="en-US" sz="1050" dirty="0" smtClean="0">
                  <a:solidFill>
                    <a:prstClr val="black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链接色</a:t>
              </a:r>
              <a:endParaRPr lang="zh-CN" altLang="en-US" sz="1050" dirty="0" smtClean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cxnSp>
          <p:nvCxnSpPr>
            <p:cNvPr id="33" name="直接连接符 32"/>
            <p:cNvCxnSpPr>
              <a:stCxn id="11" idx="7"/>
              <a:endCxn id="11" idx="3"/>
            </p:cNvCxnSpPr>
            <p:nvPr userDrawn="1"/>
          </p:nvCxnSpPr>
          <p:spPr>
            <a:xfrm flipH="1">
              <a:off x="542130" y="2638721"/>
              <a:ext cx="356422" cy="356422"/>
            </a:xfrm>
            <a:prstGeom prst="line">
              <a:avLst/>
            </a:prstGeom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34" name="直接连接符 33"/>
            <p:cNvCxnSpPr>
              <a:stCxn id="12" idx="7"/>
              <a:endCxn id="12" idx="3"/>
            </p:cNvCxnSpPr>
            <p:nvPr userDrawn="1"/>
          </p:nvCxnSpPr>
          <p:spPr>
            <a:xfrm flipH="1">
              <a:off x="1243020" y="2638721"/>
              <a:ext cx="356422" cy="356422"/>
            </a:xfrm>
            <a:prstGeom prst="line">
              <a:avLst/>
            </a:prstGeom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35" name="直接连接符 34"/>
            <p:cNvCxnSpPr>
              <a:stCxn id="13" idx="7"/>
              <a:endCxn id="13" idx="3"/>
            </p:cNvCxnSpPr>
            <p:nvPr userDrawn="1"/>
          </p:nvCxnSpPr>
          <p:spPr>
            <a:xfrm flipH="1">
              <a:off x="1943910" y="2638721"/>
              <a:ext cx="356422" cy="356422"/>
            </a:xfrm>
            <a:prstGeom prst="line">
              <a:avLst/>
            </a:prstGeom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36" name="直接连接符 35"/>
            <p:cNvCxnSpPr>
              <a:stCxn id="14" idx="7"/>
              <a:endCxn id="14" idx="3"/>
            </p:cNvCxnSpPr>
            <p:nvPr userDrawn="1"/>
          </p:nvCxnSpPr>
          <p:spPr>
            <a:xfrm flipH="1">
              <a:off x="2644800" y="2638721"/>
              <a:ext cx="356422" cy="356422"/>
            </a:xfrm>
            <a:prstGeom prst="line">
              <a:avLst/>
            </a:prstGeom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</p:cxnSp>
        <p:sp>
          <p:nvSpPr>
            <p:cNvPr id="37" name="TextBox 36"/>
            <p:cNvSpPr txBox="1"/>
            <p:nvPr userDrawn="1"/>
          </p:nvSpPr>
          <p:spPr>
            <a:xfrm>
              <a:off x="468314" y="5610918"/>
              <a:ext cx="8203430" cy="770832"/>
            </a:xfrm>
            <a:prstGeom prst="rect">
              <a:avLst/>
            </a:prstGeom>
            <a:solidFill>
              <a:schemeClr val="accent1">
                <a:lumMod val="20000"/>
                <a:lumOff val="80000"/>
                <a:alpha val="27843"/>
              </a:schemeClr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txBody>
            <a:bodyPr wrap="square" rtlCol="0" anchor="ctr">
              <a:no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800" b="1" dirty="0" smtClean="0">
                  <a:solidFill>
                    <a:prstClr val="black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配色规则：</a:t>
              </a:r>
              <a:endParaRPr lang="en-US" altLang="zh-CN" sz="800" b="1" dirty="0" smtClean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endParaRPr>
            </a:p>
            <a:p>
              <a:pPr>
                <a:lnSpc>
                  <a:spcPct val="120000"/>
                </a:lnSpc>
              </a:pPr>
              <a:r>
                <a:rPr lang="zh-CN" altLang="en-US" sz="8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通常情况下，配色方案中的前四种色彩文</a:t>
              </a:r>
              <a:r>
                <a:rPr lang="en-US" altLang="zh-CN" sz="8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——</a:t>
              </a:r>
              <a:r>
                <a:rPr lang="zh-CN" altLang="en-US" sz="8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“字与背景色”固定不变。常用色与模板</a:t>
              </a:r>
              <a:r>
                <a:rPr lang="en-US" altLang="zh-CN" sz="8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/logo/</a:t>
              </a:r>
              <a:r>
                <a:rPr lang="zh-CN" altLang="en-US" sz="8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企业标准色一致。辅助色可根据对色彩的要求进行调整。链接色可根据需求进行调整。</a:t>
              </a:r>
              <a:endParaRPr lang="en-US" altLang="zh-CN" sz="8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endParaRPr>
            </a:p>
            <a:p>
              <a:pPr>
                <a:lnSpc>
                  <a:spcPct val="120000"/>
                </a:lnSpc>
              </a:pPr>
              <a:r>
                <a:rPr lang="zh-CN" altLang="en-US" sz="8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配色方案的编辑：</a:t>
              </a:r>
              <a:r>
                <a:rPr lang="en-US" altLang="zh-CN" sz="8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07/10</a:t>
              </a:r>
              <a:r>
                <a:rPr lang="zh-CN" altLang="en-US" sz="8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版本</a:t>
              </a:r>
              <a:r>
                <a:rPr lang="en-US" altLang="zh-CN" sz="8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【</a:t>
              </a:r>
              <a:r>
                <a:rPr lang="zh-CN" altLang="en-US" sz="8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设计</a:t>
              </a:r>
              <a:r>
                <a:rPr lang="en-US" altLang="zh-CN" sz="8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】</a:t>
              </a:r>
              <a:r>
                <a:rPr lang="zh-CN" altLang="en-US" sz="8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菜单中 </a:t>
              </a:r>
              <a:r>
                <a:rPr lang="en-US" altLang="zh-CN" sz="8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  <a:sym typeface="Wingdings" panose="05000000000000000000" pitchFamily="2" charset="2"/>
                </a:rPr>
                <a:t></a:t>
              </a:r>
              <a:r>
                <a:rPr lang="en-US" altLang="zh-CN" sz="8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【</a:t>
              </a:r>
              <a:r>
                <a:rPr lang="zh-CN" altLang="en-US" sz="8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颜色</a:t>
              </a:r>
              <a:r>
                <a:rPr lang="en-US" altLang="zh-CN" sz="8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】</a:t>
              </a:r>
              <a:r>
                <a:rPr lang="zh-CN" altLang="en-US" sz="8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中修改；</a:t>
              </a:r>
              <a:r>
                <a:rPr lang="en-US" altLang="zh-CN" sz="8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03</a:t>
              </a:r>
              <a:r>
                <a:rPr lang="zh-CN" altLang="en-US" sz="8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版本</a:t>
              </a:r>
              <a:r>
                <a:rPr lang="en-US" altLang="zh-CN" sz="8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【</a:t>
              </a:r>
              <a:r>
                <a:rPr lang="zh-CN" altLang="en-US" sz="8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格式</a:t>
              </a:r>
              <a:r>
                <a:rPr lang="en-US" altLang="zh-CN" sz="8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】</a:t>
              </a:r>
              <a:r>
                <a:rPr lang="zh-CN" altLang="en-US" sz="8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菜单</a:t>
              </a:r>
              <a:r>
                <a:rPr lang="en-US" altLang="zh-CN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  <a:sym typeface="Wingdings" panose="05000000000000000000" pitchFamily="2" charset="2"/>
                </a:rPr>
                <a:t></a:t>
              </a:r>
              <a:r>
                <a:rPr lang="en-US" altLang="zh-CN" sz="8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【</a:t>
              </a:r>
              <a:r>
                <a:rPr lang="zh-CN" altLang="en-US" sz="8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幻灯片设计</a:t>
              </a:r>
              <a:r>
                <a:rPr lang="en-US" altLang="zh-CN" sz="8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】</a:t>
              </a:r>
              <a:r>
                <a:rPr lang="en-US" altLang="zh-CN" sz="8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  <a:sym typeface="Wingdings" panose="05000000000000000000" pitchFamily="2" charset="2"/>
                </a:rPr>
                <a:t> </a:t>
              </a:r>
              <a:r>
                <a:rPr lang="en-US" altLang="zh-CN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  <a:sym typeface="Wingdings" panose="05000000000000000000" pitchFamily="2" charset="2"/>
                </a:rPr>
                <a:t></a:t>
              </a:r>
              <a:r>
                <a:rPr lang="en-US" altLang="zh-CN" sz="8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【</a:t>
              </a:r>
              <a:r>
                <a:rPr lang="zh-CN" altLang="en-US" sz="8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配色方案</a:t>
              </a:r>
              <a:r>
                <a:rPr lang="en-US" altLang="zh-CN" sz="8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】</a:t>
              </a:r>
              <a:endParaRPr lang="zh-CN" altLang="en-US" sz="8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38" name="椭圆 37"/>
            <p:cNvSpPr/>
            <p:nvPr userDrawn="1"/>
          </p:nvSpPr>
          <p:spPr bwMode="auto">
            <a:xfrm>
              <a:off x="468313" y="3778814"/>
              <a:ext cx="504056" cy="504056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txBody>
            <a:bodyPr vert="horz" wrap="square" lIns="0" tIns="0" rIns="0" bIns="0" numCol="1" rtlCol="0" anchor="ctr" anchorCtr="0" compatLnSpc="1"/>
            <a:lstStyle/>
            <a:p>
              <a:pPr algn="ctr"/>
              <a:r>
                <a:rPr lang="en-US" altLang="zh-CN" sz="1400" dirty="0" smtClean="0">
                  <a:ln w="18415" cmpd="sng">
                    <a:solidFill>
                      <a:srgbClr val="FFFFFF"/>
                    </a:solidFill>
                    <a:prstDash val="solid"/>
                  </a:ln>
                  <a:solidFill>
                    <a:srgbClr val="FFFFFF"/>
                  </a:solidFill>
                  <a:effectLst>
                    <a:outerShdw blurRad="63500" dir="3600000" algn="tl" rotWithShape="0">
                      <a:srgbClr val="000000">
                        <a:alpha val="70000"/>
                      </a:srgbClr>
                    </a:outerShdw>
                  </a:effectLst>
                </a:rPr>
                <a:t>1</a:t>
              </a:r>
              <a:endParaRPr lang="zh-CN" altLang="en-US" sz="14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endParaRPr>
            </a:p>
          </p:txBody>
        </p:sp>
        <p:sp>
          <p:nvSpPr>
            <p:cNvPr id="39" name="椭圆 38"/>
            <p:cNvSpPr/>
            <p:nvPr userDrawn="1"/>
          </p:nvSpPr>
          <p:spPr bwMode="auto">
            <a:xfrm>
              <a:off x="1169203" y="3778814"/>
              <a:ext cx="504056" cy="50405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txBody>
            <a:bodyPr vert="horz" wrap="square" lIns="0" tIns="0" rIns="0" bIns="0" numCol="1" rtlCol="0" anchor="ctr" anchorCtr="0" compatLnSpc="1"/>
            <a:lstStyle/>
            <a:p>
              <a:pPr algn="ctr"/>
              <a:r>
                <a:rPr lang="en-US" altLang="zh-CN" sz="1400" dirty="0" smtClean="0">
                  <a:ln w="18415" cmpd="sng">
                    <a:solidFill>
                      <a:srgbClr val="FFFFFF"/>
                    </a:solidFill>
                    <a:prstDash val="solid"/>
                  </a:ln>
                  <a:solidFill>
                    <a:srgbClr val="FFFFFF"/>
                  </a:solidFill>
                  <a:effectLst>
                    <a:outerShdw blurRad="63500" dir="3600000" algn="tl" rotWithShape="0">
                      <a:srgbClr val="000000">
                        <a:alpha val="70000"/>
                      </a:srgbClr>
                    </a:outerShdw>
                  </a:effectLst>
                </a:rPr>
                <a:t>2</a:t>
              </a:r>
              <a:endParaRPr lang="zh-CN" altLang="en-US" sz="14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endParaRPr>
            </a:p>
          </p:txBody>
        </p:sp>
        <p:sp>
          <p:nvSpPr>
            <p:cNvPr id="40" name="椭圆 39"/>
            <p:cNvSpPr/>
            <p:nvPr userDrawn="1"/>
          </p:nvSpPr>
          <p:spPr bwMode="auto">
            <a:xfrm>
              <a:off x="1870093" y="3778814"/>
              <a:ext cx="504056" cy="504056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txBody>
            <a:bodyPr vert="horz" wrap="square" lIns="0" tIns="0" rIns="0" bIns="0" numCol="1" rtlCol="0" anchor="ctr" anchorCtr="0" compatLnSpc="1"/>
            <a:lstStyle/>
            <a:p>
              <a:pPr algn="ctr"/>
              <a:r>
                <a:rPr lang="en-US" altLang="zh-CN" sz="1400" dirty="0" smtClean="0">
                  <a:ln w="18415" cmpd="sng">
                    <a:solidFill>
                      <a:srgbClr val="FFFFFF"/>
                    </a:solidFill>
                    <a:prstDash val="solid"/>
                  </a:ln>
                  <a:solidFill>
                    <a:srgbClr val="FFFFFF"/>
                  </a:solidFill>
                  <a:effectLst>
                    <a:outerShdw blurRad="63500" dir="3600000" algn="tl" rotWithShape="0">
                      <a:srgbClr val="000000">
                        <a:alpha val="70000"/>
                      </a:srgbClr>
                    </a:outerShdw>
                  </a:effectLst>
                </a:rPr>
                <a:t>3</a:t>
              </a:r>
              <a:endParaRPr lang="zh-CN" altLang="en-US" sz="14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endParaRPr>
            </a:p>
          </p:txBody>
        </p:sp>
        <p:sp>
          <p:nvSpPr>
            <p:cNvPr id="41" name="椭圆 40"/>
            <p:cNvSpPr/>
            <p:nvPr userDrawn="1"/>
          </p:nvSpPr>
          <p:spPr bwMode="auto">
            <a:xfrm>
              <a:off x="2570983" y="3778814"/>
              <a:ext cx="504056" cy="504056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txBody>
            <a:bodyPr vert="horz" wrap="square" lIns="0" tIns="0" rIns="0" bIns="0" numCol="1" rtlCol="0" anchor="ctr" anchorCtr="0" compatLnSpc="1"/>
            <a:lstStyle/>
            <a:p>
              <a:pPr algn="ctr"/>
              <a:r>
                <a:rPr lang="en-US" altLang="zh-CN" sz="1400" dirty="0" smtClean="0">
                  <a:ln w="18415" cmpd="sng">
                    <a:solidFill>
                      <a:srgbClr val="FFFFFF"/>
                    </a:solidFill>
                    <a:prstDash val="solid"/>
                  </a:ln>
                  <a:solidFill>
                    <a:srgbClr val="FFFFFF"/>
                  </a:solidFill>
                  <a:effectLst>
                    <a:outerShdw blurRad="63500" dir="3600000" algn="tl" rotWithShape="0">
                      <a:srgbClr val="000000">
                        <a:alpha val="70000"/>
                      </a:srgbClr>
                    </a:outerShdw>
                  </a:effectLst>
                </a:rPr>
                <a:t>4</a:t>
              </a:r>
              <a:endParaRPr lang="zh-CN" altLang="en-US" sz="14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endParaRPr>
            </a:p>
          </p:txBody>
        </p:sp>
        <p:cxnSp>
          <p:nvCxnSpPr>
            <p:cNvPr id="42" name="直接连接符 41"/>
            <p:cNvCxnSpPr>
              <a:stCxn id="38" idx="7"/>
              <a:endCxn id="38" idx="3"/>
            </p:cNvCxnSpPr>
            <p:nvPr userDrawn="1"/>
          </p:nvCxnSpPr>
          <p:spPr>
            <a:xfrm flipH="1">
              <a:off x="542130" y="3852631"/>
              <a:ext cx="356422" cy="356422"/>
            </a:xfrm>
            <a:prstGeom prst="line">
              <a:avLst/>
            </a:prstGeom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43" name="直接连接符 42"/>
            <p:cNvCxnSpPr>
              <a:stCxn id="39" idx="7"/>
              <a:endCxn id="39" idx="3"/>
            </p:cNvCxnSpPr>
            <p:nvPr userDrawn="1"/>
          </p:nvCxnSpPr>
          <p:spPr>
            <a:xfrm flipH="1">
              <a:off x="1243020" y="3852631"/>
              <a:ext cx="356422" cy="356422"/>
            </a:xfrm>
            <a:prstGeom prst="line">
              <a:avLst/>
            </a:prstGeom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44" name="直接连接符 43"/>
            <p:cNvCxnSpPr>
              <a:stCxn id="40" idx="7"/>
              <a:endCxn id="40" idx="3"/>
            </p:cNvCxnSpPr>
            <p:nvPr userDrawn="1"/>
          </p:nvCxnSpPr>
          <p:spPr>
            <a:xfrm flipH="1">
              <a:off x="1943910" y="3852631"/>
              <a:ext cx="356422" cy="356422"/>
            </a:xfrm>
            <a:prstGeom prst="line">
              <a:avLst/>
            </a:prstGeom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45" name="直接连接符 44"/>
            <p:cNvCxnSpPr>
              <a:stCxn id="41" idx="7"/>
              <a:endCxn id="41" idx="3"/>
            </p:cNvCxnSpPr>
            <p:nvPr userDrawn="1"/>
          </p:nvCxnSpPr>
          <p:spPr>
            <a:xfrm flipH="1">
              <a:off x="2644800" y="3852631"/>
              <a:ext cx="356422" cy="356422"/>
            </a:xfrm>
            <a:prstGeom prst="line">
              <a:avLst/>
            </a:prstGeom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</p:cxnSp>
        <p:sp>
          <p:nvSpPr>
            <p:cNvPr id="46" name="椭圆 45"/>
            <p:cNvSpPr/>
            <p:nvPr userDrawn="1"/>
          </p:nvSpPr>
          <p:spPr bwMode="auto">
            <a:xfrm>
              <a:off x="3271873" y="3778814"/>
              <a:ext cx="504056" cy="504056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vert="horz" wrap="square" lIns="0" tIns="0" rIns="0" bIns="0" numCol="1" rtlCol="0" anchor="ctr" anchorCtr="0" compatLnSpc="1"/>
            <a:lstStyle/>
            <a:p>
              <a:pPr algn="ctr"/>
              <a:r>
                <a:rPr lang="en-US" altLang="zh-CN" sz="1400" dirty="0" smtClean="0">
                  <a:ln w="18415" cmpd="sng">
                    <a:solidFill>
                      <a:srgbClr val="FFFFFF"/>
                    </a:solidFill>
                    <a:prstDash val="solid"/>
                  </a:ln>
                  <a:solidFill>
                    <a:srgbClr val="FFFFFF"/>
                  </a:solidFill>
                  <a:effectLst>
                    <a:outerShdw blurRad="63500" dir="3600000" algn="tl" rotWithShape="0">
                      <a:srgbClr val="000000">
                        <a:alpha val="70000"/>
                      </a:srgbClr>
                    </a:outerShdw>
                  </a:effectLst>
                </a:rPr>
                <a:t>5</a:t>
              </a:r>
              <a:endParaRPr lang="zh-CN" altLang="en-US" sz="14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endParaRPr>
            </a:p>
          </p:txBody>
        </p:sp>
        <p:sp>
          <p:nvSpPr>
            <p:cNvPr id="47" name="椭圆 46"/>
            <p:cNvSpPr/>
            <p:nvPr userDrawn="1"/>
          </p:nvSpPr>
          <p:spPr bwMode="auto">
            <a:xfrm>
              <a:off x="3972763" y="3778814"/>
              <a:ext cx="504056" cy="504056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vert="horz" wrap="square" lIns="0" tIns="0" rIns="0" bIns="0" numCol="1" rtlCol="0" anchor="ctr" anchorCtr="0" compatLnSpc="1"/>
            <a:lstStyle/>
            <a:p>
              <a:pPr algn="ctr"/>
              <a:r>
                <a:rPr lang="en-US" altLang="zh-CN" sz="1400" dirty="0" smtClean="0">
                  <a:ln w="18415" cmpd="sng">
                    <a:solidFill>
                      <a:srgbClr val="FFFFFF"/>
                    </a:solidFill>
                    <a:prstDash val="solid"/>
                  </a:ln>
                  <a:solidFill>
                    <a:srgbClr val="FFFFFF"/>
                  </a:solidFill>
                  <a:effectLst>
                    <a:outerShdw blurRad="63500" dir="3600000" algn="tl" rotWithShape="0">
                      <a:srgbClr val="000000">
                        <a:alpha val="70000"/>
                      </a:srgbClr>
                    </a:outerShdw>
                  </a:effectLst>
                </a:rPr>
                <a:t>6</a:t>
              </a:r>
              <a:endParaRPr lang="zh-CN" altLang="en-US" sz="14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endParaRPr>
            </a:p>
          </p:txBody>
        </p:sp>
        <p:sp>
          <p:nvSpPr>
            <p:cNvPr id="48" name="椭圆 47"/>
            <p:cNvSpPr/>
            <p:nvPr userDrawn="1"/>
          </p:nvSpPr>
          <p:spPr bwMode="auto">
            <a:xfrm>
              <a:off x="7477213" y="3778814"/>
              <a:ext cx="504056" cy="504056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txBody>
            <a:bodyPr vert="horz" wrap="square" lIns="0" tIns="0" rIns="0" bIns="0" numCol="1" rtlCol="0" anchor="ctr" anchorCtr="0" compatLnSpc="1"/>
            <a:lstStyle/>
            <a:p>
              <a:pPr algn="ctr"/>
              <a:r>
                <a:rPr lang="en-US" altLang="zh-CN" sz="1400" dirty="0" smtClean="0">
                  <a:ln w="18415" cmpd="sng">
                    <a:solidFill>
                      <a:srgbClr val="FFFFFF"/>
                    </a:solidFill>
                    <a:prstDash val="solid"/>
                  </a:ln>
                  <a:solidFill>
                    <a:srgbClr val="FFFFFF"/>
                  </a:solidFill>
                  <a:effectLst>
                    <a:outerShdw blurRad="63500" dir="3600000" algn="tl" rotWithShape="0">
                      <a:srgbClr val="000000">
                        <a:alpha val="70000"/>
                      </a:srgbClr>
                    </a:outerShdw>
                  </a:effectLst>
                </a:rPr>
                <a:t>7</a:t>
              </a:r>
              <a:endParaRPr lang="zh-CN" altLang="en-US" sz="14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endParaRPr>
            </a:p>
          </p:txBody>
        </p:sp>
        <p:sp>
          <p:nvSpPr>
            <p:cNvPr id="49" name="椭圆 48"/>
            <p:cNvSpPr/>
            <p:nvPr userDrawn="1"/>
          </p:nvSpPr>
          <p:spPr bwMode="auto">
            <a:xfrm>
              <a:off x="8178102" y="3778814"/>
              <a:ext cx="504056" cy="504056"/>
            </a:xfrm>
            <a:prstGeom prst="ellipse">
              <a:avLst/>
            </a:prstGeom>
            <a:solidFill>
              <a:srgbClr val="7030A0"/>
            </a:solidFill>
            <a:ln>
              <a:noFill/>
            </a:ln>
          </p:spPr>
          <p:txBody>
            <a:bodyPr vert="horz" wrap="square" lIns="0" tIns="0" rIns="0" bIns="0" numCol="1" rtlCol="0" anchor="ctr" anchorCtr="0" compatLnSpc="1"/>
            <a:lstStyle/>
            <a:p>
              <a:pPr algn="ctr"/>
              <a:r>
                <a:rPr lang="en-US" altLang="zh-CN" sz="1400" dirty="0" smtClean="0">
                  <a:ln w="18415" cmpd="sng">
                    <a:solidFill>
                      <a:srgbClr val="FFFFFF"/>
                    </a:solidFill>
                    <a:prstDash val="solid"/>
                  </a:ln>
                  <a:solidFill>
                    <a:srgbClr val="FFFFFF"/>
                  </a:solidFill>
                  <a:effectLst>
                    <a:outerShdw blurRad="63500" dir="3600000" algn="tl" rotWithShape="0">
                      <a:srgbClr val="000000">
                        <a:alpha val="70000"/>
                      </a:srgbClr>
                    </a:outerShdw>
                  </a:effectLst>
                </a:rPr>
                <a:t>8</a:t>
              </a:r>
              <a:endParaRPr lang="zh-CN" altLang="en-US" sz="14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endParaRPr>
            </a:p>
          </p:txBody>
        </p:sp>
        <p:sp>
          <p:nvSpPr>
            <p:cNvPr id="59" name="内容占位符 4"/>
            <p:cNvSpPr txBox="1"/>
            <p:nvPr userDrawn="1"/>
          </p:nvSpPr>
          <p:spPr>
            <a:xfrm>
              <a:off x="468314" y="1227376"/>
              <a:ext cx="8203430" cy="425203"/>
            </a:xfrm>
            <a:prstGeom prst="rect">
              <a:avLst/>
            </a:prstGeom>
            <a:noFill/>
          </p:spPr>
          <p:txBody>
            <a:bodyPr vert="horz" lIns="91440" tIns="45720" rIns="91440" bIns="45720" rtlCol="0" anchor="ctr">
              <a:noAutofit/>
            </a:bodyPr>
            <a:lstStyle>
              <a:lvl1pPr marL="342900" indent="-342900" algn="l" defTabSz="914400" rtl="0" eaLnBrk="1" latinLnBrk="0" hangingPunct="1">
                <a:lnSpc>
                  <a:spcPct val="120000"/>
                </a:lnSpc>
                <a:spcBef>
                  <a:spcPct val="200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j-ea"/>
                  <a:ea typeface="+mj-ea"/>
                  <a:cs typeface="+mn-cs"/>
                </a:defRPr>
              </a:lvl1pPr>
              <a:lvl2pPr marL="742950" indent="-285750" algn="l" defTabSz="914400" rtl="0" eaLnBrk="1" latinLnBrk="0" hangingPunct="1">
                <a:lnSpc>
                  <a:spcPct val="120000"/>
                </a:lnSpc>
                <a:spcBef>
                  <a:spcPct val="20000"/>
                </a:spcBef>
                <a:buFont typeface="Arial" panose="020B0604020202020204" pitchFamily="34" charset="0"/>
                <a:buChar char="–"/>
                <a:defRPr sz="1600" kern="1200">
                  <a:solidFill>
                    <a:schemeClr val="tx1"/>
                  </a:solidFill>
                  <a:latin typeface="+mj-ea"/>
                  <a:ea typeface="+mj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120000"/>
                </a:lnSpc>
                <a:spcBef>
                  <a:spcPct val="20000"/>
                </a:spcBef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j-ea"/>
                  <a:ea typeface="+mj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120000"/>
                </a:lnSpc>
                <a:spcBef>
                  <a:spcPct val="20000"/>
                </a:spcBef>
                <a:buFont typeface="Arial" panose="020B0604020202020204" pitchFamily="34" charset="0"/>
                <a:buChar char="–"/>
                <a:defRPr sz="1200" kern="1200">
                  <a:solidFill>
                    <a:schemeClr val="tx1"/>
                  </a:solidFill>
                  <a:latin typeface="+mj-ea"/>
                  <a:ea typeface="+mj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120000"/>
                </a:lnSpc>
                <a:spcBef>
                  <a:spcPct val="20000"/>
                </a:spcBef>
                <a:buFont typeface="Arial" panose="020B0604020202020204" pitchFamily="34" charset="0"/>
                <a:buChar char="»"/>
                <a:defRPr sz="1200" kern="1200">
                  <a:solidFill>
                    <a:schemeClr val="tx1"/>
                  </a:solidFill>
                  <a:latin typeface="+mj-ea"/>
                  <a:ea typeface="+mj-ea"/>
                  <a:cs typeface="+mn-cs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altLang="zh-CN" sz="1600" b="1" dirty="0" smtClean="0">
                  <a:solidFill>
                    <a:schemeClr val="bg1">
                      <a:lumMod val="50000"/>
                    </a:schemeClr>
                  </a:solidFill>
                </a:rPr>
                <a:t>2007/2010</a:t>
              </a:r>
              <a:r>
                <a:rPr lang="zh-CN" altLang="en-US" sz="1600" b="1" dirty="0" smtClean="0">
                  <a:solidFill>
                    <a:schemeClr val="bg1">
                      <a:lumMod val="50000"/>
                    </a:schemeClr>
                  </a:solidFill>
                </a:rPr>
                <a:t>版本配色方案 </a:t>
              </a:r>
              <a:r>
                <a:rPr lang="zh-CN" altLang="en-US" sz="1600" b="1" dirty="0" smtClean="0"/>
                <a:t>（</a:t>
              </a:r>
              <a:r>
                <a:rPr lang="en-US" altLang="zh-CN" sz="1600" b="1" dirty="0" smtClean="0"/>
                <a:t>12</a:t>
              </a:r>
              <a:r>
                <a:rPr lang="zh-CN" altLang="en-US" sz="1600" b="1" dirty="0" smtClean="0"/>
                <a:t>种配色）</a:t>
              </a:r>
              <a:endParaRPr lang="zh-CN" altLang="en-US" sz="1600" b="1" dirty="0"/>
            </a:p>
          </p:txBody>
        </p:sp>
      </p:grp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5" descr="E:\PAT 图片资源素材\PPT\待整理\精选 0 (13).jpg"/>
          <p:cNvPicPr>
            <a:picLocks noChangeAspect="1" noChangeArrowheads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659" r="33230" b="6423"/>
          <a:stretch>
            <a:fillRect/>
          </a:stretch>
        </p:blipFill>
        <p:spPr bwMode="auto">
          <a:xfrm>
            <a:off x="3851921" y="0"/>
            <a:ext cx="529208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矩形 11"/>
          <p:cNvSpPr>
            <a:spLocks noChangeArrowheads="1"/>
          </p:cNvSpPr>
          <p:nvPr userDrawn="1"/>
        </p:nvSpPr>
        <p:spPr bwMode="auto">
          <a:xfrm>
            <a:off x="0" y="6864350"/>
            <a:ext cx="9144000" cy="287338"/>
          </a:xfrm>
          <a:prstGeom prst="rect">
            <a:avLst/>
          </a:prstGeom>
          <a:solidFill>
            <a:srgbClr val="BBBFC3">
              <a:alpha val="0"/>
            </a:srgbClr>
          </a:solidFill>
          <a:ln>
            <a:noFill/>
          </a:ln>
        </p:spPr>
        <p:txBody>
          <a:bodyPr anchor="ctr"/>
          <a:lstStyle/>
          <a:p>
            <a:pPr marL="622300" lvl="0"/>
            <a:endParaRPr lang="en-US" altLang="zh-CN" sz="1100" dirty="0">
              <a:cs typeface="Arial" panose="020B0604020202020204" pitchFamily="34" charset="0"/>
            </a:endParaRPr>
          </a:p>
        </p:txBody>
      </p:sp>
      <p:sp>
        <p:nvSpPr>
          <p:cNvPr id="13" name="Rectangle 5">
            <a:hlinkClick r:id="rId3"/>
          </p:cNvPr>
          <p:cNvSpPr txBox="1">
            <a:spLocks noChangeArrowheads="1"/>
          </p:cNvSpPr>
          <p:nvPr userDrawn="1"/>
        </p:nvSpPr>
        <p:spPr bwMode="gray">
          <a:xfrm>
            <a:off x="0" y="5886624"/>
            <a:ext cx="3347367" cy="504527"/>
          </a:xfrm>
          <a:prstGeom prst="rect">
            <a:avLst/>
          </a:prstGeom>
          <a:gradFill flip="none" rotWithShape="1">
            <a:gsLst>
              <a:gs pos="100000">
                <a:schemeClr val="bg1">
                  <a:alpha val="49000"/>
                </a:schemeClr>
              </a:gs>
              <a:gs pos="0">
                <a:schemeClr val="accent1">
                  <a:tint val="23500"/>
                  <a:satMod val="160000"/>
                  <a:alpha val="0"/>
                </a:schemeClr>
              </a:gs>
            </a:gsLst>
            <a:lin ang="10800000" scaled="1"/>
            <a:tileRect/>
          </a:gradFill>
          <a:ln>
            <a:noFill/>
          </a:ln>
        </p:spPr>
        <p:txBody>
          <a:bodyPr lIns="144000" rIns="50400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2" charset="-122"/>
              </a:defRPr>
            </a:lvl9pPr>
          </a:lstStyle>
          <a:p>
            <a:pPr marL="355600" indent="0" algn="l" eaLnBrk="0" hangingPunct="0">
              <a:spcBef>
                <a:spcPct val="60000"/>
              </a:spcBef>
              <a:buClr>
                <a:schemeClr val="accent1"/>
              </a:buClr>
            </a:pPr>
            <a:endParaRPr lang="en-US" altLang="zh-CN" sz="1400" i="1" noProof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5800" y="285750"/>
            <a:ext cx="7772400" cy="11430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85800" y="1657350"/>
            <a:ext cx="3810000" cy="41148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57350"/>
            <a:ext cx="3810000" cy="41148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418D58E-1A28-429D-A6C0-1EC971DF880D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标题和四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sz="quarter"/>
          </p:nvPr>
        </p:nvSpPr>
        <p:spPr>
          <a:xfrm>
            <a:off x="685800" y="285750"/>
            <a:ext cx="7772400" cy="11430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685800" y="1657350"/>
            <a:ext cx="3810000" cy="19812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48200" y="1657350"/>
            <a:ext cx="3810000" cy="19812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85800" y="3790950"/>
            <a:ext cx="3810000" cy="19812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8200" y="3790950"/>
            <a:ext cx="3810000" cy="19812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418D58E-1A28-429D-A6C0-1EC971DF880D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image" Target="../media/image2.png"/><Relationship Id="rId10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Picture 5" descr="E:\PAT 图片资源素材\PPT\待整理\精选 0 (13).jpg"/>
          <p:cNvPicPr>
            <a:picLocks noChangeAspect="1" noChangeArrowheads="1"/>
          </p:cNvPicPr>
          <p:nvPr userDrawn="1"/>
        </p:nvPicPr>
        <p:blipFill rotWithShape="1"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074" r="20205" b="3263"/>
          <a:stretch>
            <a:fillRect/>
          </a:stretch>
        </p:blipFill>
        <p:spPr bwMode="auto">
          <a:xfrm rot="10800000" flipH="1" flipV="1">
            <a:off x="5353149" y="765173"/>
            <a:ext cx="3790851" cy="6092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5" name="梯形 34"/>
          <p:cNvSpPr/>
          <p:nvPr userDrawn="1"/>
        </p:nvSpPr>
        <p:spPr bwMode="auto">
          <a:xfrm rot="16200000">
            <a:off x="4178903" y="-4199923"/>
            <a:ext cx="786193" cy="9144000"/>
          </a:xfrm>
          <a:prstGeom prst="trapezoid">
            <a:avLst>
              <a:gd name="adj" fmla="val 0"/>
            </a:avLst>
          </a:prstGeom>
          <a:gradFill flip="none" rotWithShape="1">
            <a:gsLst>
              <a:gs pos="73000">
                <a:srgbClr val="FFFF00">
                  <a:lumMod val="0"/>
                  <a:lumOff val="100000"/>
                  <a:alpha val="47000"/>
                </a:srgbClr>
              </a:gs>
              <a:gs pos="90000">
                <a:srgbClr val="039ABD">
                  <a:alpha val="12000"/>
                </a:srgbClr>
              </a:gs>
              <a:gs pos="100000">
                <a:srgbClr val="92D050">
                  <a:lumMod val="0"/>
                  <a:alpha val="0"/>
                </a:srgbClr>
              </a:gs>
              <a:gs pos="47000">
                <a:srgbClr val="92D050">
                  <a:alpha val="0"/>
                </a:srgbClr>
              </a:gs>
              <a:gs pos="9000">
                <a:srgbClr val="FFC000">
                  <a:alpha val="59000"/>
                </a:srgbClr>
              </a:gs>
            </a:gsLst>
            <a:lin ang="5400000" scaled="0"/>
            <a:tileRect/>
          </a:gradFill>
          <a:ln>
            <a:noFill/>
          </a:ln>
          <a:effectLst>
            <a:outerShdw blurRad="381000" dist="114300" dir="5400000" algn="t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 userDrawn="1"/>
        </p:nvSpPr>
        <p:spPr bwMode="auto">
          <a:xfrm>
            <a:off x="0" y="765175"/>
            <a:ext cx="8675688" cy="5616575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algn="ctr"/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453188"/>
            <a:ext cx="2895600" cy="268287"/>
          </a:xfrm>
          <a:prstGeom prst="rect">
            <a:avLst/>
          </a:prstGeom>
          <a:solidFill>
            <a:srgbClr val="FFFFFF">
              <a:alpha val="69804"/>
            </a:srgbClr>
          </a:solidFill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zh-CN" altLang="en-US" dirty="0"/>
          </a:p>
        </p:txBody>
      </p:sp>
      <p:sp>
        <p:nvSpPr>
          <p:cNvPr id="14" name="文本占位符 13"/>
          <p:cNvSpPr>
            <a:spLocks noGrp="1"/>
          </p:cNvSpPr>
          <p:nvPr>
            <p:ph type="body" idx="1"/>
          </p:nvPr>
        </p:nvSpPr>
        <p:spPr>
          <a:xfrm flipH="1">
            <a:off x="468313" y="981076"/>
            <a:ext cx="8207375" cy="54006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10" name="矩形 11"/>
          <p:cNvSpPr>
            <a:spLocks noChangeArrowheads="1"/>
          </p:cNvSpPr>
          <p:nvPr userDrawn="1"/>
        </p:nvSpPr>
        <p:spPr bwMode="auto">
          <a:xfrm>
            <a:off x="0" y="6864350"/>
            <a:ext cx="9144000" cy="287338"/>
          </a:xfrm>
          <a:prstGeom prst="rect">
            <a:avLst/>
          </a:prstGeom>
          <a:solidFill>
            <a:srgbClr val="BBBFC3">
              <a:alpha val="0"/>
            </a:srgbClr>
          </a:solidFill>
          <a:ln>
            <a:noFill/>
          </a:ln>
        </p:spPr>
        <p:txBody>
          <a:bodyPr anchor="ctr"/>
          <a:lstStyle/>
          <a:p>
            <a:pPr marL="622300"/>
            <a:endParaRPr lang="en-US" altLang="zh-CN" sz="1100" dirty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2"/>
          </p:nvPr>
        </p:nvSpPr>
        <p:spPr>
          <a:xfrm>
            <a:off x="6530976" y="6453188"/>
            <a:ext cx="2133600" cy="268287"/>
          </a:xfrm>
          <a:prstGeom prst="rect">
            <a:avLst/>
          </a:prstGeom>
          <a:solidFill>
            <a:srgbClr val="FFFFFF">
              <a:alpha val="69804"/>
            </a:srgbClr>
          </a:solidFill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468313" y="6453188"/>
            <a:ext cx="1007343" cy="268287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altLang="zh-CN" smtClean="0"/>
              <a:t>P</a:t>
            </a:r>
            <a:fld id="{62DCC93C-90AC-48A1-9D9E-CBAB17A91522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27" name="Picture 2"/>
          <p:cNvPicPr>
            <a:picLocks noChangeAspect="1" noChangeArrowheads="1"/>
          </p:cNvPicPr>
          <p:nvPr userDrawn="1"/>
        </p:nvPicPr>
        <p:blipFill rotWithShape="1"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77838" y="6381750"/>
            <a:ext cx="8188325" cy="115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5" name="Picture 2"/>
          <p:cNvPicPr>
            <a:picLocks noChangeAspect="1" noChangeArrowheads="1"/>
          </p:cNvPicPr>
          <p:nvPr userDrawn="1"/>
        </p:nvPicPr>
        <p:blipFill rotWithShape="1"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0" y="765968"/>
            <a:ext cx="8666164" cy="122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3" name="标题占位符 12"/>
          <p:cNvSpPr>
            <a:spLocks noGrp="1"/>
          </p:cNvSpPr>
          <p:nvPr>
            <p:ph type="title"/>
          </p:nvPr>
        </p:nvSpPr>
        <p:spPr>
          <a:xfrm>
            <a:off x="477838" y="188641"/>
            <a:ext cx="7078190" cy="3492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timing>
    <p:tnLst>
      <p:par>
        <p:cTn id="1" dur="indefinite" restart="never" nodeType="tmRoot"/>
      </p:par>
    </p:tnLst>
  </p:timing>
  <p:hf hdr="0" ftr="0" dt="0"/>
  <p:txStyles>
    <p:titleStyle>
      <a:lvl1pPr algn="l" defTabSz="914400" rtl="0" eaLnBrk="1" latinLnBrk="0" hangingPunct="1">
        <a:spcBef>
          <a:spcPct val="0"/>
        </a:spcBef>
        <a:buNone/>
        <a:defRPr sz="2800" b="1" kern="1200">
          <a:solidFill>
            <a:schemeClr val="tx1"/>
          </a:solidFill>
          <a:latin typeface="+mn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lnSpc>
          <a:spcPct val="120000"/>
        </a:lnSpc>
        <a:spcBef>
          <a:spcPct val="2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j-ea"/>
          <a:cs typeface="+mn-cs"/>
        </a:defRPr>
      </a:lvl1pPr>
      <a:lvl2pPr marL="742950" indent="-285750" algn="l" defTabSz="914400" rtl="0" eaLnBrk="1" latinLnBrk="0" hangingPunct="1">
        <a:lnSpc>
          <a:spcPct val="120000"/>
        </a:lnSpc>
        <a:spcBef>
          <a:spcPct val="20000"/>
        </a:spcBef>
        <a:buFont typeface="Arial" panose="020B0604020202020204" pitchFamily="34" charset="0"/>
        <a:buChar char="–"/>
        <a:defRPr sz="1600" kern="1200">
          <a:solidFill>
            <a:schemeClr val="tx1"/>
          </a:solidFill>
          <a:latin typeface="+mn-lt"/>
          <a:ea typeface="+mj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ct val="200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j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ct val="20000"/>
        </a:spcBef>
        <a:buFont typeface="Arial" panose="020B0604020202020204" pitchFamily="34" charset="0"/>
        <a:buChar char="–"/>
        <a:defRPr sz="1200" kern="1200">
          <a:solidFill>
            <a:schemeClr val="tx1"/>
          </a:solidFill>
          <a:latin typeface="+mn-lt"/>
          <a:ea typeface="+mj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ct val="20000"/>
        </a:spcBef>
        <a:buFont typeface="Arial" panose="020B0604020202020204" pitchFamily="34" charset="0"/>
        <a:buChar char="»"/>
        <a:defRPr sz="1200" kern="1200">
          <a:solidFill>
            <a:schemeClr val="tx1"/>
          </a:solidFill>
          <a:latin typeface="+mn-lt"/>
          <a:ea typeface="+mj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1" Type="http://schemas.openxmlformats.org/officeDocument/2006/relationships/tags" Target="../tags/tag1.xm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.wmf"/><Relationship Id="rId1" Type="http://schemas.openxmlformats.org/officeDocument/2006/relationships/oleObject" Target="../embeddings/oleObject1.bin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2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7.wmf"/><Relationship Id="rId1" Type="http://schemas.openxmlformats.org/officeDocument/2006/relationships/oleObject" Target="../embeddings/oleObject2.bin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3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8.wmf"/><Relationship Id="rId1" Type="http://schemas.openxmlformats.org/officeDocument/2006/relationships/oleObject" Target="../embeddings/oleObject3.bin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4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9.wmf"/><Relationship Id="rId1" Type="http://schemas.openxmlformats.org/officeDocument/2006/relationships/oleObject" Target="../embeddings/oleObject4.bin"/></Relationships>
</file>

<file path=ppt/slides/_rels/slide13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5.v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1.wmf"/><Relationship Id="rId3" Type="http://schemas.openxmlformats.org/officeDocument/2006/relationships/oleObject" Target="../embeddings/oleObject6.bin"/><Relationship Id="rId2" Type="http://schemas.openxmlformats.org/officeDocument/2006/relationships/image" Target="../media/image10.wmf"/><Relationship Id="rId1" Type="http://schemas.openxmlformats.org/officeDocument/2006/relationships/oleObject" Target="../embeddings/oleObject5.bin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_rels/slide1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vmlDrawing" Target="../drawings/vmlDrawing6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5.wmf"/><Relationship Id="rId1" Type="http://schemas.openxmlformats.org/officeDocument/2006/relationships/oleObject" Target="../embeddings/oleObject7.bin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7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6.emf"/><Relationship Id="rId1" Type="http://schemas.openxmlformats.org/officeDocument/2006/relationships/oleObject" Target="../embeddings/oleObject8.bin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8.png"/><Relationship Id="rId1" Type="http://schemas.openxmlformats.org/officeDocument/2006/relationships/image" Target="../media/image17.png"/></Relationships>
</file>

<file path=ppt/slides/_rels/slide21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8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9.wmf"/><Relationship Id="rId1" Type="http://schemas.openxmlformats.org/officeDocument/2006/relationships/oleObject" Target="../embeddings/oleObject9.bin"/></Relationships>
</file>

<file path=ppt/slides/_rels/slide2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.xml"/><Relationship Id="rId4" Type="http://schemas.openxmlformats.org/officeDocument/2006/relationships/vmlDrawing" Target="../drawings/vmlDrawing9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0.wmf"/><Relationship Id="rId1" Type="http://schemas.openxmlformats.org/officeDocument/2006/relationships/oleObject" Target="../embeddings/oleObject10.bin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0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1.emf"/><Relationship Id="rId1" Type="http://schemas.openxmlformats.org/officeDocument/2006/relationships/oleObject" Target="../embeddings/oleObject11.bin"/></Relationships>
</file>

<file path=ppt/slides/_rels/slide2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6.xml"/><Relationship Id="rId4" Type="http://schemas.openxmlformats.org/officeDocument/2006/relationships/vmlDrawing" Target="../drawings/vmlDrawing11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2.wmf"/><Relationship Id="rId1" Type="http://schemas.openxmlformats.org/officeDocument/2006/relationships/oleObject" Target="../embeddings/oleObject12.bin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3.png"/></Relationships>
</file>

<file path=ppt/slides/_rels/slide28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2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4.wmf"/><Relationship Id="rId1" Type="http://schemas.openxmlformats.org/officeDocument/2006/relationships/oleObject" Target="../embeddings/oleObject13.bin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5.pn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3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6.wmf"/><Relationship Id="rId1" Type="http://schemas.openxmlformats.org/officeDocument/2006/relationships/oleObject" Target="../embeddings/oleObject14.bin"/></Relationships>
</file>

<file path=ppt/slides/_rels/slide39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4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7.wmf"/><Relationship Id="rId1" Type="http://schemas.openxmlformats.org/officeDocument/2006/relationships/oleObject" Target="../embeddings/oleObject15.bin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5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8.wmf"/><Relationship Id="rId1" Type="http://schemas.openxmlformats.org/officeDocument/2006/relationships/oleObject" Target="../embeddings/oleObject16.bin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550545" y="2200910"/>
            <a:ext cx="3771900" cy="639445"/>
          </a:xfrm>
        </p:spPr>
        <p:txBody>
          <a:bodyPr>
            <a:noAutofit/>
          </a:bodyPr>
          <a:lstStyle/>
          <a:p>
            <a:pPr marL="342900" lvl="0" indent="-342900" fontAlgn="base">
              <a:lnSpc>
                <a:spcPct val="110000"/>
              </a:lnSpc>
              <a:spcAft>
                <a:spcPct val="0"/>
              </a:spcAft>
            </a:pPr>
            <a:r>
              <a:rPr lang="zh-CN" altLang="en-US" sz="3200" u="none" kern="0" dirty="0">
                <a:solidFill>
                  <a:srgbClr val="000000"/>
                </a:solidFill>
                <a:latin typeface="微软雅黑" panose="020B0503020204020204" pitchFamily="34" charset="-122"/>
                <a:ea typeface="方正正大黑简体" panose="02000000000000000000" pitchFamily="2" charset="-122"/>
              </a:rPr>
              <a:t>面向对象程序设计</a:t>
            </a:r>
            <a:endParaRPr lang="zh-CN" altLang="en-US" sz="3200" u="none" kern="0" dirty="0">
              <a:solidFill>
                <a:srgbClr val="000000"/>
              </a:solidFill>
              <a:latin typeface="微软雅黑" panose="020B0503020204020204" pitchFamily="34" charset="-122"/>
              <a:ea typeface="方正正大黑简体" panose="02000000000000000000" pitchFamily="2" charset="-122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719455" y="3153410"/>
            <a:ext cx="2927350" cy="551180"/>
          </a:xfrm>
        </p:spPr>
        <p:txBody>
          <a:bodyPr>
            <a:noAutofit/>
          </a:bodyPr>
          <a:lstStyle/>
          <a:p>
            <a:r>
              <a:rPr lang="zh-CN" altLang="en-US" sz="2000" u="none" dirty="0" smtClean="0">
                <a:solidFill>
                  <a:srgbClr val="000000"/>
                </a:solidFill>
                <a:latin typeface="微软雅黑" panose="020B0503020204020204" pitchFamily="34" charset="-122"/>
              </a:rPr>
              <a:t>循环、方法、一维数组</a:t>
            </a:r>
            <a:endParaRPr lang="zh-CN" altLang="en-US" sz="2000" u="none" dirty="0" smtClean="0">
              <a:solidFill>
                <a:srgbClr val="000000"/>
              </a:solidFill>
              <a:latin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8172400" y="16351"/>
            <a:ext cx="648072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模板下载：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www.1ppt.com/moban/     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行业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模板：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www.1ppt.com/hangye/ </a:t>
            </a:r>
            <a:endParaRPr lang="en-US" altLang="zh-CN" sz="100" dirty="0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节日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模板：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www.1ppt.com/jieri/           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素材下载：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www.1ppt.com/sucai/</a:t>
            </a:r>
            <a:endParaRPr lang="en-US" altLang="zh-CN" sz="100" dirty="0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背景图片：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www.1ppt.com/beijing/      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图表下载：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www.1ppt.com/tubiao/      </a:t>
            </a:r>
            <a:endParaRPr lang="en-US" altLang="zh-CN" sz="100" dirty="0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优秀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下载：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www.1ppt.com/xiazai/        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教程： 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www.1ppt.com/powerpoint/      </a:t>
            </a:r>
            <a:endParaRPr lang="en-US" altLang="zh-CN" sz="100" dirty="0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Word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教程： 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www.1ppt.com/word/              Excel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教程：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www.1ppt.com/excel/  </a:t>
            </a:r>
            <a:endParaRPr lang="en-US" altLang="zh-CN" sz="100" dirty="0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资料下载：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www.1ppt.com/ziliao/                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课件下载：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www.1ppt.com/kejian/ </a:t>
            </a:r>
            <a:endParaRPr lang="en-US" altLang="zh-CN" sz="100" dirty="0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范文下载：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www.1ppt.com/fanwen/             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试卷下载：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www.1ppt.com/shiti/  </a:t>
            </a:r>
            <a:endParaRPr lang="en-US" altLang="zh-CN" sz="100" dirty="0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教案下载：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www.1ppt.com/jiaoan/  </a:t>
            </a:r>
            <a:endParaRPr lang="en-US" altLang="zh-CN" sz="100" dirty="0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  <a:endParaRPr lang="zh-CN" altLang="en-US" sz="100" dirty="0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506" name="标题 1"/>
          <p:cNvSpPr>
            <a:spLocks noGrp="1"/>
          </p:cNvSpPr>
          <p:nvPr>
            <p:ph type="title"/>
          </p:nvPr>
        </p:nvSpPr>
        <p:spPr>
          <a:xfrm>
            <a:off x="409575" y="-53022"/>
            <a:ext cx="7772400" cy="822325"/>
          </a:xfrm>
        </p:spPr>
        <p:txBody>
          <a:bodyPr vert="horz" wrap="square" lIns="92075" tIns="46038" rIns="92075" bIns="46038" anchor="ctr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4400" b="0" i="0" u="none" strike="noStrike" kern="1200" cap="none" spc="0" normalizeH="0" baseline="0" noProof="1" dirty="0">
                <a:solidFill>
                  <a:schemeClr val="tx2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正则表达式</a:t>
            </a:r>
            <a:endParaRPr kumimoji="0" lang="zh-CN" altLang="en-US" sz="4400" b="0" i="0" u="none" strike="noStrike" kern="1200" cap="none" spc="0" normalizeH="0" baseline="0" noProof="1" dirty="0">
              <a:solidFill>
                <a:schemeClr val="tx2"/>
              </a:solidFill>
              <a:effectLst>
                <a:outerShdw blurRad="38100" dist="38100" dir="2700000">
                  <a:srgbClr val="C0C0C0"/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  <p:sp>
        <p:nvSpPr>
          <p:cNvPr id="21508" name="内容占位符 3"/>
          <p:cNvSpPr>
            <a:spLocks noGrp="1"/>
          </p:cNvSpPr>
          <p:nvPr>
            <p:ph idx="1"/>
          </p:nvPr>
        </p:nvSpPr>
        <p:spPr>
          <a:xfrm>
            <a:off x="347980" y="1323658"/>
            <a:ext cx="8207375" cy="2784475"/>
          </a:xfrm>
        </p:spPr>
        <p:txBody>
          <a:bodyPr vert="horz" wrap="square" lIns="92075" tIns="46038" rIns="92075" bIns="46038" anchor="t">
            <a:normAutofit fontScale="90000" lnSpcReduction="10000"/>
          </a:bodyPr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7030A0"/>
              </a:buClr>
              <a:buSzPct val="75000"/>
              <a:buFont typeface="Wingdings" panose="05000000000000000000" charset="0"/>
              <a:buChar char="n"/>
            </a:pPr>
            <a:r>
              <a:rPr kumimoji="0" lang="zh-CN" altLang="zh-CN" sz="2800" b="1" i="0" u="none" strike="noStrike" kern="1200" cap="none" spc="0" normalizeH="0" baseline="0" noProof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正则表达式是一个字符串，用来描述字符串匹配的模式，可以进行字符串匹配、替换和分解。</a:t>
            </a:r>
            <a:endParaRPr kumimoji="0" lang="zh-CN" altLang="zh-CN" sz="2800" b="1" i="0" u="none" strike="noStrike" kern="1200" cap="none" spc="0" normalizeH="0" baseline="0" noProof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7030A0"/>
              </a:buClr>
              <a:buSzPct val="75000"/>
              <a:buFont typeface="Wingdings" panose="05000000000000000000" charset="0"/>
              <a:buChar char="n"/>
            </a:pPr>
            <a:r>
              <a:rPr kumimoji="0" lang="zh-CN" altLang="zh-CN" sz="2800" b="1" i="0" u="none" strike="noStrike" kern="1200" cap="none" spc="0" normalizeH="0" baseline="0" noProof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一个正则表达式是由普通的字符（例如字符</a:t>
            </a:r>
            <a:r>
              <a:rPr kumimoji="0" lang="en-US" altLang="zh-CN" sz="2800" b="1" i="0" u="none" strike="noStrike" kern="1200" cap="none" spc="0" normalizeH="0" baseline="0" noProof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</a:t>
            </a:r>
            <a:r>
              <a:rPr kumimoji="0" lang="zh-CN" altLang="zh-CN" sz="2800" b="1" i="0" u="none" strike="noStrike" kern="1200" cap="none" spc="0" normalizeH="0" baseline="0" noProof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到</a:t>
            </a:r>
            <a:r>
              <a:rPr kumimoji="0" lang="en-US" altLang="zh-CN" sz="2800" b="1" i="0" u="none" strike="noStrike" kern="1200" cap="none" spc="0" normalizeH="0" baseline="0" noProof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z</a:t>
            </a:r>
            <a:r>
              <a:rPr kumimoji="0" lang="zh-CN" altLang="zh-CN" sz="2800" b="1" i="0" u="none" strike="noStrike" kern="1200" cap="none" spc="0" normalizeH="0" baseline="0" noProof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）以及特殊字符（元字符）组成的</a:t>
            </a:r>
            <a:r>
              <a:rPr kumimoji="0" lang="zh-CN" altLang="zh-CN" sz="2800" b="1" i="0" u="none" strike="noStrike" kern="1200" cap="none" spc="0" normalizeH="0" baseline="0" noProof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文字模式</a:t>
            </a:r>
            <a:r>
              <a:rPr kumimoji="0" lang="zh-CN" altLang="zh-CN" sz="2800" b="1" i="0" u="none" strike="noStrike" kern="1200" cap="none" spc="0" normalizeH="0" baseline="0" noProof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，用以描述在查找文字主体时待匹配的一个或多个字符串。</a:t>
            </a:r>
            <a:endParaRPr kumimoji="0" lang="en-US" altLang="zh-CN" sz="2800" b="1" i="0" u="none" strike="noStrike" kern="1200" cap="none" spc="0" normalizeH="0" baseline="0" noProof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7030A0"/>
              </a:buClr>
              <a:buSzPct val="75000"/>
              <a:buFont typeface="Wingdings" panose="05000000000000000000" charset="0"/>
              <a:buChar char="n"/>
            </a:pPr>
            <a:r>
              <a:rPr kumimoji="0" lang="zh-CN" altLang="zh-CN" sz="2800" b="1" i="0" u="none" strike="noStrike" kern="1200" cap="none" spc="0" normalizeH="0" baseline="0" noProof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正则表达式作为一个</a:t>
            </a:r>
            <a:r>
              <a:rPr kumimoji="0" lang="zh-CN" altLang="zh-CN" sz="2800" b="1" i="0" u="none" strike="noStrike" kern="1200" cap="none" spc="0" normalizeH="0" baseline="0" noProof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模板</a:t>
            </a:r>
            <a:r>
              <a:rPr kumimoji="0" lang="zh-CN" altLang="zh-CN" sz="2800" b="1" i="0" u="none" strike="noStrike" kern="1200" cap="none" spc="0" normalizeH="0" baseline="0" noProof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，将某个字符模式与所搜索的字符串进行匹配</a:t>
            </a:r>
            <a:r>
              <a:rPr kumimoji="0" lang="zh-CN" altLang="zh-CN" sz="2800" b="1" i="0" u="none" strike="noStrike" kern="1200" cap="none" spc="0" normalizeH="0" baseline="0" noProof="1" dirty="0">
                <a:solidFill>
                  <a:schemeClr val="tx1"/>
                </a:solidFill>
                <a:latin typeface="+mn-lt"/>
                <a:ea typeface="宋体" panose="02010600030101010101" pitchFamily="2" charset="-122"/>
                <a:cs typeface="+mn-cs"/>
              </a:rPr>
              <a:t>。</a:t>
            </a:r>
            <a:endParaRPr kumimoji="0" lang="zh-CN" altLang="en-US" sz="2800" b="1" i="0" u="none" strike="noStrike" kern="1200" cap="none" spc="0" normalizeH="0" baseline="0" noProof="1" dirty="0">
              <a:solidFill>
                <a:schemeClr val="tx1"/>
              </a:solidFill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7411" name="矩形 4"/>
          <p:cNvSpPr/>
          <p:nvPr/>
        </p:nvSpPr>
        <p:spPr>
          <a:xfrm>
            <a:off x="890588" y="4612005"/>
            <a:ext cx="7121525" cy="1323975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 eaLnBrk="0" hangingPunct="0">
              <a:buSzTx/>
            </a:pPr>
            <a:r>
              <a:rPr lang="zh-CN" altLang="zh-CN" sz="2000" dirty="0">
                <a:latin typeface="Tahoma" panose="020B0604030504040204" pitchFamily="34" charset="0"/>
                <a:ea typeface="宋体" panose="02010600030101010101" pitchFamily="2" charset="-122"/>
              </a:rPr>
              <a:t>“</a:t>
            </a:r>
            <a:r>
              <a:rPr lang="en-US" altLang="zh-CN" sz="2000" dirty="0">
                <a:latin typeface="Tahoma" panose="020B0604030504040204" pitchFamily="34" charset="0"/>
                <a:ea typeface="宋体" panose="02010600030101010101" pitchFamily="2" charset="-122"/>
              </a:rPr>
              <a:t>java</a:t>
            </a:r>
            <a:r>
              <a:rPr lang="zh-CN" altLang="zh-CN" sz="2000" dirty="0">
                <a:latin typeface="Tahoma" panose="020B0604030504040204" pitchFamily="34" charset="0"/>
                <a:ea typeface="宋体" panose="02010600030101010101" pitchFamily="2" charset="-122"/>
              </a:rPr>
              <a:t>”：由普通字符组成。</a:t>
            </a:r>
            <a:endParaRPr lang="zh-CN" altLang="zh-CN" sz="2000" dirty="0">
              <a:latin typeface="Tahoma" panose="020B0604030504040204" pitchFamily="34" charset="0"/>
              <a:ea typeface="宋体" panose="02010600030101010101" pitchFamily="2" charset="-122"/>
            </a:endParaRPr>
          </a:p>
          <a:p>
            <a:pPr eaLnBrk="0" hangingPunct="0">
              <a:buSzTx/>
            </a:pPr>
            <a:r>
              <a:rPr lang="zh-CN" altLang="zh-CN" sz="2000" dirty="0">
                <a:latin typeface="Tahoma" panose="020B0604030504040204" pitchFamily="34" charset="0"/>
                <a:ea typeface="宋体" panose="02010600030101010101" pitchFamily="2" charset="-122"/>
              </a:rPr>
              <a:t>“</a:t>
            </a:r>
            <a:r>
              <a:rPr lang="en-US" altLang="zh-CN" sz="2000" dirty="0">
                <a:latin typeface="Tahoma" panose="020B0604030504040204" pitchFamily="34" charset="0"/>
                <a:ea typeface="宋体" panose="02010600030101010101" pitchFamily="2" charset="-122"/>
              </a:rPr>
              <a:t>java.*</a:t>
            </a:r>
            <a:r>
              <a:rPr lang="zh-CN" altLang="zh-CN" sz="2000" dirty="0">
                <a:latin typeface="Tahoma" panose="020B0604030504040204" pitchFamily="34" charset="0"/>
                <a:ea typeface="宋体" panose="02010600030101010101" pitchFamily="2" charset="-122"/>
              </a:rPr>
              <a:t>”：包含有两个特殊字符</a:t>
            </a:r>
            <a:r>
              <a:rPr lang="en-US" altLang="zh-CN" sz="2000" dirty="0">
                <a:latin typeface="Tahoma" panose="020B0604030504040204" pitchFamily="34" charset="0"/>
                <a:ea typeface="宋体" panose="02010600030101010101" pitchFamily="2" charset="-122"/>
              </a:rPr>
              <a:t>.*</a:t>
            </a:r>
            <a:r>
              <a:rPr lang="zh-CN" altLang="zh-CN" sz="2000" dirty="0">
                <a:latin typeface="Tahoma" panose="020B0604030504040204" pitchFamily="34" charset="0"/>
                <a:ea typeface="宋体" panose="02010600030101010101" pitchFamily="2" charset="-122"/>
              </a:rPr>
              <a:t>，表示</a:t>
            </a:r>
            <a:r>
              <a:rPr lang="en-US" altLang="zh-CN" sz="2000" dirty="0">
                <a:latin typeface="Tahoma" panose="020B0604030504040204" pitchFamily="34" charset="0"/>
                <a:ea typeface="宋体" panose="02010600030101010101" pitchFamily="2" charset="-122"/>
              </a:rPr>
              <a:t>java</a:t>
            </a:r>
            <a:r>
              <a:rPr lang="zh-CN" altLang="zh-CN" sz="2000" dirty="0">
                <a:latin typeface="Tahoma" panose="020B0604030504040204" pitchFamily="34" charset="0"/>
                <a:ea typeface="宋体" panose="02010600030101010101" pitchFamily="2" charset="-122"/>
              </a:rPr>
              <a:t>后面跟有</a:t>
            </a:r>
            <a:r>
              <a:rPr lang="en-US" altLang="zh-CN" sz="2000" dirty="0">
                <a:latin typeface="Tahoma" panose="020B0604030504040204" pitchFamily="34" charset="0"/>
                <a:ea typeface="宋体" panose="02010600030101010101" pitchFamily="2" charset="-122"/>
              </a:rPr>
              <a:t>0</a:t>
            </a:r>
            <a:r>
              <a:rPr lang="zh-CN" altLang="zh-CN" sz="2000" dirty="0">
                <a:latin typeface="Tahoma" panose="020B0604030504040204" pitchFamily="34" charset="0"/>
                <a:ea typeface="宋体" panose="02010600030101010101" pitchFamily="2" charset="-122"/>
              </a:rPr>
              <a:t>个或者多个字符。</a:t>
            </a:r>
            <a:endParaRPr lang="zh-CN" altLang="zh-CN" sz="2000" dirty="0">
              <a:latin typeface="Tahoma" panose="020B0604030504040204" pitchFamily="34" charset="0"/>
              <a:ea typeface="宋体" panose="02010600030101010101" pitchFamily="2" charset="-122"/>
            </a:endParaRPr>
          </a:p>
          <a:p>
            <a:pPr eaLnBrk="0" hangingPunct="0">
              <a:buSzTx/>
            </a:pPr>
            <a:r>
              <a:rPr lang="zh-CN" altLang="zh-CN" sz="2000" dirty="0">
                <a:latin typeface="Tahoma" panose="020B0604030504040204" pitchFamily="34" charset="0"/>
                <a:ea typeface="宋体" panose="02010600030101010101" pitchFamily="2" charset="-122"/>
              </a:rPr>
              <a:t>“</a:t>
            </a:r>
            <a:r>
              <a:rPr lang="en-US" altLang="zh-CN" sz="2000" dirty="0">
                <a:latin typeface="Tahoma" panose="020B0604030504040204" pitchFamily="34" charset="0"/>
                <a:ea typeface="宋体" panose="02010600030101010101" pitchFamily="2" charset="-122"/>
              </a:rPr>
              <a:t>[a-zA-Z] </a:t>
            </a:r>
            <a:r>
              <a:rPr lang="zh-CN" altLang="zh-CN" sz="2000" dirty="0">
                <a:latin typeface="Tahoma" panose="020B0604030504040204" pitchFamily="34" charset="0"/>
                <a:ea typeface="宋体" panose="02010600030101010101" pitchFamily="2" charset="-122"/>
              </a:rPr>
              <a:t>”：表示从</a:t>
            </a:r>
            <a:r>
              <a:rPr lang="en-US" altLang="zh-CN" sz="2000" dirty="0">
                <a:latin typeface="Tahoma" panose="020B0604030504040204" pitchFamily="34" charset="0"/>
                <a:ea typeface="宋体" panose="02010600030101010101" pitchFamily="2" charset="-122"/>
              </a:rPr>
              <a:t>a</a:t>
            </a:r>
            <a:r>
              <a:rPr lang="zh-CN" altLang="zh-CN" sz="2000" dirty="0">
                <a:latin typeface="Tahoma" panose="020B0604030504040204" pitchFamily="34" charset="0"/>
                <a:ea typeface="宋体" panose="02010600030101010101" pitchFamily="2" charset="-122"/>
              </a:rPr>
              <a:t>到</a:t>
            </a:r>
            <a:r>
              <a:rPr lang="en-US" altLang="zh-CN" sz="2000" dirty="0">
                <a:latin typeface="Tahoma" panose="020B0604030504040204" pitchFamily="34" charset="0"/>
                <a:ea typeface="宋体" panose="02010600030101010101" pitchFamily="2" charset="-122"/>
              </a:rPr>
              <a:t>z</a:t>
            </a:r>
            <a:r>
              <a:rPr lang="zh-CN" altLang="zh-CN" sz="2000" dirty="0">
                <a:latin typeface="Tahoma" panose="020B0604030504040204" pitchFamily="34" charset="0"/>
                <a:ea typeface="宋体" panose="02010600030101010101" pitchFamily="2" charset="-122"/>
              </a:rPr>
              <a:t>或</a:t>
            </a:r>
            <a:r>
              <a:rPr lang="en-US" altLang="zh-CN" sz="2000" dirty="0">
                <a:latin typeface="Tahoma" panose="020B0604030504040204" pitchFamily="34" charset="0"/>
                <a:ea typeface="宋体" panose="02010600030101010101" pitchFamily="2" charset="-122"/>
              </a:rPr>
              <a:t>A</a:t>
            </a:r>
            <a:r>
              <a:rPr lang="zh-CN" altLang="zh-CN" sz="2000" dirty="0">
                <a:latin typeface="Tahoma" panose="020B0604030504040204" pitchFamily="34" charset="0"/>
                <a:ea typeface="宋体" panose="02010600030101010101" pitchFamily="2" charset="-122"/>
              </a:rPr>
              <a:t>到</a:t>
            </a:r>
            <a:r>
              <a:rPr lang="en-US" altLang="zh-CN" sz="2000" dirty="0">
                <a:latin typeface="Tahoma" panose="020B0604030504040204" pitchFamily="34" charset="0"/>
                <a:ea typeface="宋体" panose="02010600030101010101" pitchFamily="2" charset="-122"/>
              </a:rPr>
              <a:t>Z</a:t>
            </a:r>
            <a:r>
              <a:rPr lang="zh-CN" altLang="zh-CN" sz="2000" dirty="0">
                <a:latin typeface="Tahoma" panose="020B0604030504040204" pitchFamily="34" charset="0"/>
                <a:ea typeface="宋体" panose="02010600030101010101" pitchFamily="2" charset="-122"/>
              </a:rPr>
              <a:t>当中的任意一个字符</a:t>
            </a:r>
            <a:r>
              <a:rPr lang="zh-CN" altLang="zh-CN" sz="2000" dirty="0">
                <a:solidFill>
                  <a:srgbClr val="333333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。</a:t>
            </a:r>
            <a:endParaRPr lang="zh-CN" altLang="zh-CN" sz="2000" dirty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3554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2075" tIns="46038" rIns="92075" bIns="46038" anchor="ctr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zh-CN" sz="4400" b="0" i="0" u="none" strike="noStrike" kern="1200" cap="none" spc="0" normalizeH="0" baseline="0" noProof="1" dirty="0">
                <a:solidFill>
                  <a:schemeClr val="tx2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正则表达式的特殊字符</a:t>
            </a:r>
            <a:endParaRPr kumimoji="0" lang="zh-CN" altLang="en-US" sz="4400" b="0" i="0" u="none" strike="noStrike" kern="1200" cap="none" spc="0" normalizeH="0" baseline="0" noProof="1" dirty="0">
              <a:solidFill>
                <a:schemeClr val="tx2"/>
              </a:solidFill>
              <a:effectLst>
                <a:outerShdw blurRad="38100" dist="38100" dir="2700000">
                  <a:srgbClr val="C0C0C0"/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  <p:pic>
        <p:nvPicPr>
          <p:cNvPr id="6" name="内容占位符 5"/>
          <p:cNvPicPr>
            <a:picLocks noGrp="1" noChangeAspect="1"/>
          </p:cNvPicPr>
          <p:nvPr>
            <p:ph idx="1"/>
          </p:nvPr>
        </p:nvPicPr>
        <p:blipFill>
          <a:blip r:embed="rId1"/>
          <a:srcRect t="4850"/>
          <a:stretch>
            <a:fillRect/>
          </a:stretch>
        </p:blipFill>
        <p:spPr>
          <a:xfrm>
            <a:off x="609600" y="1379538"/>
            <a:ext cx="8058150" cy="5375275"/>
          </a:xfrm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9457" name="内容占位符 3" descr="Rectangle: Click to edit Master text styles&#13;&#10;Second level&#13;&#10;Third level&#13;&#10;Fourth level&#13;&#10;Fifth level"/>
          <p:cNvSpPr>
            <a:spLocks noGrp="1"/>
          </p:cNvSpPr>
          <p:nvPr>
            <p:ph idx="1"/>
          </p:nvPr>
        </p:nvSpPr>
        <p:spPr>
          <a:xfrm>
            <a:off x="838200" y="1503363"/>
            <a:ext cx="8207375" cy="4962525"/>
          </a:xfrm>
        </p:spPr>
        <p:txBody>
          <a:bodyPr vert="horz" wrap="square" lIns="92075" tIns="46038" rIns="92075" bIns="46038" anchor="t"/>
          <a:p>
            <a:pPr>
              <a:lnSpc>
                <a:spcPct val="90000"/>
              </a:lnSpc>
              <a:buClr>
                <a:srgbClr val="7030A0"/>
              </a:buClr>
              <a:buSzPct val="75000"/>
              <a:buFont typeface="Wingdings" panose="05000000000000000000" charset="0"/>
              <a:buChar char="n"/>
            </a:pP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使用方括号（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[ 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]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）定义字符集合。可以使用字符集合指定字符列表以匹配正则表达式中的一个位置。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90000"/>
              </a:lnSpc>
              <a:buClr>
                <a:srgbClr val="7030A0"/>
              </a:buClr>
              <a:buSzTx/>
              <a:buFont typeface="Wingdings" panose="05000000000000000000" charset="0"/>
              <a:buChar char="n"/>
            </a:pP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“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b[aeiu]g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匹配：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bag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beg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big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bug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90000"/>
              </a:lnSpc>
              <a:buClr>
                <a:srgbClr val="7030A0"/>
              </a:buClr>
              <a:buSzTx/>
              <a:buFont typeface="Wingdings" panose="05000000000000000000" charset="0"/>
              <a:buChar char="n"/>
            </a:pP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“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[a-z0-9]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a-z 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范围内的任何一个字符或任何数字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90000"/>
              </a:lnSpc>
              <a:buClr>
                <a:srgbClr val="7030A0"/>
              </a:buClr>
              <a:buSzTx/>
              <a:buFont typeface="Wingdings" panose="05000000000000000000" charset="0"/>
              <a:buChar char="n"/>
            </a:pP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“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[^a-z0-9]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” 使用尖号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(^) 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字符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配除小写字母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(a-z) 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或数字以外的任何字符</a:t>
            </a:r>
            <a:endParaRPr lang="zh-CN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90000"/>
              </a:lnSpc>
              <a:buClr>
                <a:srgbClr val="7030A0"/>
              </a:buClr>
              <a:buSzTx/>
              <a:buFont typeface="Wingdings" panose="05000000000000000000" charset="0"/>
              <a:buChar char="n"/>
            </a:pP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90000"/>
              </a:lnSpc>
              <a:buClr>
                <a:srgbClr val="7030A0"/>
              </a:buClr>
              <a:buSzPct val="75000"/>
              <a:buFont typeface="Wingdings" panose="05000000000000000000" charset="0"/>
              <a:buChar char="n"/>
            </a:pP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正则表达式的工具类</a:t>
            </a:r>
            <a:endParaRPr lang="zh-CN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90000"/>
              </a:lnSpc>
              <a:buClr>
                <a:srgbClr val="7030A0"/>
              </a:buClr>
              <a:buSzTx/>
              <a:buFont typeface="Wingdings" panose="05000000000000000000" charset="0"/>
              <a:buChar char="n"/>
            </a:pP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构造一个模式：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Pattern p=Pattern.compile("[a-z]*");</a:t>
            </a:r>
            <a:endParaRPr lang="zh-CN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90000"/>
              </a:lnSpc>
              <a:buClr>
                <a:srgbClr val="7030A0"/>
              </a:buClr>
              <a:buSzTx/>
              <a:buFont typeface="Wingdings" panose="05000000000000000000" charset="0"/>
              <a:buChar char="n"/>
            </a:pP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构造一个匹配器：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Matcher m = p.matcher(str)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str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是需要匹配的字符串；</a:t>
            </a:r>
            <a:endParaRPr lang="zh-CN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90000"/>
              </a:lnSpc>
              <a:buClr>
                <a:srgbClr val="7030A0"/>
              </a:buClr>
              <a:buSzTx/>
              <a:buFont typeface="Wingdings" panose="05000000000000000000" charset="0"/>
              <a:buChar char="n"/>
            </a:pP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进行匹配，得到结果：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boolean b = m.matches()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endParaRPr lang="zh-CN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90000"/>
              </a:lnSpc>
              <a:buSzTx/>
              <a:buNone/>
            </a:pPr>
            <a:endParaRPr lang="zh-CN" altLang="zh-CN" sz="2600" dirty="0"/>
          </a:p>
          <a:p>
            <a:pPr>
              <a:lnSpc>
                <a:spcPct val="90000"/>
              </a:lnSpc>
              <a:buClr>
                <a:schemeClr val="tx2"/>
              </a:buClr>
              <a:buSzPct val="75000"/>
              <a:buFont typeface="Monotype Sorts" pitchFamily="2" charset="2"/>
              <a:buChar char="w"/>
            </a:pPr>
            <a:endParaRPr lang="zh-CN" altLang="en-US" sz="3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0481" name="内容占位符 3" descr="Rectangle: Click to edit Master text styles&#13;&#10;Second level&#13;&#10;Third level&#13;&#10;Fourth level&#13;&#10;Fifth level"/>
          <p:cNvPicPr>
            <a:picLocks noGrp="1" noChangeAspect="1"/>
          </p:cNvPicPr>
          <p:nvPr>
            <p:ph idx="1"/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131888" y="0"/>
            <a:ext cx="7210425" cy="6850063"/>
          </a:xfr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70" name="灯片编号占位符 4"/>
          <p:cNvSpPr txBox="1">
            <a:spLocks noGrp="1"/>
          </p:cNvSpPr>
          <p:nvPr>
            <p:ph type="sldNum" sz="quarter" idx="11"/>
          </p:nvPr>
        </p:nvSpPr>
        <p:spPr/>
        <p:txBody>
          <a:bodyPr wrap="none" lIns="92075" tIns="46038" rIns="92075" bIns="46038" anchor="ctr"/>
          <a:p>
            <a:pPr marL="0" indent="0" algn="r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zh-CN" altLang="en-US" sz="1400" dirty="0">
                <a:ea typeface="宋体" panose="02010600030101010101" pitchFamily="2" charset="-122"/>
              </a:rPr>
            </a:fld>
            <a:endParaRPr lang="zh-CN" altLang="en-US" sz="1400" dirty="0">
              <a:ea typeface="宋体" panose="02010600030101010101" pitchFamily="2" charset="-122"/>
            </a:endParaRPr>
          </a:p>
        </p:txBody>
      </p:sp>
      <p:sp>
        <p:nvSpPr>
          <p:cNvPr id="7171" name="Rectangle 2"/>
          <p:cNvSpPr>
            <a:spLocks noGrp="1"/>
          </p:cNvSpPr>
          <p:nvPr>
            <p:ph type="title"/>
          </p:nvPr>
        </p:nvSpPr>
        <p:spPr>
          <a:xfrm>
            <a:off x="324485" y="-306705"/>
            <a:ext cx="7772400" cy="1428750"/>
          </a:xfrm>
        </p:spPr>
        <p:txBody>
          <a:bodyPr vert="horz" wrap="square" lIns="92075" tIns="46038" rIns="92075" bIns="46038" anchor="ctr"/>
          <a:p>
            <a:r>
              <a:rPr lang="en-US" altLang="zh-CN" sz="3200" u="none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while </a:t>
            </a:r>
            <a:r>
              <a:rPr lang="zh-CN" altLang="en-US" sz="3200" u="none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循环</a:t>
            </a:r>
            <a:endParaRPr lang="zh-CN" altLang="en-US" sz="3200" u="none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7172" name="Rectangle 3"/>
          <p:cNvSpPr/>
          <p:nvPr/>
        </p:nvSpPr>
        <p:spPr>
          <a:xfrm>
            <a:off x="341630" y="897255"/>
            <a:ext cx="4191000" cy="13455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F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90000"/>
              </a:lnSpc>
              <a:spcBef>
                <a:spcPct val="50000"/>
              </a:spcBef>
              <a:buNone/>
            </a:pPr>
            <a:r>
              <a:rPr lang="en-US" altLang="zh-CN" sz="1600" dirty="0">
                <a:ea typeface="宋体" panose="02010600030101010101" pitchFamily="2" charset="-122"/>
              </a:rPr>
              <a:t>while </a:t>
            </a:r>
            <a:r>
              <a:rPr lang="zh-CN" altLang="en-US" sz="1600" dirty="0">
                <a:ea typeface="宋体" panose="02010600030101010101" pitchFamily="2" charset="-122"/>
              </a:rPr>
              <a:t>（循环继续条件） </a:t>
            </a:r>
            <a:r>
              <a:rPr lang="en-US" altLang="zh-CN" sz="1600" dirty="0">
                <a:ea typeface="宋体" panose="02010600030101010101" pitchFamily="2" charset="-122"/>
              </a:rPr>
              <a:t>{</a:t>
            </a:r>
            <a:endParaRPr lang="en-US" altLang="zh-CN" sz="1600" dirty="0">
              <a:ea typeface="宋体" panose="02010600030101010101" pitchFamily="2" charset="-122"/>
            </a:endParaRPr>
          </a:p>
          <a:p>
            <a:pPr marL="0" lvl="0" indent="0">
              <a:lnSpc>
                <a:spcPct val="90000"/>
              </a:lnSpc>
              <a:spcBef>
                <a:spcPct val="50000"/>
              </a:spcBef>
              <a:buNone/>
            </a:pPr>
            <a:r>
              <a:rPr lang="en-US" altLang="zh-CN" sz="1600" dirty="0">
                <a:ea typeface="宋体" panose="02010600030101010101" pitchFamily="2" charset="-122"/>
              </a:rPr>
              <a:t>  // </a:t>
            </a:r>
            <a:r>
              <a:rPr lang="zh-CN" altLang="en-US" sz="1600" dirty="0">
                <a:ea typeface="宋体" panose="02010600030101010101" pitchFamily="2" charset="-122"/>
              </a:rPr>
              <a:t>循环体</a:t>
            </a:r>
            <a:r>
              <a:rPr lang="en-US" altLang="zh-CN" sz="1600" dirty="0">
                <a:ea typeface="宋体" panose="02010600030101010101" pitchFamily="2" charset="-122"/>
              </a:rPr>
              <a:t>;</a:t>
            </a:r>
            <a:endParaRPr lang="en-US" altLang="zh-CN" sz="1600" dirty="0">
              <a:ea typeface="宋体" panose="02010600030101010101" pitchFamily="2" charset="-122"/>
            </a:endParaRPr>
          </a:p>
          <a:p>
            <a:pPr marL="0" lvl="0" indent="0">
              <a:lnSpc>
                <a:spcPct val="90000"/>
              </a:lnSpc>
              <a:spcBef>
                <a:spcPct val="50000"/>
              </a:spcBef>
              <a:buNone/>
            </a:pPr>
            <a:r>
              <a:rPr lang="en-US" altLang="zh-CN" sz="1600" dirty="0">
                <a:ea typeface="宋体" panose="02010600030101010101" pitchFamily="2" charset="-122"/>
              </a:rPr>
              <a:t>  </a:t>
            </a:r>
            <a:r>
              <a:rPr lang="zh-CN" altLang="en-US" sz="1600" dirty="0">
                <a:ea typeface="宋体" panose="02010600030101010101" pitchFamily="2" charset="-122"/>
              </a:rPr>
              <a:t>语句（组）</a:t>
            </a:r>
            <a:r>
              <a:rPr lang="en-US" altLang="zh-CN" sz="1600" dirty="0">
                <a:ea typeface="宋体" panose="02010600030101010101" pitchFamily="2" charset="-122"/>
              </a:rPr>
              <a:t>;</a:t>
            </a:r>
            <a:endParaRPr lang="en-US" altLang="zh-CN" sz="1600" dirty="0">
              <a:ea typeface="宋体" panose="02010600030101010101" pitchFamily="2" charset="-122"/>
            </a:endParaRPr>
          </a:p>
          <a:p>
            <a:pPr marL="0" lvl="0" indent="0">
              <a:lnSpc>
                <a:spcPct val="90000"/>
              </a:lnSpc>
              <a:spcBef>
                <a:spcPct val="50000"/>
              </a:spcBef>
              <a:buNone/>
            </a:pPr>
            <a:r>
              <a:rPr lang="en-US" altLang="zh-CN" sz="1600" dirty="0">
                <a:ea typeface="宋体" panose="02010600030101010101" pitchFamily="2" charset="-122"/>
              </a:rPr>
              <a:t>}</a:t>
            </a:r>
            <a:endParaRPr lang="en-US" altLang="zh-CN" sz="1600" dirty="0">
              <a:ea typeface="宋体" panose="02010600030101010101" pitchFamily="2" charset="-122"/>
            </a:endParaRPr>
          </a:p>
        </p:txBody>
      </p:sp>
      <p:sp>
        <p:nvSpPr>
          <p:cNvPr id="7173" name="Rectangle 4"/>
          <p:cNvSpPr/>
          <p:nvPr/>
        </p:nvSpPr>
        <p:spPr>
          <a:xfrm>
            <a:off x="1824038" y="2166938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F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 dirty="0">
              <a:ea typeface="宋体" panose="02010600030101010101" pitchFamily="2" charset="-122"/>
            </a:endParaRPr>
          </a:p>
        </p:txBody>
      </p:sp>
      <p:sp>
        <p:nvSpPr>
          <p:cNvPr id="7174" name="Rectangle 5"/>
          <p:cNvSpPr/>
          <p:nvPr/>
        </p:nvSpPr>
        <p:spPr>
          <a:xfrm>
            <a:off x="4738370" y="897255"/>
            <a:ext cx="4419600" cy="149034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F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90000"/>
              </a:lnSpc>
              <a:spcBef>
                <a:spcPct val="50000"/>
              </a:spcBef>
              <a:buNone/>
            </a:pPr>
            <a:r>
              <a:rPr lang="en-US" altLang="zh-CN" sz="1400" dirty="0">
                <a:ea typeface="宋体" panose="02010600030101010101" pitchFamily="2" charset="-122"/>
              </a:rPr>
              <a:t>int count = 0;</a:t>
            </a:r>
            <a:endParaRPr lang="en-US" altLang="zh-CN" sz="1400" dirty="0">
              <a:ea typeface="宋体" panose="02010600030101010101" pitchFamily="2" charset="-122"/>
            </a:endParaRPr>
          </a:p>
          <a:p>
            <a:pPr marL="0" lvl="0" indent="0">
              <a:lnSpc>
                <a:spcPct val="90000"/>
              </a:lnSpc>
              <a:spcBef>
                <a:spcPct val="50000"/>
              </a:spcBef>
              <a:buNone/>
            </a:pPr>
            <a:r>
              <a:rPr lang="en-US" altLang="zh-CN" sz="1400" dirty="0">
                <a:ea typeface="宋体" panose="02010600030101010101" pitchFamily="2" charset="-122"/>
              </a:rPr>
              <a:t>while (count &lt; 100) {</a:t>
            </a:r>
            <a:endParaRPr lang="en-US" altLang="zh-CN" sz="1400" dirty="0">
              <a:ea typeface="宋体" panose="02010600030101010101" pitchFamily="2" charset="-122"/>
            </a:endParaRPr>
          </a:p>
          <a:p>
            <a:pPr marL="0" lvl="0" indent="0">
              <a:lnSpc>
                <a:spcPct val="90000"/>
              </a:lnSpc>
              <a:spcBef>
                <a:spcPct val="50000"/>
              </a:spcBef>
              <a:buNone/>
            </a:pPr>
            <a:r>
              <a:rPr lang="en-US" altLang="zh-CN" sz="1400" dirty="0">
                <a:ea typeface="宋体" panose="02010600030101010101" pitchFamily="2" charset="-122"/>
              </a:rPr>
              <a:t>  System.out.println("Welcome to Java!");</a:t>
            </a:r>
            <a:endParaRPr lang="en-US" altLang="zh-CN" sz="1400" dirty="0">
              <a:ea typeface="宋体" panose="02010600030101010101" pitchFamily="2" charset="-122"/>
            </a:endParaRPr>
          </a:p>
          <a:p>
            <a:pPr marL="0" lvl="0" indent="0">
              <a:lnSpc>
                <a:spcPct val="90000"/>
              </a:lnSpc>
              <a:spcBef>
                <a:spcPct val="50000"/>
              </a:spcBef>
              <a:buNone/>
            </a:pPr>
            <a:r>
              <a:rPr lang="en-US" altLang="zh-CN" sz="1400" dirty="0">
                <a:ea typeface="宋体" panose="02010600030101010101" pitchFamily="2" charset="-122"/>
              </a:rPr>
              <a:t>  count++;</a:t>
            </a:r>
            <a:endParaRPr lang="en-US" altLang="zh-CN" sz="1400" dirty="0">
              <a:ea typeface="宋体" panose="02010600030101010101" pitchFamily="2" charset="-122"/>
            </a:endParaRPr>
          </a:p>
          <a:p>
            <a:pPr marL="0" lvl="0" indent="0">
              <a:lnSpc>
                <a:spcPct val="90000"/>
              </a:lnSpc>
              <a:spcBef>
                <a:spcPct val="50000"/>
              </a:spcBef>
              <a:buNone/>
            </a:pPr>
            <a:r>
              <a:rPr lang="en-US" altLang="zh-CN" sz="1400" dirty="0">
                <a:ea typeface="宋体" panose="02010600030101010101" pitchFamily="2" charset="-122"/>
              </a:rPr>
              <a:t>}</a:t>
            </a:r>
            <a:endParaRPr lang="en-US" altLang="zh-CN" sz="1400" dirty="0">
              <a:ea typeface="宋体" panose="02010600030101010101" pitchFamily="2" charset="-122"/>
            </a:endParaRPr>
          </a:p>
        </p:txBody>
      </p:sp>
      <p:sp>
        <p:nvSpPr>
          <p:cNvPr id="7175" name="Line 6"/>
          <p:cNvSpPr/>
          <p:nvPr/>
        </p:nvSpPr>
        <p:spPr>
          <a:xfrm>
            <a:off x="1727200" y="1851025"/>
            <a:ext cx="564515" cy="316230"/>
          </a:xfrm>
          <a:prstGeom prst="line">
            <a:avLst/>
          </a:prstGeom>
          <a:ln w="12700" cap="flat" cmpd="sng">
            <a:solidFill>
              <a:srgbClr val="FF0000"/>
            </a:solidFill>
            <a:prstDash val="solid"/>
            <a:headEnd type="none" w="med" len="med"/>
            <a:tailEnd type="stealth" w="sm" len="sm"/>
          </a:ln>
        </p:spPr>
      </p:sp>
      <p:sp>
        <p:nvSpPr>
          <p:cNvPr id="7176" name="Line 7"/>
          <p:cNvSpPr/>
          <p:nvPr/>
        </p:nvSpPr>
        <p:spPr>
          <a:xfrm flipH="1">
            <a:off x="5918200" y="2167255"/>
            <a:ext cx="201930" cy="292100"/>
          </a:xfrm>
          <a:prstGeom prst="line">
            <a:avLst/>
          </a:prstGeom>
          <a:ln w="12700" cap="flat" cmpd="sng">
            <a:solidFill>
              <a:srgbClr val="FF0000"/>
            </a:solidFill>
            <a:prstDash val="solid"/>
            <a:headEnd type="none" w="med" len="med"/>
            <a:tailEnd type="stealth" w="sm" len="sm"/>
          </a:ln>
        </p:spPr>
      </p:sp>
      <p:sp>
        <p:nvSpPr>
          <p:cNvPr id="7177" name="Rectangle 8"/>
          <p:cNvSpPr/>
          <p:nvPr/>
        </p:nvSpPr>
        <p:spPr>
          <a:xfrm>
            <a:off x="1543368" y="2241233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F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 dirty="0">
              <a:ea typeface="宋体" panose="02010600030101010101" pitchFamily="2" charset="-122"/>
            </a:endParaRPr>
          </a:p>
        </p:txBody>
      </p:sp>
      <p:graphicFrame>
        <p:nvGraphicFramePr>
          <p:cNvPr id="7178" name="Object 9"/>
          <p:cNvGraphicFramePr>
            <a:graphicFrameLocks noChangeAspect="1"/>
          </p:cNvGraphicFramePr>
          <p:nvPr/>
        </p:nvGraphicFramePr>
        <p:xfrm>
          <a:off x="1148080" y="2483485"/>
          <a:ext cx="5907405" cy="27133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" r:id="rId1" imgW="5497195" imgH="2523490" progId="Word.Picture.8">
                  <p:embed/>
                </p:oleObj>
              </mc:Choice>
              <mc:Fallback>
                <p:oleObj name="" r:id="rId1" imgW="5497195" imgH="2523490" progId="Word.Picture.8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148080" y="2483485"/>
                        <a:ext cx="5907405" cy="271335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文本框 1"/>
          <p:cNvSpPr txBox="1"/>
          <p:nvPr/>
        </p:nvSpPr>
        <p:spPr>
          <a:xfrm>
            <a:off x="676275" y="5013325"/>
            <a:ext cx="7791450" cy="9759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lvl="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 err="1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计数器控制的循环：</a:t>
            </a:r>
            <a:r>
              <a:rPr lang="zh-CN" altLang="en-US" sz="1600" dirty="0" err="1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确切知道循环体执行的次数，使用变量对执行次数计数。</a:t>
            </a:r>
            <a:endParaRPr lang="zh-CN" altLang="en-US" sz="1600" dirty="0" err="1" smtClean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285750" lvl="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 err="1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标记位控制的循环：</a:t>
            </a:r>
            <a:r>
              <a:rPr lang="zh-CN" altLang="en-US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不能预先确定</a:t>
            </a:r>
            <a:r>
              <a:rPr lang="zh-CN" altLang="en-US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循环次数 ，使用特殊的标记值表明循环结束</a:t>
            </a:r>
            <a:endParaRPr lang="zh-CN" altLang="en-US" sz="1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285750" lvl="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 err="1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常见的错误：差一错误，循环多执行一次，或少执行一次</a:t>
            </a:r>
            <a:endParaRPr lang="zh-CN" altLang="en-US" sz="1600" dirty="0" err="1" smtClean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2530" name="灯片编号占位符 4"/>
          <p:cNvSpPr txBox="1">
            <a:spLocks noGrp="1"/>
          </p:cNvSpPr>
          <p:nvPr>
            <p:ph type="sldNum" sz="quarter" idx="11"/>
          </p:nvPr>
        </p:nvSpPr>
        <p:spPr/>
        <p:txBody>
          <a:bodyPr wrap="none" lIns="92075" tIns="46038" rIns="92075" bIns="46038" anchor="ctr"/>
          <a:p>
            <a:pPr marL="0" indent="0" algn="r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zh-CN" altLang="en-US" sz="1400" dirty="0">
                <a:ea typeface="宋体" panose="02010600030101010101" pitchFamily="2" charset="-122"/>
              </a:rPr>
            </a:fld>
            <a:endParaRPr lang="zh-CN" altLang="en-US" sz="1400" dirty="0">
              <a:ea typeface="宋体" panose="02010600030101010101" pitchFamily="2" charset="-122"/>
            </a:endParaRPr>
          </a:p>
        </p:txBody>
      </p:sp>
      <p:sp>
        <p:nvSpPr>
          <p:cNvPr id="22531" name="Rectangle 2"/>
          <p:cNvSpPr>
            <a:spLocks noGrp="1"/>
          </p:cNvSpPr>
          <p:nvPr>
            <p:ph type="title"/>
          </p:nvPr>
        </p:nvSpPr>
        <p:spPr>
          <a:xfrm>
            <a:off x="522605" y="0"/>
            <a:ext cx="7772400" cy="685800"/>
          </a:xfrm>
        </p:spPr>
        <p:txBody>
          <a:bodyPr vert="horz" wrap="square" lIns="92075" tIns="46038" rIns="92075" bIns="46038" anchor="ctr"/>
          <a:p>
            <a:r>
              <a:rPr lang="zh-CN" altLang="en-US" sz="3200" u="none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注意</a:t>
            </a:r>
            <a:endParaRPr lang="zh-CN" altLang="en-US" sz="3200" u="none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532" name="Rectangle 3"/>
          <p:cNvSpPr>
            <a:spLocks noGrp="1"/>
          </p:cNvSpPr>
          <p:nvPr>
            <p:ph idx="1"/>
          </p:nvPr>
        </p:nvSpPr>
        <p:spPr>
          <a:xfrm>
            <a:off x="152400" y="914400"/>
            <a:ext cx="8839200" cy="5562600"/>
          </a:xfrm>
        </p:spPr>
        <p:txBody>
          <a:bodyPr vert="horz" wrap="square" lIns="92075" tIns="46038" rIns="92075" bIns="46038" anchor="t">
            <a:noAutofit/>
          </a:bodyPr>
          <a:p>
            <a:pPr marL="0" indent="0">
              <a:lnSpc>
                <a:spcPct val="120000"/>
              </a:lnSpc>
              <a:buNone/>
            </a:pPr>
            <a:r>
              <a:rPr lang="en-US" altLang="zh-CN" sz="2000" u="none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en-US" altLang="zh-CN" sz="2000" b="1" u="none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</a:t>
            </a:r>
            <a:r>
              <a:rPr lang="zh-CN" altLang="en-US" sz="2000" b="1" u="none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在循环控制中，不要使用浮点值来比较值是否相等。 因为浮点值是某些值的近似值，所以使用它们可能导致不精确的循环次数和不准确的结果。 </a:t>
            </a:r>
            <a:endParaRPr lang="zh-CN" altLang="en-US" sz="2000" b="1" u="none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zh-CN" altLang="en-US" sz="2000" b="1" u="none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考虑下面计算</a:t>
            </a:r>
            <a:r>
              <a:rPr lang="en-US" altLang="zh-CN" sz="2000" b="1" u="none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 + 0.9 + 0.8 +…+ 0.1</a:t>
            </a:r>
            <a:r>
              <a:rPr lang="zh-CN" altLang="en-US" sz="2000" b="1" u="none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的代码：</a:t>
            </a:r>
            <a:endParaRPr lang="zh-CN" altLang="en-US" sz="2000" u="none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>
              <a:lnSpc>
                <a:spcPct val="120000"/>
              </a:lnSpc>
              <a:buNone/>
            </a:pPr>
            <a:endParaRPr lang="zh-CN" altLang="en-US" sz="2000" u="none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1440180" algn="l" eaLnBrk="0" fontAlgn="base" hangingPunct="0">
              <a:lnSpc>
                <a:spcPct val="100000"/>
              </a:lnSpc>
              <a:spcBef>
                <a:spcPts val="0"/>
              </a:spcBef>
              <a:buClr>
                <a:schemeClr val="tx2"/>
              </a:buClr>
              <a:buSzPct val="75000"/>
              <a:buNone/>
            </a:pPr>
            <a:r>
              <a:rPr lang="en-US" altLang="zh-CN" sz="2000" u="none" dirty="0">
                <a:latin typeface="微软雅黑" panose="020B0503020204020204" pitchFamily="34" charset="-122"/>
                <a:ea typeface="宋体" panose="02010600030101010101" pitchFamily="2" charset="-122"/>
              </a:rPr>
              <a:t>double item = 1; double sum = 0;</a:t>
            </a:r>
            <a:endParaRPr lang="en-US" altLang="zh-CN" sz="2000" u="none" dirty="0">
              <a:latin typeface="微软雅黑" panose="020B0503020204020204" pitchFamily="34" charset="-122"/>
              <a:ea typeface="宋体" panose="02010600030101010101" pitchFamily="2" charset="-122"/>
            </a:endParaRPr>
          </a:p>
          <a:p>
            <a:pPr marL="1440180" algn="l" eaLnBrk="0" fontAlgn="base" hangingPunct="0">
              <a:lnSpc>
                <a:spcPct val="100000"/>
              </a:lnSpc>
              <a:spcBef>
                <a:spcPts val="0"/>
              </a:spcBef>
              <a:buClr>
                <a:schemeClr val="tx2"/>
              </a:buClr>
              <a:buSzPct val="75000"/>
              <a:buNone/>
            </a:pPr>
            <a:r>
              <a:rPr lang="en-US" altLang="zh-CN" sz="2000" u="none" dirty="0">
                <a:latin typeface="微软雅黑" panose="020B0503020204020204" pitchFamily="34" charset="-122"/>
                <a:ea typeface="宋体" panose="02010600030101010101" pitchFamily="2" charset="-122"/>
              </a:rPr>
              <a:t>while (item != 0) { // No guarantee item will be 0</a:t>
            </a:r>
            <a:endParaRPr lang="en-US" altLang="zh-CN" sz="2000" u="none" dirty="0">
              <a:latin typeface="微软雅黑" panose="020B0503020204020204" pitchFamily="34" charset="-122"/>
              <a:ea typeface="宋体" panose="02010600030101010101" pitchFamily="2" charset="-122"/>
            </a:endParaRPr>
          </a:p>
          <a:p>
            <a:pPr marL="1440180" algn="l" eaLnBrk="0" fontAlgn="base" hangingPunct="0">
              <a:lnSpc>
                <a:spcPct val="100000"/>
              </a:lnSpc>
              <a:spcBef>
                <a:spcPts val="0"/>
              </a:spcBef>
              <a:buClr>
                <a:schemeClr val="tx2"/>
              </a:buClr>
              <a:buSzPct val="75000"/>
              <a:buNone/>
            </a:pPr>
            <a:r>
              <a:rPr lang="en-US" altLang="zh-CN" sz="2000" u="none" dirty="0">
                <a:latin typeface="微软雅黑" panose="020B0503020204020204" pitchFamily="34" charset="-122"/>
                <a:ea typeface="宋体" panose="02010600030101010101" pitchFamily="2" charset="-122"/>
              </a:rPr>
              <a:t>  sum += item;</a:t>
            </a:r>
            <a:endParaRPr lang="en-US" altLang="zh-CN" sz="2000" u="none" dirty="0">
              <a:latin typeface="微软雅黑" panose="020B0503020204020204" pitchFamily="34" charset="-122"/>
              <a:ea typeface="宋体" panose="02010600030101010101" pitchFamily="2" charset="-122"/>
            </a:endParaRPr>
          </a:p>
          <a:p>
            <a:pPr marL="1440180" algn="l" eaLnBrk="0" fontAlgn="base" hangingPunct="0">
              <a:lnSpc>
                <a:spcPct val="100000"/>
              </a:lnSpc>
              <a:spcBef>
                <a:spcPts val="0"/>
              </a:spcBef>
              <a:buClr>
                <a:schemeClr val="tx2"/>
              </a:buClr>
              <a:buSzPct val="75000"/>
              <a:buNone/>
            </a:pPr>
            <a:r>
              <a:rPr lang="en-US" altLang="zh-CN" sz="2000" u="none" dirty="0">
                <a:latin typeface="微软雅黑" panose="020B0503020204020204" pitchFamily="34" charset="-122"/>
                <a:ea typeface="宋体" panose="02010600030101010101" pitchFamily="2" charset="-122"/>
              </a:rPr>
              <a:t>  item -= 0.1;</a:t>
            </a:r>
            <a:endParaRPr lang="en-US" altLang="zh-CN" sz="2000" u="none" dirty="0">
              <a:latin typeface="微软雅黑" panose="020B0503020204020204" pitchFamily="34" charset="-122"/>
              <a:ea typeface="宋体" panose="02010600030101010101" pitchFamily="2" charset="-122"/>
            </a:endParaRPr>
          </a:p>
          <a:p>
            <a:pPr marL="1440180" algn="l" eaLnBrk="0" fontAlgn="base" hangingPunct="0">
              <a:lnSpc>
                <a:spcPct val="100000"/>
              </a:lnSpc>
              <a:spcBef>
                <a:spcPts val="0"/>
              </a:spcBef>
              <a:buClr>
                <a:schemeClr val="tx2"/>
              </a:buClr>
              <a:buSzPct val="75000"/>
              <a:buNone/>
            </a:pPr>
            <a:r>
              <a:rPr lang="en-US" altLang="zh-CN" sz="2000" u="none" dirty="0">
                <a:latin typeface="微软雅黑" panose="020B0503020204020204" pitchFamily="34" charset="-122"/>
                <a:ea typeface="宋体" panose="02010600030101010101" pitchFamily="2" charset="-122"/>
              </a:rPr>
              <a:t>}</a:t>
            </a:r>
            <a:endParaRPr lang="en-US" altLang="zh-CN" sz="2000" u="none" dirty="0">
              <a:latin typeface="微软雅黑" panose="020B0503020204020204" pitchFamily="34" charset="-122"/>
              <a:ea typeface="宋体" panose="02010600030101010101" pitchFamily="2" charset="-122"/>
            </a:endParaRPr>
          </a:p>
          <a:p>
            <a:pPr marL="1440180" algn="l" eaLnBrk="0" fontAlgn="base" hangingPunct="0">
              <a:lnSpc>
                <a:spcPct val="100000"/>
              </a:lnSpc>
              <a:spcBef>
                <a:spcPts val="0"/>
              </a:spcBef>
              <a:buClr>
                <a:schemeClr val="tx2"/>
              </a:buClr>
              <a:buSzPct val="75000"/>
              <a:buNone/>
            </a:pPr>
            <a:r>
              <a:rPr lang="en-US" altLang="zh-CN" sz="2000" u="none" dirty="0">
                <a:latin typeface="微软雅黑" panose="020B0503020204020204" pitchFamily="34" charset="-122"/>
                <a:ea typeface="宋体" panose="02010600030101010101" pitchFamily="2" charset="-122"/>
              </a:rPr>
              <a:t>System.out.println(sum);</a:t>
            </a:r>
            <a:endParaRPr lang="en-US" altLang="zh-CN" sz="2000" u="none" dirty="0">
              <a:latin typeface="微软雅黑" panose="020B0503020204020204" pitchFamily="34" charset="-122"/>
              <a:ea typeface="宋体" panose="02010600030101010101" pitchFamily="2" charset="-122"/>
            </a:endParaRPr>
          </a:p>
          <a:p>
            <a:pPr marL="720090" indent="0" fontAlgn="auto">
              <a:lnSpc>
                <a:spcPct val="120000"/>
              </a:lnSpc>
              <a:spcBef>
                <a:spcPts val="0"/>
              </a:spcBef>
              <a:buNone/>
            </a:pPr>
            <a:endParaRPr lang="en-US" altLang="zh-CN" sz="2000" u="none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zh-CN" altLang="en-US" sz="2000" u="none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</a:t>
            </a:r>
            <a:r>
              <a:rPr lang="zh-CN" altLang="en-US" sz="2000" b="1" u="none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变量item从</a:t>
            </a:r>
            <a:r>
              <a:rPr lang="en-US" altLang="zh-CN" sz="2000" b="1" u="none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</a:t>
            </a:r>
            <a:r>
              <a:rPr lang="zh-CN" altLang="en-US" sz="2000" b="1" u="none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开始，每次执行循环体就减少</a:t>
            </a:r>
            <a:r>
              <a:rPr lang="en-US" altLang="zh-CN" sz="2000" b="1" u="none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0.1</a:t>
            </a:r>
            <a:r>
              <a:rPr lang="zh-CN" altLang="en-US" sz="2000" b="1" u="none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。当item变为</a:t>
            </a:r>
            <a:r>
              <a:rPr lang="en-US" altLang="zh-CN" sz="2000" b="1" u="none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0</a:t>
            </a:r>
            <a:r>
              <a:rPr lang="zh-CN" altLang="en-US" sz="2000" b="1" u="none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时循环应该终止。但是，因为浮点运算结果是近似的，所以无法保item会变成真正的</a:t>
            </a:r>
            <a:r>
              <a:rPr lang="en-US" altLang="zh-CN" sz="2000" b="1" u="none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0</a:t>
            </a:r>
            <a:r>
              <a:rPr lang="zh-CN" altLang="en-US" sz="2000" b="1" u="none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。从表面上看，这个循环似乎没有问题，但它实际上是一个无限循环。</a:t>
            </a:r>
            <a:endParaRPr lang="zh-CN" altLang="en-US" sz="2000" b="1" u="none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输入和输出重定向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quarter" idx="12"/>
          </p:nvPr>
        </p:nvSpPr>
        <p:spPr/>
        <p:txBody>
          <a:bodyPr>
            <a:normAutofit/>
          </a:bodyPr>
          <a:p>
            <a:r>
              <a:rPr lang="zh-CN" altLang="en-US"/>
              <a:t>在Java命令行程序中，如果需要输入大量的数值，那么从键盘上输入是非常繁琐的事。可以将这些数据用空格隔开，保存在文本文件中，然后使用Java输入和输出重定向。</a:t>
            </a:r>
            <a:endParaRPr lang="zh-CN" altLang="en-US"/>
          </a:p>
          <a:p>
            <a:pPr lvl="1"/>
            <a:r>
              <a:rPr lang="zh-CN" altLang="en-US" sz="2200"/>
              <a:t>输入重定向   </a:t>
            </a:r>
            <a:r>
              <a:rPr lang="en-US" altLang="zh-CN" sz="2200"/>
              <a:t>java ClassName &lt; input.txt</a:t>
            </a:r>
            <a:endParaRPr lang="en-US" altLang="zh-CN" sz="2200"/>
          </a:p>
          <a:p>
            <a:pPr lvl="1"/>
            <a:r>
              <a:rPr lang="zh-CN" altLang="en-US"/>
              <a:t>输出重定向   </a:t>
            </a:r>
            <a:r>
              <a:rPr lang="en-US" altLang="zh-CN"/>
              <a:t>java </a:t>
            </a:r>
            <a:r>
              <a:rPr lang="en-US" altLang="zh-CN">
                <a:sym typeface="+mn-ea"/>
              </a:rPr>
              <a:t>ClassName &gt; output.txt</a:t>
            </a:r>
            <a:endParaRPr lang="en-US" altLang="zh-CN">
              <a:sym typeface="+mn-ea"/>
            </a:endParaRPr>
          </a:p>
          <a:p>
            <a:pPr lvl="1"/>
            <a:r>
              <a:rPr lang="zh-CN" altLang="en-US"/>
              <a:t>同一命令中同时使用输入重定向和输出重定向</a:t>
            </a:r>
            <a:endParaRPr lang="zh-CN" altLang="en-US"/>
          </a:p>
          <a:p>
            <a:pPr lvl="2"/>
            <a:r>
              <a:rPr lang="en-US" altLang="zh-CN" sz="2200"/>
              <a:t>java ClassName &lt;input.txt&gt; output.txt</a:t>
            </a:r>
            <a:endParaRPr lang="en-US" altLang="zh-CN" sz="2200"/>
          </a:p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r>
              <a:rPr lang="en-US" altLang="zh-CN" dirty="0" smtClean="0"/>
              <a:t>P</a:t>
            </a:r>
            <a:fld id="{62DCC93C-90AC-48A1-9D9E-CBAB17A91522}" type="slidenum">
              <a:rPr lang="zh-CN" altLang="en-US" dirty="0" smtClean="0"/>
            </a:fld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3554" name="灯片编号占位符 4"/>
          <p:cNvSpPr txBox="1">
            <a:spLocks noGrp="1"/>
          </p:cNvSpPr>
          <p:nvPr>
            <p:ph type="sldNum" sz="quarter" idx="11"/>
          </p:nvPr>
        </p:nvSpPr>
        <p:spPr/>
        <p:txBody>
          <a:bodyPr wrap="none" lIns="92075" tIns="46038" rIns="92075" bIns="46038" anchor="ctr"/>
          <a:p>
            <a:pPr marL="0" indent="0" algn="r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zh-CN" altLang="en-US" sz="1400" dirty="0">
                <a:ea typeface="宋体" panose="02010600030101010101" pitchFamily="2" charset="-122"/>
              </a:rPr>
            </a:fld>
            <a:endParaRPr lang="zh-CN" altLang="en-US" sz="1400" dirty="0">
              <a:ea typeface="宋体" panose="02010600030101010101" pitchFamily="2" charset="-122"/>
            </a:endParaRPr>
          </a:p>
        </p:txBody>
      </p:sp>
      <p:sp>
        <p:nvSpPr>
          <p:cNvPr id="23555" name="Rectangle 2"/>
          <p:cNvSpPr>
            <a:spLocks noGrp="1"/>
          </p:cNvSpPr>
          <p:nvPr>
            <p:ph type="title"/>
          </p:nvPr>
        </p:nvSpPr>
        <p:spPr>
          <a:xfrm>
            <a:off x="231140" y="-218440"/>
            <a:ext cx="7772400" cy="1044575"/>
          </a:xfrm>
        </p:spPr>
        <p:txBody>
          <a:bodyPr vert="horz" wrap="square" lIns="92075" tIns="46038" rIns="92075" bIns="46038" anchor="ctr"/>
          <a:p>
            <a:r>
              <a:rPr lang="en-US" altLang="zh-CN" sz="3200" u="none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do-while</a:t>
            </a:r>
            <a:r>
              <a:rPr lang="zh-CN" altLang="en-US" sz="3200" u="none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循环</a:t>
            </a:r>
            <a:endParaRPr lang="zh-CN" altLang="en-US" sz="3200" u="none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3556" name="Rectangle 3"/>
          <p:cNvSpPr/>
          <p:nvPr/>
        </p:nvSpPr>
        <p:spPr>
          <a:xfrm>
            <a:off x="3455988" y="222885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F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 dirty="0">
              <a:ea typeface="宋体" panose="02010600030101010101" pitchFamily="2" charset="-122"/>
            </a:endParaRPr>
          </a:p>
        </p:txBody>
      </p:sp>
      <p:sp>
        <p:nvSpPr>
          <p:cNvPr id="23557" name="Rectangle 4"/>
          <p:cNvSpPr/>
          <p:nvPr/>
        </p:nvSpPr>
        <p:spPr>
          <a:xfrm>
            <a:off x="688340" y="3810000"/>
            <a:ext cx="7315200" cy="21002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F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50000"/>
              </a:spcBef>
              <a:buNone/>
            </a:pPr>
            <a:r>
              <a:rPr lang="en-US" altLang="zh-CN" sz="2400" dirty="0">
                <a:latin typeface="Courier New" panose="02070309020205020404" charset="0"/>
                <a:ea typeface="宋体" panose="02010600030101010101" pitchFamily="2" charset="-122"/>
              </a:rPr>
              <a:t>do {</a:t>
            </a:r>
            <a:endParaRPr lang="en-US" altLang="zh-CN" sz="2400" dirty="0">
              <a:latin typeface="Courier New" panose="02070309020205020404" charset="0"/>
              <a:ea typeface="宋体" panose="02010600030101010101" pitchFamily="2" charset="-122"/>
            </a:endParaRPr>
          </a:p>
          <a:p>
            <a:pPr marL="0" lvl="0" indent="0">
              <a:spcBef>
                <a:spcPct val="50000"/>
              </a:spcBef>
              <a:buNone/>
            </a:pPr>
            <a:r>
              <a:rPr lang="en-US" altLang="zh-CN" sz="2400" dirty="0">
                <a:latin typeface="Courier New" panose="02070309020205020404" charset="0"/>
                <a:ea typeface="宋体" panose="02010600030101010101" pitchFamily="2" charset="-122"/>
              </a:rPr>
              <a:t>  // Loop body;</a:t>
            </a:r>
            <a:endParaRPr lang="en-US" altLang="zh-CN" sz="2400" dirty="0">
              <a:latin typeface="Courier New" panose="02070309020205020404" charset="0"/>
              <a:ea typeface="宋体" panose="02010600030101010101" pitchFamily="2" charset="-122"/>
            </a:endParaRPr>
          </a:p>
          <a:p>
            <a:pPr marL="0" lvl="0" indent="0">
              <a:spcBef>
                <a:spcPct val="50000"/>
              </a:spcBef>
              <a:buNone/>
            </a:pPr>
            <a:r>
              <a:rPr lang="en-US" altLang="zh-CN" sz="2400" dirty="0">
                <a:latin typeface="Courier New" panose="02070309020205020404" charset="0"/>
                <a:ea typeface="宋体" panose="02010600030101010101" pitchFamily="2" charset="-122"/>
              </a:rPr>
              <a:t>  Statement(s);</a:t>
            </a:r>
            <a:endParaRPr lang="en-US" altLang="zh-CN" sz="2400" dirty="0">
              <a:latin typeface="Courier New" panose="02070309020205020404" charset="0"/>
              <a:ea typeface="宋体" panose="02010600030101010101" pitchFamily="2" charset="-122"/>
            </a:endParaRPr>
          </a:p>
          <a:p>
            <a:pPr marL="0" lvl="0" indent="0">
              <a:spcBef>
                <a:spcPct val="50000"/>
              </a:spcBef>
              <a:buNone/>
            </a:pPr>
            <a:r>
              <a:rPr lang="en-US" altLang="zh-CN" sz="2400" dirty="0">
                <a:latin typeface="Courier New" panose="02070309020205020404" charset="0"/>
                <a:ea typeface="宋体" panose="02010600030101010101" pitchFamily="2" charset="-122"/>
              </a:rPr>
              <a:t>} while (loop-continuation-condition);</a:t>
            </a:r>
            <a:endParaRPr lang="en-US" altLang="zh-CN" sz="2400" dirty="0">
              <a:latin typeface="Courier New" panose="02070309020205020404" charset="0"/>
              <a:ea typeface="宋体" panose="02010600030101010101" pitchFamily="2" charset="-122"/>
            </a:endParaRPr>
          </a:p>
        </p:txBody>
      </p:sp>
      <p:sp>
        <p:nvSpPr>
          <p:cNvPr id="23559" name="Rectangle 6"/>
          <p:cNvSpPr/>
          <p:nvPr/>
        </p:nvSpPr>
        <p:spPr>
          <a:xfrm>
            <a:off x="3667125" y="241935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F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 dirty="0">
              <a:ea typeface="宋体" panose="02010600030101010101" pitchFamily="2" charset="-122"/>
            </a:endParaRPr>
          </a:p>
        </p:txBody>
      </p:sp>
      <p:graphicFrame>
        <p:nvGraphicFramePr>
          <p:cNvPr id="23560" name="Object 7"/>
          <p:cNvGraphicFramePr>
            <a:graphicFrameLocks noChangeAspect="1"/>
          </p:cNvGraphicFramePr>
          <p:nvPr/>
        </p:nvGraphicFramePr>
        <p:xfrm>
          <a:off x="2747010" y="1525270"/>
          <a:ext cx="2741295" cy="28206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" r:id="rId1" imgW="1807210" imgH="2016125" progId="Word.Picture.8">
                  <p:embed/>
                </p:oleObj>
              </mc:Choice>
              <mc:Fallback>
                <p:oleObj name="" r:id="rId1" imgW="1807210" imgH="2016125" progId="Word.Picture.8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747010" y="1525270"/>
                        <a:ext cx="2741295" cy="282067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72" name="Rectangle 3"/>
          <p:cNvSpPr/>
          <p:nvPr/>
        </p:nvSpPr>
        <p:spPr>
          <a:xfrm>
            <a:off x="412115" y="967105"/>
            <a:ext cx="4191000" cy="42354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F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90000"/>
              </a:lnSpc>
              <a:spcBef>
                <a:spcPct val="50000"/>
              </a:spcBef>
              <a:buNone/>
            </a:pPr>
            <a:r>
              <a:rPr 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循环体中的语句至少执行一次</a:t>
            </a:r>
            <a:endParaRPr 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4578" name="灯片编号占位符 4"/>
          <p:cNvSpPr txBox="1">
            <a:spLocks noGrp="1"/>
          </p:cNvSpPr>
          <p:nvPr>
            <p:ph type="sldNum" sz="quarter" idx="11"/>
          </p:nvPr>
        </p:nvSpPr>
        <p:spPr/>
        <p:txBody>
          <a:bodyPr wrap="none" lIns="92075" tIns="46038" rIns="92075" bIns="46038" anchor="ctr"/>
          <a:p>
            <a:pPr marL="0" indent="0" algn="r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zh-CN" altLang="en-US" sz="1400" dirty="0">
                <a:ea typeface="宋体" panose="02010600030101010101" pitchFamily="2" charset="-122"/>
              </a:rPr>
            </a:fld>
            <a:endParaRPr lang="zh-CN" altLang="en-US" sz="1400" dirty="0">
              <a:ea typeface="宋体" panose="02010600030101010101" pitchFamily="2" charset="-122"/>
            </a:endParaRPr>
          </a:p>
        </p:txBody>
      </p:sp>
      <p:sp>
        <p:nvSpPr>
          <p:cNvPr id="24579" name="Rectangle 2"/>
          <p:cNvSpPr>
            <a:spLocks noGrp="1"/>
          </p:cNvSpPr>
          <p:nvPr>
            <p:ph type="title"/>
          </p:nvPr>
        </p:nvSpPr>
        <p:spPr>
          <a:xfrm>
            <a:off x="468313" y="138748"/>
            <a:ext cx="7772400" cy="685800"/>
          </a:xfrm>
        </p:spPr>
        <p:txBody>
          <a:bodyPr vert="horz" wrap="square" lIns="92075" tIns="46038" rIns="92075" bIns="46038" anchor="ctr"/>
          <a:p>
            <a:r>
              <a:rPr lang="en-US" altLang="zh-CN" sz="3200" u="none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for </a:t>
            </a:r>
            <a:r>
              <a:rPr lang="zh-CN" altLang="en-US" sz="3200" u="none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循环</a:t>
            </a:r>
            <a:endParaRPr lang="zh-CN" altLang="en-US" sz="3200" u="none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4580" name="Rectangle 3"/>
          <p:cNvSpPr>
            <a:spLocks noGrp="1"/>
          </p:cNvSpPr>
          <p:nvPr>
            <p:ph idx="1"/>
          </p:nvPr>
        </p:nvSpPr>
        <p:spPr>
          <a:xfrm>
            <a:off x="162560" y="1096010"/>
            <a:ext cx="4490720" cy="1238250"/>
          </a:xfrm>
        </p:spPr>
        <p:txBody>
          <a:bodyPr vert="horz" wrap="square" lIns="92075" tIns="46038" rIns="92075" bIns="46038" anchor="t">
            <a:noAutofit/>
          </a:bodyPr>
          <a:p>
            <a:pPr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CN" sz="1600" u="none" dirty="0">
                <a:solidFill>
                  <a:srgbClr val="000000"/>
                </a:solidFill>
                <a:latin typeface="微软雅黑" panose="020B0503020204020204" pitchFamily="34" charset="-122"/>
                <a:ea typeface="宋体" panose="02010600030101010101" pitchFamily="2" charset="-122"/>
              </a:rPr>
              <a:t>for (initial-action; loop-continuation-condition; action-after-each-iteration) {</a:t>
            </a:r>
            <a:endParaRPr lang="en-US" altLang="zh-CN" sz="1600" u="none" dirty="0">
              <a:solidFill>
                <a:srgbClr val="000000"/>
              </a:solidFill>
              <a:latin typeface="微软雅黑" panose="020B0503020204020204" pitchFamily="34" charset="-122"/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CN" sz="1600" u="none" dirty="0">
                <a:solidFill>
                  <a:srgbClr val="000000"/>
                </a:solidFill>
                <a:latin typeface="微软雅黑" panose="020B0503020204020204" pitchFamily="34" charset="-122"/>
                <a:ea typeface="宋体" panose="02010600030101010101" pitchFamily="2" charset="-122"/>
              </a:rPr>
              <a:t>   // loop body;</a:t>
            </a:r>
            <a:endParaRPr lang="en-US" altLang="zh-CN" sz="1600" u="none" dirty="0">
              <a:solidFill>
                <a:srgbClr val="000000"/>
              </a:solidFill>
              <a:latin typeface="微软雅黑" panose="020B0503020204020204" pitchFamily="34" charset="-122"/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CN" sz="1600" u="none" dirty="0">
                <a:solidFill>
                  <a:srgbClr val="000000"/>
                </a:solidFill>
                <a:latin typeface="微软雅黑" panose="020B0503020204020204" pitchFamily="34" charset="-122"/>
                <a:ea typeface="宋体" panose="02010600030101010101" pitchFamily="2" charset="-122"/>
              </a:rPr>
              <a:t>   Statement(s);</a:t>
            </a:r>
            <a:endParaRPr lang="en-US" altLang="zh-CN" sz="1600" u="none" dirty="0">
              <a:solidFill>
                <a:srgbClr val="000000"/>
              </a:solidFill>
              <a:latin typeface="微软雅黑" panose="020B0503020204020204" pitchFamily="34" charset="-122"/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CN" sz="1600" u="none" dirty="0">
                <a:solidFill>
                  <a:srgbClr val="000000"/>
                </a:solidFill>
                <a:latin typeface="微软雅黑" panose="020B0503020204020204" pitchFamily="34" charset="-122"/>
                <a:ea typeface="宋体" panose="02010600030101010101" pitchFamily="2" charset="-122"/>
              </a:rPr>
              <a:t>}</a:t>
            </a:r>
            <a:endParaRPr lang="en-US" altLang="zh-CN" sz="1600" u="none" dirty="0">
              <a:solidFill>
                <a:srgbClr val="000000"/>
              </a:solidFill>
              <a:latin typeface="微软雅黑" panose="020B0503020204020204" pitchFamily="34" charset="-122"/>
              <a:ea typeface="宋体" panose="02010600030101010101" pitchFamily="2" charset="-122"/>
            </a:endParaRPr>
          </a:p>
        </p:txBody>
      </p:sp>
      <p:sp>
        <p:nvSpPr>
          <p:cNvPr id="24581" name="Rectangle 4"/>
          <p:cNvSpPr/>
          <p:nvPr/>
        </p:nvSpPr>
        <p:spPr>
          <a:xfrm>
            <a:off x="2243138" y="1933575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F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 dirty="0">
              <a:ea typeface="宋体" panose="02010600030101010101" pitchFamily="2" charset="-122"/>
            </a:endParaRPr>
          </a:p>
        </p:txBody>
      </p:sp>
      <p:sp>
        <p:nvSpPr>
          <p:cNvPr id="24582" name="Line 5"/>
          <p:cNvSpPr/>
          <p:nvPr/>
        </p:nvSpPr>
        <p:spPr>
          <a:xfrm>
            <a:off x="2461260" y="2238375"/>
            <a:ext cx="381000" cy="685800"/>
          </a:xfrm>
          <a:prstGeom prst="line">
            <a:avLst/>
          </a:prstGeom>
          <a:ln w="12700" cap="flat" cmpd="sng">
            <a:solidFill>
              <a:srgbClr val="FF0000"/>
            </a:solidFill>
            <a:prstDash val="solid"/>
            <a:headEnd type="none" w="med" len="med"/>
            <a:tailEnd type="stealth" w="sm" len="sm"/>
          </a:ln>
        </p:spPr>
      </p:sp>
      <p:sp>
        <p:nvSpPr>
          <p:cNvPr id="24583" name="Rectangle 6"/>
          <p:cNvSpPr/>
          <p:nvPr/>
        </p:nvSpPr>
        <p:spPr>
          <a:xfrm>
            <a:off x="4909185" y="824865"/>
            <a:ext cx="3962400" cy="1981200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F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342900" lvl="0" indent="-342900">
              <a:buNone/>
            </a:pPr>
            <a:r>
              <a:rPr lang="en-US" altLang="zh-CN" sz="2000" dirty="0">
                <a:ea typeface="宋体" panose="02010600030101010101" pitchFamily="2" charset="-122"/>
              </a:rPr>
              <a:t>int i;</a:t>
            </a:r>
            <a:endParaRPr lang="en-US" altLang="zh-CN" sz="2000" dirty="0">
              <a:ea typeface="宋体" panose="02010600030101010101" pitchFamily="2" charset="-122"/>
            </a:endParaRPr>
          </a:p>
          <a:p>
            <a:pPr marL="342900" lvl="0" indent="-342900">
              <a:spcBef>
                <a:spcPct val="0"/>
              </a:spcBef>
              <a:buNone/>
            </a:pPr>
            <a:r>
              <a:rPr lang="en-US" altLang="zh-CN" sz="2000" dirty="0">
                <a:ea typeface="宋体" panose="02010600030101010101" pitchFamily="2" charset="-122"/>
              </a:rPr>
              <a:t>for (i = 0; i &lt; 100; i++) {	 </a:t>
            </a:r>
            <a:endParaRPr lang="en-US" altLang="zh-CN" sz="2000" dirty="0">
              <a:ea typeface="宋体" panose="02010600030101010101" pitchFamily="2" charset="-122"/>
            </a:endParaRPr>
          </a:p>
          <a:p>
            <a:pPr marL="342900" lvl="0" indent="-342900">
              <a:spcBef>
                <a:spcPct val="0"/>
              </a:spcBef>
              <a:buNone/>
            </a:pPr>
            <a:r>
              <a:rPr lang="en-US" altLang="zh-CN" sz="2000" dirty="0">
                <a:ea typeface="宋体" panose="02010600030101010101" pitchFamily="2" charset="-122"/>
              </a:rPr>
              <a:t>  System.out.println(</a:t>
            </a:r>
            <a:endParaRPr lang="en-US" altLang="zh-CN" sz="2000" dirty="0">
              <a:ea typeface="宋体" panose="02010600030101010101" pitchFamily="2" charset="-122"/>
            </a:endParaRPr>
          </a:p>
          <a:p>
            <a:pPr marL="342900" lvl="0" indent="-342900">
              <a:spcBef>
                <a:spcPct val="0"/>
              </a:spcBef>
              <a:buNone/>
            </a:pPr>
            <a:r>
              <a:rPr lang="en-US" altLang="zh-CN" sz="2000" dirty="0">
                <a:ea typeface="宋体" panose="02010600030101010101" pitchFamily="2" charset="-122"/>
              </a:rPr>
              <a:t>     "Welcome to Java!"); </a:t>
            </a:r>
            <a:endParaRPr lang="en-US" altLang="zh-CN" sz="2000" dirty="0">
              <a:ea typeface="宋体" panose="02010600030101010101" pitchFamily="2" charset="-122"/>
            </a:endParaRPr>
          </a:p>
          <a:p>
            <a:pPr marL="342900" lvl="0" indent="-342900">
              <a:spcBef>
                <a:spcPct val="0"/>
              </a:spcBef>
              <a:buNone/>
            </a:pPr>
            <a:r>
              <a:rPr lang="en-US" altLang="zh-CN" sz="2000" dirty="0">
                <a:ea typeface="宋体" panose="02010600030101010101" pitchFamily="2" charset="-122"/>
              </a:rPr>
              <a:t>}</a:t>
            </a:r>
            <a:endParaRPr lang="en-US" altLang="zh-CN" sz="2000" dirty="0">
              <a:ea typeface="宋体" panose="02010600030101010101" pitchFamily="2" charset="-122"/>
            </a:endParaRPr>
          </a:p>
        </p:txBody>
      </p:sp>
      <p:sp>
        <p:nvSpPr>
          <p:cNvPr id="24584" name="Line 7"/>
          <p:cNvSpPr/>
          <p:nvPr/>
        </p:nvSpPr>
        <p:spPr>
          <a:xfrm>
            <a:off x="5345430" y="2238375"/>
            <a:ext cx="838200" cy="685800"/>
          </a:xfrm>
          <a:prstGeom prst="line">
            <a:avLst/>
          </a:prstGeom>
          <a:ln w="12700" cap="flat" cmpd="sng">
            <a:solidFill>
              <a:srgbClr val="FF0000"/>
            </a:solidFill>
            <a:prstDash val="solid"/>
            <a:headEnd type="none" w="med" len="med"/>
            <a:tailEnd type="stealth" w="sm" len="sm"/>
          </a:ln>
        </p:spPr>
      </p:sp>
      <p:sp>
        <p:nvSpPr>
          <p:cNvPr id="24585" name="Rectangle 8"/>
          <p:cNvSpPr/>
          <p:nvPr/>
        </p:nvSpPr>
        <p:spPr>
          <a:xfrm>
            <a:off x="2243138" y="1933575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F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 dirty="0">
              <a:ea typeface="宋体" panose="02010600030101010101" pitchFamily="2" charset="-122"/>
            </a:endParaRPr>
          </a:p>
        </p:txBody>
      </p:sp>
      <p:sp>
        <p:nvSpPr>
          <p:cNvPr id="24586" name="Rectangle 9"/>
          <p:cNvSpPr/>
          <p:nvPr/>
        </p:nvSpPr>
        <p:spPr>
          <a:xfrm>
            <a:off x="2243138" y="1933575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F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 dirty="0">
              <a:ea typeface="宋体" panose="02010600030101010101" pitchFamily="2" charset="-122"/>
            </a:endParaRPr>
          </a:p>
        </p:txBody>
      </p:sp>
      <p:graphicFrame>
        <p:nvGraphicFramePr>
          <p:cNvPr id="24587" name="Object 10"/>
          <p:cNvGraphicFramePr>
            <a:graphicFrameLocks noChangeAspect="1"/>
          </p:cNvGraphicFramePr>
          <p:nvPr/>
        </p:nvGraphicFramePr>
        <p:xfrm>
          <a:off x="1611630" y="2924175"/>
          <a:ext cx="5486400" cy="3384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" r:id="rId1" imgW="4657090" imgH="2986405" progId="Word.Picture.8">
                  <p:embed/>
                </p:oleObj>
              </mc:Choice>
              <mc:Fallback>
                <p:oleObj name="" r:id="rId1" imgW="4657090" imgH="2986405" progId="Word.Picture.8">
                  <p:embed/>
                  <p:pic>
                    <p:nvPicPr>
                      <p:cNvPr id="0" name="图片 3076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611630" y="2924175"/>
                        <a:ext cx="5486400" cy="3384550"/>
                      </a:xfrm>
                      <a:prstGeom prst="rect">
                        <a:avLst/>
                      </a:prstGeom>
                      <a:noFill/>
                      <a:ln w="9525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5842" name="灯片编号占位符 4"/>
          <p:cNvSpPr txBox="1">
            <a:spLocks noGrp="1"/>
          </p:cNvSpPr>
          <p:nvPr>
            <p:ph type="sldNum" sz="quarter" idx="11"/>
          </p:nvPr>
        </p:nvSpPr>
        <p:spPr/>
        <p:txBody>
          <a:bodyPr wrap="none" lIns="92075" tIns="46038" rIns="92075" bIns="46038" anchor="ctr"/>
          <a:p>
            <a:pPr marL="0" indent="0" algn="r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zh-CN" altLang="en-US" sz="1400" dirty="0">
                <a:ea typeface="宋体" panose="02010600030101010101" pitchFamily="2" charset="-122"/>
              </a:rPr>
            </a:fld>
            <a:endParaRPr lang="zh-CN" altLang="en-US" sz="1400" dirty="0">
              <a:ea typeface="宋体" panose="02010600030101010101" pitchFamily="2" charset="-122"/>
            </a:endParaRPr>
          </a:p>
        </p:txBody>
      </p:sp>
      <p:sp>
        <p:nvSpPr>
          <p:cNvPr id="35843" name="Rectangle 2"/>
          <p:cNvSpPr>
            <a:spLocks noGrp="1"/>
          </p:cNvSpPr>
          <p:nvPr>
            <p:ph type="title"/>
          </p:nvPr>
        </p:nvSpPr>
        <p:spPr>
          <a:xfrm>
            <a:off x="468630" y="194310"/>
            <a:ext cx="7772400" cy="609600"/>
          </a:xfrm>
        </p:spPr>
        <p:txBody>
          <a:bodyPr vert="horz" wrap="square" lIns="92075" tIns="46038" rIns="92075" bIns="46038" anchor="ctr"/>
          <a:p>
            <a:r>
              <a:rPr lang="zh-CN" altLang="en-US" sz="3200" b="0" u="none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注意</a:t>
            </a:r>
            <a:endParaRPr lang="zh-CN" altLang="en-US" sz="3200" b="0" u="none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844" name="Text Box 3"/>
          <p:cNvSpPr txBox="1"/>
          <p:nvPr/>
        </p:nvSpPr>
        <p:spPr>
          <a:xfrm>
            <a:off x="304800" y="990600"/>
            <a:ext cx="8610600" cy="455930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F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12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800" u="sng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for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循环中的</a:t>
            </a:r>
            <a:r>
              <a:rPr lang="zh-CN" altLang="en-US" sz="2800" u="sng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初始动作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可以是零个或多个以逗号隔开的语句列表。 </a:t>
            </a:r>
            <a:r>
              <a:rPr lang="en-US" altLang="zh-CN" sz="2800" u="sng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for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循环中</a:t>
            </a:r>
            <a:r>
              <a:rPr lang="zh-CN" altLang="en-US" sz="2800" u="sng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每次迭代后的动作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可以是零个或多个以逗号隔开的语句列表。因此，下面两个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for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循环是都正确的。 但是它们很少在实际中使用。</a:t>
            </a:r>
            <a:endPara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457200" lvl="1" indent="0">
              <a:spcBef>
                <a:spcPct val="50000"/>
              </a:spcBef>
              <a:buClrTx/>
              <a:buNone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for (int i = 1; i &lt; 100; System.out.println(i)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i++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);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lvl="1" indent="0">
              <a:spcBef>
                <a:spcPct val="50000"/>
              </a:spcBef>
              <a:buClrTx/>
              <a:buNone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for (int i = 0, j = 0; (i + j &lt; 10); i++, j++) {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14400" lvl="2" indent="0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// Do something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14400" lvl="2" indent="0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}</a:t>
            </a:r>
            <a:r>
              <a:rPr lang="en-US" altLang="zh-CN" sz="2800" u="sng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</a:t>
            </a:r>
            <a:r>
              <a:rPr lang="en-US" altLang="zh-CN" sz="2800" u="sng" dirty="0">
                <a:latin typeface="Courier New" panose="02070309020205020404" charset="0"/>
                <a:ea typeface="宋体" panose="02010600030101010101" pitchFamily="2" charset="-122"/>
              </a:rPr>
              <a:t>  </a:t>
            </a:r>
            <a:endParaRPr lang="en-US" altLang="zh-CN" sz="2800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6866" name="灯片编号占位符 4"/>
          <p:cNvSpPr txBox="1">
            <a:spLocks noGrp="1"/>
          </p:cNvSpPr>
          <p:nvPr>
            <p:ph type="sldNum" sz="quarter" idx="11"/>
          </p:nvPr>
        </p:nvSpPr>
        <p:spPr/>
        <p:txBody>
          <a:bodyPr wrap="none" lIns="92075" tIns="46038" rIns="92075" bIns="46038" anchor="ctr"/>
          <a:p>
            <a:pPr marL="0" indent="0" algn="r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zh-CN" altLang="en-US" sz="1400" dirty="0">
                <a:ea typeface="宋体" panose="02010600030101010101" pitchFamily="2" charset="-122"/>
              </a:rPr>
            </a:fld>
            <a:endParaRPr lang="zh-CN" altLang="en-US" sz="1400" dirty="0">
              <a:ea typeface="宋体" panose="02010600030101010101" pitchFamily="2" charset="-122"/>
            </a:endParaRPr>
          </a:p>
        </p:txBody>
      </p:sp>
      <p:sp>
        <p:nvSpPr>
          <p:cNvPr id="36867" name="Rectangle 2"/>
          <p:cNvSpPr>
            <a:spLocks noGrp="1"/>
          </p:cNvSpPr>
          <p:nvPr>
            <p:ph type="title"/>
          </p:nvPr>
        </p:nvSpPr>
        <p:spPr>
          <a:xfrm>
            <a:off x="125095" y="107950"/>
            <a:ext cx="6644640" cy="609600"/>
          </a:xfrm>
        </p:spPr>
        <p:txBody>
          <a:bodyPr vert="horz" wrap="square" lIns="92075" tIns="46038" rIns="92075" bIns="46038" anchor="ctr"/>
          <a:p>
            <a:r>
              <a:rPr lang="zh-CN" altLang="en-US" sz="3200" b="0" u="none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注意</a:t>
            </a:r>
            <a:endParaRPr lang="zh-CN" altLang="en-US" sz="3200" b="0" u="none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868" name="Text Box 3"/>
          <p:cNvSpPr txBox="1"/>
          <p:nvPr/>
        </p:nvSpPr>
        <p:spPr>
          <a:xfrm>
            <a:off x="304800" y="990600"/>
            <a:ext cx="8610600" cy="142049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F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12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如果省略了</a:t>
            </a:r>
            <a:r>
              <a:rPr lang="zh-CN" altLang="en-US" sz="2400" u="sng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for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循环中的</a:t>
            </a:r>
            <a:r>
              <a:rPr lang="zh-CN" altLang="en-US" sz="2400" u="sng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循环继续条件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，则隐含地认为循环继续条件为true。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因此，下面图（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）中给出的语句是正确的，但却是一个无限循环。 最好是使用等价循环（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b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）以避免混淆：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6869" name="Rectangle 4"/>
          <p:cNvSpPr/>
          <p:nvPr/>
        </p:nvSpPr>
        <p:spPr>
          <a:xfrm>
            <a:off x="3024188" y="3133725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F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 dirty="0">
              <a:ea typeface="宋体" panose="02010600030101010101" pitchFamily="2" charset="-122"/>
            </a:endParaRPr>
          </a:p>
        </p:txBody>
      </p:sp>
      <p:graphicFrame>
        <p:nvGraphicFramePr>
          <p:cNvPr id="36870" name="Object 5"/>
          <p:cNvGraphicFramePr>
            <a:graphicFrameLocks noChangeAspect="1"/>
          </p:cNvGraphicFramePr>
          <p:nvPr/>
        </p:nvGraphicFramePr>
        <p:xfrm>
          <a:off x="298450" y="3732213"/>
          <a:ext cx="8470900" cy="1617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8" name="" r:id="rId1" imgW="3217545" imgH="621030" progId="Word.Picture.8">
                  <p:embed/>
                </p:oleObj>
              </mc:Choice>
              <mc:Fallback>
                <p:oleObj name="" r:id="rId1" imgW="3217545" imgH="621030" progId="Word.Picture.8">
                  <p:embed/>
                  <p:pic>
                    <p:nvPicPr>
                      <p:cNvPr id="0" name="图片 3077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98450" y="3732213"/>
                        <a:ext cx="8470900" cy="16176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9938" name="灯片编号占位符 4"/>
          <p:cNvSpPr txBox="1">
            <a:spLocks noGrp="1"/>
          </p:cNvSpPr>
          <p:nvPr>
            <p:ph type="sldNum" sz="quarter" idx="11"/>
          </p:nvPr>
        </p:nvSpPr>
        <p:spPr/>
        <p:txBody>
          <a:bodyPr wrap="none" lIns="92075" tIns="46038" rIns="92075" bIns="46038" anchor="ctr"/>
          <a:p>
            <a:pPr marL="0" indent="0" algn="r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zh-CN" altLang="en-US" sz="1400" dirty="0">
                <a:ea typeface="宋体" panose="02010600030101010101" pitchFamily="2" charset="-122"/>
              </a:rPr>
            </a:fld>
            <a:endParaRPr lang="zh-CN" altLang="en-US" sz="1400" dirty="0">
              <a:ea typeface="宋体" panose="02010600030101010101" pitchFamily="2" charset="-122"/>
            </a:endParaRPr>
          </a:p>
        </p:txBody>
      </p:sp>
      <p:sp>
        <p:nvSpPr>
          <p:cNvPr id="39939" name="Rectangle 2"/>
          <p:cNvSpPr>
            <a:spLocks noGrp="1"/>
          </p:cNvSpPr>
          <p:nvPr>
            <p:ph type="title"/>
          </p:nvPr>
        </p:nvSpPr>
        <p:spPr>
          <a:xfrm>
            <a:off x="147955" y="117475"/>
            <a:ext cx="7772400" cy="609600"/>
          </a:xfrm>
        </p:spPr>
        <p:txBody>
          <a:bodyPr vert="horz" wrap="square" lIns="92075" tIns="46038" rIns="92075" bIns="46038" anchor="ctr"/>
          <a:p>
            <a:r>
              <a:rPr lang="zh-CN" altLang="en-US" sz="3200" b="0" u="none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采用哪种循环</a:t>
            </a:r>
            <a:r>
              <a:rPr lang="en-US" altLang="zh-CN" sz="3200" b="0" u="none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?</a:t>
            </a:r>
            <a:endParaRPr lang="en-US" altLang="zh-CN" sz="3200" b="0" u="none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9940" name="Text Box 3"/>
          <p:cNvSpPr txBox="1"/>
          <p:nvPr/>
        </p:nvSpPr>
        <p:spPr>
          <a:xfrm>
            <a:off x="147955" y="845820"/>
            <a:ext cx="8242300" cy="156845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F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三种形式的循环语句：</a:t>
            </a:r>
            <a:r>
              <a:rPr lang="en-US" altLang="zh-CN" sz="2400" u="sng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while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lang="en-US" altLang="zh-CN" sz="2400" u="sng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do-while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和</a:t>
            </a:r>
            <a:r>
              <a:rPr lang="en-US" altLang="zh-CN" sz="2400" u="sng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for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在表达的效果上是一样的，也就是说，可以使用三种形式任意之一来编写一个循环。例如：图（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）中的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while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循环总能转化成图（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b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）中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for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循环：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9941" name="Rectangle 4"/>
          <p:cNvSpPr/>
          <p:nvPr/>
        </p:nvSpPr>
        <p:spPr>
          <a:xfrm>
            <a:off x="1976438" y="3133725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F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 dirty="0">
              <a:ea typeface="宋体" panose="02010600030101010101" pitchFamily="2" charset="-122"/>
            </a:endParaRPr>
          </a:p>
        </p:txBody>
      </p:sp>
      <p:sp>
        <p:nvSpPr>
          <p:cNvPr id="39942" name="Text Box 5"/>
          <p:cNvSpPr txBox="1"/>
          <p:nvPr/>
        </p:nvSpPr>
        <p:spPr>
          <a:xfrm>
            <a:off x="304800" y="3962400"/>
            <a:ext cx="8610600" cy="70675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F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dirty="0">
                <a:ea typeface="宋体" panose="02010600030101010101" pitchFamily="2" charset="-122"/>
              </a:rPr>
              <a:t>除了在某些特殊情况，下图（a）中的</a:t>
            </a:r>
            <a:r>
              <a:rPr lang="en-US" altLang="zh-CN" sz="2000" dirty="0">
                <a:ea typeface="宋体" panose="02010600030101010101" pitchFamily="2" charset="-122"/>
              </a:rPr>
              <a:t>for</a:t>
            </a:r>
            <a:r>
              <a:rPr lang="zh-CN" altLang="en-US" sz="2000" dirty="0">
                <a:ea typeface="宋体" panose="02010600030101010101" pitchFamily="2" charset="-122"/>
              </a:rPr>
              <a:t>循环接通常</a:t>
            </a:r>
            <a:r>
              <a:rPr lang="zh-CN" altLang="en-US" sz="2000" dirty="0">
                <a:ea typeface="宋体" panose="02010600030101010101" pitchFamily="2" charset="-122"/>
              </a:rPr>
              <a:t>都可以转化成图（</a:t>
            </a:r>
            <a:r>
              <a:rPr lang="en-US" altLang="zh-CN" sz="2000" dirty="0">
                <a:ea typeface="宋体" panose="02010600030101010101" pitchFamily="2" charset="-122"/>
              </a:rPr>
              <a:t>b</a:t>
            </a:r>
            <a:r>
              <a:rPr lang="zh-CN" altLang="en-US" sz="2000" dirty="0">
                <a:ea typeface="宋体" panose="02010600030101010101" pitchFamily="2" charset="-122"/>
              </a:rPr>
              <a:t>）中</a:t>
            </a:r>
            <a:r>
              <a:rPr lang="en-US" altLang="zh-CN" sz="2000" dirty="0">
                <a:ea typeface="宋体" panose="02010600030101010101" pitchFamily="2" charset="-122"/>
              </a:rPr>
              <a:t>while</a:t>
            </a:r>
            <a:r>
              <a:rPr lang="zh-CN" altLang="en-US" sz="2000" dirty="0">
                <a:ea typeface="宋体" panose="02010600030101010101" pitchFamily="2" charset="-122"/>
              </a:rPr>
              <a:t>循环：</a:t>
            </a:r>
            <a:endParaRPr lang="zh-CN" altLang="en-US" sz="2000" dirty="0">
              <a:ea typeface="宋体" panose="02010600030101010101" pitchFamily="2" charset="-122"/>
            </a:endParaRPr>
          </a:p>
        </p:txBody>
      </p:sp>
      <p:sp>
        <p:nvSpPr>
          <p:cNvPr id="39943" name="Rectangle 6"/>
          <p:cNvSpPr/>
          <p:nvPr/>
        </p:nvSpPr>
        <p:spPr>
          <a:xfrm>
            <a:off x="2024063" y="300990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F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 dirty="0">
              <a:ea typeface="宋体" panose="02010600030101010101" pitchFamily="2" charset="-122"/>
            </a:endParaRPr>
          </a:p>
        </p:txBody>
      </p:sp>
      <p:graphicFrame>
        <p:nvGraphicFramePr>
          <p:cNvPr id="39944" name="Object 7"/>
          <p:cNvGraphicFramePr>
            <a:graphicFrameLocks noChangeAspect="1"/>
          </p:cNvGraphicFramePr>
          <p:nvPr/>
        </p:nvGraphicFramePr>
        <p:xfrm>
          <a:off x="233363" y="5029200"/>
          <a:ext cx="8751887" cy="1441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9" name="" r:id="rId1" imgW="5294630" imgH="880745" progId="Word.Picture.8">
                  <p:embed/>
                </p:oleObj>
              </mc:Choice>
              <mc:Fallback>
                <p:oleObj name="" r:id="rId1" imgW="5294630" imgH="880745" progId="Word.Picture.8">
                  <p:embed/>
                  <p:pic>
                    <p:nvPicPr>
                      <p:cNvPr id="0" name="图片 3078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33363" y="5029200"/>
                        <a:ext cx="8751887" cy="14414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945" name="Rectangle 8"/>
          <p:cNvSpPr/>
          <p:nvPr/>
        </p:nvSpPr>
        <p:spPr>
          <a:xfrm>
            <a:off x="1976438" y="3133725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F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 dirty="0">
              <a:ea typeface="宋体" panose="02010600030101010101" pitchFamily="2" charset="-122"/>
            </a:endParaRPr>
          </a:p>
        </p:txBody>
      </p:sp>
      <p:graphicFrame>
        <p:nvGraphicFramePr>
          <p:cNvPr id="39946" name="Object 9"/>
          <p:cNvGraphicFramePr>
            <a:graphicFrameLocks noChangeAspect="1"/>
          </p:cNvGraphicFramePr>
          <p:nvPr/>
        </p:nvGraphicFramePr>
        <p:xfrm>
          <a:off x="147638" y="2589213"/>
          <a:ext cx="9002712" cy="1025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0" name="" r:id="rId3" imgW="5396230" imgH="621030" progId="Word.Picture.8">
                  <p:embed/>
                </p:oleObj>
              </mc:Choice>
              <mc:Fallback>
                <p:oleObj name="" r:id="rId3" imgW="5396230" imgH="621030" progId="Word.Picture.8">
                  <p:embed/>
                  <p:pic>
                    <p:nvPicPr>
                      <p:cNvPr id="0" name="图片 3079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47638" y="2589213"/>
                        <a:ext cx="9002712" cy="10255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0962" name="灯片编号占位符 4"/>
          <p:cNvSpPr txBox="1">
            <a:spLocks noGrp="1"/>
          </p:cNvSpPr>
          <p:nvPr>
            <p:ph type="sldNum" sz="quarter" idx="11"/>
          </p:nvPr>
        </p:nvSpPr>
        <p:spPr/>
        <p:txBody>
          <a:bodyPr wrap="none" lIns="92075" tIns="46038" rIns="92075" bIns="46038" anchor="ctr"/>
          <a:p>
            <a:pPr marL="0" indent="0" algn="r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zh-CN" altLang="en-US" sz="1400" dirty="0">
                <a:ea typeface="宋体" panose="02010600030101010101" pitchFamily="2" charset="-122"/>
              </a:rPr>
            </a:fld>
            <a:endParaRPr lang="zh-CN" altLang="en-US" sz="1400" dirty="0">
              <a:ea typeface="宋体" panose="02010600030101010101" pitchFamily="2" charset="-122"/>
            </a:endParaRPr>
          </a:p>
        </p:txBody>
      </p:sp>
      <p:sp>
        <p:nvSpPr>
          <p:cNvPr id="40963" name="Rectangle 2"/>
          <p:cNvSpPr>
            <a:spLocks noGrp="1"/>
          </p:cNvSpPr>
          <p:nvPr>
            <p:ph type="title"/>
          </p:nvPr>
        </p:nvSpPr>
        <p:spPr>
          <a:xfrm>
            <a:off x="309880" y="128905"/>
            <a:ext cx="7772400" cy="652145"/>
          </a:xfrm>
        </p:spPr>
        <p:txBody>
          <a:bodyPr vert="horz" wrap="square" lIns="92075" tIns="46038" rIns="92075" bIns="46038" anchor="ctr"/>
          <a:p>
            <a:r>
              <a:rPr lang="zh-CN" altLang="en-US" sz="3200" b="0" u="none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建 议</a:t>
            </a:r>
            <a:endParaRPr lang="zh-CN" altLang="en-US" sz="3200" b="0" u="none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40964" name="Text Box 3"/>
          <p:cNvSpPr txBox="1"/>
          <p:nvPr/>
        </p:nvSpPr>
        <p:spPr>
          <a:xfrm>
            <a:off x="154623" y="1204278"/>
            <a:ext cx="8834437" cy="26765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F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使用自己觉得最自然、最舒适的那种循环语句。 通常，如果重复的次数是已知的，那就采用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for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循环，例如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,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当你需要打印一条信息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100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次。如果重复的次数是未知的那就采用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while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循环，例如：读入一些数值直到读入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0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为止。如果在检查继续条件前必须执行循环体那就用do-while循环替代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while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循环。</a:t>
            </a:r>
            <a:endPara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4034" name="灯片编号占位符 4"/>
          <p:cNvSpPr txBox="1">
            <a:spLocks noGrp="1"/>
          </p:cNvSpPr>
          <p:nvPr>
            <p:ph type="sldNum" sz="quarter" idx="11"/>
          </p:nvPr>
        </p:nvSpPr>
        <p:spPr/>
        <p:txBody>
          <a:bodyPr wrap="none" lIns="92075" tIns="46038" rIns="92075" bIns="46038" anchor="ctr"/>
          <a:p>
            <a:pPr marL="0" indent="0" algn="r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zh-CN" altLang="en-US" sz="1400" dirty="0">
                <a:ea typeface="宋体" panose="02010600030101010101" pitchFamily="2" charset="-122"/>
              </a:rPr>
            </a:fld>
            <a:endParaRPr lang="zh-CN" altLang="en-US" sz="1400" dirty="0">
              <a:ea typeface="宋体" panose="02010600030101010101" pitchFamily="2" charset="-122"/>
            </a:endParaRPr>
          </a:p>
        </p:txBody>
      </p:sp>
      <p:sp>
        <p:nvSpPr>
          <p:cNvPr id="44035" name="Rectangle 2"/>
          <p:cNvSpPr>
            <a:spLocks noGrp="1"/>
          </p:cNvSpPr>
          <p:nvPr>
            <p:ph type="title"/>
          </p:nvPr>
        </p:nvSpPr>
        <p:spPr>
          <a:xfrm>
            <a:off x="468313" y="266065"/>
            <a:ext cx="7772400" cy="533400"/>
          </a:xfrm>
        </p:spPr>
        <p:txBody>
          <a:bodyPr vert="horz" wrap="square" lIns="92075" tIns="46038" rIns="92075" bIns="46038" anchor="ctr"/>
          <a:p>
            <a:r>
              <a:rPr lang="zh-CN" altLang="en-US" sz="3200" b="0" u="none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最小化数值误差</a:t>
            </a:r>
            <a:r>
              <a:rPr lang="zh-CN" altLang="en-US" sz="3200" u="none" dirty="0">
                <a:solidFill>
                  <a:srgbClr val="000000"/>
                </a:solidFill>
                <a:latin typeface="微软雅黑" panose="020B0503020204020204" pitchFamily="34" charset="-122"/>
                <a:ea typeface="宋体" panose="02010600030101010101" pitchFamily="2" charset="-122"/>
              </a:rPr>
              <a:t> </a:t>
            </a:r>
            <a:endParaRPr lang="zh-CN" altLang="en-US" sz="3200" u="none" dirty="0">
              <a:solidFill>
                <a:srgbClr val="000000"/>
              </a:solidFill>
              <a:latin typeface="微软雅黑" panose="020B0503020204020204" pitchFamily="34" charset="-122"/>
              <a:ea typeface="宋体" panose="02010600030101010101" pitchFamily="2" charset="-122"/>
            </a:endParaRPr>
          </a:p>
        </p:txBody>
      </p:sp>
      <p:sp>
        <p:nvSpPr>
          <p:cNvPr id="44036" name="Rectangle 3"/>
          <p:cNvSpPr>
            <a:spLocks noGrp="1"/>
          </p:cNvSpPr>
          <p:nvPr>
            <p:ph idx="1"/>
          </p:nvPr>
        </p:nvSpPr>
        <p:spPr>
          <a:xfrm>
            <a:off x="231775" y="1085850"/>
            <a:ext cx="8430260" cy="4457700"/>
          </a:xfrm>
        </p:spPr>
        <p:txBody>
          <a:bodyPr vert="horz" wrap="square" lIns="92075" tIns="46038" rIns="92075" bIns="46038" anchor="t"/>
          <a:p>
            <a:pPr marL="0" indent="0">
              <a:buNone/>
            </a:pPr>
            <a:r>
              <a:rPr lang="zh-CN" altLang="en-US" sz="2000" u="none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涉及浮点数的数值误差是不可避免的。问题是如何最小化这样的误差。下面是一个例子，计算从</a:t>
            </a:r>
            <a:r>
              <a:rPr lang="en-US" altLang="zh-CN" sz="2000" u="none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0.01</a:t>
            </a:r>
            <a:r>
              <a:rPr lang="zh-CN" altLang="en-US" sz="2000" u="none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开始到</a:t>
            </a:r>
            <a:r>
              <a:rPr lang="en-US" altLang="zh-CN" sz="2000" u="none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1.0</a:t>
            </a:r>
            <a:r>
              <a:rPr lang="zh-CN" altLang="en-US" sz="2000" u="none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结束的数列之和。该数列的数值以</a:t>
            </a:r>
            <a:r>
              <a:rPr lang="en-US" altLang="zh-CN" sz="2000" u="none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0.01</a:t>
            </a:r>
            <a:r>
              <a:rPr lang="zh-CN" altLang="en-US" sz="2000" u="none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递增，如下所示：</a:t>
            </a:r>
            <a:r>
              <a:rPr lang="en-US" altLang="zh-CN" sz="2000" u="none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0.01 + 0.02 + 0.03</a:t>
            </a:r>
            <a:r>
              <a:rPr lang="zh-CN" altLang="en-US" sz="2000" u="none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...依此类推。</a:t>
            </a:r>
            <a:endParaRPr lang="zh-CN" altLang="en-US" sz="2000" u="none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45061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0700" y="2434590"/>
            <a:ext cx="7833360" cy="329628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0178" name="灯片编号占位符 4"/>
          <p:cNvSpPr txBox="1">
            <a:spLocks noGrp="1"/>
          </p:cNvSpPr>
          <p:nvPr>
            <p:ph type="sldNum" sz="quarter" idx="11"/>
          </p:nvPr>
        </p:nvSpPr>
        <p:spPr/>
        <p:txBody>
          <a:bodyPr wrap="none" lIns="92075" tIns="46038" rIns="92075" bIns="46038" anchor="ctr"/>
          <a:p>
            <a:pPr marL="0" indent="0" algn="r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zh-CN" altLang="en-US" sz="1400" dirty="0">
                <a:ea typeface="宋体" panose="02010600030101010101" pitchFamily="2" charset="-122"/>
              </a:rPr>
            </a:fld>
            <a:endParaRPr lang="zh-CN" altLang="en-US" sz="1400" dirty="0">
              <a:ea typeface="宋体" panose="02010600030101010101" pitchFamily="2" charset="-122"/>
            </a:endParaRPr>
          </a:p>
        </p:txBody>
      </p:sp>
      <p:sp>
        <p:nvSpPr>
          <p:cNvPr id="50179" name="Rectangle 2"/>
          <p:cNvSpPr>
            <a:spLocks noGrp="1"/>
          </p:cNvSpPr>
          <p:nvPr>
            <p:ph type="title"/>
          </p:nvPr>
        </p:nvSpPr>
        <p:spPr>
          <a:xfrm>
            <a:off x="135890" y="51435"/>
            <a:ext cx="7772400" cy="742315"/>
          </a:xfrm>
        </p:spPr>
        <p:txBody>
          <a:bodyPr vert="horz" wrap="square" lIns="92075" tIns="46038" rIns="92075" bIns="46038" anchor="ctr"/>
          <a:p>
            <a:r>
              <a:rPr lang="zh-CN" altLang="en-US" sz="3200" b="0" u="none" dirty="0">
                <a:solidFill>
                  <a:srgbClr val="000000"/>
                </a:solidFill>
                <a:latin typeface="微软雅黑" panose="020B0503020204020204" pitchFamily="34" charset="-122"/>
                <a:ea typeface="宋体" panose="02010600030101010101" pitchFamily="2" charset="-122"/>
              </a:rPr>
              <a:t>使用</a:t>
            </a:r>
            <a:r>
              <a:rPr lang="en-US" altLang="zh-CN" sz="3200" b="0" u="none" dirty="0">
                <a:solidFill>
                  <a:srgbClr val="000000"/>
                </a:solidFill>
                <a:latin typeface="微软雅黑" panose="020B0503020204020204" pitchFamily="34" charset="-122"/>
                <a:ea typeface="宋体" panose="02010600030101010101" pitchFamily="2" charset="-122"/>
              </a:rPr>
              <a:t>break</a:t>
            </a:r>
            <a:r>
              <a:rPr lang="zh-CN" altLang="en-US" sz="3200" b="0" u="none" dirty="0">
                <a:solidFill>
                  <a:srgbClr val="000000"/>
                </a:solidFill>
                <a:latin typeface="微软雅黑" panose="020B0503020204020204" pitchFamily="34" charset="-122"/>
                <a:ea typeface="宋体" panose="02010600030101010101" pitchFamily="2" charset="-122"/>
              </a:rPr>
              <a:t>和</a:t>
            </a:r>
            <a:r>
              <a:rPr lang="en-US" altLang="zh-CN" sz="3200" b="0" u="none" dirty="0">
                <a:solidFill>
                  <a:srgbClr val="000000"/>
                </a:solidFill>
                <a:latin typeface="微软雅黑" panose="020B0503020204020204" pitchFamily="34" charset="-122"/>
                <a:ea typeface="宋体" panose="02010600030101010101" pitchFamily="2" charset="-122"/>
              </a:rPr>
              <a:t>continue</a:t>
            </a:r>
            <a:endParaRPr lang="en-US" altLang="zh-CN" sz="3200" b="0" u="none" dirty="0">
              <a:solidFill>
                <a:srgbClr val="000000"/>
              </a:solidFill>
              <a:latin typeface="微软雅黑" panose="020B0503020204020204" pitchFamily="34" charset="-122"/>
              <a:ea typeface="宋体" panose="02010600030101010101" pitchFamily="2" charset="-122"/>
            </a:endParaRPr>
          </a:p>
        </p:txBody>
      </p:sp>
      <p:pic>
        <p:nvPicPr>
          <p:cNvPr id="50180" name="图片 1"/>
          <p:cNvPicPr>
            <a:picLocks noChangeAspect="1"/>
          </p:cNvPicPr>
          <p:nvPr/>
        </p:nvPicPr>
        <p:blipFill>
          <a:blip r:embed="rId1"/>
          <a:srcRect r="29446"/>
          <a:stretch>
            <a:fillRect/>
          </a:stretch>
        </p:blipFill>
        <p:spPr>
          <a:xfrm>
            <a:off x="135890" y="1014730"/>
            <a:ext cx="4359910" cy="51847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51205" name="图片 4"/>
          <p:cNvPicPr>
            <a:picLocks noChangeAspect="1"/>
          </p:cNvPicPr>
          <p:nvPr/>
        </p:nvPicPr>
        <p:blipFill>
          <a:blip r:embed="rId2"/>
          <a:srcRect r="-5829"/>
          <a:stretch>
            <a:fillRect/>
          </a:stretch>
        </p:blipFill>
        <p:spPr>
          <a:xfrm>
            <a:off x="4495800" y="760730"/>
            <a:ext cx="4723765" cy="569277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4578" name="灯片编号占位符 4"/>
          <p:cNvSpPr txBox="1">
            <a:spLocks noGrp="1"/>
          </p:cNvSpPr>
          <p:nvPr>
            <p:ph type="sldNum" sz="quarter" idx="11"/>
          </p:nvPr>
        </p:nvSpPr>
        <p:spPr/>
        <p:txBody>
          <a:bodyPr wrap="none" lIns="92075" tIns="46038" rIns="92075" bIns="46038" anchor="ctr"/>
          <a:p>
            <a:pPr marL="0" indent="0" algn="r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zh-CN" sz="1400" dirty="0">
                <a:ea typeface="宋体" panose="02010600030101010101" pitchFamily="2" charset="-122"/>
              </a:rPr>
            </a:fld>
            <a:endParaRPr lang="en-US" altLang="zh-CN" sz="1400" dirty="0">
              <a:ea typeface="宋体" panose="02010600030101010101" pitchFamily="2" charset="-122"/>
            </a:endParaRPr>
          </a:p>
        </p:txBody>
      </p:sp>
      <p:sp>
        <p:nvSpPr>
          <p:cNvPr id="24580" name="Rectangle 5"/>
          <p:cNvSpPr/>
          <p:nvPr/>
        </p:nvSpPr>
        <p:spPr>
          <a:xfrm>
            <a:off x="2771775" y="2457450"/>
            <a:ext cx="9144000" cy="0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F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 dirty="0">
              <a:ea typeface="宋体" panose="02010600030101010101" pitchFamily="2" charset="-122"/>
            </a:endParaRPr>
          </a:p>
        </p:txBody>
      </p:sp>
      <p:sp>
        <p:nvSpPr>
          <p:cNvPr id="24581" name="Rectangle 6"/>
          <p:cNvSpPr/>
          <p:nvPr/>
        </p:nvSpPr>
        <p:spPr>
          <a:xfrm>
            <a:off x="2085975" y="2571750"/>
            <a:ext cx="9144000" cy="0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F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 dirty="0">
              <a:ea typeface="宋体" panose="02010600030101010101" pitchFamily="2" charset="-122"/>
            </a:endParaRPr>
          </a:p>
        </p:txBody>
      </p:sp>
      <p:sp>
        <p:nvSpPr>
          <p:cNvPr id="24582" name="Rectangle 7"/>
          <p:cNvSpPr/>
          <p:nvPr/>
        </p:nvSpPr>
        <p:spPr>
          <a:xfrm>
            <a:off x="2085975" y="2571750"/>
            <a:ext cx="9144000" cy="0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F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 dirty="0">
              <a:ea typeface="宋体" panose="02010600030101010101" pitchFamily="2" charset="-122"/>
            </a:endParaRPr>
          </a:p>
        </p:txBody>
      </p:sp>
      <p:sp>
        <p:nvSpPr>
          <p:cNvPr id="24583" name="Rectangle 10"/>
          <p:cNvSpPr/>
          <p:nvPr/>
        </p:nvSpPr>
        <p:spPr>
          <a:xfrm>
            <a:off x="2085975" y="2571750"/>
            <a:ext cx="9144000" cy="0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F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 dirty="0">
              <a:ea typeface="宋体" panose="02010600030101010101" pitchFamily="2" charset="-122"/>
            </a:endParaRPr>
          </a:p>
        </p:txBody>
      </p:sp>
      <p:sp>
        <p:nvSpPr>
          <p:cNvPr id="24584" name="Rectangle 12"/>
          <p:cNvSpPr/>
          <p:nvPr/>
        </p:nvSpPr>
        <p:spPr>
          <a:xfrm>
            <a:off x="2085975" y="2486025"/>
            <a:ext cx="9144000" cy="0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F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 dirty="0">
              <a:ea typeface="宋体" panose="02010600030101010101" pitchFamily="2" charset="-122"/>
            </a:endParaRPr>
          </a:p>
        </p:txBody>
      </p:sp>
      <p:sp>
        <p:nvSpPr>
          <p:cNvPr id="24585" name="Rectangle 14"/>
          <p:cNvSpPr/>
          <p:nvPr/>
        </p:nvSpPr>
        <p:spPr>
          <a:xfrm>
            <a:off x="2085975" y="2486025"/>
            <a:ext cx="9144000" cy="0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F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 dirty="0">
              <a:ea typeface="宋体" panose="02010600030101010101" pitchFamily="2" charset="-122"/>
            </a:endParaRPr>
          </a:p>
        </p:txBody>
      </p:sp>
      <p:sp>
        <p:nvSpPr>
          <p:cNvPr id="24586" name="Rectangle 16"/>
          <p:cNvSpPr/>
          <p:nvPr/>
        </p:nvSpPr>
        <p:spPr>
          <a:xfrm>
            <a:off x="0" y="2438400"/>
            <a:ext cx="9144000" cy="0"/>
          </a:xfrm>
          <a:prstGeom prst="rect">
            <a:avLst/>
          </a:prstGeom>
          <a:noFill/>
          <a:ln w="12700">
            <a:noFill/>
          </a:ln>
        </p:spPr>
        <p:txBody>
          <a:bodyPr anchor="ctr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F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 dirty="0">
              <a:ea typeface="宋体" panose="02010600030101010101" pitchFamily="2" charset="-122"/>
            </a:endParaRPr>
          </a:p>
        </p:txBody>
      </p:sp>
      <p:graphicFrame>
        <p:nvGraphicFramePr>
          <p:cNvPr id="24587" name="Object 15"/>
          <p:cNvGraphicFramePr>
            <a:graphicFrameLocks noChangeAspect="1"/>
          </p:cNvGraphicFramePr>
          <p:nvPr/>
        </p:nvGraphicFramePr>
        <p:xfrm>
          <a:off x="231775" y="2748915"/>
          <a:ext cx="8642350" cy="344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" r:id="rId1" imgW="4972050" imgH="1976120" progId="Word.Picture.8">
                  <p:embed/>
                </p:oleObj>
              </mc:Choice>
              <mc:Fallback>
                <p:oleObj name="" r:id="rId1" imgW="4972050" imgH="1976120" progId="Word.Picture.8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31775" y="2748915"/>
                        <a:ext cx="8642350" cy="34417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588" name="Rectangle 2"/>
          <p:cNvSpPr>
            <a:spLocks noGrp="1"/>
          </p:cNvSpPr>
          <p:nvPr>
            <p:ph type="title"/>
          </p:nvPr>
        </p:nvSpPr>
        <p:spPr>
          <a:xfrm>
            <a:off x="231458" y="74613"/>
            <a:ext cx="7772400" cy="533400"/>
          </a:xfrm>
        </p:spPr>
        <p:txBody>
          <a:bodyPr vert="horz" wrap="square" lIns="92075" tIns="46038" rIns="92075" bIns="46038" anchor="ctr"/>
          <a:p>
            <a:r>
              <a:rPr lang="zh-CN" altLang="en-US" sz="3200" b="0" u="none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定义方法</a:t>
            </a:r>
            <a:endParaRPr lang="zh-CN" altLang="en-US" sz="3200" b="0" u="none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589" name="Text Box 3"/>
          <p:cNvSpPr txBox="1"/>
          <p:nvPr/>
        </p:nvSpPr>
        <p:spPr>
          <a:xfrm>
            <a:off x="323533" y="978853"/>
            <a:ext cx="8458200" cy="161480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marL="285750" indent="-285750">
              <a:spcBef>
                <a:spcPct val="50000"/>
              </a:spcBef>
              <a:buFont typeface="Arial" panose="020B0604020202020204" pitchFamily="34" charset="0"/>
              <a:buChar char="•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方法是为完成一个操作而组合在一起的语句。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spcBef>
                <a:spcPct val="50000"/>
              </a:spcBef>
              <a:buFont typeface="Arial" panose="020B0604020202020204" pitchFamily="34" charset="0"/>
              <a:buChar char="•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方法签名包括方法名和参数列表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742950" lvl="1" indent="-285750">
              <a:spcBef>
                <a:spcPct val="50000"/>
              </a:spcBef>
              <a:buFont typeface="Arial" panose="020B0604020202020204" pitchFamily="34" charset="0"/>
              <a:buChar char="•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定义在方法头的变量被称作形式参数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742950" lvl="1" indent="-285750">
              <a:spcBef>
                <a:spcPct val="50000"/>
              </a:spcBef>
              <a:buFont typeface="Arial" panose="020B0604020202020204" pitchFamily="34" charset="0"/>
              <a:buChar char="•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当方法被调用时，就传递给参数一个值。这个值被称作实际参数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或实参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2770" name="灯片编号占位符 4"/>
          <p:cNvSpPr txBox="1">
            <a:spLocks noGrp="1"/>
          </p:cNvSpPr>
          <p:nvPr>
            <p:ph type="sldNum" sz="quarter" idx="11"/>
          </p:nvPr>
        </p:nvSpPr>
        <p:spPr/>
        <p:txBody>
          <a:bodyPr wrap="none" lIns="92075" tIns="46038" rIns="92075" bIns="46038" anchor="ctr"/>
          <a:p>
            <a:pPr marL="0" indent="0" algn="r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zh-CN" sz="1400" dirty="0">
                <a:ea typeface="宋体" panose="02010600030101010101" pitchFamily="2" charset="-122"/>
              </a:rPr>
            </a:fld>
            <a:endParaRPr lang="en-US" altLang="zh-CN" sz="1400" dirty="0">
              <a:ea typeface="宋体" panose="02010600030101010101" pitchFamily="2" charset="-122"/>
            </a:endParaRPr>
          </a:p>
        </p:txBody>
      </p:sp>
      <p:sp>
        <p:nvSpPr>
          <p:cNvPr id="32772" name="Rectangle 5"/>
          <p:cNvSpPr/>
          <p:nvPr/>
        </p:nvSpPr>
        <p:spPr>
          <a:xfrm>
            <a:off x="2771775" y="2457450"/>
            <a:ext cx="9144000" cy="0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F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 dirty="0">
              <a:ea typeface="宋体" panose="02010600030101010101" pitchFamily="2" charset="-122"/>
            </a:endParaRPr>
          </a:p>
        </p:txBody>
      </p:sp>
      <p:sp>
        <p:nvSpPr>
          <p:cNvPr id="32773" name="Rectangle 6"/>
          <p:cNvSpPr/>
          <p:nvPr/>
        </p:nvSpPr>
        <p:spPr>
          <a:xfrm>
            <a:off x="2085975" y="2571750"/>
            <a:ext cx="9144000" cy="0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F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 dirty="0">
              <a:ea typeface="宋体" panose="02010600030101010101" pitchFamily="2" charset="-122"/>
            </a:endParaRPr>
          </a:p>
        </p:txBody>
      </p:sp>
      <p:sp>
        <p:nvSpPr>
          <p:cNvPr id="32774" name="Rectangle 7"/>
          <p:cNvSpPr/>
          <p:nvPr/>
        </p:nvSpPr>
        <p:spPr>
          <a:xfrm>
            <a:off x="2085975" y="2571750"/>
            <a:ext cx="9144000" cy="0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F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 dirty="0">
              <a:ea typeface="宋体" panose="02010600030101010101" pitchFamily="2" charset="-122"/>
            </a:endParaRPr>
          </a:p>
        </p:txBody>
      </p:sp>
      <p:sp>
        <p:nvSpPr>
          <p:cNvPr id="32775" name="Rectangle 8"/>
          <p:cNvSpPr/>
          <p:nvPr/>
        </p:nvSpPr>
        <p:spPr>
          <a:xfrm>
            <a:off x="2085975" y="2571750"/>
            <a:ext cx="9144000" cy="0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F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 dirty="0">
              <a:ea typeface="宋体" panose="02010600030101010101" pitchFamily="2" charset="-122"/>
            </a:endParaRPr>
          </a:p>
        </p:txBody>
      </p:sp>
      <p:sp>
        <p:nvSpPr>
          <p:cNvPr id="32776" name="Rectangle 9"/>
          <p:cNvSpPr/>
          <p:nvPr/>
        </p:nvSpPr>
        <p:spPr>
          <a:xfrm>
            <a:off x="2085975" y="2486025"/>
            <a:ext cx="9144000" cy="0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F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 dirty="0">
              <a:ea typeface="宋体" panose="02010600030101010101" pitchFamily="2" charset="-122"/>
            </a:endParaRPr>
          </a:p>
        </p:txBody>
      </p:sp>
      <p:sp>
        <p:nvSpPr>
          <p:cNvPr id="32777" name="Rectangle 10"/>
          <p:cNvSpPr/>
          <p:nvPr/>
        </p:nvSpPr>
        <p:spPr>
          <a:xfrm>
            <a:off x="2085975" y="2486025"/>
            <a:ext cx="9144000" cy="0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F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 dirty="0">
              <a:ea typeface="宋体" panose="02010600030101010101" pitchFamily="2" charset="-122"/>
            </a:endParaRPr>
          </a:p>
        </p:txBody>
      </p:sp>
      <p:sp>
        <p:nvSpPr>
          <p:cNvPr id="32778" name="Rectangle 11"/>
          <p:cNvSpPr/>
          <p:nvPr/>
        </p:nvSpPr>
        <p:spPr>
          <a:xfrm>
            <a:off x="0" y="2438400"/>
            <a:ext cx="9144000" cy="0"/>
          </a:xfrm>
          <a:prstGeom prst="rect">
            <a:avLst/>
          </a:prstGeom>
          <a:noFill/>
          <a:ln w="12700">
            <a:noFill/>
          </a:ln>
        </p:spPr>
        <p:txBody>
          <a:bodyPr anchor="ctr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F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 dirty="0">
              <a:ea typeface="宋体" panose="02010600030101010101" pitchFamily="2" charset="-122"/>
            </a:endParaRPr>
          </a:p>
        </p:txBody>
      </p:sp>
      <p:sp>
        <p:nvSpPr>
          <p:cNvPr id="32782" name="Rectangle 2"/>
          <p:cNvSpPr>
            <a:spLocks noGrp="1"/>
          </p:cNvSpPr>
          <p:nvPr>
            <p:ph type="title"/>
          </p:nvPr>
        </p:nvSpPr>
        <p:spPr>
          <a:xfrm>
            <a:off x="107633" y="120968"/>
            <a:ext cx="7772400" cy="533400"/>
          </a:xfrm>
        </p:spPr>
        <p:txBody>
          <a:bodyPr vert="horz" wrap="square" lIns="92075" tIns="46038" rIns="92075" bIns="46038" anchor="ctr"/>
          <a:p>
            <a:r>
              <a:rPr lang="zh-CN" altLang="en-US" sz="3200" b="0" u="none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返回数据类型</a:t>
            </a:r>
            <a:endParaRPr lang="zh-CN" altLang="en-US" sz="3200" b="0" u="none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783" name="Text Box 3"/>
          <p:cNvSpPr txBox="1"/>
          <p:nvPr/>
        </p:nvSpPr>
        <p:spPr>
          <a:xfrm>
            <a:off x="577850" y="1163638"/>
            <a:ext cx="8102600" cy="267652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fontAlgn="auto">
              <a:lnSpc>
                <a:spcPct val="150000"/>
              </a:lnSpc>
              <a:spcBef>
                <a:spcPts val="0"/>
              </a:spcBef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方法可以返回一个值。</a:t>
            </a:r>
            <a:r>
              <a:rPr lang="en-US" altLang="zh-CN" sz="2800" u="sng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return Value Type 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是方法返回值的数据类型。如果方法不返回值，那么</a:t>
            </a:r>
            <a:r>
              <a:rPr lang="en-US" altLang="zh-CN" sz="2800" u="sng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return Value Type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就是关键字 </a:t>
            </a:r>
            <a:r>
              <a:rPr lang="en-US" altLang="zh-CN" sz="2800" u="sng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void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 例如：在  </a:t>
            </a:r>
            <a:r>
              <a:rPr lang="en-US" altLang="zh-CN" sz="2800" u="sng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main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方法中 </a:t>
            </a:r>
            <a:r>
              <a:rPr lang="en-US" altLang="zh-CN" sz="2800" u="sng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return Value Type  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就是 </a:t>
            </a:r>
            <a:r>
              <a:rPr lang="en-US" altLang="zh-CN" sz="2800" u="sng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void</a:t>
            </a: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。</a:t>
            </a:r>
            <a:endParaRPr lang="zh-CN" altLang="en-US" sz="28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9394" name="灯片编号占位符 4"/>
          <p:cNvSpPr txBox="1">
            <a:spLocks noGrp="1"/>
          </p:cNvSpPr>
          <p:nvPr>
            <p:ph type="sldNum" sz="quarter" idx="11"/>
          </p:nvPr>
        </p:nvSpPr>
        <p:spPr/>
        <p:txBody>
          <a:bodyPr wrap="none" lIns="92075" tIns="46038" rIns="92075" bIns="46038" anchor="ctr"/>
          <a:p>
            <a:pPr marL="0" indent="0" algn="r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zh-CN" altLang="en-US" sz="1400" dirty="0">
                <a:solidFill>
                  <a:srgbClr val="FFFFFF"/>
                </a:solidFill>
                <a:ea typeface="宋体" panose="02010600030101010101" pitchFamily="2" charset="-122"/>
              </a:rPr>
            </a:fld>
            <a:endParaRPr lang="zh-CN" altLang="en-US" sz="1400" dirty="0">
              <a:solidFill>
                <a:srgbClr val="FFFFFF"/>
              </a:solidFill>
              <a:ea typeface="宋体" panose="02010600030101010101" pitchFamily="2" charset="-122"/>
            </a:endParaRPr>
          </a:p>
        </p:txBody>
      </p:sp>
      <p:sp>
        <p:nvSpPr>
          <p:cNvPr id="59395" name="Rectangle 2"/>
          <p:cNvSpPr>
            <a:spLocks noGrp="1"/>
          </p:cNvSpPr>
          <p:nvPr>
            <p:ph type="title"/>
          </p:nvPr>
        </p:nvSpPr>
        <p:spPr>
          <a:xfrm>
            <a:off x="170180" y="83185"/>
            <a:ext cx="7772400" cy="685800"/>
          </a:xfrm>
        </p:spPr>
        <p:txBody>
          <a:bodyPr vert="horz" wrap="square" lIns="92075" tIns="46038" rIns="92075" bIns="46038" anchor="ctr"/>
          <a:p>
            <a:r>
              <a:rPr lang="zh-CN" altLang="en-US" sz="3200" b="0" u="none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注 意</a:t>
            </a:r>
            <a:endParaRPr lang="zh-CN" altLang="en-US" sz="3200" b="0" u="none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59396" name="Rectangle 3"/>
          <p:cNvSpPr>
            <a:spLocks noGrp="1"/>
          </p:cNvSpPr>
          <p:nvPr>
            <p:ph idx="1"/>
          </p:nvPr>
        </p:nvSpPr>
        <p:spPr>
          <a:xfrm>
            <a:off x="271463" y="893763"/>
            <a:ext cx="8601075" cy="1498600"/>
          </a:xfrm>
        </p:spPr>
        <p:txBody>
          <a:bodyPr vert="horz" wrap="square" lIns="92075" tIns="46038" rIns="92075" bIns="46038" anchor="t">
            <a:noAutofit/>
          </a:bodyPr>
          <a:p>
            <a:pPr marL="0" indent="0">
              <a:buNone/>
            </a:pPr>
            <a:r>
              <a:rPr lang="zh-CN" altLang="en-US" sz="2000" u="none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对有返回值的方法而言， </a:t>
            </a:r>
            <a:r>
              <a:rPr lang="en-US" altLang="zh-CN" sz="2000" u="none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return</a:t>
            </a:r>
            <a:r>
              <a:rPr lang="zh-CN" altLang="en-US" sz="2000" u="none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语句是必需的。 下图 （</a:t>
            </a:r>
            <a:r>
              <a:rPr lang="en-US" altLang="zh-CN" sz="2000" u="none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</a:t>
            </a:r>
            <a:r>
              <a:rPr lang="zh-CN" altLang="en-US" sz="2000" u="none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）中显示的方法在逻辑上是正确的，但它会有编译错误，因为</a:t>
            </a:r>
            <a:r>
              <a:rPr lang="en-US" altLang="zh-CN" sz="2000" u="none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Java </a:t>
            </a:r>
            <a:r>
              <a:rPr lang="zh-CN" altLang="en-US" sz="2000" u="none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认为该方法可能不会返回任何值。</a:t>
            </a:r>
            <a:endParaRPr lang="zh-CN" altLang="en-US" sz="2000" u="none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59397" name="Rectangle 4"/>
          <p:cNvSpPr/>
          <p:nvPr/>
        </p:nvSpPr>
        <p:spPr>
          <a:xfrm>
            <a:off x="347663" y="5041900"/>
            <a:ext cx="8458200" cy="1498600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F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120000"/>
              </a:lnSpc>
              <a:buClr>
                <a:srgbClr val="FFFF99"/>
              </a:buClr>
              <a:buNone/>
            </a:pPr>
            <a:r>
              <a:rPr lang="zh-CN" altLang="en-US" sz="2400" dirty="0">
                <a:solidFill>
                  <a:srgbClr val="FFFFFF"/>
                </a:solidFill>
                <a:ea typeface="宋体" panose="02010600030101010101" pitchFamily="2" charset="-122"/>
              </a:rPr>
              <a:t>为解决这个问题，需要删除 （</a:t>
            </a:r>
            <a:r>
              <a:rPr lang="en-US" altLang="zh-CN" sz="2400" dirty="0">
                <a:solidFill>
                  <a:srgbClr val="FFFFFF"/>
                </a:solidFill>
                <a:ea typeface="宋体" panose="02010600030101010101" pitchFamily="2" charset="-122"/>
              </a:rPr>
              <a:t>a</a:t>
            </a:r>
            <a:r>
              <a:rPr lang="zh-CN" altLang="en-US" sz="2400" dirty="0">
                <a:solidFill>
                  <a:srgbClr val="FFFFFF"/>
                </a:solidFill>
                <a:ea typeface="宋体" panose="02010600030101010101" pitchFamily="2" charset="-122"/>
              </a:rPr>
              <a:t>）中的</a:t>
            </a:r>
            <a:r>
              <a:rPr lang="en-US" altLang="zh-CN" sz="2400" i="1" u="sng" dirty="0">
                <a:solidFill>
                  <a:srgbClr val="FFFFFF"/>
                </a:solidFill>
                <a:ea typeface="宋体" panose="02010600030101010101" pitchFamily="2" charset="-122"/>
              </a:rPr>
              <a:t>if (n &lt; 0)</a:t>
            </a:r>
            <a:r>
              <a:rPr lang="zh-CN" altLang="en-US" sz="2400" dirty="0">
                <a:solidFill>
                  <a:srgbClr val="FFFFFF"/>
                </a:solidFill>
                <a:ea typeface="宋体" panose="02010600030101010101" pitchFamily="2" charset="-122"/>
              </a:rPr>
              <a:t>，这样，不管 </a:t>
            </a:r>
            <a:r>
              <a:rPr lang="en-US" altLang="zh-CN" sz="2400" u="sng" dirty="0">
                <a:solidFill>
                  <a:srgbClr val="FFFFFF"/>
                </a:solidFill>
                <a:ea typeface="宋体" panose="02010600030101010101" pitchFamily="2" charset="-122"/>
              </a:rPr>
              <a:t>if</a:t>
            </a:r>
            <a:r>
              <a:rPr lang="en-US" altLang="zh-CN" sz="2400" dirty="0">
                <a:solidFill>
                  <a:srgbClr val="FFFFFF"/>
                </a:solidFill>
                <a:ea typeface="宋体" panose="02010600030101010101" pitchFamily="2" charset="-122"/>
              </a:rPr>
              <a:t> </a:t>
            </a:r>
            <a:r>
              <a:rPr lang="zh-CN" altLang="en-US" sz="2400" dirty="0">
                <a:solidFill>
                  <a:srgbClr val="FFFFFF"/>
                </a:solidFill>
                <a:ea typeface="宋体" panose="02010600030101010101" pitchFamily="2" charset="-122"/>
              </a:rPr>
              <a:t>语句怎么执行，编译器总可以到达 </a:t>
            </a:r>
            <a:r>
              <a:rPr lang="en-US" altLang="zh-CN" sz="2400" u="sng" dirty="0">
                <a:solidFill>
                  <a:srgbClr val="FFFFFF"/>
                </a:solidFill>
                <a:ea typeface="宋体" panose="02010600030101010101" pitchFamily="2" charset="-122"/>
              </a:rPr>
              <a:t>return</a:t>
            </a:r>
            <a:r>
              <a:rPr lang="zh-CN" altLang="en-US" sz="2400" dirty="0">
                <a:solidFill>
                  <a:srgbClr val="FFFFFF"/>
                </a:solidFill>
                <a:ea typeface="宋体" panose="02010600030101010101" pitchFamily="2" charset="-122"/>
              </a:rPr>
              <a:t>语句。</a:t>
            </a:r>
            <a:endParaRPr lang="zh-CN" altLang="en-US" sz="2400" dirty="0">
              <a:solidFill>
                <a:srgbClr val="FFFFFF"/>
              </a:solidFill>
              <a:ea typeface="宋体" panose="02010600030101010101" pitchFamily="2" charset="-122"/>
            </a:endParaRPr>
          </a:p>
        </p:txBody>
      </p:sp>
      <p:sp>
        <p:nvSpPr>
          <p:cNvPr id="59398" name="Rectangle 5"/>
          <p:cNvSpPr/>
          <p:nvPr/>
        </p:nvSpPr>
        <p:spPr>
          <a:xfrm>
            <a:off x="0" y="2854325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F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 dirty="0">
              <a:solidFill>
                <a:srgbClr val="FFFFFF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59399" name="Object 6"/>
          <p:cNvGraphicFramePr>
            <a:graphicFrameLocks noChangeAspect="1"/>
          </p:cNvGraphicFramePr>
          <p:nvPr/>
        </p:nvGraphicFramePr>
        <p:xfrm>
          <a:off x="271780" y="2713355"/>
          <a:ext cx="8677275" cy="23285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7" name="" r:id="rId1" imgW="4638675" imgH="1200150" progId="Word.Picture.8">
                  <p:embed/>
                </p:oleObj>
              </mc:Choice>
              <mc:Fallback>
                <p:oleObj name="" r:id="rId1" imgW="4638675" imgH="1200150" progId="Word.Picture.8">
                  <p:embed/>
                  <p:pic>
                    <p:nvPicPr>
                      <p:cNvPr id="0" name="图片 3086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71780" y="2713355"/>
                        <a:ext cx="8677275" cy="232854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r>
              <a:rPr lang="en-US" altLang="zh-CN" dirty="0" smtClean="0"/>
              <a:t>P</a:t>
            </a:r>
            <a:fld id="{62DCC93C-90AC-48A1-9D9E-CBAB17A91522}" type="slidenum">
              <a:rPr lang="zh-CN" altLang="en-US" dirty="0" smtClean="0"/>
            </a:fld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7995" y="836930"/>
            <a:ext cx="7940675" cy="403288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605" y="4869180"/>
            <a:ext cx="8065135" cy="1983105"/>
          </a:xfrm>
          <a:prstGeom prst="rect">
            <a:avLst/>
          </a:prstGeom>
        </p:spPr>
      </p:pic>
      <p:sp>
        <p:nvSpPr>
          <p:cNvPr id="59395" name="Rectangle 2"/>
          <p:cNvSpPr>
            <a:spLocks noGrp="1"/>
          </p:cNvSpPr>
          <p:nvPr>
            <p:ph type="title"/>
          </p:nvPr>
        </p:nvSpPr>
        <p:spPr>
          <a:xfrm>
            <a:off x="170180" y="83185"/>
            <a:ext cx="7772400" cy="685800"/>
          </a:xfrm>
        </p:spPr>
        <p:txBody>
          <a:bodyPr vert="horz" wrap="square" lIns="92075" tIns="46038" rIns="92075" bIns="46038" anchor="ctr"/>
          <a:p>
            <a:r>
              <a:rPr lang="en-US" altLang="zh-CN" sz="3200" b="0" u="none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Java </a:t>
            </a:r>
            <a:r>
              <a:rPr lang="zh-CN" altLang="en-US" sz="3200" b="0" u="none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内存</a:t>
            </a:r>
            <a:endParaRPr lang="zh-CN" altLang="en-US" sz="3200" b="0" u="none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42" name="灯片编号占位符 4"/>
          <p:cNvSpPr txBox="1">
            <a:spLocks noGrp="1"/>
          </p:cNvSpPr>
          <p:nvPr>
            <p:ph type="sldNum" sz="quarter" idx="11"/>
          </p:nvPr>
        </p:nvSpPr>
        <p:spPr/>
        <p:txBody>
          <a:bodyPr wrap="none" lIns="92075" tIns="46038" rIns="92075" bIns="46038" anchor="ctr"/>
          <a:p>
            <a:pPr marL="0" indent="0" algn="r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zh-CN" altLang="en-US" sz="1400" dirty="0">
                <a:solidFill>
                  <a:srgbClr val="FFFFFF"/>
                </a:solidFill>
                <a:ea typeface="宋体" panose="02010600030101010101" pitchFamily="2" charset="-122"/>
              </a:rPr>
            </a:fld>
            <a:endParaRPr lang="zh-CN" altLang="en-US" sz="1400" dirty="0">
              <a:solidFill>
                <a:srgbClr val="FFFFFF"/>
              </a:solidFill>
              <a:ea typeface="宋体" panose="02010600030101010101" pitchFamily="2" charset="-122"/>
            </a:endParaRPr>
          </a:p>
        </p:txBody>
      </p:sp>
      <p:sp>
        <p:nvSpPr>
          <p:cNvPr id="61443" name="Rectangle 2"/>
          <p:cNvSpPr>
            <a:spLocks noGrp="1"/>
          </p:cNvSpPr>
          <p:nvPr>
            <p:ph type="title"/>
          </p:nvPr>
        </p:nvSpPr>
        <p:spPr>
          <a:xfrm>
            <a:off x="360998" y="129540"/>
            <a:ext cx="7772400" cy="685800"/>
          </a:xfrm>
        </p:spPr>
        <p:txBody>
          <a:bodyPr vert="horz" wrap="square" lIns="92075" tIns="46038" rIns="92075" bIns="46038" anchor="ctr"/>
          <a:p>
            <a:r>
              <a:rPr lang="zh-CN" altLang="en-US" sz="3200" b="0" u="none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调用堆栈 </a:t>
            </a:r>
            <a:endParaRPr lang="zh-CN" altLang="en-US" sz="3200" b="0" u="none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1444" name="Rectangle 3"/>
          <p:cNvSpPr/>
          <p:nvPr/>
        </p:nvSpPr>
        <p:spPr>
          <a:xfrm>
            <a:off x="3009900" y="274320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F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 dirty="0">
              <a:solidFill>
                <a:srgbClr val="FFFFFF"/>
              </a:solidFill>
              <a:ea typeface="宋体" panose="02010600030101010101" pitchFamily="2" charset="-122"/>
            </a:endParaRPr>
          </a:p>
        </p:txBody>
      </p:sp>
      <p:sp>
        <p:nvSpPr>
          <p:cNvPr id="61445" name="Rectangle 4"/>
          <p:cNvSpPr/>
          <p:nvPr/>
        </p:nvSpPr>
        <p:spPr>
          <a:xfrm>
            <a:off x="1855788" y="2255838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F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 dirty="0">
              <a:solidFill>
                <a:srgbClr val="FFFFFF"/>
              </a:solidFill>
              <a:ea typeface="宋体" panose="02010600030101010101" pitchFamily="2" charset="-122"/>
            </a:endParaRPr>
          </a:p>
        </p:txBody>
      </p:sp>
      <p:sp>
        <p:nvSpPr>
          <p:cNvPr id="61446" name="Rectangle 5"/>
          <p:cNvSpPr/>
          <p:nvPr/>
        </p:nvSpPr>
        <p:spPr>
          <a:xfrm>
            <a:off x="1855788" y="2255838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F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 dirty="0">
              <a:solidFill>
                <a:srgbClr val="FFFFFF"/>
              </a:solidFill>
              <a:ea typeface="宋体" panose="02010600030101010101" pitchFamily="2" charset="-122"/>
            </a:endParaRPr>
          </a:p>
        </p:txBody>
      </p:sp>
      <p:sp>
        <p:nvSpPr>
          <p:cNvPr id="61447" name="Rectangle 6"/>
          <p:cNvSpPr/>
          <p:nvPr/>
        </p:nvSpPr>
        <p:spPr>
          <a:xfrm>
            <a:off x="0" y="232410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F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 dirty="0">
              <a:solidFill>
                <a:srgbClr val="FFFFFF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61448" name="Object 9"/>
          <p:cNvGraphicFramePr>
            <a:graphicFrameLocks noChangeAspect="1"/>
          </p:cNvGraphicFramePr>
          <p:nvPr/>
        </p:nvGraphicFramePr>
        <p:xfrm>
          <a:off x="0" y="2494915"/>
          <a:ext cx="9144000" cy="3719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8" name="" r:id="rId1" imgW="5437505" imgH="2209800" progId="Word.Picture.8">
                  <p:embed/>
                </p:oleObj>
              </mc:Choice>
              <mc:Fallback>
                <p:oleObj name="" r:id="rId1" imgW="5437505" imgH="2209800" progId="Word.Picture.8">
                  <p:embed/>
                  <p:pic>
                    <p:nvPicPr>
                      <p:cNvPr id="0" name="图片 3087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0" y="2494915"/>
                        <a:ext cx="9144000" cy="37195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9092" name="Rectangle 3"/>
          <p:cNvSpPr txBox="1"/>
          <p:nvPr/>
        </p:nvSpPr>
        <p:spPr>
          <a:xfrm>
            <a:off x="231140" y="1007428"/>
            <a:ext cx="8682038" cy="1865312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F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>
              <a:buFont typeface="Wingdings" panose="05000000000000000000" charset="0"/>
              <a:buChar char="l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堆内存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lvl="1">
              <a:buFont typeface="Wingdings" panose="05000000000000000000" charset="0"/>
              <a:buChar char="l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存储java中的对象和数组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lvl="0">
              <a:buFont typeface="Wingdings" panose="05000000000000000000" charset="0"/>
              <a:buChar char="l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栈内存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lvl="1">
              <a:buFont typeface="Wingdings" panose="05000000000000000000" charset="0"/>
              <a:buChar char="l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基本类型的变量和对象的引用变量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7042" name="灯片编号占位符 4"/>
          <p:cNvSpPr txBox="1">
            <a:spLocks noGrp="1"/>
          </p:cNvSpPr>
          <p:nvPr>
            <p:ph type="sldNum" sz="quarter" idx="11"/>
          </p:nvPr>
        </p:nvSpPr>
        <p:spPr/>
        <p:txBody>
          <a:bodyPr wrap="none" lIns="92075" tIns="46038" rIns="92075" bIns="46038" anchor="ctr"/>
          <a:p>
            <a:pPr marL="0" indent="0" algn="r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zh-CN" sz="1400" dirty="0">
                <a:ea typeface="宋体" panose="02010600030101010101" pitchFamily="2" charset="-122"/>
              </a:rPr>
            </a:fld>
            <a:endParaRPr lang="en-US" altLang="zh-CN" sz="1400" dirty="0">
              <a:ea typeface="宋体" panose="02010600030101010101" pitchFamily="2" charset="-122"/>
            </a:endParaRPr>
          </a:p>
        </p:txBody>
      </p:sp>
      <p:sp>
        <p:nvSpPr>
          <p:cNvPr id="87043" name="Rectangle 7"/>
          <p:cNvSpPr/>
          <p:nvPr/>
        </p:nvSpPr>
        <p:spPr>
          <a:xfrm>
            <a:off x="2312988" y="2114550"/>
            <a:ext cx="9144000" cy="0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F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 dirty="0">
              <a:ea typeface="宋体" panose="02010600030101010101" pitchFamily="2" charset="-122"/>
            </a:endParaRPr>
          </a:p>
        </p:txBody>
      </p:sp>
      <p:sp>
        <p:nvSpPr>
          <p:cNvPr id="87044" name="Rectangle 9"/>
          <p:cNvSpPr/>
          <p:nvPr/>
        </p:nvSpPr>
        <p:spPr>
          <a:xfrm>
            <a:off x="1855788" y="2255838"/>
            <a:ext cx="9144000" cy="0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F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 dirty="0">
              <a:ea typeface="宋体" panose="02010600030101010101" pitchFamily="2" charset="-122"/>
            </a:endParaRPr>
          </a:p>
        </p:txBody>
      </p:sp>
      <p:graphicFrame>
        <p:nvGraphicFramePr>
          <p:cNvPr id="87045" name="Object 8"/>
          <p:cNvGraphicFramePr>
            <a:graphicFrameLocks noChangeAspect="1"/>
          </p:cNvGraphicFramePr>
          <p:nvPr/>
        </p:nvGraphicFramePr>
        <p:xfrm>
          <a:off x="152400" y="1752600"/>
          <a:ext cx="8763000" cy="3784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9" name="" r:id="rId1" imgW="5429885" imgH="2343785" progId="Word.Picture.8">
                  <p:embed/>
                </p:oleObj>
              </mc:Choice>
              <mc:Fallback>
                <p:oleObj name="" r:id="rId1" imgW="5429885" imgH="2343785" progId="Word.Picture.8">
                  <p:embed/>
                  <p:pic>
                    <p:nvPicPr>
                      <p:cNvPr id="0" name="图片 3108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52400" y="1752600"/>
                        <a:ext cx="8763000" cy="37846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7046" name="Rectangle 2"/>
          <p:cNvSpPr>
            <a:spLocks noGrp="1"/>
          </p:cNvSpPr>
          <p:nvPr>
            <p:ph type="title"/>
          </p:nvPr>
        </p:nvSpPr>
        <p:spPr>
          <a:xfrm>
            <a:off x="224473" y="223566"/>
            <a:ext cx="7078190" cy="349250"/>
          </a:xfrm>
        </p:spPr>
        <p:txBody>
          <a:bodyPr vert="horz" wrap="square" lIns="92075" tIns="46038" rIns="92075" bIns="46038" anchor="ctr"/>
          <a:p>
            <a:r>
              <a:rPr lang="zh-CN" altLang="en-US" sz="3200" b="0" u="none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通过值传递</a:t>
            </a:r>
            <a:endParaRPr lang="zh-CN" altLang="en-US" sz="3200" b="0" u="none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2162" name="灯片编号占位符 4"/>
          <p:cNvSpPr txBox="1">
            <a:spLocks noGrp="1"/>
          </p:cNvSpPr>
          <p:nvPr>
            <p:ph type="sldNum" sz="quarter" idx="11"/>
          </p:nvPr>
        </p:nvSpPr>
        <p:spPr/>
        <p:txBody>
          <a:bodyPr wrap="none" lIns="92075" tIns="46038" rIns="92075" bIns="46038" anchor="ctr"/>
          <a:p>
            <a:pPr marL="0" indent="0" algn="r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zh-CN" sz="1400" dirty="0">
                <a:ea typeface="宋体" panose="02010600030101010101" pitchFamily="2" charset="-122"/>
              </a:rPr>
            </a:fld>
            <a:endParaRPr lang="en-US" altLang="zh-CN" sz="1400" dirty="0">
              <a:ea typeface="宋体" panose="02010600030101010101" pitchFamily="2" charset="-122"/>
            </a:endParaRPr>
          </a:p>
        </p:txBody>
      </p:sp>
      <p:sp>
        <p:nvSpPr>
          <p:cNvPr id="92163" name="Rectangle 2"/>
          <p:cNvSpPr>
            <a:spLocks noGrp="1"/>
          </p:cNvSpPr>
          <p:nvPr>
            <p:ph type="title"/>
          </p:nvPr>
        </p:nvSpPr>
        <p:spPr>
          <a:xfrm>
            <a:off x="289243" y="300401"/>
            <a:ext cx="7078190" cy="349250"/>
          </a:xfrm>
        </p:spPr>
        <p:txBody>
          <a:bodyPr vert="horz" wrap="square" lIns="92075" tIns="46038" rIns="92075" bIns="46038" anchor="ctr"/>
          <a:p>
            <a:r>
              <a:rPr lang="zh-CN" altLang="en-US" sz="3200" b="0" u="none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重载方法</a:t>
            </a:r>
            <a:endParaRPr lang="zh-CN" altLang="en-US" sz="3200" b="0" u="none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2164" name="Rectangle 3"/>
          <p:cNvSpPr txBox="1"/>
          <p:nvPr/>
        </p:nvSpPr>
        <p:spPr>
          <a:xfrm>
            <a:off x="0" y="1113790"/>
            <a:ext cx="9144000" cy="4694555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F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342900" lvl="0" indent="-342900">
              <a:lnSpc>
                <a:spcPct val="90000"/>
              </a:lnSpc>
              <a:buNone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重载：使用相同的方法名定义不同的方法，它们的签名不同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lvl="0" indent="-342900">
              <a:lnSpc>
                <a:spcPct val="90000"/>
              </a:lnSpc>
              <a:buNone/>
            </a:pP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lvl="0" indent="-342900">
              <a:lnSpc>
                <a:spcPct val="90000"/>
              </a:lnSpc>
              <a:buNone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重载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max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方法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342900" lvl="0" indent="-342900">
              <a:lnSpc>
                <a:spcPct val="90000"/>
              </a:lnSpc>
              <a:buNone/>
            </a:pPr>
            <a:r>
              <a:rPr lang="en-US" altLang="zh-CN" sz="2600" dirty="0">
                <a:latin typeface="Courier New" panose="02070309020205020404" charset="0"/>
                <a:ea typeface="宋体" panose="02010600030101010101" pitchFamily="2" charset="-122"/>
              </a:rPr>
              <a:t>public static double max(double num1, double num2) { </a:t>
            </a:r>
            <a:endParaRPr lang="en-US" altLang="zh-CN" sz="2600" dirty="0">
              <a:latin typeface="Courier New" panose="02070309020205020404" charset="0"/>
              <a:ea typeface="宋体" panose="02010600030101010101" pitchFamily="2" charset="-122"/>
            </a:endParaRPr>
          </a:p>
          <a:p>
            <a:pPr marL="342900" lvl="0" indent="-34290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CN" sz="2600" dirty="0">
                <a:latin typeface="Courier New" panose="02070309020205020404" charset="0"/>
                <a:ea typeface="宋体" panose="02010600030101010101" pitchFamily="2" charset="-122"/>
              </a:rPr>
              <a:t>  if (num1 &gt; num2)</a:t>
            </a:r>
            <a:endParaRPr lang="en-US" altLang="zh-CN" sz="2600" dirty="0">
              <a:latin typeface="Courier New" panose="02070309020205020404" charset="0"/>
              <a:ea typeface="宋体" panose="02010600030101010101" pitchFamily="2" charset="-122"/>
            </a:endParaRPr>
          </a:p>
          <a:p>
            <a:pPr marL="342900" lvl="0" indent="-34290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CN" sz="2600" dirty="0">
                <a:latin typeface="Courier New" panose="02070309020205020404" charset="0"/>
                <a:ea typeface="宋体" panose="02010600030101010101" pitchFamily="2" charset="-122"/>
              </a:rPr>
              <a:t>    return num1;</a:t>
            </a:r>
            <a:endParaRPr lang="en-US" altLang="zh-CN" sz="2600" dirty="0">
              <a:latin typeface="Courier New" panose="02070309020205020404" charset="0"/>
              <a:ea typeface="宋体" panose="02010600030101010101" pitchFamily="2" charset="-122"/>
            </a:endParaRPr>
          </a:p>
          <a:p>
            <a:pPr marL="342900" lvl="0" indent="-34290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CN" sz="2600" dirty="0">
                <a:latin typeface="Courier New" panose="02070309020205020404" charset="0"/>
                <a:ea typeface="宋体" panose="02010600030101010101" pitchFamily="2" charset="-122"/>
              </a:rPr>
              <a:t>  else</a:t>
            </a:r>
            <a:endParaRPr lang="en-US" altLang="zh-CN" sz="2600" dirty="0">
              <a:latin typeface="Courier New" panose="02070309020205020404" charset="0"/>
              <a:ea typeface="宋体" panose="02010600030101010101" pitchFamily="2" charset="-122"/>
            </a:endParaRPr>
          </a:p>
          <a:p>
            <a:pPr marL="342900" lvl="0" indent="-34290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CN" sz="2600" dirty="0">
                <a:latin typeface="Courier New" panose="02070309020205020404" charset="0"/>
                <a:ea typeface="宋体" panose="02010600030101010101" pitchFamily="2" charset="-122"/>
              </a:rPr>
              <a:t>    return num2;</a:t>
            </a:r>
            <a:endParaRPr lang="en-US" altLang="zh-CN" sz="2600" dirty="0">
              <a:latin typeface="Courier New" panose="02070309020205020404" charset="0"/>
              <a:ea typeface="宋体" panose="02010600030101010101" pitchFamily="2" charset="-122"/>
            </a:endParaRPr>
          </a:p>
          <a:p>
            <a:pPr marL="342900" lvl="0" indent="-34290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CN" sz="2600" dirty="0">
                <a:latin typeface="Courier New" panose="02070309020205020404" charset="0"/>
                <a:ea typeface="宋体" panose="02010600030101010101" pitchFamily="2" charset="-122"/>
              </a:rPr>
              <a:t>}</a:t>
            </a:r>
            <a:endParaRPr lang="en-US" altLang="zh-CN" sz="2600" dirty="0">
              <a:latin typeface="Courier New" panose="020703090202050204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6258" name="灯片编号占位符 4"/>
          <p:cNvSpPr txBox="1">
            <a:spLocks noGrp="1"/>
          </p:cNvSpPr>
          <p:nvPr>
            <p:ph type="sldNum" sz="quarter" idx="11"/>
          </p:nvPr>
        </p:nvSpPr>
        <p:spPr/>
        <p:txBody>
          <a:bodyPr wrap="none" lIns="92075" tIns="46038" rIns="92075" bIns="46038" anchor="ctr"/>
          <a:p>
            <a:pPr marL="0" indent="0" algn="r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zh-CN" altLang="en-US" sz="1400" dirty="0">
                <a:ea typeface="宋体" panose="02010600030101010101" pitchFamily="2" charset="-122"/>
              </a:rPr>
            </a:fld>
            <a:endParaRPr lang="zh-CN" altLang="en-US" sz="1400" dirty="0">
              <a:ea typeface="宋体" panose="02010600030101010101" pitchFamily="2" charset="-122"/>
            </a:endParaRPr>
          </a:p>
        </p:txBody>
      </p:sp>
      <p:sp>
        <p:nvSpPr>
          <p:cNvPr id="96259" name="Rectangle 2"/>
          <p:cNvSpPr>
            <a:spLocks noGrp="1"/>
          </p:cNvSpPr>
          <p:nvPr>
            <p:ph type="title"/>
          </p:nvPr>
        </p:nvSpPr>
        <p:spPr>
          <a:xfrm>
            <a:off x="127000" y="0"/>
            <a:ext cx="7772400" cy="838200"/>
          </a:xfrm>
        </p:spPr>
        <p:txBody>
          <a:bodyPr vert="horz" wrap="square" lIns="92075" tIns="46038" rIns="92075" bIns="46038" anchor="ctr"/>
          <a:p>
            <a:r>
              <a:rPr lang="zh-CN" altLang="en-US" sz="3200" b="0" u="none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变量的作用域</a:t>
            </a:r>
            <a:endParaRPr lang="zh-CN" altLang="en-US" sz="3200" b="0" u="none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6260" name="Rectangle 3"/>
          <p:cNvSpPr>
            <a:spLocks noGrp="1"/>
          </p:cNvSpPr>
          <p:nvPr>
            <p:ph idx="1"/>
          </p:nvPr>
        </p:nvSpPr>
        <p:spPr>
          <a:xfrm>
            <a:off x="127000" y="1062355"/>
            <a:ext cx="8610600" cy="5029200"/>
          </a:xfrm>
        </p:spPr>
        <p:txBody>
          <a:bodyPr vert="horz" wrap="square" lIns="92075" tIns="46038" rIns="92075" bIns="46038" anchor="t"/>
          <a:p>
            <a:pPr fontAlgn="auto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b="1" u="none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局部变量：</a:t>
            </a:r>
            <a:r>
              <a:rPr lang="zh-CN" altLang="en-US" u="none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在方法里定义的变量域：程序中包含某变量的块局部变量的作用域从声明该变量的地方开始，直到包含该变量的块结束为止。 局部变量都必须在使用之前进行声明。</a:t>
            </a:r>
            <a:endParaRPr lang="zh-CN" altLang="en-US" u="none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graphicFrame>
        <p:nvGraphicFramePr>
          <p:cNvPr id="98308" name="Object 4"/>
          <p:cNvGraphicFramePr>
            <a:graphicFrameLocks noChangeAspect="1"/>
          </p:cNvGraphicFramePr>
          <p:nvPr/>
        </p:nvGraphicFramePr>
        <p:xfrm>
          <a:off x="792798" y="2815591"/>
          <a:ext cx="7278370" cy="34048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0" name="" r:id="rId1" imgW="3562350" imgH="1666875" progId="Word.Picture.8">
                  <p:embed/>
                </p:oleObj>
              </mc:Choice>
              <mc:Fallback>
                <p:oleObj name="" r:id="rId1" imgW="3562350" imgH="1666875" progId="Word.Picture.8">
                  <p:embed/>
                  <p:pic>
                    <p:nvPicPr>
                      <p:cNvPr id="0" name="图片 3109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792798" y="2815591"/>
                        <a:ext cx="7278370" cy="340487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8310" name="Rectangle 3"/>
          <p:cNvSpPr txBox="1"/>
          <p:nvPr/>
        </p:nvSpPr>
        <p:spPr>
          <a:xfrm>
            <a:off x="247650" y="2226310"/>
            <a:ext cx="8489950" cy="1092200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F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90000"/>
              </a:lnSpc>
              <a:buNone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在 </a:t>
            </a:r>
            <a:r>
              <a:rPr lang="en-US" altLang="zh-CN" sz="1600" u="sng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for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循环头中初始动作部分声明的变量，其作用域是整个for循环。但是在 </a:t>
            </a:r>
            <a:r>
              <a:rPr lang="en-US" altLang="zh-CN" sz="1600" u="sng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for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体内声明的变量，其作用域只限于循环体内，是从声明它的地方开始，到包含该变量的块结束为止</a:t>
            </a:r>
            <a:r>
              <a:rPr lang="zh-CN" altLang="en-US" dirty="0">
                <a:ea typeface="宋体" panose="02010600030101010101" pitchFamily="2" charset="-122"/>
              </a:rPr>
              <a:t>。</a:t>
            </a:r>
            <a:endParaRPr lang="zh-CN" altLang="en-US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0354" name="灯片编号占位符 4"/>
          <p:cNvSpPr txBox="1">
            <a:spLocks noGrp="1"/>
          </p:cNvSpPr>
          <p:nvPr>
            <p:ph type="sldNum" sz="quarter" idx="11"/>
          </p:nvPr>
        </p:nvSpPr>
        <p:spPr/>
        <p:txBody>
          <a:bodyPr wrap="none" lIns="92075" tIns="46038" rIns="92075" bIns="46038" anchor="ctr"/>
          <a:p>
            <a:pPr marL="0" indent="0" algn="r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zh-CN" sz="1400" dirty="0">
                <a:ea typeface="宋体" panose="02010600030101010101" pitchFamily="2" charset="-122"/>
              </a:rPr>
            </a:fld>
            <a:endParaRPr lang="en-US" altLang="zh-CN" sz="1400" dirty="0">
              <a:ea typeface="宋体" panose="02010600030101010101" pitchFamily="2" charset="-122"/>
            </a:endParaRPr>
          </a:p>
        </p:txBody>
      </p:sp>
      <p:sp>
        <p:nvSpPr>
          <p:cNvPr id="100355" name="Rectangle 6"/>
          <p:cNvSpPr/>
          <p:nvPr/>
        </p:nvSpPr>
        <p:spPr>
          <a:xfrm>
            <a:off x="3200400" y="2628900"/>
            <a:ext cx="9144000" cy="0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F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 dirty="0">
              <a:ea typeface="宋体" panose="02010600030101010101" pitchFamily="2" charset="-122"/>
            </a:endParaRPr>
          </a:p>
        </p:txBody>
      </p:sp>
      <p:sp>
        <p:nvSpPr>
          <p:cNvPr id="100356" name="Rectangle 8"/>
          <p:cNvSpPr/>
          <p:nvPr/>
        </p:nvSpPr>
        <p:spPr>
          <a:xfrm>
            <a:off x="2198688" y="2457450"/>
            <a:ext cx="9144000" cy="0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F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 dirty="0">
              <a:ea typeface="宋体" panose="02010600030101010101" pitchFamily="2" charset="-122"/>
            </a:endParaRPr>
          </a:p>
        </p:txBody>
      </p:sp>
      <p:graphicFrame>
        <p:nvGraphicFramePr>
          <p:cNvPr id="100357" name="Object 7"/>
          <p:cNvGraphicFramePr>
            <a:graphicFrameLocks noChangeAspect="1"/>
          </p:cNvGraphicFramePr>
          <p:nvPr/>
        </p:nvGraphicFramePr>
        <p:xfrm>
          <a:off x="53340" y="2457450"/>
          <a:ext cx="8915400" cy="3649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1" name="" r:id="rId1" imgW="4747260" imgH="1941830" progId="Word.Picture.8">
                  <p:embed/>
                </p:oleObj>
              </mc:Choice>
              <mc:Fallback>
                <p:oleObj name="" r:id="rId1" imgW="4747260" imgH="1941830" progId="Word.Picture.8">
                  <p:embed/>
                  <p:pic>
                    <p:nvPicPr>
                      <p:cNvPr id="0" name="图片 3110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53340" y="2457450"/>
                        <a:ext cx="8915400" cy="36496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0358" name="Rectangle 2"/>
          <p:cNvSpPr>
            <a:spLocks noGrp="1"/>
          </p:cNvSpPr>
          <p:nvPr>
            <p:ph type="title"/>
          </p:nvPr>
        </p:nvSpPr>
        <p:spPr>
          <a:xfrm>
            <a:off x="228600" y="100965"/>
            <a:ext cx="7772400" cy="838200"/>
          </a:xfrm>
        </p:spPr>
        <p:txBody>
          <a:bodyPr vert="horz" wrap="square" lIns="92075" tIns="46038" rIns="92075" bIns="46038" anchor="ctr"/>
          <a:p>
            <a:r>
              <a:rPr lang="zh-CN" altLang="en-US" sz="3200" u="none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局部变量的作用域</a:t>
            </a:r>
            <a:endParaRPr lang="zh-CN" altLang="en-US" sz="3200" u="none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7284" name="Rectangle 3"/>
          <p:cNvSpPr>
            <a:spLocks noGrp="1"/>
          </p:cNvSpPr>
          <p:nvPr/>
        </p:nvSpPr>
        <p:spPr>
          <a:xfrm>
            <a:off x="307340" y="1229995"/>
            <a:ext cx="8529955" cy="990600"/>
          </a:xfrm>
          <a:prstGeom prst="rect">
            <a:avLst/>
          </a:prstGeom>
        </p:spPr>
        <p:txBody>
          <a:bodyPr vert="horz" wrap="square" lIns="92075" tIns="46038" rIns="92075" bIns="46038" rtlCol="0" anchor="t">
            <a:normAutofit/>
          </a:bodyPr>
          <a:lstStyle>
            <a:lvl1pPr marL="342900" indent="-3429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j-ea"/>
                <a:cs typeface="+mn-cs"/>
              </a:defRPr>
            </a:lvl1pPr>
            <a:lvl2pPr marL="742950" indent="-28575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+mj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j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–"/>
              <a:defRPr sz="1200" kern="1200">
                <a:solidFill>
                  <a:schemeClr val="tx1"/>
                </a:solidFill>
                <a:latin typeface="+mn-lt"/>
                <a:ea typeface="+mj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»"/>
              <a:defRPr sz="1200" kern="1200">
                <a:solidFill>
                  <a:schemeClr val="tx1"/>
                </a:solidFill>
                <a:latin typeface="+mn-lt"/>
                <a:ea typeface="+mj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u="none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可以在一个方法的不同块里声明相同的变量多次， 但是不能在嵌套块或同一块中两次声明同一变量。</a:t>
            </a:r>
            <a:endParaRPr lang="zh-CN" altLang="en-US" u="none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方法抽象和逐步求精</a:t>
            </a:r>
            <a:r>
              <a:rPr lang="en-US" altLang="zh-CN"/>
              <a:t>			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sz="quarter" idx="12"/>
          </p:nvPr>
        </p:nvSpPr>
        <p:spPr/>
        <p:txBody>
          <a:bodyPr/>
          <a:p>
            <a:r>
              <a:rPr lang="zh-CN" altLang="en-US"/>
              <a:t>方法抽象</a:t>
            </a:r>
            <a:endParaRPr lang="zh-CN" altLang="en-US"/>
          </a:p>
          <a:p>
            <a:pPr lvl="1"/>
            <a:r>
              <a:rPr lang="zh-CN" altLang="en-US"/>
              <a:t>通过将方法的使用和它的实现分离来实现的</a:t>
            </a:r>
            <a:endParaRPr lang="zh-CN" altLang="en-US"/>
          </a:p>
          <a:p>
            <a:pPr lvl="1"/>
            <a:r>
              <a:rPr lang="zh-CN" altLang="en-US"/>
              <a:t>方法的实现封装在方法内，对使用该方法的用户是隐藏的（信息隐藏、封装）</a:t>
            </a:r>
            <a:endParaRPr lang="zh-CN" altLang="en-US"/>
          </a:p>
          <a:p>
            <a:pPr lvl="0"/>
            <a:r>
              <a:rPr lang="zh-CN" altLang="en-US"/>
              <a:t>逐步求精</a:t>
            </a:r>
            <a:endParaRPr lang="zh-CN" altLang="en-US"/>
          </a:p>
          <a:p>
            <a:pPr lvl="1"/>
            <a:r>
              <a:rPr lang="zh-CN" altLang="en-US"/>
              <a:t>分治的思想，将大问题分解成子问题，子问题有分解为更小、更容易处理的问题</a:t>
            </a:r>
            <a:endParaRPr lang="zh-CN" altLang="en-US"/>
          </a:p>
          <a:p>
            <a:pPr lvl="1"/>
            <a:r>
              <a:rPr lang="zh-CN" altLang="en-US"/>
              <a:t>自顶向下的设计</a:t>
            </a:r>
            <a:endParaRPr lang="zh-CN" altLang="en-US"/>
          </a:p>
          <a:p>
            <a:pPr lvl="1"/>
            <a:r>
              <a:rPr lang="zh-CN" altLang="en-US"/>
              <a:t>自底向上的实现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r>
              <a:rPr lang="en-US" altLang="zh-CN" dirty="0" smtClean="0"/>
              <a:t>P</a:t>
            </a:r>
            <a:fld id="{62DCC93C-90AC-48A1-9D9E-CBAB17A91522}" type="slidenum">
              <a:rPr lang="zh-CN" altLang="en-US" dirty="0" smtClean="0"/>
            </a:fld>
            <a:endParaRPr lang="zh-CN" altLang="en-US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显示给定年月的日历</a:t>
            </a:r>
            <a:endParaRPr lang="zh-CN" altLang="en-US"/>
          </a:p>
        </p:txBody>
      </p:sp>
      <p:pic>
        <p:nvPicPr>
          <p:cNvPr id="5" name="内容占位符 4"/>
          <p:cNvPicPr>
            <a:picLocks noChangeAspect="1"/>
          </p:cNvPicPr>
          <p:nvPr>
            <p:ph sz="quarter" idx="12"/>
          </p:nvPr>
        </p:nvPicPr>
        <p:blipFill>
          <a:blip r:embed="rId1"/>
          <a:stretch>
            <a:fillRect/>
          </a:stretch>
        </p:blipFill>
        <p:spPr>
          <a:xfrm>
            <a:off x="972185" y="836295"/>
            <a:ext cx="7134225" cy="5400675"/>
          </a:xfrm>
          <a:prstGeom prst="rect">
            <a:avLst/>
          </a:prstGeom>
        </p:spPr>
      </p:pic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r>
              <a:rPr lang="en-US" altLang="zh-CN" dirty="0" smtClean="0"/>
              <a:t>P</a:t>
            </a:r>
            <a:fld id="{62DCC93C-90AC-48A1-9D9E-CBAB17A91522}" type="slidenum">
              <a:rPr lang="zh-CN" altLang="en-US" dirty="0" smtClean="0"/>
            </a:fld>
            <a:endParaRPr lang="zh-CN" altLang="en-US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6" name="灯片编号占位符 4"/>
          <p:cNvSpPr txBox="1">
            <a:spLocks noGrp="1"/>
          </p:cNvSpPr>
          <p:nvPr>
            <p:ph type="sldNum" sz="quarter" idx="11"/>
          </p:nvPr>
        </p:nvSpPr>
        <p:spPr/>
        <p:txBody>
          <a:bodyPr wrap="none" lIns="92075" tIns="46038" rIns="92075" bIns="46038" anchor="ctr"/>
          <a:p>
            <a:pPr marL="0" indent="0" algn="r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zh-CN" altLang="en-US" sz="1400" dirty="0">
                <a:ea typeface="宋体" panose="02010600030101010101" pitchFamily="2" charset="-122"/>
              </a:rPr>
            </a:fld>
            <a:endParaRPr lang="zh-CN" altLang="en-US" sz="1400" dirty="0">
              <a:ea typeface="宋体" panose="02010600030101010101" pitchFamily="2" charset="-122"/>
            </a:endParaRPr>
          </a:p>
        </p:txBody>
      </p:sp>
      <p:sp>
        <p:nvSpPr>
          <p:cNvPr id="6147" name="Rectangle 2"/>
          <p:cNvSpPr>
            <a:spLocks noGrp="1"/>
          </p:cNvSpPr>
          <p:nvPr>
            <p:ph type="title"/>
          </p:nvPr>
        </p:nvSpPr>
        <p:spPr>
          <a:xfrm>
            <a:off x="352743" y="80645"/>
            <a:ext cx="7772400" cy="652463"/>
          </a:xfrm>
        </p:spPr>
        <p:txBody>
          <a:bodyPr vert="horz" wrap="square" lIns="92075" tIns="46038" rIns="92075" bIns="46038" anchor="ctr"/>
          <a:p>
            <a:r>
              <a:rPr lang="zh-CN" altLang="en-US" sz="40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数组</a:t>
            </a:r>
            <a:endParaRPr lang="zh-CN" altLang="en-US" sz="40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148" name="Text Box 3"/>
          <p:cNvSpPr txBox="1"/>
          <p:nvPr/>
        </p:nvSpPr>
        <p:spPr>
          <a:xfrm>
            <a:off x="463550" y="1085850"/>
            <a:ext cx="868045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F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spcAft>
                <a:spcPts val="1200"/>
              </a:spcAft>
              <a:buClrTx/>
              <a:buSzTx/>
              <a:buFontTx/>
              <a:buNone/>
            </a:pPr>
            <a:r>
              <a:rPr lang="zh-CN" altLang="en-US" sz="2800" dirty="0">
                <a:ea typeface="宋体" panose="02010600030101010101" pitchFamily="2" charset="-122"/>
              </a:rPr>
              <a:t>数组是一种数据结构，它表示一组相同类型的数据。</a:t>
            </a:r>
            <a:endParaRPr lang="zh-CN" altLang="en-US" sz="2800" dirty="0">
              <a:ea typeface="宋体" panose="02010600030101010101" pitchFamily="2" charset="-122"/>
            </a:endParaRPr>
          </a:p>
        </p:txBody>
      </p:sp>
      <p:sp>
        <p:nvSpPr>
          <p:cNvPr id="6149" name="Rectangle 4"/>
          <p:cNvSpPr/>
          <p:nvPr/>
        </p:nvSpPr>
        <p:spPr>
          <a:xfrm>
            <a:off x="2770188" y="2198688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F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 dirty="0">
              <a:ea typeface="宋体" panose="02010600030101010101" pitchFamily="2" charset="-122"/>
            </a:endParaRPr>
          </a:p>
        </p:txBody>
      </p:sp>
      <p:sp>
        <p:nvSpPr>
          <p:cNvPr id="6150" name="Rectangle 5"/>
          <p:cNvSpPr/>
          <p:nvPr/>
        </p:nvSpPr>
        <p:spPr>
          <a:xfrm>
            <a:off x="2171700" y="1912938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F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 dirty="0">
              <a:ea typeface="宋体" panose="02010600030101010101" pitchFamily="2" charset="-122"/>
            </a:endParaRPr>
          </a:p>
        </p:txBody>
      </p:sp>
      <p:graphicFrame>
        <p:nvGraphicFramePr>
          <p:cNvPr id="6151" name="Object 6"/>
          <p:cNvGraphicFramePr>
            <a:graphicFrameLocks noChangeAspect="1"/>
          </p:cNvGraphicFramePr>
          <p:nvPr/>
        </p:nvGraphicFramePr>
        <p:xfrm>
          <a:off x="990600" y="1720850"/>
          <a:ext cx="7162800" cy="4522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" r:id="rId1" imgW="4820285" imgH="3048000" progId="Word.Picture.8">
                  <p:embed/>
                </p:oleObj>
              </mc:Choice>
              <mc:Fallback>
                <p:oleObj name="" r:id="rId1" imgW="4820285" imgH="3048000" progId="Word.Picture.8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990600" y="1720850"/>
                        <a:ext cx="7162800" cy="45227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r>
              <a:rPr lang="en-US" altLang="zh-CN" dirty="0" smtClean="0"/>
              <a:t>P</a:t>
            </a:r>
            <a:fld id="{62DCC93C-90AC-48A1-9D9E-CBAB17A91522}" type="slidenum">
              <a:rPr lang="zh-CN" altLang="en-US" dirty="0" smtClean="0"/>
            </a:fld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420" y="836930"/>
            <a:ext cx="9027160" cy="55118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70" name="灯片编号占位符 4"/>
          <p:cNvSpPr txBox="1">
            <a:spLocks noGrp="1"/>
          </p:cNvSpPr>
          <p:nvPr>
            <p:ph type="sldNum" sz="quarter" idx="11"/>
          </p:nvPr>
        </p:nvSpPr>
        <p:spPr/>
        <p:txBody>
          <a:bodyPr wrap="none" lIns="92075" tIns="46038" rIns="92075" bIns="46038" anchor="ctr"/>
          <a:p>
            <a:pPr marL="0" indent="0" algn="r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zh-CN" altLang="en-US" sz="1400" dirty="0">
                <a:ea typeface="宋体" panose="02010600030101010101" pitchFamily="2" charset="-122"/>
              </a:rPr>
            </a:fld>
            <a:endParaRPr lang="zh-CN" altLang="en-US" sz="1400" dirty="0">
              <a:ea typeface="宋体" panose="02010600030101010101" pitchFamily="2" charset="-122"/>
            </a:endParaRPr>
          </a:p>
        </p:txBody>
      </p:sp>
      <p:sp>
        <p:nvSpPr>
          <p:cNvPr id="7171" name="Rectangle 2"/>
          <p:cNvSpPr>
            <a:spLocks noGrp="1"/>
          </p:cNvSpPr>
          <p:nvPr>
            <p:ph type="title"/>
          </p:nvPr>
        </p:nvSpPr>
        <p:spPr>
          <a:xfrm>
            <a:off x="273685" y="0"/>
            <a:ext cx="7772400" cy="838200"/>
          </a:xfrm>
        </p:spPr>
        <p:txBody>
          <a:bodyPr vert="horz" wrap="square" lIns="92075" tIns="46038" rIns="92075" bIns="46038" anchor="ctr"/>
          <a:p>
            <a:r>
              <a:rPr lang="zh-CN" altLang="en-US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声明数组变量</a:t>
            </a:r>
            <a:endParaRPr lang="zh-CN" altLang="en-US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172" name="Rectangle 3"/>
          <p:cNvSpPr>
            <a:spLocks noGrp="1"/>
          </p:cNvSpPr>
          <p:nvPr>
            <p:ph idx="1"/>
          </p:nvPr>
        </p:nvSpPr>
        <p:spPr>
          <a:xfrm>
            <a:off x="609600" y="1371600"/>
            <a:ext cx="7696200" cy="4724400"/>
          </a:xfrm>
        </p:spPr>
        <p:txBody>
          <a:bodyPr vert="horz" wrap="square" lIns="92075" tIns="46038" rIns="92075" bIns="46038" anchor="t"/>
          <a:p>
            <a:pPr>
              <a:lnSpc>
                <a:spcPct val="80000"/>
              </a:lnSpc>
            </a:pPr>
            <a:r>
              <a:rPr lang="en-US" altLang="zh-CN" sz="3400" dirty="0">
                <a:latin typeface="Courier New" panose="02070309020205020404" charset="0"/>
                <a:ea typeface="宋体" panose="02010600030101010101" pitchFamily="2" charset="-122"/>
              </a:rPr>
              <a:t>datatype[] arrayRefVar;</a:t>
            </a:r>
            <a:endParaRPr lang="en-US" altLang="zh-CN" sz="3400" dirty="0">
              <a:latin typeface="Courier New" panose="02070309020205020404" charset="0"/>
              <a:ea typeface="宋体" panose="02010600030101010101" pitchFamily="2" charset="-122"/>
            </a:endParaRPr>
          </a:p>
          <a:p>
            <a:pPr>
              <a:lnSpc>
                <a:spcPct val="80000"/>
              </a:lnSpc>
              <a:spcBef>
                <a:spcPct val="50000"/>
              </a:spcBef>
              <a:buNone/>
            </a:pPr>
            <a:r>
              <a:rPr lang="en-US" altLang="zh-CN" dirty="0">
                <a:ea typeface="宋体" panose="02010600030101010101" pitchFamily="2" charset="-122"/>
              </a:rPr>
              <a:t>	举例</a:t>
            </a:r>
            <a:r>
              <a:rPr lang="zh-CN" altLang="en-US" dirty="0">
                <a:ea typeface="宋体" panose="02010600030101010101" pitchFamily="2" charset="-122"/>
              </a:rPr>
              <a:t>：</a:t>
            </a:r>
            <a:r>
              <a:rPr lang="zh-CN" altLang="en-US" sz="3400" dirty="0">
                <a:ea typeface="宋体" panose="02010600030101010101" pitchFamily="2" charset="-122"/>
              </a:rPr>
              <a:t> </a:t>
            </a:r>
            <a:endParaRPr lang="zh-CN" altLang="en-US" sz="3400" dirty="0">
              <a:ea typeface="宋体" panose="02010600030101010101" pitchFamily="2" charset="-122"/>
            </a:endParaRPr>
          </a:p>
          <a:p>
            <a:pPr>
              <a:lnSpc>
                <a:spcPct val="80000"/>
              </a:lnSpc>
              <a:spcBef>
                <a:spcPct val="50000"/>
              </a:spcBef>
              <a:buNone/>
            </a:pPr>
            <a:r>
              <a:rPr lang="zh-CN" altLang="en-US" sz="3400" dirty="0">
                <a:ea typeface="宋体" panose="02010600030101010101" pitchFamily="2" charset="-122"/>
              </a:rPr>
              <a:t>    </a:t>
            </a:r>
            <a:r>
              <a:rPr lang="en-US" altLang="zh-CN" sz="3400" dirty="0">
                <a:latin typeface="Courier New" panose="02070309020205020404" charset="0"/>
                <a:ea typeface="宋体" panose="02010600030101010101" pitchFamily="2" charset="-122"/>
              </a:rPr>
              <a:t>double[] myList;</a:t>
            </a:r>
            <a:endParaRPr lang="en-US" altLang="zh-CN" sz="3400" dirty="0">
              <a:ea typeface="宋体" panose="02010600030101010101" pitchFamily="2" charset="-122"/>
            </a:endParaRPr>
          </a:p>
          <a:p>
            <a:pPr>
              <a:lnSpc>
                <a:spcPct val="80000"/>
              </a:lnSpc>
              <a:buNone/>
            </a:pPr>
            <a:endParaRPr lang="en-US" altLang="zh-CN" sz="3600" dirty="0">
              <a:latin typeface="Courier New" panose="02070309020205020404" charset="0"/>
              <a:ea typeface="宋体" panose="02010600030101010101" pitchFamily="2" charset="-122"/>
            </a:endParaRPr>
          </a:p>
          <a:p>
            <a:pPr>
              <a:lnSpc>
                <a:spcPct val="80000"/>
              </a:lnSpc>
            </a:pPr>
            <a:r>
              <a:rPr lang="en-US" altLang="zh-CN" sz="3400" dirty="0">
                <a:latin typeface="Courier New" panose="02070309020205020404" charset="0"/>
                <a:ea typeface="宋体" panose="02010600030101010101" pitchFamily="2" charset="-122"/>
              </a:rPr>
              <a:t>datatype arrayRefVar[];</a:t>
            </a:r>
            <a:endParaRPr lang="en-US" altLang="zh-CN" sz="3400" dirty="0">
              <a:latin typeface="Courier New" panose="02070309020205020404" charset="0"/>
              <a:ea typeface="宋体" panose="02010600030101010101" pitchFamily="2" charset="-122"/>
            </a:endParaRPr>
          </a:p>
          <a:p>
            <a:pPr>
              <a:lnSpc>
                <a:spcPct val="80000"/>
              </a:lnSpc>
              <a:buNone/>
            </a:pPr>
            <a:r>
              <a:rPr lang="en-US" altLang="zh-CN" sz="3400" dirty="0">
                <a:latin typeface="Courier New" panose="02070309020205020404" charset="0"/>
                <a:ea typeface="宋体" panose="02010600030101010101" pitchFamily="2" charset="-122"/>
              </a:rPr>
              <a:t>  </a:t>
            </a:r>
            <a:r>
              <a:rPr lang="en-US" altLang="zh-CN" sz="3400" u="sng" dirty="0">
                <a:solidFill>
                  <a:srgbClr val="FF6600"/>
                </a:solidFill>
                <a:ea typeface="宋体" panose="02010600030101010101" pitchFamily="2" charset="-122"/>
              </a:rPr>
              <a:t>// </a:t>
            </a:r>
            <a:r>
              <a:rPr lang="zh-CN" altLang="en-US" sz="2600" u="sng" dirty="0">
                <a:solidFill>
                  <a:srgbClr val="FF6600"/>
                </a:solidFill>
                <a:ea typeface="宋体" panose="02010600030101010101" pitchFamily="2" charset="-122"/>
              </a:rPr>
              <a:t>这种风格是允许的</a:t>
            </a:r>
            <a:r>
              <a:rPr lang="en-US" altLang="zh-CN" sz="2600" u="sng" dirty="0">
                <a:solidFill>
                  <a:srgbClr val="FF6600"/>
                </a:solidFill>
                <a:ea typeface="宋体" panose="02010600030101010101" pitchFamily="2" charset="-122"/>
              </a:rPr>
              <a:t>,</a:t>
            </a:r>
            <a:r>
              <a:rPr lang="zh-CN" altLang="en-US" sz="2600" u="sng" dirty="0">
                <a:solidFill>
                  <a:srgbClr val="FF6600"/>
                </a:solidFill>
                <a:ea typeface="宋体" panose="02010600030101010101" pitchFamily="2" charset="-122"/>
              </a:rPr>
              <a:t>但不推荐使用</a:t>
            </a:r>
            <a:r>
              <a:rPr lang="zh-CN" altLang="en-US" sz="3600" dirty="0">
                <a:ea typeface="宋体" panose="02010600030101010101" pitchFamily="2" charset="-122"/>
              </a:rPr>
              <a:t>	</a:t>
            </a:r>
            <a:endParaRPr lang="zh-CN" altLang="en-US" sz="3600" dirty="0">
              <a:ea typeface="宋体" panose="02010600030101010101" pitchFamily="2" charset="-122"/>
            </a:endParaRPr>
          </a:p>
          <a:p>
            <a:pPr>
              <a:lnSpc>
                <a:spcPct val="80000"/>
              </a:lnSpc>
              <a:buNone/>
            </a:pPr>
            <a:r>
              <a:rPr lang="en-US" altLang="zh-CN" sz="3400" dirty="0">
                <a:ea typeface="宋体" panose="02010600030101010101" pitchFamily="2" charset="-122"/>
              </a:rPr>
              <a:t>	</a:t>
            </a:r>
            <a:r>
              <a:rPr lang="zh-CN" altLang="en-US" dirty="0">
                <a:ea typeface="宋体" panose="02010600030101010101" pitchFamily="2" charset="-122"/>
              </a:rPr>
              <a:t>举例：</a:t>
            </a:r>
            <a:r>
              <a:rPr lang="zh-CN" altLang="en-US" sz="3400" dirty="0">
                <a:ea typeface="宋体" panose="02010600030101010101" pitchFamily="2" charset="-122"/>
              </a:rPr>
              <a:t> </a:t>
            </a:r>
            <a:endParaRPr lang="zh-CN" altLang="en-US" sz="3400" dirty="0">
              <a:ea typeface="宋体" panose="02010600030101010101" pitchFamily="2" charset="-122"/>
            </a:endParaRPr>
          </a:p>
          <a:p>
            <a:pPr algn="just">
              <a:lnSpc>
                <a:spcPct val="80000"/>
              </a:lnSpc>
              <a:spcBef>
                <a:spcPct val="50000"/>
              </a:spcBef>
              <a:buNone/>
            </a:pPr>
            <a:r>
              <a:rPr lang="zh-CN" altLang="en-US" sz="3400" dirty="0">
                <a:ea typeface="宋体" panose="02010600030101010101" pitchFamily="2" charset="-122"/>
              </a:rPr>
              <a:t>    </a:t>
            </a:r>
            <a:r>
              <a:rPr lang="en-US" altLang="zh-CN" sz="3400" dirty="0">
                <a:latin typeface="Courier New" panose="02070309020205020404" charset="0"/>
                <a:ea typeface="宋体" panose="02010600030101010101" pitchFamily="2" charset="-122"/>
              </a:rPr>
              <a:t>double myList[];</a:t>
            </a:r>
            <a:endParaRPr lang="en-US" altLang="zh-CN" dirty="0">
              <a:latin typeface="Courier New" panose="020703090202050204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194" name="灯片编号占位符 4"/>
          <p:cNvSpPr txBox="1">
            <a:spLocks noGrp="1"/>
          </p:cNvSpPr>
          <p:nvPr>
            <p:ph type="sldNum" sz="quarter" idx="11"/>
          </p:nvPr>
        </p:nvSpPr>
        <p:spPr/>
        <p:txBody>
          <a:bodyPr wrap="none" lIns="92075" tIns="46038" rIns="92075" bIns="46038" anchor="ctr"/>
          <a:p>
            <a:pPr marL="0" indent="0" algn="r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zh-CN" altLang="en-US" sz="1400" dirty="0">
                <a:ea typeface="宋体" panose="02010600030101010101" pitchFamily="2" charset="-122"/>
              </a:rPr>
            </a:fld>
            <a:endParaRPr lang="zh-CN" altLang="en-US" sz="1400" dirty="0">
              <a:ea typeface="宋体" panose="02010600030101010101" pitchFamily="2" charset="-122"/>
            </a:endParaRPr>
          </a:p>
        </p:txBody>
      </p:sp>
      <p:sp>
        <p:nvSpPr>
          <p:cNvPr id="8195" name="Rectangle 2"/>
          <p:cNvSpPr>
            <a:spLocks noGrp="1"/>
          </p:cNvSpPr>
          <p:nvPr>
            <p:ph type="title"/>
          </p:nvPr>
        </p:nvSpPr>
        <p:spPr>
          <a:xfrm>
            <a:off x="376555" y="0"/>
            <a:ext cx="7772400" cy="990600"/>
          </a:xfrm>
        </p:spPr>
        <p:txBody>
          <a:bodyPr vert="horz" wrap="square" lIns="92075" tIns="46038" rIns="92075" bIns="46038" anchor="ctr"/>
          <a:p>
            <a:r>
              <a:rPr lang="zh-CN" altLang="en-US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创建数组</a:t>
            </a:r>
            <a:endParaRPr lang="zh-CN" altLang="en-US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196" name="Rectangle 3"/>
          <p:cNvSpPr>
            <a:spLocks noGrp="1"/>
          </p:cNvSpPr>
          <p:nvPr>
            <p:ph idx="1"/>
          </p:nvPr>
        </p:nvSpPr>
        <p:spPr>
          <a:xfrm>
            <a:off x="152400" y="1371600"/>
            <a:ext cx="8839200" cy="4114800"/>
          </a:xfrm>
        </p:spPr>
        <p:txBody>
          <a:bodyPr vert="horz" wrap="square" lIns="92075" tIns="46038" rIns="92075" bIns="46038" anchor="t"/>
          <a:p>
            <a:pPr>
              <a:lnSpc>
                <a:spcPct val="120000"/>
              </a:lnSpc>
              <a:buNone/>
            </a:pPr>
            <a:r>
              <a:rPr lang="en-US" altLang="zh-CN" sz="2800" dirty="0">
                <a:latin typeface="Courier New" panose="02070309020205020404" charset="0"/>
                <a:ea typeface="宋体" panose="02010600030101010101" pitchFamily="2" charset="-122"/>
              </a:rPr>
              <a:t>arrayRefVar = new datatype[arraySize];</a:t>
            </a:r>
            <a:endParaRPr lang="en-US" altLang="zh-CN" sz="2800" dirty="0">
              <a:ea typeface="宋体" panose="02010600030101010101" pitchFamily="2" charset="-122"/>
            </a:endParaRPr>
          </a:p>
          <a:p>
            <a:pPr>
              <a:lnSpc>
                <a:spcPct val="120000"/>
              </a:lnSpc>
              <a:buNone/>
            </a:pPr>
            <a:endParaRPr lang="en-US" altLang="zh-CN" sz="2800" dirty="0">
              <a:ea typeface="宋体" panose="02010600030101010101" pitchFamily="2" charset="-122"/>
            </a:endParaRPr>
          </a:p>
          <a:p>
            <a:pPr>
              <a:lnSpc>
                <a:spcPct val="120000"/>
              </a:lnSpc>
              <a:buNone/>
            </a:pPr>
            <a:r>
              <a:rPr lang="zh-CN" altLang="en-US" sz="2800" dirty="0">
                <a:ea typeface="宋体" panose="02010600030101010101" pitchFamily="2" charset="-122"/>
              </a:rPr>
              <a:t>举例：</a:t>
            </a:r>
            <a:endParaRPr lang="zh-CN" altLang="zh-CN" sz="2800" dirty="0">
              <a:ea typeface="宋体" panose="02010600030101010101" pitchFamily="2" charset="-122"/>
            </a:endParaRPr>
          </a:p>
          <a:p>
            <a:pPr>
              <a:lnSpc>
                <a:spcPct val="120000"/>
              </a:lnSpc>
              <a:buNone/>
            </a:pPr>
            <a:r>
              <a:rPr lang="en-US" altLang="zh-CN" sz="2800" dirty="0">
                <a:latin typeface="Courier New" panose="02070309020205020404" charset="0"/>
                <a:ea typeface="宋体" panose="02010600030101010101" pitchFamily="2" charset="-122"/>
              </a:rPr>
              <a:t>myList = new double[10];</a:t>
            </a:r>
            <a:endParaRPr lang="en-US" altLang="zh-CN" sz="2800" dirty="0">
              <a:ea typeface="宋体" panose="02010600030101010101" pitchFamily="2" charset="-122"/>
            </a:endParaRPr>
          </a:p>
          <a:p>
            <a:pPr>
              <a:lnSpc>
                <a:spcPct val="120000"/>
              </a:lnSpc>
              <a:buNone/>
            </a:pPr>
            <a:endParaRPr lang="en-US" altLang="zh-CN" sz="2800" dirty="0">
              <a:ea typeface="宋体" panose="02010600030101010101" pitchFamily="2" charset="-122"/>
            </a:endParaRPr>
          </a:p>
          <a:p>
            <a:pPr>
              <a:lnSpc>
                <a:spcPct val="120000"/>
              </a:lnSpc>
              <a:buNone/>
            </a:pPr>
            <a:r>
              <a:rPr lang="en-US" altLang="zh-CN" sz="2800" dirty="0">
                <a:latin typeface="Courier New" panose="02070309020205020404" charset="0"/>
                <a:ea typeface="宋体" panose="02010600030101010101" pitchFamily="2" charset="-122"/>
              </a:rPr>
              <a:t>myList[0]</a:t>
            </a:r>
            <a:r>
              <a:rPr lang="en-US" altLang="zh-CN" sz="2800" dirty="0">
                <a:ea typeface="宋体" panose="02010600030101010101" pitchFamily="2" charset="-122"/>
              </a:rPr>
              <a:t> </a:t>
            </a:r>
            <a:r>
              <a:rPr lang="zh-CN" altLang="en-US" sz="2800" dirty="0">
                <a:ea typeface="宋体" panose="02010600030101010101" pitchFamily="2" charset="-122"/>
              </a:rPr>
              <a:t>引用数组中的第一个元素</a:t>
            </a:r>
            <a:r>
              <a:rPr lang="en-US" altLang="zh-CN" sz="2800" dirty="0">
                <a:ea typeface="宋体" panose="02010600030101010101" pitchFamily="2" charset="-122"/>
              </a:rPr>
              <a:t>。</a:t>
            </a:r>
            <a:endParaRPr lang="zh-CN" altLang="en-US" sz="2800" dirty="0">
              <a:ea typeface="宋体" panose="02010600030101010101" pitchFamily="2" charset="-122"/>
            </a:endParaRPr>
          </a:p>
          <a:p>
            <a:pPr>
              <a:lnSpc>
                <a:spcPct val="120000"/>
              </a:lnSpc>
              <a:buNone/>
            </a:pPr>
            <a:r>
              <a:rPr lang="en-US" altLang="zh-CN" sz="2800" dirty="0">
                <a:latin typeface="Courier New" panose="02070309020205020404" charset="0"/>
                <a:ea typeface="宋体" panose="02010600030101010101" pitchFamily="2" charset="-122"/>
              </a:rPr>
              <a:t>myList[9]</a:t>
            </a:r>
            <a:r>
              <a:rPr lang="en-US" altLang="zh-CN" sz="2800" dirty="0">
                <a:ea typeface="宋体" panose="02010600030101010101" pitchFamily="2" charset="-122"/>
              </a:rPr>
              <a:t> </a:t>
            </a:r>
            <a:r>
              <a:rPr lang="zh-CN" altLang="en-US" sz="2800" dirty="0">
                <a:ea typeface="宋体" panose="02010600030101010101" pitchFamily="2" charset="-122"/>
              </a:rPr>
              <a:t>引用数组中的最后一个元素</a:t>
            </a:r>
            <a:r>
              <a:rPr lang="en-US" altLang="zh-CN" sz="2800" dirty="0">
                <a:ea typeface="宋体" panose="02010600030101010101" pitchFamily="2" charset="-122"/>
              </a:rPr>
              <a:t>。</a:t>
            </a:r>
            <a:endParaRPr lang="zh-CN" altLang="en-US" sz="2800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218" name="灯片编号占位符 4"/>
          <p:cNvSpPr txBox="1">
            <a:spLocks noGrp="1"/>
          </p:cNvSpPr>
          <p:nvPr>
            <p:ph type="sldNum" sz="quarter" idx="11"/>
          </p:nvPr>
        </p:nvSpPr>
        <p:spPr/>
        <p:txBody>
          <a:bodyPr wrap="none" lIns="92075" tIns="46038" rIns="92075" bIns="46038" anchor="ctr"/>
          <a:p>
            <a:pPr marL="0" indent="0" algn="r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zh-CN" altLang="en-US" sz="1400" dirty="0">
                <a:ea typeface="宋体" panose="02010600030101010101" pitchFamily="2" charset="-122"/>
              </a:rPr>
            </a:fld>
            <a:endParaRPr lang="zh-CN" altLang="en-US" sz="1400" dirty="0">
              <a:ea typeface="宋体" panose="02010600030101010101" pitchFamily="2" charset="-122"/>
            </a:endParaRPr>
          </a:p>
        </p:txBody>
      </p:sp>
      <p:sp>
        <p:nvSpPr>
          <p:cNvPr id="9219" name="Rectangle 2"/>
          <p:cNvSpPr>
            <a:spLocks noGrp="1"/>
          </p:cNvSpPr>
          <p:nvPr>
            <p:ph type="title"/>
          </p:nvPr>
        </p:nvSpPr>
        <p:spPr>
          <a:xfrm>
            <a:off x="228600" y="-144780"/>
            <a:ext cx="7772400" cy="1219200"/>
          </a:xfrm>
        </p:spPr>
        <p:txBody>
          <a:bodyPr vert="horz" wrap="square" lIns="92075" tIns="46038" rIns="92075" bIns="46038" anchor="ctr"/>
          <a:p>
            <a:r>
              <a:rPr lang="zh-CN" altLang="en-US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一步完成声明和创建</a:t>
            </a:r>
            <a:endParaRPr lang="zh-CN" altLang="en-US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220" name="Rectangle 3"/>
          <p:cNvSpPr>
            <a:spLocks noGrp="1"/>
          </p:cNvSpPr>
          <p:nvPr>
            <p:ph idx="1"/>
          </p:nvPr>
        </p:nvSpPr>
        <p:spPr>
          <a:xfrm>
            <a:off x="685800" y="1558925"/>
            <a:ext cx="7315200" cy="4410075"/>
          </a:xfrm>
        </p:spPr>
        <p:txBody>
          <a:bodyPr vert="horz" wrap="square" lIns="92075" tIns="46038" rIns="92075" bIns="46038" anchor="t"/>
          <a:p>
            <a:r>
              <a:rPr lang="en-US" altLang="zh-CN" sz="2800" dirty="0">
                <a:latin typeface="Courier New" panose="02070309020205020404" charset="0"/>
                <a:ea typeface="宋体" panose="02010600030101010101" pitchFamily="2" charset="-122"/>
              </a:rPr>
              <a:t>datatype[] arrayRefVar = new</a:t>
            </a:r>
            <a:endParaRPr lang="en-US" altLang="zh-CN" sz="2800" dirty="0">
              <a:latin typeface="Courier New" panose="02070309020205020404" charset="0"/>
              <a:ea typeface="宋体" panose="02010600030101010101" pitchFamily="2" charset="-122"/>
            </a:endParaRPr>
          </a:p>
          <a:p>
            <a:pPr>
              <a:buNone/>
            </a:pPr>
            <a:r>
              <a:rPr lang="en-US" altLang="zh-CN" sz="2800" dirty="0">
                <a:latin typeface="Courier New" panose="02070309020205020404" charset="0"/>
                <a:ea typeface="宋体" panose="02010600030101010101" pitchFamily="2" charset="-122"/>
              </a:rPr>
              <a:t>    datatype[arraySize];</a:t>
            </a:r>
            <a:endParaRPr lang="en-US" altLang="zh-CN" sz="2600" dirty="0">
              <a:latin typeface="Courier New" panose="02070309020205020404" charset="0"/>
              <a:ea typeface="宋体" panose="02010600030101010101" pitchFamily="2" charset="-122"/>
            </a:endParaRPr>
          </a:p>
          <a:p>
            <a:pPr>
              <a:spcBef>
                <a:spcPct val="75000"/>
              </a:spcBef>
              <a:buNone/>
            </a:pPr>
            <a:r>
              <a:rPr lang="en-US" altLang="zh-CN" sz="2600" dirty="0">
                <a:latin typeface="Courier New" panose="02070309020205020404" charset="0"/>
                <a:ea typeface="宋体" panose="02010600030101010101" pitchFamily="2" charset="-122"/>
              </a:rPr>
              <a:t> 	</a:t>
            </a:r>
            <a:r>
              <a:rPr lang="en-US" altLang="zh-CN" sz="2400" dirty="0">
                <a:latin typeface="Courier New" panose="02070309020205020404" charset="0"/>
                <a:ea typeface="宋体" panose="02010600030101010101" pitchFamily="2" charset="-122"/>
              </a:rPr>
              <a:t>double[] myList = new double[10];</a:t>
            </a:r>
            <a:endParaRPr lang="en-US" altLang="zh-CN" sz="2600" dirty="0">
              <a:latin typeface="Courier New" panose="02070309020205020404" charset="0"/>
              <a:ea typeface="宋体" panose="02010600030101010101" pitchFamily="2" charset="-122"/>
            </a:endParaRPr>
          </a:p>
          <a:p>
            <a:pPr>
              <a:spcBef>
                <a:spcPct val="150000"/>
              </a:spcBef>
            </a:pPr>
            <a:r>
              <a:rPr lang="en-US" altLang="zh-CN" sz="2800" dirty="0">
                <a:latin typeface="Courier New" panose="02070309020205020404" charset="0"/>
                <a:ea typeface="宋体" panose="02010600030101010101" pitchFamily="2" charset="-122"/>
              </a:rPr>
              <a:t>datatype arrayRefVar[] = new</a:t>
            </a:r>
            <a:br>
              <a:rPr lang="en-US" altLang="zh-CN" sz="2800" dirty="0">
                <a:latin typeface="Courier New" panose="02070309020205020404" charset="0"/>
                <a:ea typeface="宋体" panose="02010600030101010101" pitchFamily="2" charset="-122"/>
              </a:rPr>
            </a:br>
            <a:r>
              <a:rPr lang="en-US" altLang="zh-CN" sz="2800" dirty="0">
                <a:latin typeface="Courier New" panose="02070309020205020404" charset="0"/>
                <a:ea typeface="宋体" panose="02010600030101010101" pitchFamily="2" charset="-122"/>
              </a:rPr>
              <a:t>  datatype[arraySize];</a:t>
            </a:r>
            <a:endParaRPr lang="en-US" altLang="zh-CN" sz="2600" dirty="0">
              <a:latin typeface="Courier New" panose="02070309020205020404" charset="0"/>
              <a:ea typeface="宋体" panose="02010600030101010101" pitchFamily="2" charset="-122"/>
            </a:endParaRPr>
          </a:p>
          <a:p>
            <a:pPr>
              <a:spcBef>
                <a:spcPct val="75000"/>
              </a:spcBef>
              <a:buNone/>
            </a:pPr>
            <a:r>
              <a:rPr lang="en-US" altLang="zh-CN" sz="2600" dirty="0">
                <a:latin typeface="Courier New" panose="02070309020205020404" charset="0"/>
                <a:ea typeface="宋体" panose="02010600030101010101" pitchFamily="2" charset="-122"/>
              </a:rPr>
              <a:t>	</a:t>
            </a:r>
            <a:r>
              <a:rPr lang="en-US" altLang="zh-CN" sz="2400" dirty="0">
                <a:latin typeface="Courier New" panose="02070309020205020404" charset="0"/>
                <a:ea typeface="宋体" panose="02010600030101010101" pitchFamily="2" charset="-122"/>
              </a:rPr>
              <a:t>double myList[] = new double[10];</a:t>
            </a:r>
            <a:endParaRPr lang="en-US" altLang="zh-CN" sz="2600" dirty="0">
              <a:latin typeface="Courier New" panose="020703090202050204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242" name="灯片编号占位符 4"/>
          <p:cNvSpPr txBox="1">
            <a:spLocks noGrp="1"/>
          </p:cNvSpPr>
          <p:nvPr>
            <p:ph type="sldNum" sz="quarter" idx="11"/>
          </p:nvPr>
        </p:nvSpPr>
        <p:spPr/>
        <p:txBody>
          <a:bodyPr wrap="none" lIns="92075" tIns="46038" rIns="92075" bIns="46038" anchor="ctr"/>
          <a:p>
            <a:pPr marL="0" indent="0" algn="r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zh-CN" altLang="en-US" sz="1400" dirty="0">
                <a:ea typeface="宋体" panose="02010600030101010101" pitchFamily="2" charset="-122"/>
              </a:rPr>
            </a:fld>
            <a:endParaRPr lang="zh-CN" altLang="en-US" sz="1400" dirty="0">
              <a:ea typeface="宋体" panose="02010600030101010101" pitchFamily="2" charset="-122"/>
            </a:endParaRPr>
          </a:p>
        </p:txBody>
      </p:sp>
      <p:sp>
        <p:nvSpPr>
          <p:cNvPr id="10243" name="Rectangle 2"/>
          <p:cNvSpPr>
            <a:spLocks noGrp="1"/>
          </p:cNvSpPr>
          <p:nvPr>
            <p:ph type="title"/>
          </p:nvPr>
        </p:nvSpPr>
        <p:spPr>
          <a:xfrm>
            <a:off x="309880" y="-175895"/>
            <a:ext cx="7772400" cy="1428750"/>
          </a:xfrm>
        </p:spPr>
        <p:txBody>
          <a:bodyPr vert="horz" wrap="square" lIns="92075" tIns="46038" rIns="92075" bIns="46038" anchor="ctr"/>
          <a:p>
            <a:r>
              <a:rPr lang="zh-CN" altLang="en-US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数组的大小</a:t>
            </a:r>
            <a:endParaRPr lang="zh-CN" altLang="en-US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244" name="Rectangle 3"/>
          <p:cNvSpPr>
            <a:spLocks noGrp="1"/>
          </p:cNvSpPr>
          <p:nvPr>
            <p:ph idx="1"/>
          </p:nvPr>
        </p:nvSpPr>
        <p:spPr>
          <a:xfrm>
            <a:off x="383223" y="1371283"/>
            <a:ext cx="8377237" cy="4114800"/>
          </a:xfrm>
        </p:spPr>
        <p:txBody>
          <a:bodyPr vert="horz" wrap="square" lIns="92075" tIns="46038" rIns="92075" bIns="46038" anchor="t"/>
          <a:p>
            <a:pPr marL="0" indent="0" algn="just">
              <a:lnSpc>
                <a:spcPct val="120000"/>
              </a:lnSpc>
              <a:buNone/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一旦</a:t>
            </a:r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数组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被</a:t>
            </a:r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创建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就不能再修改它的大小。可以通过使用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 algn="just">
              <a:lnSpc>
                <a:spcPct val="120000"/>
              </a:lnSpc>
              <a:buNone/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	arrayRefVar.length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 algn="just">
              <a:lnSpc>
                <a:spcPct val="120000"/>
              </a:lnSpc>
              <a:buNone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来求得数组的大小。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lvl="2" algn="just">
              <a:lnSpc>
                <a:spcPct val="120000"/>
              </a:lnSpc>
              <a:buNone/>
            </a:pP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 algn="just">
              <a:lnSpc>
                <a:spcPct val="120000"/>
              </a:lnSpc>
              <a:buNone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举例：</a:t>
            </a:r>
            <a:endParaRPr lang="zh-CN" altLang="zh-CN" sz="2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 algn="just">
              <a:lnSpc>
                <a:spcPct val="120000"/>
              </a:lnSpc>
              <a:buNone/>
            </a:pPr>
            <a:endParaRPr lang="zh-CN" altLang="zh-CN" sz="2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lvl="2" algn="just">
              <a:lnSpc>
                <a:spcPct val="120000"/>
              </a:lnSpc>
              <a:buNone/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myList.length returns 10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6" name="灯片编号占位符 4"/>
          <p:cNvSpPr txBox="1">
            <a:spLocks noGrp="1"/>
          </p:cNvSpPr>
          <p:nvPr>
            <p:ph type="sldNum" sz="quarter" idx="11"/>
          </p:nvPr>
        </p:nvSpPr>
        <p:spPr/>
        <p:txBody>
          <a:bodyPr wrap="none" lIns="92075" tIns="46038" rIns="92075" bIns="46038" anchor="ctr"/>
          <a:p>
            <a:pPr marL="0" indent="0" algn="r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zh-CN" altLang="en-US" sz="1400" dirty="0">
                <a:ea typeface="宋体" panose="02010600030101010101" pitchFamily="2" charset="-122"/>
              </a:rPr>
            </a:fld>
            <a:endParaRPr lang="zh-CN" altLang="en-US" sz="1400" dirty="0">
              <a:ea typeface="宋体" panose="02010600030101010101" pitchFamily="2" charset="-122"/>
            </a:endParaRPr>
          </a:p>
        </p:txBody>
      </p:sp>
      <p:sp>
        <p:nvSpPr>
          <p:cNvPr id="11267" name="Rectangle 2"/>
          <p:cNvSpPr>
            <a:spLocks noGrp="1"/>
          </p:cNvSpPr>
          <p:nvPr>
            <p:ph type="title"/>
          </p:nvPr>
        </p:nvSpPr>
        <p:spPr>
          <a:xfrm>
            <a:off x="231458" y="54928"/>
            <a:ext cx="7772400" cy="590550"/>
          </a:xfrm>
        </p:spPr>
        <p:txBody>
          <a:bodyPr vert="horz" wrap="square" lIns="92075" tIns="46038" rIns="92075" bIns="46038" anchor="ctr"/>
          <a:p>
            <a:r>
              <a:rPr lang="zh-CN" altLang="en-US" sz="40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默认值</a:t>
            </a:r>
            <a:endParaRPr lang="zh-CN" altLang="en-US" sz="40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268" name="Rectangle 3"/>
          <p:cNvSpPr>
            <a:spLocks noGrp="1"/>
          </p:cNvSpPr>
          <p:nvPr>
            <p:ph idx="1"/>
          </p:nvPr>
        </p:nvSpPr>
        <p:spPr>
          <a:xfrm>
            <a:off x="231775" y="1355725"/>
            <a:ext cx="8610600" cy="4572000"/>
          </a:xfrm>
        </p:spPr>
        <p:txBody>
          <a:bodyPr vert="horz" wrap="square" lIns="92075" tIns="46038" rIns="92075" bIns="46038" anchor="t"/>
          <a:p>
            <a:pPr marL="0" indent="0" algn="just">
              <a:buNone/>
            </a:pPr>
            <a:r>
              <a:rPr lang="zh-CN" altLang="en-US" sz="3400" dirty="0">
                <a:ea typeface="宋体" panose="02010600030101010101" pitchFamily="2" charset="-122"/>
              </a:rPr>
              <a:t>当</a:t>
            </a:r>
            <a:r>
              <a:rPr lang="zh-CN" altLang="zh-CN" sz="3400" dirty="0">
                <a:ea typeface="宋体" panose="02010600030101010101" pitchFamily="2" charset="-122"/>
              </a:rPr>
              <a:t>数组</a:t>
            </a:r>
            <a:r>
              <a:rPr lang="zh-CN" altLang="en-US" sz="3400" dirty="0">
                <a:ea typeface="宋体" panose="02010600030101010101" pitchFamily="2" charset="-122"/>
              </a:rPr>
              <a:t>被</a:t>
            </a:r>
            <a:r>
              <a:rPr lang="zh-CN" altLang="zh-CN" sz="3400" dirty="0">
                <a:ea typeface="宋体" panose="02010600030101010101" pitchFamily="2" charset="-122"/>
              </a:rPr>
              <a:t>创建</a:t>
            </a:r>
            <a:r>
              <a:rPr lang="zh-CN" altLang="en-US" sz="3400" dirty="0">
                <a:ea typeface="宋体" panose="02010600030101010101" pitchFamily="2" charset="-122"/>
              </a:rPr>
              <a:t>后，它的元素被赋予默认值</a:t>
            </a:r>
            <a:endParaRPr lang="zh-CN" altLang="en-US" sz="3400" dirty="0">
              <a:ea typeface="宋体" panose="02010600030101010101" pitchFamily="2" charset="-122"/>
            </a:endParaRPr>
          </a:p>
          <a:p>
            <a:pPr marL="0" indent="0" algn="just">
              <a:buNone/>
            </a:pPr>
            <a:endParaRPr lang="zh-CN" altLang="en-US" sz="3400" dirty="0">
              <a:ea typeface="宋体" panose="02010600030101010101" pitchFamily="2" charset="-122"/>
            </a:endParaRPr>
          </a:p>
          <a:p>
            <a:pPr lvl="1" algn="just">
              <a:buNone/>
            </a:pPr>
            <a:r>
              <a:rPr lang="zh-CN" altLang="en-US" sz="3000" dirty="0">
                <a:ea typeface="宋体" panose="02010600030101010101" pitchFamily="2" charset="-122"/>
              </a:rPr>
              <a:t> 数值型基本数据类型的默认值是</a:t>
            </a:r>
            <a:r>
              <a:rPr lang="en-US" altLang="zh-CN" sz="3000" u="sng" dirty="0">
                <a:ea typeface="宋体" panose="02010600030101010101" pitchFamily="2" charset="-122"/>
              </a:rPr>
              <a:t>0</a:t>
            </a:r>
            <a:r>
              <a:rPr lang="zh-CN" altLang="en-US" sz="3000" dirty="0">
                <a:ea typeface="宋体" panose="02010600030101010101" pitchFamily="2" charset="-122"/>
              </a:rPr>
              <a:t>， </a:t>
            </a:r>
            <a:endParaRPr lang="zh-CN" altLang="en-US" sz="3000" dirty="0">
              <a:ea typeface="宋体" panose="02010600030101010101" pitchFamily="2" charset="-122"/>
            </a:endParaRPr>
          </a:p>
          <a:p>
            <a:pPr lvl="1" algn="just">
              <a:buNone/>
            </a:pPr>
            <a:r>
              <a:rPr lang="zh-CN" altLang="en-US" sz="3000" dirty="0">
                <a:ea typeface="宋体" panose="02010600030101010101" pitchFamily="2" charset="-122"/>
              </a:rPr>
              <a:t>  </a:t>
            </a:r>
            <a:r>
              <a:rPr lang="en-US" altLang="zh-CN" sz="3000" u="sng" dirty="0">
                <a:ea typeface="宋体" panose="02010600030101010101" pitchFamily="2" charset="-122"/>
              </a:rPr>
              <a:t>char</a:t>
            </a:r>
            <a:r>
              <a:rPr lang="en-US" altLang="zh-CN" sz="3000" dirty="0">
                <a:ea typeface="宋体" panose="02010600030101010101" pitchFamily="2" charset="-122"/>
              </a:rPr>
              <a:t> </a:t>
            </a:r>
            <a:r>
              <a:rPr lang="zh-CN" altLang="en-US" sz="3000" dirty="0">
                <a:ea typeface="宋体" panose="02010600030101010101" pitchFamily="2" charset="-122"/>
              </a:rPr>
              <a:t>类型的默认值为</a:t>
            </a:r>
            <a:r>
              <a:rPr lang="en-US" altLang="zh-CN" sz="3000" u="sng" dirty="0">
                <a:ea typeface="宋体" panose="02010600030101010101" pitchFamily="2" charset="-122"/>
              </a:rPr>
              <a:t>'\u0000'</a:t>
            </a:r>
            <a:r>
              <a:rPr lang="en-US" altLang="zh-CN" sz="3000" dirty="0">
                <a:ea typeface="宋体" panose="02010600030101010101" pitchFamily="2" charset="-122"/>
              </a:rPr>
              <a:t> </a:t>
            </a:r>
            <a:r>
              <a:rPr lang="zh-CN" altLang="en-US" sz="3000" dirty="0">
                <a:ea typeface="宋体" panose="02010600030101010101" pitchFamily="2" charset="-122"/>
              </a:rPr>
              <a:t>，而</a:t>
            </a:r>
            <a:endParaRPr lang="zh-CN" altLang="en-US" sz="3000" dirty="0">
              <a:ea typeface="宋体" panose="02010600030101010101" pitchFamily="2" charset="-122"/>
            </a:endParaRPr>
          </a:p>
          <a:p>
            <a:pPr lvl="1" algn="just">
              <a:buNone/>
            </a:pPr>
            <a:r>
              <a:rPr lang="zh-CN" altLang="en-US" sz="3000" dirty="0">
                <a:ea typeface="宋体" panose="02010600030101010101" pitchFamily="2" charset="-122"/>
              </a:rPr>
              <a:t>  </a:t>
            </a:r>
            <a:r>
              <a:rPr lang="en-US" altLang="zh-CN" sz="3000" u="sng" dirty="0">
                <a:ea typeface="宋体" panose="02010600030101010101" pitchFamily="2" charset="-122"/>
              </a:rPr>
              <a:t>boolean</a:t>
            </a:r>
            <a:r>
              <a:rPr lang="en-US" altLang="zh-CN" sz="3000" dirty="0">
                <a:ea typeface="宋体" panose="02010600030101010101" pitchFamily="2" charset="-122"/>
              </a:rPr>
              <a:t> </a:t>
            </a:r>
            <a:r>
              <a:rPr lang="zh-CN" altLang="en-US" sz="3000" dirty="0">
                <a:ea typeface="宋体" panose="02010600030101010101" pitchFamily="2" charset="-122"/>
              </a:rPr>
              <a:t>类型默认值为</a:t>
            </a:r>
            <a:r>
              <a:rPr lang="en-US" altLang="zh-CN" sz="3000" u="sng" dirty="0">
                <a:ea typeface="宋体" panose="02010600030101010101" pitchFamily="2" charset="-122"/>
              </a:rPr>
              <a:t>false</a:t>
            </a:r>
            <a:r>
              <a:rPr lang="zh-CN" altLang="en-US" sz="3000" dirty="0">
                <a:ea typeface="宋体" panose="02010600030101010101" pitchFamily="2" charset="-122"/>
              </a:rPr>
              <a:t>。</a:t>
            </a:r>
            <a:endParaRPr lang="zh-CN" altLang="en-US" sz="3000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338" name="灯片编号占位符 4"/>
          <p:cNvSpPr txBox="1">
            <a:spLocks noGrp="1"/>
          </p:cNvSpPr>
          <p:nvPr>
            <p:ph type="sldNum" sz="quarter" idx="11"/>
          </p:nvPr>
        </p:nvSpPr>
        <p:spPr/>
        <p:txBody>
          <a:bodyPr wrap="none" lIns="92075" tIns="46038" rIns="92075" bIns="46038" anchor="ctr"/>
          <a:p>
            <a:pPr marL="0" indent="0" algn="r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zh-CN" altLang="en-US" sz="1400" dirty="0">
                <a:ea typeface="宋体" panose="02010600030101010101" pitchFamily="2" charset="-122"/>
              </a:rPr>
            </a:fld>
            <a:endParaRPr lang="zh-CN" altLang="en-US" sz="1400" dirty="0">
              <a:ea typeface="宋体" panose="02010600030101010101" pitchFamily="2" charset="-122"/>
            </a:endParaRPr>
          </a:p>
        </p:txBody>
      </p:sp>
      <p:sp>
        <p:nvSpPr>
          <p:cNvPr id="14339" name="Rectangle 2"/>
          <p:cNvSpPr>
            <a:spLocks noGrp="1"/>
          </p:cNvSpPr>
          <p:nvPr>
            <p:ph type="title"/>
          </p:nvPr>
        </p:nvSpPr>
        <p:spPr>
          <a:xfrm>
            <a:off x="228600" y="114935"/>
            <a:ext cx="7772400" cy="666750"/>
          </a:xfrm>
        </p:spPr>
        <p:txBody>
          <a:bodyPr vert="horz" wrap="square" lIns="92075" tIns="46038" rIns="92075" bIns="46038" anchor="ctr"/>
          <a:p>
            <a:r>
              <a:rPr lang="zh-CN" altLang="en-US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数组初始化语法</a:t>
            </a:r>
            <a:endParaRPr lang="zh-CN" altLang="en-US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340" name="Rectangle 3"/>
          <p:cNvSpPr>
            <a:spLocks noGrp="1"/>
          </p:cNvSpPr>
          <p:nvPr>
            <p:ph idx="1"/>
          </p:nvPr>
        </p:nvSpPr>
        <p:spPr>
          <a:xfrm>
            <a:off x="228600" y="1069340"/>
            <a:ext cx="8915400" cy="1493520"/>
          </a:xfrm>
        </p:spPr>
        <p:txBody>
          <a:bodyPr vert="horz" wrap="square" lIns="92075" tIns="46038" rIns="92075" bIns="46038" anchor="t">
            <a:noAutofit/>
          </a:bodyPr>
          <a:p>
            <a:pPr>
              <a:spcBef>
                <a:spcPct val="100000"/>
              </a:spcBef>
            </a:pPr>
            <a:r>
              <a:rPr lang="zh-CN" altLang="en-US" sz="15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一步完成数组的声明、创建、初始化</a:t>
            </a:r>
            <a:r>
              <a:rPr lang="en-US" altLang="zh-CN" sz="15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:</a:t>
            </a:r>
            <a:endParaRPr lang="en-US" altLang="zh-CN" sz="15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spcBef>
                <a:spcPct val="50000"/>
              </a:spcBef>
              <a:buNone/>
            </a:pPr>
            <a:r>
              <a:rPr lang="en-US" altLang="zh-CN" sz="15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	    double[] myList = {1.9, 2.9, 3.4, 3.5};</a:t>
            </a:r>
            <a:endParaRPr lang="en-US" altLang="zh-CN" sz="15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>
              <a:spcBef>
                <a:spcPct val="50000"/>
              </a:spcBef>
              <a:buNone/>
            </a:pPr>
            <a:r>
              <a:rPr lang="zh-CN" altLang="en-US" sz="15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这种缩略语法必须用在一条语句中。</a:t>
            </a:r>
            <a:r>
              <a:rPr lang="zh-CN" altLang="en-US" sz="15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将它们分开会引起语法错误。例如：下面的语句就是错误的</a:t>
            </a:r>
            <a:r>
              <a:rPr lang="en-US" altLang="zh-CN" sz="15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:</a:t>
            </a:r>
            <a:endParaRPr lang="en-US" altLang="zh-CN" sz="15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lvl="1">
              <a:spcBef>
                <a:spcPct val="50000"/>
              </a:spcBef>
              <a:buNone/>
            </a:pPr>
            <a:r>
              <a:rPr lang="en-US" altLang="zh-CN" sz="15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double[] myList;</a:t>
            </a:r>
            <a:endParaRPr lang="en-US" altLang="zh-CN" sz="15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lvl="1">
              <a:spcBef>
                <a:spcPct val="50000"/>
              </a:spcBef>
              <a:buNone/>
            </a:pPr>
            <a:r>
              <a:rPr lang="en-US" altLang="zh-CN" sz="15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myList = {1.9, 2.9, 3.4, 3.5}; </a:t>
            </a:r>
            <a:endParaRPr lang="en-US" altLang="zh-CN" sz="15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spcBef>
                <a:spcPct val="50000"/>
              </a:spcBef>
              <a:buNone/>
            </a:pPr>
            <a:endParaRPr lang="en-US" altLang="zh-CN" sz="8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5364" name="Rectangle 3"/>
          <p:cNvSpPr>
            <a:spLocks noGrp="1"/>
          </p:cNvSpPr>
          <p:nvPr/>
        </p:nvSpPr>
        <p:spPr>
          <a:xfrm>
            <a:off x="657860" y="3140075"/>
            <a:ext cx="8305800" cy="3228975"/>
          </a:xfrm>
          <a:prstGeom prst="rect">
            <a:avLst/>
          </a:prstGeom>
        </p:spPr>
        <p:txBody>
          <a:bodyPr vert="horz" wrap="square" lIns="92075" tIns="46038" rIns="92075" bIns="46038" rtlCol="0" anchor="t">
            <a:normAutofit/>
          </a:bodyPr>
          <a:lstStyle>
            <a:lvl1pPr marL="342900" indent="-3429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j-ea"/>
                <a:cs typeface="+mn-cs"/>
              </a:defRPr>
            </a:lvl1pPr>
            <a:lvl2pPr marL="742950" indent="-28575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+mj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j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–"/>
              <a:defRPr sz="1200" kern="1200">
                <a:solidFill>
                  <a:schemeClr val="tx1"/>
                </a:solidFill>
                <a:latin typeface="+mn-lt"/>
                <a:ea typeface="+mj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»"/>
              <a:defRPr sz="1200" kern="1200">
                <a:solidFill>
                  <a:schemeClr val="tx1"/>
                </a:solidFill>
                <a:latin typeface="+mn-lt"/>
                <a:ea typeface="+mj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178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这里的缩略语法相当于以下面的语句：</a:t>
            </a:r>
            <a:endParaRPr lang="zh-CN" altLang="en-US" sz="178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 fontAlgn="auto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178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double[] myList = new double[4];</a:t>
            </a:r>
            <a:endParaRPr lang="en-US" altLang="zh-CN" sz="178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 fontAlgn="auto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178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myList[0] = 1.9;</a:t>
            </a:r>
            <a:endParaRPr lang="en-US" altLang="zh-CN" sz="178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 fontAlgn="auto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178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myList[1] = 2.9;</a:t>
            </a:r>
            <a:endParaRPr lang="en-US" altLang="zh-CN" sz="178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 fontAlgn="auto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178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myList[2] = 3.4;</a:t>
            </a:r>
            <a:endParaRPr lang="en-US" altLang="zh-CN" sz="178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 fontAlgn="auto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178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myList[3] = 3.5; </a:t>
            </a:r>
            <a:endParaRPr lang="en-US" altLang="zh-CN" sz="178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290" name="灯片编号占位符 4"/>
          <p:cNvSpPr txBox="1">
            <a:spLocks noGrp="1"/>
          </p:cNvSpPr>
          <p:nvPr>
            <p:ph type="sldNum" sz="quarter" idx="11"/>
          </p:nvPr>
        </p:nvSpPr>
        <p:spPr/>
        <p:txBody>
          <a:bodyPr wrap="none" lIns="92075" tIns="46038" rIns="92075" bIns="46038" anchor="ctr"/>
          <a:p>
            <a:pPr marL="0" indent="0" algn="r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zh-CN" altLang="en-US" sz="1400" dirty="0">
                <a:ea typeface="宋体" panose="02010600030101010101" pitchFamily="2" charset="-122"/>
              </a:rPr>
            </a:fld>
            <a:endParaRPr lang="zh-CN" altLang="en-US" sz="1400" dirty="0">
              <a:ea typeface="宋体" panose="02010600030101010101" pitchFamily="2" charset="-122"/>
            </a:endParaRPr>
          </a:p>
        </p:txBody>
      </p:sp>
      <p:sp>
        <p:nvSpPr>
          <p:cNvPr id="12291" name="Rectangle 2"/>
          <p:cNvSpPr>
            <a:spLocks noGrp="1"/>
          </p:cNvSpPr>
          <p:nvPr>
            <p:ph type="title"/>
          </p:nvPr>
        </p:nvSpPr>
        <p:spPr>
          <a:xfrm>
            <a:off x="289878" y="171133"/>
            <a:ext cx="7772400" cy="609600"/>
          </a:xfrm>
        </p:spPr>
        <p:txBody>
          <a:bodyPr vert="horz" wrap="square" lIns="92075" tIns="46038" rIns="92075" bIns="46038" anchor="ctr"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下标变量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292" name="Rectangle 3"/>
          <p:cNvSpPr>
            <a:spLocks noGrp="1"/>
          </p:cNvSpPr>
          <p:nvPr>
            <p:ph idx="1"/>
          </p:nvPr>
        </p:nvSpPr>
        <p:spPr>
          <a:xfrm>
            <a:off x="347663" y="1239838"/>
            <a:ext cx="8524875" cy="5102225"/>
          </a:xfrm>
        </p:spPr>
        <p:txBody>
          <a:bodyPr vert="horz" wrap="square" lIns="92075" tIns="46038" rIns="92075" bIns="46038" anchor="t"/>
          <a:p>
            <a:pPr marL="0" indent="0" algn="just">
              <a:lnSpc>
                <a:spcPct val="120000"/>
              </a:lnSpc>
              <a:buNone/>
            </a:pP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组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元素可以通过下标来访问。数组下标是基于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0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的，就是说它从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0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开始到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arrayRefVar.length-1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结束。</a:t>
            </a:r>
            <a:endPara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 algn="just">
              <a:lnSpc>
                <a:spcPct val="120000"/>
              </a:lnSpc>
              <a:buNone/>
            </a:pPr>
            <a:endParaRPr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 algn="just">
              <a:lnSpc>
                <a:spcPct val="120000"/>
              </a:lnSpc>
              <a:buNone/>
            </a:pP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数组中的每个元素都可以使用下面一般被称为下标变量的语法表示：</a:t>
            </a:r>
            <a:endPara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 algn="just">
              <a:lnSpc>
                <a:spcPct val="90000"/>
              </a:lnSpc>
              <a:buNone/>
            </a:pPr>
            <a:endPara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lvl="1" algn="just">
              <a:lnSpc>
                <a:spcPct val="90000"/>
              </a:lnSpc>
              <a:buNone/>
            </a:pP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arrayRefVar[index];</a:t>
            </a:r>
            <a:endPara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3316" name="Rectangle 3"/>
          <p:cNvSpPr>
            <a:spLocks noGrp="1"/>
          </p:cNvSpPr>
          <p:nvPr/>
        </p:nvSpPr>
        <p:spPr>
          <a:xfrm>
            <a:off x="468630" y="3726180"/>
            <a:ext cx="8032750" cy="915670"/>
          </a:xfrm>
          <a:prstGeom prst="rect">
            <a:avLst/>
          </a:prstGeom>
        </p:spPr>
        <p:txBody>
          <a:bodyPr vert="horz" wrap="square" lIns="92075" tIns="46038" rIns="92075" bIns="46038" rtlCol="0" anchor="t">
            <a:normAutofit fontScale="70000"/>
          </a:bodyPr>
          <a:lstStyle>
            <a:lvl1pPr marL="342900" indent="-3429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j-ea"/>
                <a:cs typeface="+mn-cs"/>
              </a:defRPr>
            </a:lvl1pPr>
            <a:lvl2pPr marL="742950" indent="-28575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+mj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j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–"/>
              <a:defRPr sz="1200" kern="1200">
                <a:solidFill>
                  <a:schemeClr val="tx1"/>
                </a:solidFill>
                <a:latin typeface="+mn-lt"/>
                <a:ea typeface="+mj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»"/>
              <a:defRPr sz="1200" kern="1200">
                <a:solidFill>
                  <a:schemeClr val="tx1"/>
                </a:solidFill>
                <a:latin typeface="+mn-lt"/>
                <a:ea typeface="+mj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endParaRPr lang="en-US" altLang="zh-CN" sz="3400" dirty="0">
              <a:ea typeface="宋体" panose="02010600030101010101" pitchFamily="2" charset="-122"/>
            </a:endParaRPr>
          </a:p>
          <a:p>
            <a:pPr lvl="1" algn="just">
              <a:buNone/>
            </a:pPr>
            <a:r>
              <a:rPr lang="en-US" altLang="zh-CN" sz="2600" dirty="0">
                <a:latin typeface="Courier New" panose="02070309020205020404" charset="0"/>
                <a:ea typeface="宋体" panose="02010600030101010101" pitchFamily="2" charset="-122"/>
              </a:rPr>
              <a:t>myList[2] = myList[0] + myList[1];</a:t>
            </a:r>
            <a:endParaRPr lang="en-US" altLang="zh-CN" sz="2600" dirty="0">
              <a:latin typeface="Courier New" panose="020703090202050204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3794" name="灯片编号占位符 4"/>
          <p:cNvSpPr txBox="1">
            <a:spLocks noGrp="1"/>
          </p:cNvSpPr>
          <p:nvPr>
            <p:ph type="sldNum" sz="quarter" idx="11"/>
          </p:nvPr>
        </p:nvSpPr>
        <p:spPr/>
        <p:txBody>
          <a:bodyPr wrap="none" lIns="92075" tIns="46038" rIns="92075" bIns="46038" anchor="ctr"/>
          <a:p>
            <a:pPr marL="0" indent="0" algn="r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zh-CN" altLang="en-US" sz="1400" dirty="0">
                <a:ea typeface="宋体" panose="02010600030101010101" pitchFamily="2" charset="-122"/>
              </a:rPr>
            </a:fld>
            <a:endParaRPr lang="zh-CN" altLang="en-US" sz="1400" dirty="0">
              <a:ea typeface="宋体" panose="02010600030101010101" pitchFamily="2" charset="-122"/>
            </a:endParaRPr>
          </a:p>
        </p:txBody>
      </p:sp>
      <p:sp>
        <p:nvSpPr>
          <p:cNvPr id="33795" name="Rectangle 2"/>
          <p:cNvSpPr>
            <a:spLocks noGrp="1"/>
          </p:cNvSpPr>
          <p:nvPr>
            <p:ph type="title"/>
          </p:nvPr>
        </p:nvSpPr>
        <p:spPr>
          <a:xfrm>
            <a:off x="106998" y="44768"/>
            <a:ext cx="7772400" cy="533400"/>
          </a:xfrm>
        </p:spPr>
        <p:txBody>
          <a:bodyPr vert="horz" wrap="square" lIns="92075" tIns="46038" rIns="92075" bIns="46038" anchor="ctr"/>
          <a:p>
            <a:r>
              <a:rPr lang="zh-CN" altLang="en-US" sz="3600" dirty="0">
                <a:ea typeface="宋体" panose="02010600030101010101" pitchFamily="2" charset="-122"/>
              </a:rPr>
              <a:t>处理数组</a:t>
            </a:r>
            <a:endParaRPr lang="zh-CN" altLang="en-US" sz="3600" dirty="0">
              <a:ea typeface="宋体" panose="02010600030101010101" pitchFamily="2" charset="-122"/>
            </a:endParaRPr>
          </a:p>
        </p:txBody>
      </p:sp>
      <p:sp>
        <p:nvSpPr>
          <p:cNvPr id="33796" name="Rectangle 3"/>
          <p:cNvSpPr>
            <a:spLocks noGrp="1"/>
          </p:cNvSpPr>
          <p:nvPr>
            <p:ph idx="1"/>
          </p:nvPr>
        </p:nvSpPr>
        <p:spPr>
          <a:xfrm>
            <a:off x="304800" y="1066800"/>
            <a:ext cx="8534400" cy="4953000"/>
          </a:xfrm>
        </p:spPr>
        <p:txBody>
          <a:bodyPr vert="horz" wrap="square" lIns="92075" tIns="46038" rIns="92075" bIns="46038" anchor="t"/>
          <a:p>
            <a:pPr marL="609600" indent="-609600">
              <a:lnSpc>
                <a:spcPct val="90000"/>
              </a:lnSpc>
              <a:spcBef>
                <a:spcPct val="50000"/>
              </a:spcBef>
              <a:buNone/>
            </a:pPr>
            <a:r>
              <a:rPr lang="zh-CN" altLang="en-US" sz="2800" dirty="0">
                <a:ea typeface="宋体" panose="02010600030101010101" pitchFamily="2" charset="-122"/>
              </a:rPr>
              <a:t>下面是一些示例：</a:t>
            </a:r>
            <a:endParaRPr lang="zh-CN" altLang="en-US" sz="2800" dirty="0">
              <a:ea typeface="宋体" panose="02010600030101010101" pitchFamily="2" charset="-122"/>
            </a:endParaRPr>
          </a:p>
          <a:p>
            <a:pPr marL="609600" indent="-609600">
              <a:lnSpc>
                <a:spcPct val="90000"/>
              </a:lnSpc>
              <a:spcBef>
                <a:spcPct val="50000"/>
              </a:spcBef>
              <a:buFont typeface="Monotype Sorts" pitchFamily="2" charset="2"/>
              <a:buAutoNum type="arabicPeriod"/>
            </a:pPr>
            <a:r>
              <a:rPr lang="zh-CN" altLang="en-US" sz="2500" dirty="0">
                <a:ea typeface="宋体" panose="02010600030101010101" pitchFamily="2" charset="-122"/>
              </a:rPr>
              <a:t>（使用输入值初始化数组）</a:t>
            </a:r>
            <a:endParaRPr lang="zh-CN" altLang="en-US" sz="2500" dirty="0">
              <a:ea typeface="宋体" panose="02010600030101010101" pitchFamily="2" charset="-122"/>
            </a:endParaRPr>
          </a:p>
          <a:p>
            <a:pPr marL="609600" indent="-609600">
              <a:lnSpc>
                <a:spcPct val="90000"/>
              </a:lnSpc>
              <a:spcBef>
                <a:spcPct val="50000"/>
              </a:spcBef>
              <a:buFont typeface="Monotype Sorts" pitchFamily="2" charset="2"/>
              <a:buAutoNum type="arabicPeriod"/>
            </a:pPr>
            <a:r>
              <a:rPr lang="zh-CN" altLang="en-US" sz="2500" dirty="0">
                <a:ea typeface="宋体" panose="02010600030101010101" pitchFamily="2" charset="-122"/>
              </a:rPr>
              <a:t>（使用随机数初始化数组）</a:t>
            </a:r>
            <a:endParaRPr lang="zh-CN" altLang="en-US" sz="2500" dirty="0">
              <a:ea typeface="宋体" panose="02010600030101010101" pitchFamily="2" charset="-122"/>
            </a:endParaRPr>
          </a:p>
          <a:p>
            <a:pPr marL="609600" indent="-609600">
              <a:lnSpc>
                <a:spcPct val="90000"/>
              </a:lnSpc>
              <a:spcBef>
                <a:spcPct val="50000"/>
              </a:spcBef>
              <a:buFont typeface="Monotype Sorts" pitchFamily="2" charset="2"/>
              <a:buAutoNum type="arabicPeriod"/>
            </a:pPr>
            <a:r>
              <a:rPr lang="zh-CN" altLang="en-US" sz="2500" dirty="0">
                <a:ea typeface="宋体" panose="02010600030101010101" pitchFamily="2" charset="-122"/>
              </a:rPr>
              <a:t>（打印数组）</a:t>
            </a:r>
            <a:endParaRPr lang="zh-CN" altLang="en-US" sz="2500" dirty="0">
              <a:ea typeface="宋体" panose="02010600030101010101" pitchFamily="2" charset="-122"/>
            </a:endParaRPr>
          </a:p>
          <a:p>
            <a:pPr marL="609600" indent="-609600">
              <a:lnSpc>
                <a:spcPct val="90000"/>
              </a:lnSpc>
              <a:spcBef>
                <a:spcPct val="50000"/>
              </a:spcBef>
              <a:buFont typeface="Monotype Sorts" pitchFamily="2" charset="2"/>
              <a:buAutoNum type="arabicPeriod"/>
            </a:pPr>
            <a:r>
              <a:rPr lang="zh-CN" altLang="en-US" sz="2500" dirty="0">
                <a:ea typeface="宋体" panose="02010600030101010101" pitchFamily="2" charset="-122"/>
              </a:rPr>
              <a:t>（对所有元素求和）</a:t>
            </a:r>
            <a:endParaRPr lang="zh-CN" altLang="en-US" sz="2500" dirty="0">
              <a:ea typeface="宋体" panose="02010600030101010101" pitchFamily="2" charset="-122"/>
            </a:endParaRPr>
          </a:p>
          <a:p>
            <a:pPr marL="609600" indent="-609600">
              <a:lnSpc>
                <a:spcPct val="90000"/>
              </a:lnSpc>
              <a:spcBef>
                <a:spcPct val="50000"/>
              </a:spcBef>
              <a:buFont typeface="Monotype Sorts" pitchFamily="2" charset="2"/>
              <a:buAutoNum type="arabicPeriod"/>
            </a:pPr>
            <a:r>
              <a:rPr lang="zh-CN" altLang="en-US" sz="2500" dirty="0">
                <a:ea typeface="宋体" panose="02010600030101010101" pitchFamily="2" charset="-122"/>
              </a:rPr>
              <a:t>（找出最大元素）</a:t>
            </a:r>
            <a:endParaRPr lang="zh-CN" altLang="en-US" sz="2500" dirty="0">
              <a:ea typeface="宋体" panose="02010600030101010101" pitchFamily="2" charset="-122"/>
            </a:endParaRPr>
          </a:p>
          <a:p>
            <a:pPr marL="609600" indent="-609600">
              <a:lnSpc>
                <a:spcPct val="90000"/>
              </a:lnSpc>
              <a:spcBef>
                <a:spcPct val="50000"/>
              </a:spcBef>
              <a:buFont typeface="Monotype Sorts" pitchFamily="2" charset="2"/>
              <a:buAutoNum type="arabicPeriod"/>
            </a:pPr>
            <a:r>
              <a:rPr lang="zh-CN" altLang="en-US" sz="2500" dirty="0">
                <a:ea typeface="宋体" panose="02010600030101010101" pitchFamily="2" charset="-122"/>
              </a:rPr>
              <a:t>（找出最大元素的最小下标值）</a:t>
            </a:r>
            <a:endParaRPr lang="zh-CN" altLang="en-US" sz="2500" dirty="0">
              <a:ea typeface="宋体" panose="02010600030101010101" pitchFamily="2" charset="-122"/>
            </a:endParaRPr>
          </a:p>
          <a:p>
            <a:pPr marL="609600" indent="-609600">
              <a:lnSpc>
                <a:spcPct val="90000"/>
              </a:lnSpc>
              <a:spcBef>
                <a:spcPct val="50000"/>
              </a:spcBef>
              <a:buFont typeface="Monotype Sorts" pitchFamily="2" charset="2"/>
              <a:buAutoNum type="arabicPeriod"/>
            </a:pPr>
            <a:r>
              <a:rPr lang="zh-CN" altLang="en-US" sz="2500" dirty="0">
                <a:ea typeface="宋体" panose="02010600030101010101" pitchFamily="2" charset="-122"/>
              </a:rPr>
              <a:t>（</a:t>
            </a:r>
            <a:r>
              <a:rPr lang="zh-CN" altLang="en-US" sz="2500" i="1" dirty="0">
                <a:ea typeface="宋体" panose="02010600030101010101" pitchFamily="2" charset="-122"/>
              </a:rPr>
              <a:t>随意打乱</a:t>
            </a:r>
            <a:r>
              <a:rPr lang="zh-CN" altLang="en-US" sz="2500" dirty="0">
                <a:ea typeface="宋体" panose="02010600030101010101" pitchFamily="2" charset="-122"/>
              </a:rPr>
              <a:t>） </a:t>
            </a:r>
            <a:endParaRPr lang="zh-CN" altLang="en-US" sz="2500" dirty="0">
              <a:ea typeface="宋体" panose="02010600030101010101" pitchFamily="2" charset="-122"/>
            </a:endParaRPr>
          </a:p>
          <a:p>
            <a:pPr marL="609600" indent="-609600">
              <a:lnSpc>
                <a:spcPct val="90000"/>
              </a:lnSpc>
              <a:spcBef>
                <a:spcPct val="50000"/>
              </a:spcBef>
              <a:buFont typeface="Monotype Sorts" pitchFamily="2" charset="2"/>
              <a:buAutoNum type="arabicPeriod"/>
            </a:pPr>
            <a:r>
              <a:rPr lang="zh-CN" altLang="en-US" sz="2500" dirty="0">
                <a:ea typeface="宋体" panose="02010600030101010101" pitchFamily="2" charset="-122"/>
              </a:rPr>
              <a:t>（</a:t>
            </a:r>
            <a:r>
              <a:rPr lang="zh-CN" altLang="en-US" sz="2500" i="1" dirty="0">
                <a:ea typeface="宋体" panose="02010600030101010101" pitchFamily="2" charset="-122"/>
              </a:rPr>
              <a:t>移动元素</a:t>
            </a:r>
            <a:r>
              <a:rPr lang="zh-CN" altLang="en-US" sz="2500" dirty="0">
                <a:ea typeface="宋体" panose="02010600030101010101" pitchFamily="2" charset="-122"/>
              </a:rPr>
              <a:t>）</a:t>
            </a:r>
            <a:r>
              <a:rPr lang="zh-CN" altLang="en-US" sz="2400" dirty="0">
                <a:ea typeface="宋体" panose="02010600030101010101" pitchFamily="2" charset="-122"/>
              </a:rPr>
              <a:t> </a:t>
            </a:r>
            <a:endParaRPr lang="zh-CN" altLang="en-US" sz="2400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9938" name="灯片编号占位符 4"/>
          <p:cNvSpPr txBox="1">
            <a:spLocks noGrp="1"/>
          </p:cNvSpPr>
          <p:nvPr>
            <p:ph type="sldNum" sz="quarter" idx="11"/>
          </p:nvPr>
        </p:nvSpPr>
        <p:spPr/>
        <p:txBody>
          <a:bodyPr wrap="none" lIns="92075" tIns="46038" rIns="92075" bIns="46038" anchor="ctr"/>
          <a:p>
            <a:pPr marL="0" indent="0" algn="r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zh-CN" altLang="en-US" sz="1400" dirty="0">
                <a:ea typeface="宋体" panose="02010600030101010101" pitchFamily="2" charset="-122"/>
              </a:rPr>
            </a:fld>
            <a:endParaRPr lang="zh-CN" altLang="en-US" sz="1400" dirty="0">
              <a:ea typeface="宋体" panose="02010600030101010101" pitchFamily="2" charset="-122"/>
            </a:endParaRPr>
          </a:p>
        </p:txBody>
      </p:sp>
      <p:sp>
        <p:nvSpPr>
          <p:cNvPr id="39939" name="Rectangle 2"/>
          <p:cNvSpPr>
            <a:spLocks noGrp="1"/>
          </p:cNvSpPr>
          <p:nvPr>
            <p:ph type="title"/>
          </p:nvPr>
        </p:nvSpPr>
        <p:spPr>
          <a:xfrm>
            <a:off x="192723" y="74930"/>
            <a:ext cx="8564562" cy="782638"/>
          </a:xfrm>
        </p:spPr>
        <p:txBody>
          <a:bodyPr vert="horz" wrap="square" lIns="92075" tIns="46038" rIns="92075" bIns="46038" anchor="ctr"/>
          <a:p>
            <a:r>
              <a:rPr lang="zh-CN" altLang="en-US" sz="45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随意打乱</a:t>
            </a:r>
            <a:endParaRPr lang="zh-CN" altLang="en-US" sz="45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9940" name="Rectangle 3"/>
          <p:cNvSpPr/>
          <p:nvPr/>
        </p:nvSpPr>
        <p:spPr>
          <a:xfrm>
            <a:off x="2971800" y="251460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F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 dirty="0">
              <a:ea typeface="宋体" panose="02010600030101010101" pitchFamily="2" charset="-122"/>
            </a:endParaRPr>
          </a:p>
        </p:txBody>
      </p:sp>
      <p:sp>
        <p:nvSpPr>
          <p:cNvPr id="39941" name="Rectangle 4"/>
          <p:cNvSpPr/>
          <p:nvPr/>
        </p:nvSpPr>
        <p:spPr>
          <a:xfrm>
            <a:off x="3343275" y="2968625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F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 dirty="0">
              <a:ea typeface="宋体" panose="02010600030101010101" pitchFamily="2" charset="-122"/>
            </a:endParaRPr>
          </a:p>
        </p:txBody>
      </p:sp>
      <p:sp>
        <p:nvSpPr>
          <p:cNvPr id="39942" name="Rectangle 5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F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 dirty="0">
              <a:ea typeface="宋体" panose="02010600030101010101" pitchFamily="2" charset="-122"/>
            </a:endParaRPr>
          </a:p>
        </p:txBody>
      </p:sp>
      <p:graphicFrame>
        <p:nvGraphicFramePr>
          <p:cNvPr id="39943" name="Object 6"/>
          <p:cNvGraphicFramePr>
            <a:graphicFrameLocks noChangeAspect="1"/>
          </p:cNvGraphicFramePr>
          <p:nvPr/>
        </p:nvGraphicFramePr>
        <p:xfrm>
          <a:off x="0" y="1508125"/>
          <a:ext cx="8950325" cy="2644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4" name="" r:id="rId1" imgW="4777105" imgH="1175385" progId="Word.Picture.8">
                  <p:embed/>
                </p:oleObj>
              </mc:Choice>
              <mc:Fallback>
                <p:oleObj name="" r:id="rId1" imgW="4777105" imgH="1175385" progId="Word.Picture.8">
                  <p:embed/>
                  <p:pic>
                    <p:nvPicPr>
                      <p:cNvPr id="0" name="图片 3083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0" y="1508125"/>
                        <a:ext cx="8950325" cy="26447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0962" name="灯片编号占位符 4"/>
          <p:cNvSpPr txBox="1">
            <a:spLocks noGrp="1"/>
          </p:cNvSpPr>
          <p:nvPr>
            <p:ph type="sldNum" sz="quarter" idx="11"/>
          </p:nvPr>
        </p:nvSpPr>
        <p:spPr/>
        <p:txBody>
          <a:bodyPr wrap="none" lIns="92075" tIns="46038" rIns="92075" bIns="46038" anchor="ctr"/>
          <a:p>
            <a:pPr marL="0" indent="0" algn="r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zh-CN" altLang="en-US" sz="1400" dirty="0">
                <a:ea typeface="宋体" panose="02010600030101010101" pitchFamily="2" charset="-122"/>
              </a:rPr>
            </a:fld>
            <a:endParaRPr lang="zh-CN" altLang="en-US" sz="1400" dirty="0">
              <a:ea typeface="宋体" panose="02010600030101010101" pitchFamily="2" charset="-122"/>
            </a:endParaRPr>
          </a:p>
        </p:txBody>
      </p:sp>
      <p:sp>
        <p:nvSpPr>
          <p:cNvPr id="40963" name="Rectangle 2"/>
          <p:cNvSpPr>
            <a:spLocks noGrp="1"/>
          </p:cNvSpPr>
          <p:nvPr>
            <p:ph type="title"/>
          </p:nvPr>
        </p:nvSpPr>
        <p:spPr>
          <a:xfrm>
            <a:off x="143828" y="0"/>
            <a:ext cx="8564562" cy="782638"/>
          </a:xfrm>
        </p:spPr>
        <p:txBody>
          <a:bodyPr vert="horz" wrap="square" lIns="92075" tIns="46038" rIns="92075" bIns="46038" anchor="ctr"/>
          <a:p>
            <a:r>
              <a:rPr lang="zh-CN" altLang="en-US" sz="45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移动元素</a:t>
            </a:r>
            <a:endParaRPr lang="zh-CN" altLang="en-US" sz="45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0964" name="Rectangle 3"/>
          <p:cNvSpPr/>
          <p:nvPr/>
        </p:nvSpPr>
        <p:spPr>
          <a:xfrm>
            <a:off x="2971800" y="251460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F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 dirty="0">
              <a:ea typeface="宋体" panose="02010600030101010101" pitchFamily="2" charset="-122"/>
            </a:endParaRPr>
          </a:p>
        </p:txBody>
      </p:sp>
      <p:sp>
        <p:nvSpPr>
          <p:cNvPr id="40965" name="Rectangle 4"/>
          <p:cNvSpPr/>
          <p:nvPr/>
        </p:nvSpPr>
        <p:spPr>
          <a:xfrm>
            <a:off x="3343275" y="2968625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F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 dirty="0">
              <a:ea typeface="宋体" panose="02010600030101010101" pitchFamily="2" charset="-122"/>
            </a:endParaRPr>
          </a:p>
        </p:txBody>
      </p:sp>
      <p:sp>
        <p:nvSpPr>
          <p:cNvPr id="40966" name="Rectangle 5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F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 dirty="0">
              <a:ea typeface="宋体" panose="02010600030101010101" pitchFamily="2" charset="-122"/>
            </a:endParaRPr>
          </a:p>
        </p:txBody>
      </p:sp>
      <p:sp>
        <p:nvSpPr>
          <p:cNvPr id="40967" name="Rectangle 6"/>
          <p:cNvSpPr/>
          <p:nvPr/>
        </p:nvSpPr>
        <p:spPr>
          <a:xfrm>
            <a:off x="0" y="274320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F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 dirty="0">
              <a:ea typeface="宋体" panose="02010600030101010101" pitchFamily="2" charset="-122"/>
            </a:endParaRPr>
          </a:p>
        </p:txBody>
      </p:sp>
      <p:graphicFrame>
        <p:nvGraphicFramePr>
          <p:cNvPr id="40968" name="Object 7"/>
          <p:cNvGraphicFramePr>
            <a:graphicFrameLocks noChangeAspect="1"/>
          </p:cNvGraphicFramePr>
          <p:nvPr/>
        </p:nvGraphicFramePr>
        <p:xfrm>
          <a:off x="0" y="1662113"/>
          <a:ext cx="9144000" cy="2411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9" name="" r:id="rId1" imgW="5203190" imgH="1364615" progId="Word.Picture.8">
                  <p:embed/>
                </p:oleObj>
              </mc:Choice>
              <mc:Fallback>
                <p:oleObj name="" r:id="rId1" imgW="5203190" imgH="1364615" progId="Word.Picture.8">
                  <p:embed/>
                  <p:pic>
                    <p:nvPicPr>
                      <p:cNvPr id="0" name="图片 3088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0" y="1662113"/>
                        <a:ext cx="9144000" cy="24114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1986" name="灯片编号占位符 4"/>
          <p:cNvSpPr txBox="1">
            <a:spLocks noGrp="1"/>
          </p:cNvSpPr>
          <p:nvPr>
            <p:ph type="sldNum" sz="quarter" idx="11"/>
          </p:nvPr>
        </p:nvSpPr>
        <p:spPr/>
        <p:txBody>
          <a:bodyPr wrap="none" lIns="92075" tIns="46038" rIns="92075" bIns="46038" anchor="ctr"/>
          <a:p>
            <a:pPr marL="0" indent="0" algn="r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zh-CN" altLang="en-US" sz="1400" dirty="0">
                <a:ea typeface="宋体" panose="02010600030101010101" pitchFamily="2" charset="-122"/>
              </a:rPr>
            </a:fld>
            <a:endParaRPr lang="zh-CN" altLang="en-US" sz="1400" dirty="0">
              <a:ea typeface="宋体" panose="02010600030101010101" pitchFamily="2" charset="-122"/>
            </a:endParaRPr>
          </a:p>
        </p:txBody>
      </p:sp>
      <p:sp>
        <p:nvSpPr>
          <p:cNvPr id="41987" name="Rectangle 2"/>
          <p:cNvSpPr>
            <a:spLocks noGrp="1"/>
          </p:cNvSpPr>
          <p:nvPr>
            <p:ph type="title"/>
          </p:nvPr>
        </p:nvSpPr>
        <p:spPr>
          <a:xfrm>
            <a:off x="110173" y="73025"/>
            <a:ext cx="7239000" cy="609600"/>
          </a:xfrm>
        </p:spPr>
        <p:txBody>
          <a:bodyPr vert="horz" wrap="square" lIns="92075" tIns="46038" rIns="92075" bIns="46038" anchor="ctr"/>
          <a:p>
            <a:pPr>
              <a:buNone/>
            </a:pPr>
            <a:r>
              <a:rPr lang="zh-CN" altLang="en-US" sz="3200" dirty="0">
                <a:ea typeface="宋体" panose="02010600030101010101" pitchFamily="2" charset="-122"/>
              </a:rPr>
              <a:t>增强型</a:t>
            </a:r>
            <a:r>
              <a:rPr lang="en-US" altLang="zh-CN" sz="3200" dirty="0">
                <a:ea typeface="宋体" panose="02010600030101010101" pitchFamily="2" charset="-122"/>
              </a:rPr>
              <a:t>for</a:t>
            </a:r>
            <a:r>
              <a:rPr lang="zh-CN" altLang="en-US" sz="3200" dirty="0">
                <a:ea typeface="宋体" panose="02010600030101010101" pitchFamily="2" charset="-122"/>
              </a:rPr>
              <a:t>循环（</a:t>
            </a:r>
            <a:r>
              <a:rPr lang="en-US" altLang="zh-CN" sz="3200" dirty="0">
                <a:ea typeface="宋体" panose="02010600030101010101" pitchFamily="2" charset="-122"/>
              </a:rPr>
              <a:t>for - each</a:t>
            </a:r>
            <a:r>
              <a:rPr lang="zh-CN" altLang="en-US" sz="3200" dirty="0">
                <a:ea typeface="宋体" panose="02010600030101010101" pitchFamily="2" charset="-122"/>
              </a:rPr>
              <a:t>循环）</a:t>
            </a:r>
            <a:endParaRPr lang="zh-CN" altLang="en-US" sz="3200" dirty="0">
              <a:ea typeface="宋体" panose="02010600030101010101" pitchFamily="2" charset="-122"/>
            </a:endParaRPr>
          </a:p>
        </p:txBody>
      </p:sp>
      <p:sp>
        <p:nvSpPr>
          <p:cNvPr id="41988" name="Rectangle 3"/>
          <p:cNvSpPr>
            <a:spLocks noGrp="1"/>
          </p:cNvSpPr>
          <p:nvPr>
            <p:ph idx="1"/>
          </p:nvPr>
        </p:nvSpPr>
        <p:spPr>
          <a:xfrm>
            <a:off x="228600" y="990600"/>
            <a:ext cx="8686800" cy="5588000"/>
          </a:xfrm>
        </p:spPr>
        <p:txBody>
          <a:bodyPr vert="horz" wrap="square" lIns="92075" tIns="46038" rIns="92075" bIns="46038" anchor="t"/>
          <a:p>
            <a:pPr marL="0" indent="0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不使用下标变量就可以顺序地遍历整个数组。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例如：下面的代码显示数组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myList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中的所有元素：</a:t>
            </a:r>
            <a:r>
              <a:rPr lang="zh-CN" altLang="en-US" sz="24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 </a:t>
            </a:r>
            <a:endParaRPr lang="zh-CN" altLang="en-US" sz="2400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lvl="1">
              <a:lnSpc>
                <a:spcPct val="90000"/>
              </a:lnSpc>
              <a:buNone/>
            </a:pP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lvl="1">
              <a:lnSpc>
                <a:spcPct val="90000"/>
              </a:lnSpc>
              <a:buNone/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for (double value: myList) 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lvl="1">
              <a:lnSpc>
                <a:spcPct val="90000"/>
              </a:lnSpc>
              <a:buNone/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System.out.println(value);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 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一般来讲，这个语法是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 </a:t>
            </a:r>
            <a:endParaRPr lang="zh-CN" altLang="en-US" sz="2400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lvl="1">
              <a:lnSpc>
                <a:spcPct val="90000"/>
              </a:lnSpc>
              <a:buNone/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for (elementType value: arrayRefVar) {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lvl="1">
              <a:lnSpc>
                <a:spcPct val="90000"/>
              </a:lnSpc>
              <a:buNone/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// Process the value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lvl="1">
              <a:lnSpc>
                <a:spcPct val="90000"/>
              </a:lnSpc>
              <a:buNone/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}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 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当需要以其它顺序遍历该数组或改变数组中的元素时，你还是必须使用下标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变量。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7106" name="灯片编号占位符 4"/>
          <p:cNvSpPr txBox="1">
            <a:spLocks noGrp="1"/>
          </p:cNvSpPr>
          <p:nvPr>
            <p:ph type="sldNum" sz="quarter" idx="11"/>
          </p:nvPr>
        </p:nvSpPr>
        <p:spPr/>
        <p:txBody>
          <a:bodyPr wrap="none" lIns="92075" tIns="46038" rIns="92075" bIns="46038" anchor="ctr"/>
          <a:p>
            <a:pPr marL="0" indent="0" algn="r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zh-CN" altLang="en-US" sz="1400" dirty="0">
                <a:ea typeface="宋体" panose="02010600030101010101" pitchFamily="2" charset="-122"/>
              </a:rPr>
            </a:fld>
            <a:endParaRPr lang="zh-CN" altLang="en-US" sz="1400" dirty="0">
              <a:ea typeface="宋体" panose="02010600030101010101" pitchFamily="2" charset="-122"/>
            </a:endParaRPr>
          </a:p>
        </p:txBody>
      </p:sp>
      <p:sp>
        <p:nvSpPr>
          <p:cNvPr id="47107" name="Rectangle 2"/>
          <p:cNvSpPr>
            <a:spLocks noGrp="1"/>
          </p:cNvSpPr>
          <p:nvPr>
            <p:ph type="title"/>
          </p:nvPr>
        </p:nvSpPr>
        <p:spPr>
          <a:xfrm>
            <a:off x="386715" y="140335"/>
            <a:ext cx="7772400" cy="533400"/>
          </a:xfrm>
        </p:spPr>
        <p:txBody>
          <a:bodyPr vert="horz" wrap="square" lIns="92075" tIns="46038" rIns="92075" bIns="46038" anchor="ctr"/>
          <a:p>
            <a:r>
              <a:rPr lang="zh-CN" altLang="en-US" sz="41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复制数组</a:t>
            </a:r>
            <a:endParaRPr lang="zh-CN" altLang="en-US" sz="41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7108" name="Rectangle 3"/>
          <p:cNvSpPr>
            <a:spLocks noGrp="1"/>
          </p:cNvSpPr>
          <p:nvPr>
            <p:ph idx="1"/>
          </p:nvPr>
        </p:nvSpPr>
        <p:spPr>
          <a:xfrm>
            <a:off x="309563" y="1143000"/>
            <a:ext cx="8605837" cy="2209800"/>
          </a:xfrm>
        </p:spPr>
        <p:txBody>
          <a:bodyPr vert="horz" wrap="square" lIns="92075" tIns="46038" rIns="92075" bIns="46038" anchor="t"/>
          <a:p>
            <a:pPr marL="0" indent="0">
              <a:lnSpc>
                <a:spcPct val="80000"/>
              </a:lnSpc>
              <a:buNone/>
            </a:pPr>
            <a:r>
              <a:rPr lang="zh-CN" altLang="en-US" sz="2500" dirty="0">
                <a:ea typeface="宋体" panose="02010600030101010101" pitchFamily="2" charset="-122"/>
              </a:rPr>
              <a:t>在程序中，你经常需要复制一个数组或数组的一部分。</a:t>
            </a:r>
            <a:r>
              <a:rPr lang="zh-CN" altLang="en-US" sz="2500" dirty="0">
                <a:ea typeface="宋体" panose="02010600030101010101" pitchFamily="2" charset="-122"/>
                <a:sym typeface="Arial" panose="020B0604020202020204" pitchFamily="34" charset="0"/>
              </a:rPr>
              <a:t>在这种情况下，你可能会尝试使用赋值语句（</a:t>
            </a:r>
            <a:r>
              <a:rPr lang="en-US" altLang="zh-CN" sz="2500" dirty="0">
                <a:ea typeface="宋体" panose="02010600030101010101" pitchFamily="2" charset="-122"/>
                <a:sym typeface="Arial" panose="020B0604020202020204" pitchFamily="34" charset="0"/>
              </a:rPr>
              <a:t>=</a:t>
            </a:r>
            <a:r>
              <a:rPr lang="zh-CN" altLang="en-US" sz="2500" dirty="0">
                <a:ea typeface="宋体" panose="02010600030101010101" pitchFamily="2" charset="-122"/>
                <a:sym typeface="Arial" panose="020B0604020202020204" pitchFamily="34" charset="0"/>
              </a:rPr>
              <a:t>），如下所示：</a:t>
            </a:r>
            <a:r>
              <a:rPr lang="zh-CN" altLang="en-US" dirty="0">
                <a:ea typeface="宋体" panose="02010600030101010101" pitchFamily="2" charset="-122"/>
              </a:rPr>
              <a:t> </a:t>
            </a:r>
            <a:endParaRPr lang="zh-CN" altLang="en-US" dirty="0">
              <a:ea typeface="宋体" panose="02010600030101010101" pitchFamily="2" charset="-122"/>
            </a:endParaRPr>
          </a:p>
          <a:p>
            <a:pPr marL="0" indent="0">
              <a:lnSpc>
                <a:spcPct val="80000"/>
              </a:lnSpc>
              <a:buNone/>
            </a:pPr>
            <a:endParaRPr lang="en-US" altLang="zh-CN" sz="2400" dirty="0">
              <a:ea typeface="宋体" panose="02010600030101010101" pitchFamily="2" charset="-122"/>
            </a:endParaRPr>
          </a:p>
          <a:p>
            <a:pPr marL="0" indent="0">
              <a:lnSpc>
                <a:spcPct val="80000"/>
              </a:lnSpc>
              <a:buNone/>
            </a:pPr>
            <a:r>
              <a:rPr lang="en-US" altLang="zh-CN" sz="2400" dirty="0">
                <a:ea typeface="宋体" panose="02010600030101010101" pitchFamily="2" charset="-122"/>
              </a:rPr>
              <a:t>list2 = list1;</a:t>
            </a:r>
            <a:endParaRPr lang="en-US" altLang="zh-CN" sz="2400" dirty="0">
              <a:ea typeface="宋体" panose="02010600030101010101" pitchFamily="2" charset="-122"/>
            </a:endParaRPr>
          </a:p>
          <a:p>
            <a:pPr marL="0" indent="0">
              <a:lnSpc>
                <a:spcPct val="80000"/>
              </a:lnSpc>
              <a:buNone/>
            </a:pPr>
            <a:r>
              <a:rPr lang="en-US" altLang="zh-CN" dirty="0">
                <a:ea typeface="宋体" panose="02010600030101010101" pitchFamily="2" charset="-122"/>
              </a:rPr>
              <a:t> 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graphicFrame>
        <p:nvGraphicFramePr>
          <p:cNvPr id="47109" name="Object 4"/>
          <p:cNvGraphicFramePr>
            <a:graphicFrameLocks noChangeAspect="1"/>
          </p:cNvGraphicFramePr>
          <p:nvPr/>
        </p:nvGraphicFramePr>
        <p:xfrm>
          <a:off x="1538288" y="2814638"/>
          <a:ext cx="7239000" cy="3805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7" name="" r:id="rId1" imgW="4695825" imgH="2476500" progId="Word.Picture.8">
                  <p:embed/>
                </p:oleObj>
              </mc:Choice>
              <mc:Fallback>
                <p:oleObj name="" r:id="rId1" imgW="4695825" imgH="2476500" progId="Word.Picture.8">
                  <p:embed/>
                  <p:pic>
                    <p:nvPicPr>
                      <p:cNvPr id="0" name="图片 3096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538288" y="2814638"/>
                        <a:ext cx="7239000" cy="38052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8130" name="灯片编号占位符 4"/>
          <p:cNvSpPr txBox="1">
            <a:spLocks noGrp="1"/>
          </p:cNvSpPr>
          <p:nvPr>
            <p:ph type="sldNum" sz="quarter" idx="11"/>
          </p:nvPr>
        </p:nvSpPr>
        <p:spPr/>
        <p:txBody>
          <a:bodyPr wrap="none" lIns="92075" tIns="46038" rIns="92075" bIns="46038" anchor="ctr"/>
          <a:p>
            <a:pPr marL="0" indent="0" algn="r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zh-CN" altLang="en-US" sz="1400" dirty="0">
                <a:ea typeface="宋体" panose="02010600030101010101" pitchFamily="2" charset="-122"/>
              </a:rPr>
            </a:fld>
            <a:endParaRPr lang="zh-CN" altLang="en-US" sz="1400" dirty="0">
              <a:ea typeface="宋体" panose="02010600030101010101" pitchFamily="2" charset="-122"/>
            </a:endParaRPr>
          </a:p>
        </p:txBody>
      </p:sp>
      <p:sp>
        <p:nvSpPr>
          <p:cNvPr id="48131" name="Rectangle 2"/>
          <p:cNvSpPr>
            <a:spLocks noGrp="1"/>
          </p:cNvSpPr>
          <p:nvPr>
            <p:ph type="title"/>
          </p:nvPr>
        </p:nvSpPr>
        <p:spPr>
          <a:xfrm>
            <a:off x="299085" y="0"/>
            <a:ext cx="7772400" cy="871220"/>
          </a:xfrm>
        </p:spPr>
        <p:txBody>
          <a:bodyPr vert="horz" wrap="square" lIns="92075" tIns="46038" rIns="92075" bIns="46038" anchor="ctr"/>
          <a:p>
            <a:r>
              <a:rPr lang="zh-CN" altLang="en-US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复制数组</a:t>
            </a:r>
            <a:endParaRPr lang="zh-CN" altLang="en-US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8132" name="Rectangle 3"/>
          <p:cNvSpPr>
            <a:spLocks noGrp="1"/>
          </p:cNvSpPr>
          <p:nvPr>
            <p:ph idx="1"/>
          </p:nvPr>
        </p:nvSpPr>
        <p:spPr>
          <a:xfrm>
            <a:off x="381000" y="1371600"/>
            <a:ext cx="8458200" cy="4114800"/>
          </a:xfrm>
        </p:spPr>
        <p:txBody>
          <a:bodyPr vert="horz" wrap="square" lIns="92075" tIns="46038" rIns="92075" bIns="46038" anchor="t"/>
          <a:p>
            <a:pPr>
              <a:lnSpc>
                <a:spcPct val="90000"/>
              </a:lnSpc>
              <a:buNone/>
            </a:pPr>
            <a:r>
              <a:rPr lang="zh-CN" altLang="en-US" sz="3400" dirty="0">
                <a:ea typeface="宋体" panose="02010600030101010101" pitchFamily="2" charset="-122"/>
              </a:rPr>
              <a:t>使用循环：</a:t>
            </a:r>
            <a:endParaRPr lang="zh-CN" altLang="en-US" sz="3400" dirty="0"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  <a:spcBef>
                <a:spcPct val="50000"/>
              </a:spcBef>
              <a:buNone/>
            </a:pPr>
            <a:r>
              <a:rPr lang="en-US" altLang="zh-CN" sz="2800" dirty="0">
                <a:latin typeface="Courier New" panose="02070309020205020404" charset="0"/>
                <a:ea typeface="宋体" panose="02010600030101010101" pitchFamily="2" charset="-122"/>
              </a:rPr>
              <a:t>int[] sourceArray = {2, 3, 1, 5, 10};</a:t>
            </a:r>
            <a:endParaRPr lang="en-US" altLang="zh-CN" sz="2800" dirty="0">
              <a:latin typeface="Courier New" panose="02070309020205020404" charset="0"/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  <a:buNone/>
            </a:pPr>
            <a:r>
              <a:rPr lang="en-US" altLang="zh-CN" sz="2800" dirty="0">
                <a:latin typeface="Courier New" panose="02070309020205020404" charset="0"/>
                <a:ea typeface="宋体" panose="02010600030101010101" pitchFamily="2" charset="-122"/>
              </a:rPr>
              <a:t>int[] targetArray = new int[sourceArray.length];</a:t>
            </a:r>
            <a:endParaRPr lang="en-US" altLang="zh-CN" sz="2800" dirty="0">
              <a:latin typeface="Courier New" panose="02070309020205020404" charset="0"/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  <a:buNone/>
            </a:pPr>
            <a:endParaRPr lang="en-US" altLang="zh-CN" sz="2800" dirty="0">
              <a:latin typeface="Courier New" panose="02070309020205020404" charset="0"/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  <a:buNone/>
            </a:pPr>
            <a:r>
              <a:rPr lang="en-US" altLang="zh-CN" sz="2800" dirty="0">
                <a:latin typeface="Courier New" panose="02070309020205020404" charset="0"/>
                <a:ea typeface="宋体" panose="02010600030101010101" pitchFamily="2" charset="-122"/>
              </a:rPr>
              <a:t>for (int i = 0; i &lt; sourceArrays.length; i++)</a:t>
            </a:r>
            <a:endParaRPr lang="en-US" altLang="zh-CN" sz="2800" dirty="0">
              <a:latin typeface="Courier New" panose="02070309020205020404" charset="0"/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  <a:buNone/>
            </a:pPr>
            <a:r>
              <a:rPr lang="en-US" altLang="zh-CN" sz="2800" dirty="0">
                <a:latin typeface="Courier New" panose="02070309020205020404" charset="0"/>
                <a:ea typeface="宋体" panose="02010600030101010101" pitchFamily="2" charset="-122"/>
              </a:rPr>
              <a:t>   targetArray[i] = sourceArray[i];</a:t>
            </a:r>
            <a:endParaRPr lang="en-US" altLang="zh-CN" sz="2800" dirty="0">
              <a:latin typeface="Courier New" panose="02070309020205020404" charset="0"/>
              <a:ea typeface="宋体" panose="02010600030101010101" pitchFamily="2" charset="-122"/>
            </a:endParaRPr>
          </a:p>
          <a:p>
            <a:pPr algn="just">
              <a:lnSpc>
                <a:spcPct val="90000"/>
              </a:lnSpc>
              <a:buNone/>
            </a:pPr>
            <a:endParaRPr lang="zh-CN" altLang="en-US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9154" name="灯片编号占位符 4"/>
          <p:cNvSpPr txBox="1">
            <a:spLocks noGrp="1"/>
          </p:cNvSpPr>
          <p:nvPr>
            <p:ph type="sldNum" sz="quarter" idx="11"/>
          </p:nvPr>
        </p:nvSpPr>
        <p:spPr/>
        <p:txBody>
          <a:bodyPr wrap="none" lIns="92075" tIns="46038" rIns="92075" bIns="46038" anchor="ctr"/>
          <a:p>
            <a:pPr marL="0" indent="0" algn="r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zh-CN" altLang="en-US" sz="1400" dirty="0">
                <a:ea typeface="宋体" panose="02010600030101010101" pitchFamily="2" charset="-122"/>
              </a:rPr>
            </a:fld>
            <a:endParaRPr lang="zh-CN" altLang="en-US" sz="1400" dirty="0">
              <a:ea typeface="宋体" panose="02010600030101010101" pitchFamily="2" charset="-122"/>
            </a:endParaRPr>
          </a:p>
        </p:txBody>
      </p:sp>
      <p:sp>
        <p:nvSpPr>
          <p:cNvPr id="49155" name="Rectangle 2"/>
          <p:cNvSpPr>
            <a:spLocks noGrp="1"/>
          </p:cNvSpPr>
          <p:nvPr>
            <p:ph type="title"/>
          </p:nvPr>
        </p:nvSpPr>
        <p:spPr>
          <a:xfrm>
            <a:off x="238760" y="-172085"/>
            <a:ext cx="7772400" cy="1017270"/>
          </a:xfrm>
        </p:spPr>
        <p:txBody>
          <a:bodyPr vert="horz" wrap="square" lIns="92075" tIns="46038" rIns="92075" bIns="46038" anchor="ctr"/>
          <a:p>
            <a:r>
              <a:rPr lang="zh-CN" altLang="en-US" sz="4800" b="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en-US" altLang="zh-CN" sz="4600" b="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arraycopy</a:t>
            </a:r>
            <a:r>
              <a:rPr lang="zh-CN" altLang="en-US" sz="4600" b="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工具</a:t>
            </a:r>
            <a:endParaRPr lang="zh-CN" altLang="en-US" sz="4600" b="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49156" name="Rectangle 3"/>
          <p:cNvSpPr>
            <a:spLocks noGrp="1"/>
          </p:cNvSpPr>
          <p:nvPr>
            <p:ph idx="1"/>
          </p:nvPr>
        </p:nvSpPr>
        <p:spPr>
          <a:xfrm>
            <a:off x="838200" y="1371600"/>
            <a:ext cx="7772400" cy="4114800"/>
          </a:xfrm>
        </p:spPr>
        <p:txBody>
          <a:bodyPr vert="horz" wrap="square" lIns="92075" tIns="46038" rIns="92075" bIns="46038" anchor="t"/>
          <a:p>
            <a:pPr>
              <a:lnSpc>
                <a:spcPct val="80000"/>
              </a:lnSpc>
              <a:buNone/>
            </a:pPr>
            <a:r>
              <a:rPr lang="en-US" altLang="zh-CN" sz="2800" dirty="0">
                <a:latin typeface="Courier New" panose="02070309020205020404" charset="0"/>
                <a:ea typeface="宋体" panose="02010600030101010101" pitchFamily="2" charset="-122"/>
              </a:rPr>
              <a:t>arraycopy(sourceArray, src_pos, targetArray, tar_pos, length);</a:t>
            </a:r>
            <a:endParaRPr lang="en-US" altLang="zh-CN" sz="2800" dirty="0">
              <a:latin typeface="Book Antiqua" panose="0204060205030503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80000"/>
              </a:lnSpc>
              <a:buNone/>
            </a:pPr>
            <a:endParaRPr lang="en-US" altLang="zh-CN" sz="2800" dirty="0">
              <a:ea typeface="宋体" panose="02010600030101010101" pitchFamily="2" charset="-122"/>
            </a:endParaRPr>
          </a:p>
          <a:p>
            <a:pPr algn="just">
              <a:lnSpc>
                <a:spcPct val="80000"/>
              </a:lnSpc>
              <a:spcBef>
                <a:spcPct val="0"/>
              </a:spcBef>
              <a:buNone/>
            </a:pPr>
            <a:r>
              <a:rPr lang="zh-CN" altLang="en-US" sz="2800" dirty="0">
                <a:ea typeface="宋体" panose="02010600030101010101" pitchFamily="2" charset="-122"/>
              </a:rPr>
              <a:t>例如：</a:t>
            </a:r>
            <a:endParaRPr lang="zh-CN" altLang="en-US" sz="2800" dirty="0">
              <a:ea typeface="宋体" panose="02010600030101010101" pitchFamily="2" charset="-122"/>
            </a:endParaRPr>
          </a:p>
          <a:p>
            <a:pPr algn="just">
              <a:lnSpc>
                <a:spcPct val="80000"/>
              </a:lnSpc>
              <a:spcBef>
                <a:spcPct val="0"/>
              </a:spcBef>
              <a:buNone/>
            </a:pPr>
            <a:endParaRPr lang="zh-CN" altLang="en-US" sz="2800" dirty="0">
              <a:ea typeface="宋体" panose="02010600030101010101" pitchFamily="2" charset="-122"/>
            </a:endParaRPr>
          </a:p>
          <a:p>
            <a:pPr>
              <a:lnSpc>
                <a:spcPct val="80000"/>
              </a:lnSpc>
              <a:buNone/>
            </a:pPr>
            <a:r>
              <a:rPr lang="en-US" altLang="zh-CN" sz="2800" dirty="0">
                <a:latin typeface="Courier New" panose="02070309020205020404" charset="0"/>
                <a:ea typeface="宋体" panose="02010600030101010101" pitchFamily="2" charset="-122"/>
              </a:rPr>
              <a:t>System.arraycopy(sourceArray, 0, targetArray, 0, sourceArray.length);</a:t>
            </a:r>
            <a:r>
              <a:rPr lang="en-US" altLang="zh-CN" sz="3400" dirty="0">
                <a:latin typeface="Courier New" panose="02070309020205020404" charset="0"/>
                <a:ea typeface="宋体" panose="02010600030101010101" pitchFamily="2" charset="-122"/>
              </a:rPr>
              <a:t> </a:t>
            </a:r>
            <a:endParaRPr lang="en-US" altLang="zh-CN" dirty="0">
              <a:latin typeface="Courier New" panose="020703090202050204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0178" name="灯片编号占位符 4"/>
          <p:cNvSpPr txBox="1">
            <a:spLocks noGrp="1"/>
          </p:cNvSpPr>
          <p:nvPr>
            <p:ph type="sldNum" sz="quarter" idx="11"/>
          </p:nvPr>
        </p:nvSpPr>
        <p:spPr/>
        <p:txBody>
          <a:bodyPr wrap="none" lIns="92075" tIns="46038" rIns="92075" bIns="46038" anchor="ctr"/>
          <a:p>
            <a:pPr marL="0" indent="0" algn="r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zh-CN" altLang="en-US" sz="1400" dirty="0">
                <a:ea typeface="宋体" panose="02010600030101010101" pitchFamily="2" charset="-122"/>
              </a:rPr>
            </a:fld>
            <a:endParaRPr lang="zh-CN" altLang="en-US" sz="1400" dirty="0">
              <a:ea typeface="宋体" panose="02010600030101010101" pitchFamily="2" charset="-122"/>
            </a:endParaRPr>
          </a:p>
        </p:txBody>
      </p:sp>
      <p:sp>
        <p:nvSpPr>
          <p:cNvPr id="50179" name="Rectangle 2"/>
          <p:cNvSpPr>
            <a:spLocks noGrp="1"/>
          </p:cNvSpPr>
          <p:nvPr>
            <p:ph type="title"/>
          </p:nvPr>
        </p:nvSpPr>
        <p:spPr>
          <a:xfrm>
            <a:off x="146050" y="0"/>
            <a:ext cx="7772400" cy="838200"/>
          </a:xfrm>
        </p:spPr>
        <p:txBody>
          <a:bodyPr vert="horz" wrap="square" lIns="92075" tIns="46038" rIns="92075" bIns="46038" anchor="ctr"/>
          <a:p>
            <a:r>
              <a:rPr lang="zh-CN" altLang="en-US" sz="28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传递数组给方法</a:t>
            </a:r>
            <a:endParaRPr lang="zh-CN" altLang="en-US" sz="28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0180" name="Rectangle 3"/>
          <p:cNvSpPr>
            <a:spLocks noGrp="1"/>
          </p:cNvSpPr>
          <p:nvPr>
            <p:ph idx="1"/>
          </p:nvPr>
        </p:nvSpPr>
        <p:spPr>
          <a:xfrm>
            <a:off x="304800" y="1143000"/>
            <a:ext cx="6400800" cy="1676400"/>
          </a:xfrm>
        </p:spPr>
        <p:txBody>
          <a:bodyPr vert="horz" wrap="square" lIns="92075" tIns="46038" rIns="92075" bIns="46038" anchor="t"/>
          <a:p>
            <a:pPr marL="0" indent="0">
              <a:lnSpc>
                <a:spcPct val="90000"/>
              </a:lnSpc>
              <a:buNone/>
            </a:pPr>
            <a:r>
              <a:rPr lang="en-US" altLang="zh-CN" sz="1800" dirty="0">
                <a:latin typeface="Courier New" panose="02070309020205020404" charset="0"/>
                <a:ea typeface="宋体" panose="02010600030101010101" pitchFamily="2" charset="-122"/>
              </a:rPr>
              <a:t>public static void printArray(int[] array) {</a:t>
            </a:r>
            <a:endParaRPr lang="en-US" altLang="zh-CN" sz="1800" dirty="0">
              <a:latin typeface="Courier" charset="0"/>
              <a:ea typeface="宋体" panose="02010600030101010101" pitchFamily="2" charset="-122"/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en-US" altLang="zh-CN" sz="1800" dirty="0">
                <a:latin typeface="Courier New" panose="02070309020205020404" charset="0"/>
                <a:ea typeface="宋体" panose="02010600030101010101" pitchFamily="2" charset="-122"/>
              </a:rPr>
              <a:t>  for (int i = 0; i &lt; array.length; i++) {</a:t>
            </a:r>
            <a:endParaRPr lang="en-US" altLang="zh-CN" sz="1800" dirty="0">
              <a:latin typeface="Courier" charset="0"/>
              <a:ea typeface="宋体" panose="02010600030101010101" pitchFamily="2" charset="-122"/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en-US" altLang="zh-CN" sz="1800" dirty="0">
                <a:latin typeface="Courier New" panose="02070309020205020404" charset="0"/>
                <a:ea typeface="宋体" panose="02010600030101010101" pitchFamily="2" charset="-122"/>
              </a:rPr>
              <a:t>    System.out.print(array[i] + " ");</a:t>
            </a:r>
            <a:endParaRPr lang="en-US" altLang="zh-CN" sz="1800" dirty="0">
              <a:latin typeface="Courier" charset="0"/>
              <a:ea typeface="宋体" panose="02010600030101010101" pitchFamily="2" charset="-122"/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en-US" altLang="zh-CN" sz="1800" dirty="0">
                <a:latin typeface="Courier New" panose="02070309020205020404" charset="0"/>
                <a:ea typeface="宋体" panose="02010600030101010101" pitchFamily="2" charset="-122"/>
              </a:rPr>
              <a:t>  }</a:t>
            </a:r>
            <a:endParaRPr lang="en-US" altLang="zh-CN" sz="1800" dirty="0">
              <a:latin typeface="Courier" charset="0"/>
              <a:ea typeface="宋体" panose="02010600030101010101" pitchFamily="2" charset="-122"/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en-US" altLang="zh-CN" sz="1800" dirty="0">
                <a:latin typeface="Courier New" panose="02070309020205020404" charset="0"/>
                <a:ea typeface="宋体" panose="02010600030101010101" pitchFamily="2" charset="-122"/>
              </a:rPr>
              <a:t>}</a:t>
            </a:r>
            <a:r>
              <a:rPr lang="en-US" altLang="zh-CN" sz="1800" dirty="0">
                <a:ea typeface="宋体" panose="02010600030101010101" pitchFamily="2" charset="-122"/>
              </a:rPr>
              <a:t> </a:t>
            </a:r>
            <a:endParaRPr lang="en-US" altLang="zh-CN" sz="1800" dirty="0">
              <a:ea typeface="宋体" panose="02010600030101010101" pitchFamily="2" charset="-122"/>
            </a:endParaRPr>
          </a:p>
        </p:txBody>
      </p:sp>
      <p:sp>
        <p:nvSpPr>
          <p:cNvPr id="50181" name="Rectangle 4"/>
          <p:cNvSpPr/>
          <p:nvPr/>
        </p:nvSpPr>
        <p:spPr>
          <a:xfrm>
            <a:off x="1371600" y="3124200"/>
            <a:ext cx="6934200" cy="1295400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F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90000"/>
              </a:lnSpc>
              <a:buNone/>
            </a:pPr>
            <a:r>
              <a:rPr lang="en-US" altLang="zh-CN" sz="1800" dirty="0">
                <a:latin typeface="Courier New" panose="02070309020205020404" charset="0"/>
                <a:ea typeface="宋体" panose="02010600030101010101" pitchFamily="2" charset="-122"/>
              </a:rPr>
              <a:t>Invoke the method</a:t>
            </a:r>
            <a:endParaRPr lang="en-US" altLang="zh-CN" sz="1800" dirty="0">
              <a:latin typeface="Courier New" panose="02070309020205020404" charset="0"/>
              <a:ea typeface="宋体" panose="02010600030101010101" pitchFamily="2" charset="-122"/>
            </a:endParaRPr>
          </a:p>
          <a:p>
            <a:pPr marL="0" lvl="0" indent="0">
              <a:lnSpc>
                <a:spcPct val="90000"/>
              </a:lnSpc>
              <a:buNone/>
            </a:pPr>
            <a:endParaRPr lang="en-US" altLang="zh-CN" sz="1800" dirty="0">
              <a:latin typeface="Courier New" panose="02070309020205020404" charset="0"/>
              <a:ea typeface="宋体" panose="02010600030101010101" pitchFamily="2" charset="-122"/>
            </a:endParaRPr>
          </a:p>
          <a:p>
            <a:pPr marL="0" lvl="0" indent="0">
              <a:lnSpc>
                <a:spcPct val="90000"/>
              </a:lnSpc>
              <a:buNone/>
            </a:pPr>
            <a:r>
              <a:rPr lang="en-US" altLang="zh-CN" sz="1800" dirty="0">
                <a:latin typeface="Courier New" panose="02070309020205020404" charset="0"/>
                <a:ea typeface="宋体" panose="02010600030101010101" pitchFamily="2" charset="-122"/>
              </a:rPr>
              <a:t>int[] list = {3, 1, 2, 6, 4, 2};</a:t>
            </a:r>
            <a:endParaRPr lang="en-US" altLang="zh-CN" sz="1800" dirty="0">
              <a:latin typeface="Courier New" panose="02070309020205020404" charset="0"/>
              <a:ea typeface="宋体" panose="02010600030101010101" pitchFamily="2" charset="-122"/>
            </a:endParaRPr>
          </a:p>
          <a:p>
            <a:pPr marL="0" lvl="0" indent="0">
              <a:lnSpc>
                <a:spcPct val="90000"/>
              </a:lnSpc>
              <a:buNone/>
            </a:pPr>
            <a:r>
              <a:rPr lang="en-US" altLang="zh-CN" sz="1800" dirty="0">
                <a:latin typeface="Courier New" panose="02070309020205020404" charset="0"/>
                <a:ea typeface="宋体" panose="02010600030101010101" pitchFamily="2" charset="-122"/>
              </a:rPr>
              <a:t>printArray(list);</a:t>
            </a:r>
            <a:endParaRPr lang="en-US" altLang="zh-CN" sz="1800" dirty="0">
              <a:latin typeface="Courier New" panose="02070309020205020404" charset="0"/>
              <a:ea typeface="宋体" panose="02010600030101010101" pitchFamily="2" charset="-122"/>
            </a:endParaRPr>
          </a:p>
        </p:txBody>
      </p:sp>
      <p:sp>
        <p:nvSpPr>
          <p:cNvPr id="50182" name="Line 5"/>
          <p:cNvSpPr/>
          <p:nvPr/>
        </p:nvSpPr>
        <p:spPr>
          <a:xfrm flipV="1">
            <a:off x="3276600" y="1447800"/>
            <a:ext cx="2286000" cy="2667000"/>
          </a:xfrm>
          <a:prstGeom prst="line">
            <a:avLst/>
          </a:prstGeom>
          <a:ln w="12700" cap="flat" cmpd="sng">
            <a:solidFill>
              <a:srgbClr val="FF0000"/>
            </a:solidFill>
            <a:prstDash val="solid"/>
            <a:headEnd type="none" w="med" len="med"/>
            <a:tailEnd type="stealth" w="sm" len="sm"/>
          </a:ln>
        </p:spPr>
      </p:sp>
      <p:sp>
        <p:nvSpPr>
          <p:cNvPr id="50183" name="Rectangle 6"/>
          <p:cNvSpPr/>
          <p:nvPr/>
        </p:nvSpPr>
        <p:spPr>
          <a:xfrm>
            <a:off x="2438400" y="4724400"/>
            <a:ext cx="6934200" cy="1295400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F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90000"/>
              </a:lnSpc>
              <a:buNone/>
            </a:pPr>
            <a:r>
              <a:rPr lang="en-US" altLang="zh-CN" sz="1800" dirty="0">
                <a:latin typeface="Courier New" panose="02070309020205020404" charset="0"/>
                <a:ea typeface="宋体" panose="02010600030101010101" pitchFamily="2" charset="-122"/>
              </a:rPr>
              <a:t>Invoke the method</a:t>
            </a:r>
            <a:endParaRPr lang="en-US" altLang="zh-CN" sz="1800" dirty="0">
              <a:latin typeface="Courier New" panose="02070309020205020404" charset="0"/>
              <a:ea typeface="宋体" panose="02010600030101010101" pitchFamily="2" charset="-122"/>
            </a:endParaRPr>
          </a:p>
          <a:p>
            <a:pPr marL="0" lvl="0" indent="0">
              <a:lnSpc>
                <a:spcPct val="90000"/>
              </a:lnSpc>
              <a:buNone/>
            </a:pPr>
            <a:r>
              <a:rPr lang="en-US" altLang="zh-CN" sz="1800" dirty="0">
                <a:latin typeface="Courier New" panose="02070309020205020404" charset="0"/>
                <a:ea typeface="宋体" panose="02010600030101010101" pitchFamily="2" charset="-122"/>
              </a:rPr>
              <a:t>printArray(new int[]{3, 1, 2, 6, 4, 2});</a:t>
            </a:r>
            <a:endParaRPr lang="en-US" altLang="zh-CN" sz="1800" dirty="0">
              <a:latin typeface="Courier New" panose="02070309020205020404" charset="0"/>
              <a:ea typeface="宋体" panose="02010600030101010101" pitchFamily="2" charset="-122"/>
            </a:endParaRPr>
          </a:p>
        </p:txBody>
      </p:sp>
      <p:sp>
        <p:nvSpPr>
          <p:cNvPr id="50184" name="Line 7"/>
          <p:cNvSpPr/>
          <p:nvPr/>
        </p:nvSpPr>
        <p:spPr>
          <a:xfrm flipH="1" flipV="1">
            <a:off x="5715000" y="1447800"/>
            <a:ext cx="609600" cy="3505200"/>
          </a:xfrm>
          <a:prstGeom prst="line">
            <a:avLst/>
          </a:prstGeom>
          <a:ln w="12700" cap="flat" cmpd="sng">
            <a:solidFill>
              <a:srgbClr val="FF0000"/>
            </a:solidFill>
            <a:prstDash val="solid"/>
            <a:headEnd type="none" w="med" len="med"/>
            <a:tailEnd type="stealth" w="sm" len="sm"/>
          </a:ln>
        </p:spPr>
      </p:sp>
      <p:sp>
        <p:nvSpPr>
          <p:cNvPr id="50185" name="Line 8"/>
          <p:cNvSpPr/>
          <p:nvPr/>
        </p:nvSpPr>
        <p:spPr>
          <a:xfrm flipH="1" flipV="1">
            <a:off x="5943600" y="5410200"/>
            <a:ext cx="0" cy="228600"/>
          </a:xfrm>
          <a:prstGeom prst="line">
            <a:avLst/>
          </a:prstGeom>
          <a:ln w="12700" cap="flat" cmpd="sng">
            <a:solidFill>
              <a:srgbClr val="FF0000"/>
            </a:solidFill>
            <a:prstDash val="solid"/>
            <a:headEnd type="none" w="med" len="med"/>
            <a:tailEnd type="stealth" w="sm" len="sm"/>
          </a:ln>
        </p:spPr>
      </p:sp>
      <p:sp>
        <p:nvSpPr>
          <p:cNvPr id="50186" name="Line 9"/>
          <p:cNvSpPr/>
          <p:nvPr/>
        </p:nvSpPr>
        <p:spPr>
          <a:xfrm>
            <a:off x="4038600" y="5410200"/>
            <a:ext cx="3581400" cy="0"/>
          </a:xfrm>
          <a:prstGeom prst="line">
            <a:avLst/>
          </a:prstGeom>
          <a:ln w="12700" cap="flat" cmpd="sng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0187" name="Rectangle 10"/>
          <p:cNvSpPr/>
          <p:nvPr/>
        </p:nvSpPr>
        <p:spPr>
          <a:xfrm>
            <a:off x="4800600" y="5715000"/>
            <a:ext cx="2362200" cy="304800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F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>
              <a:lnSpc>
                <a:spcPct val="90000"/>
              </a:lnSpc>
              <a:buNone/>
            </a:pPr>
            <a:r>
              <a:rPr lang="zh-CN" altLang="en-US" sz="1800" dirty="0">
                <a:latin typeface="Courier New" panose="02070309020205020404" charset="0"/>
                <a:ea typeface="宋体" panose="02010600030101010101" pitchFamily="2" charset="-122"/>
              </a:rPr>
              <a:t>匿名数组</a:t>
            </a:r>
            <a:endParaRPr lang="zh-CN" altLang="en-US" sz="1800" dirty="0">
              <a:latin typeface="Courier New" panose="020703090202050204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1202" name="灯片编号占位符 4"/>
          <p:cNvSpPr txBox="1">
            <a:spLocks noGrp="1"/>
          </p:cNvSpPr>
          <p:nvPr>
            <p:ph type="sldNum" sz="quarter" idx="11"/>
          </p:nvPr>
        </p:nvSpPr>
        <p:spPr/>
        <p:txBody>
          <a:bodyPr wrap="none" lIns="92075" tIns="46038" rIns="92075" bIns="46038" anchor="ctr"/>
          <a:p>
            <a:pPr marL="0" indent="0" algn="r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zh-CN" altLang="en-US" sz="1400" dirty="0">
                <a:ea typeface="宋体" panose="02010600030101010101" pitchFamily="2" charset="-122"/>
              </a:rPr>
            </a:fld>
            <a:endParaRPr lang="zh-CN" altLang="en-US" sz="1400" dirty="0">
              <a:ea typeface="宋体" panose="02010600030101010101" pitchFamily="2" charset="-122"/>
            </a:endParaRPr>
          </a:p>
        </p:txBody>
      </p:sp>
      <p:sp>
        <p:nvSpPr>
          <p:cNvPr id="51203" name="Rectangle 2"/>
          <p:cNvSpPr>
            <a:spLocks noGrp="1"/>
          </p:cNvSpPr>
          <p:nvPr>
            <p:ph type="title"/>
          </p:nvPr>
        </p:nvSpPr>
        <p:spPr>
          <a:xfrm>
            <a:off x="228600" y="0"/>
            <a:ext cx="8915400" cy="762000"/>
          </a:xfrm>
        </p:spPr>
        <p:txBody>
          <a:bodyPr vert="horz" wrap="square" lIns="92075" tIns="46038" rIns="92075" bIns="46038" anchor="ctr"/>
          <a:p>
            <a:pPr>
              <a:buNone/>
            </a:pPr>
            <a:r>
              <a:rPr lang="zh-CN" altLang="en-US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匿名数组</a:t>
            </a:r>
            <a:endParaRPr lang="zh-CN" altLang="en-US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1204" name="Rectangle 3"/>
          <p:cNvSpPr>
            <a:spLocks noGrp="1"/>
          </p:cNvSpPr>
          <p:nvPr>
            <p:ph idx="1"/>
          </p:nvPr>
        </p:nvSpPr>
        <p:spPr>
          <a:xfrm>
            <a:off x="228600" y="1219200"/>
            <a:ext cx="8763000" cy="4495800"/>
          </a:xfrm>
        </p:spPr>
        <p:txBody>
          <a:bodyPr vert="horz" wrap="square" lIns="92075" tIns="46038" rIns="92075" bIns="46038" anchor="t"/>
          <a:p>
            <a:pPr marL="114300" lvl="1" indent="0">
              <a:spcBef>
                <a:spcPct val="50000"/>
              </a:spcBef>
              <a:buNone/>
            </a:pPr>
            <a:r>
              <a:rPr lang="zh-CN" altLang="en-US" sz="3200" dirty="0">
                <a:ea typeface="宋体" panose="02010600030101010101" pitchFamily="2" charset="-122"/>
              </a:rPr>
              <a:t>语句</a:t>
            </a:r>
            <a:endParaRPr lang="zh-CN" altLang="en-US" sz="3200" dirty="0">
              <a:ea typeface="宋体" panose="02010600030101010101" pitchFamily="2" charset="-122"/>
            </a:endParaRPr>
          </a:p>
          <a:p>
            <a:pPr lvl="2">
              <a:spcBef>
                <a:spcPct val="50000"/>
              </a:spcBef>
              <a:buNone/>
            </a:pPr>
            <a:r>
              <a:rPr lang="en-US" altLang="zh-CN" sz="2800" dirty="0">
                <a:ea typeface="宋体" panose="02010600030101010101" pitchFamily="2" charset="-122"/>
              </a:rPr>
              <a:t>printArray(new int[]{3, 1, 2, 6, 4, 2}); </a:t>
            </a:r>
            <a:endParaRPr lang="en-US" altLang="zh-CN" sz="2800" dirty="0">
              <a:ea typeface="宋体" panose="02010600030101010101" pitchFamily="2" charset="-122"/>
            </a:endParaRPr>
          </a:p>
          <a:p>
            <a:pPr marL="114300" lvl="1" indent="0">
              <a:spcBef>
                <a:spcPct val="50000"/>
              </a:spcBef>
              <a:buNone/>
            </a:pPr>
            <a:r>
              <a:rPr lang="zh-CN" altLang="en-US" sz="3200" dirty="0">
                <a:ea typeface="宋体" panose="02010600030101010101" pitchFamily="2" charset="-122"/>
              </a:rPr>
              <a:t>使用下面的语法创建一个数组：</a:t>
            </a:r>
            <a:endParaRPr lang="zh-CN" altLang="en-US" sz="3200" dirty="0">
              <a:ea typeface="宋体" panose="02010600030101010101" pitchFamily="2" charset="-122"/>
            </a:endParaRPr>
          </a:p>
          <a:p>
            <a:pPr lvl="2">
              <a:spcBef>
                <a:spcPct val="50000"/>
              </a:spcBef>
              <a:buNone/>
            </a:pPr>
            <a:r>
              <a:rPr lang="en-US" altLang="zh-CN" sz="2800" dirty="0">
                <a:ea typeface="宋体" panose="02010600030101010101" pitchFamily="2" charset="-122"/>
              </a:rPr>
              <a:t>new dataType[]{literal0, literal1, ..., literalk};</a:t>
            </a:r>
            <a:endParaRPr lang="en-US" altLang="zh-CN" sz="2800" dirty="0">
              <a:ea typeface="宋体" panose="02010600030101010101" pitchFamily="2" charset="-122"/>
            </a:endParaRPr>
          </a:p>
          <a:p>
            <a:pPr marL="114300" lvl="1" indent="0">
              <a:spcBef>
                <a:spcPct val="50000"/>
              </a:spcBef>
              <a:buNone/>
            </a:pPr>
            <a:r>
              <a:rPr lang="zh-CN" altLang="en-US" sz="3200" dirty="0">
                <a:ea typeface="宋体" panose="02010600030101010101" pitchFamily="2" charset="-122"/>
              </a:rPr>
              <a:t>这里没有数组的显式引用变量。这样的数组被称为</a:t>
            </a:r>
            <a:r>
              <a:rPr lang="zh-CN" altLang="en-US" sz="3200" i="1" dirty="0">
                <a:ea typeface="宋体" panose="02010600030101010101" pitchFamily="2" charset="-122"/>
              </a:rPr>
              <a:t>匿名数组</a:t>
            </a:r>
            <a:r>
              <a:rPr lang="zh-CN" altLang="en-US" sz="3200" dirty="0">
                <a:ea typeface="宋体" panose="02010600030101010101" pitchFamily="2" charset="-122"/>
              </a:rPr>
              <a:t>。</a:t>
            </a:r>
            <a:endParaRPr lang="zh-CN" altLang="en-US" sz="3200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226" name="灯片编号占位符 4"/>
          <p:cNvSpPr txBox="1">
            <a:spLocks noGrp="1"/>
          </p:cNvSpPr>
          <p:nvPr>
            <p:ph type="sldNum" sz="quarter" idx="11"/>
          </p:nvPr>
        </p:nvSpPr>
        <p:spPr/>
        <p:txBody>
          <a:bodyPr wrap="none" lIns="92075" tIns="46038" rIns="92075" bIns="46038" anchor="ctr"/>
          <a:p>
            <a:pPr marL="0" indent="0" algn="r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zh-CN" altLang="en-US" sz="1400" dirty="0">
                <a:ea typeface="宋体" panose="02010600030101010101" pitchFamily="2" charset="-122"/>
              </a:rPr>
            </a:fld>
            <a:endParaRPr lang="zh-CN" altLang="en-US" sz="1400" dirty="0">
              <a:ea typeface="宋体" panose="02010600030101010101" pitchFamily="2" charset="-122"/>
            </a:endParaRPr>
          </a:p>
        </p:txBody>
      </p:sp>
      <p:sp>
        <p:nvSpPr>
          <p:cNvPr id="52227" name="Rectangle 2"/>
          <p:cNvSpPr>
            <a:spLocks noGrp="1"/>
          </p:cNvSpPr>
          <p:nvPr>
            <p:ph type="title"/>
          </p:nvPr>
        </p:nvSpPr>
        <p:spPr>
          <a:xfrm>
            <a:off x="273050" y="0"/>
            <a:ext cx="7772400" cy="838200"/>
          </a:xfrm>
        </p:spPr>
        <p:txBody>
          <a:bodyPr vert="horz" wrap="square" lIns="92075" tIns="46038" rIns="92075" bIns="46038" anchor="ctr"/>
          <a:p>
            <a:r>
              <a:rPr lang="zh-CN" altLang="en-US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值传递</a:t>
            </a:r>
            <a:endParaRPr lang="zh-CN" altLang="en-US" b="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2228" name="Rectangle 3"/>
          <p:cNvSpPr>
            <a:spLocks noGrp="1"/>
          </p:cNvSpPr>
          <p:nvPr>
            <p:ph idx="1"/>
          </p:nvPr>
        </p:nvSpPr>
        <p:spPr>
          <a:xfrm>
            <a:off x="421005" y="1117283"/>
            <a:ext cx="8301038" cy="5334000"/>
          </a:xfrm>
        </p:spPr>
        <p:txBody>
          <a:bodyPr vert="horz" wrap="square" lIns="92075" tIns="46038" rIns="92075" bIns="46038" anchor="t"/>
          <a:p>
            <a:pPr>
              <a:lnSpc>
                <a:spcPct val="120000"/>
              </a:lnSpc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Java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使用值传递的方法传递实参给方法。传递基本数据类型变量的值与传递数组值会有很大不同。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>
              <a:lnSpc>
                <a:spcPct val="120000"/>
              </a:lnSpc>
              <a:buNone/>
            </a:pP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>
              <a:lnSpc>
                <a:spcPct val="120000"/>
              </a:lnSpc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对于基本数据类型参数，传递的是实参的值。在方法中改变局部参数的值并不影响方法之外变量的值。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>
              <a:lnSpc>
                <a:spcPct val="120000"/>
              </a:lnSpc>
            </a:pP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>
              <a:lnSpc>
                <a:spcPct val="120000"/>
              </a:lnSpc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对于数组类型参数，参数值是数组的引用，传递给方法的是这个引用。方法体中数组发生的改变，将会影响到作为参数传给方法的原始数组。</a:t>
            </a:r>
            <a:r>
              <a:rPr lang="zh-CN" altLang="en-US" sz="3400" dirty="0">
                <a:ea typeface="宋体" panose="02010600030101010101" pitchFamily="2" charset="-122"/>
              </a:rPr>
              <a:t> </a:t>
            </a:r>
            <a:endParaRPr lang="zh-CN" altLang="en-US" sz="3400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KSO_WM_UNIT_PLACING_PICTURE_USER_VIEWPORT" val="{&quot;height&quot;:6480,&quot;width&quot;:6821}"/>
</p:tagLst>
</file>

<file path=ppt/tags/tag2.xml><?xml version="1.0" encoding="utf-8"?>
<p:tagLst xmlns:p="http://schemas.openxmlformats.org/presentationml/2006/main">
  <p:tag name="KSO_WPP_MARK_KEY" val="a5a54108-ab03-4484-a96d-0d7016be043f"/>
  <p:tag name="COMMONDATA" val="eyJoZGlkIjoiMDQ5MTU2ZTc1NWM5MmVmN2NjNGZiZmE3NjI4MWI4NjAifQ=="/>
</p:tagLst>
</file>

<file path=ppt/theme/theme1.xml><?xml version="1.0" encoding="utf-8"?>
<a:theme xmlns:a="http://schemas.openxmlformats.org/drawingml/2006/main" name="由Nordri®（www.nordridesign.com ） 设计提供">
  <a:themeElements>
    <a:clrScheme name="自定义 56">
      <a:dk1>
        <a:sysClr val="windowText" lastClr="000000"/>
      </a:dk1>
      <a:lt1>
        <a:sysClr val="window" lastClr="FFFFFF"/>
      </a:lt1>
      <a:dk2>
        <a:srgbClr val="595959"/>
      </a:dk2>
      <a:lt2>
        <a:srgbClr val="D8D8D8"/>
      </a:lt2>
      <a:accent1>
        <a:srgbClr val="FFC000"/>
      </a:accent1>
      <a:accent2>
        <a:srgbClr val="6DAA2D"/>
      </a:accent2>
      <a:accent3>
        <a:srgbClr val="5F5F5F"/>
      </a:accent3>
      <a:accent4>
        <a:srgbClr val="777777"/>
      </a:accent4>
      <a:accent5>
        <a:srgbClr val="B2B2B2"/>
      </a:accent5>
      <a:accent6>
        <a:srgbClr val="DDDDDD"/>
      </a:accent6>
      <a:hlink>
        <a:srgbClr val="0070C0"/>
      </a:hlink>
      <a:folHlink>
        <a:srgbClr val="7030A0"/>
      </a:folHlink>
    </a:clrScheme>
    <a:fontScheme name="Nordri开发标准字体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rgbClr val="F1910E"/>
        </a:solidFill>
        <a:ln>
          <a:noFill/>
        </a:ln>
      </a:spPr>
      <a:bodyPr vert="horz" wrap="square" lIns="91440" tIns="45720" rIns="91440" bIns="45720" numCol="1" anchor="t" anchorCtr="0" compatLnSpc="1"/>
      <a:lstStyle>
        <a:defPPr>
          <a:defRPr/>
        </a:defPPr>
      </a:lstStyle>
    </a:spDef>
    <a:txDef>
      <a:spPr>
        <a:noFill/>
      </a:spPr>
      <a:bodyPr wrap="none" rtlCol="0">
        <a:spAutoFit/>
      </a:bodyPr>
      <a:lstStyle>
        <a:defPPr>
          <a:lnSpc>
            <a:spcPct val="120000"/>
          </a:lnSpc>
          <a:defRPr sz="1600" dirty="0" err="1" smtClean="0">
            <a:solidFill>
              <a:prstClr val="black"/>
            </a:solidFill>
            <a:latin typeface="Arial" panose="020B0604020202020204" pitchFamily="34" charset="0"/>
            <a:ea typeface="微软雅黑" panose="020B0503020204020204" pitchFamily="34" charset="-122"/>
            <a:cs typeface="Arial" panose="020B0604020202020204" pitchFamily="34" charset="0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0</TotalTime>
  <Words>6140</Words>
  <Application>WPS 演示</Application>
  <PresentationFormat>全屏显示(4:3)</PresentationFormat>
  <Paragraphs>440</Paragraphs>
  <Slides>46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19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16</vt:i4>
      </vt:variant>
      <vt:variant>
        <vt:lpstr>幻灯片标题</vt:lpstr>
      </vt:variant>
      <vt:variant>
        <vt:i4>46</vt:i4>
      </vt:variant>
    </vt:vector>
  </HeadingPairs>
  <TitlesOfParts>
    <vt:vector size="82" baseType="lpstr">
      <vt:lpstr>Arial</vt:lpstr>
      <vt:lpstr>宋体</vt:lpstr>
      <vt:lpstr>Wingdings</vt:lpstr>
      <vt:lpstr>微软雅黑</vt:lpstr>
      <vt:lpstr>黑体</vt:lpstr>
      <vt:lpstr>Times New Roman</vt:lpstr>
      <vt:lpstr>方正正大黑简体</vt:lpstr>
      <vt:lpstr>Calibri</vt:lpstr>
      <vt:lpstr>Wingdings</vt:lpstr>
      <vt:lpstr>Tahoma</vt:lpstr>
      <vt:lpstr>Monotype Sorts</vt:lpstr>
      <vt:lpstr>Courier New</vt:lpstr>
      <vt:lpstr>Arial Unicode MS</vt:lpstr>
      <vt:lpstr>Book Antiqua</vt:lpstr>
      <vt:lpstr>Courier</vt:lpstr>
      <vt:lpstr>Calibri</vt:lpstr>
      <vt:lpstr>Monotype Sorts</vt:lpstr>
      <vt:lpstr>方正正大黑简体</vt:lpstr>
      <vt:lpstr>Toots Regular</vt:lpstr>
      <vt:lpstr>由Nordri®（www.nordridesign.com ） 设计提供</vt:lpstr>
      <vt:lpstr>Word.Picture.8</vt:lpstr>
      <vt:lpstr>Word.Picture.8</vt:lpstr>
      <vt:lpstr>Word.Picture.8</vt:lpstr>
      <vt:lpstr>Word.Picture.8</vt:lpstr>
      <vt:lpstr>Word.Picture.8</vt:lpstr>
      <vt:lpstr>Word.Picture.8</vt:lpstr>
      <vt:lpstr>Word.Picture.8</vt:lpstr>
      <vt:lpstr>Word.Picture.8</vt:lpstr>
      <vt:lpstr>Word.Picture.8</vt:lpstr>
      <vt:lpstr>Word.Picture.8</vt:lpstr>
      <vt:lpstr>Word.Picture.8</vt:lpstr>
      <vt:lpstr>Word.Picture.8</vt:lpstr>
      <vt:lpstr>Word.Picture.8</vt:lpstr>
      <vt:lpstr>Word.Picture.8</vt:lpstr>
      <vt:lpstr>Word.Picture.8</vt:lpstr>
      <vt:lpstr>Word.Picture.8</vt:lpstr>
      <vt:lpstr>面向对象程序设计</vt:lpstr>
      <vt:lpstr>正则表达式</vt:lpstr>
      <vt:lpstr>正则表达式的特殊字符</vt:lpstr>
      <vt:lpstr>PowerPoint 演示文稿</vt:lpstr>
      <vt:lpstr>PowerPoint 演示文稿</vt:lpstr>
      <vt:lpstr>while 循环</vt:lpstr>
      <vt:lpstr>注意</vt:lpstr>
      <vt:lpstr>输入和输出重定向</vt:lpstr>
      <vt:lpstr>do-while循环</vt:lpstr>
      <vt:lpstr>for 循环</vt:lpstr>
      <vt:lpstr>注意</vt:lpstr>
      <vt:lpstr>注意</vt:lpstr>
      <vt:lpstr>采用哪种循环?</vt:lpstr>
      <vt:lpstr>建 议</vt:lpstr>
      <vt:lpstr>最小化数值误差 </vt:lpstr>
      <vt:lpstr>使用break和continue</vt:lpstr>
      <vt:lpstr>定义方法</vt:lpstr>
      <vt:lpstr>返回数据类型</vt:lpstr>
      <vt:lpstr>注 意</vt:lpstr>
      <vt:lpstr>Java 内存</vt:lpstr>
      <vt:lpstr>调用堆栈 </vt:lpstr>
      <vt:lpstr>通过值传递</vt:lpstr>
      <vt:lpstr>重载方法</vt:lpstr>
      <vt:lpstr>变量的作用域</vt:lpstr>
      <vt:lpstr>局部变量的作用域</vt:lpstr>
      <vt:lpstr>方法抽象和逐步求精			</vt:lpstr>
      <vt:lpstr>显示给定年月的日历</vt:lpstr>
      <vt:lpstr>数组</vt:lpstr>
      <vt:lpstr>PowerPoint 演示文稿</vt:lpstr>
      <vt:lpstr>声明数组变量</vt:lpstr>
      <vt:lpstr>创建数组</vt:lpstr>
      <vt:lpstr>一步完成声明和创建</vt:lpstr>
      <vt:lpstr>数组的大小</vt:lpstr>
      <vt:lpstr>默认值</vt:lpstr>
      <vt:lpstr>数组初始化语法</vt:lpstr>
      <vt:lpstr>下标变量</vt:lpstr>
      <vt:lpstr>处理数组</vt:lpstr>
      <vt:lpstr>随意打乱</vt:lpstr>
      <vt:lpstr>移动元素</vt:lpstr>
      <vt:lpstr>增强型for循环（for - each循环）</vt:lpstr>
      <vt:lpstr>复制数组</vt:lpstr>
      <vt:lpstr>复制数组</vt:lpstr>
      <vt:lpstr> arraycopy工具</vt:lpstr>
      <vt:lpstr>传递数组给方法</vt:lpstr>
      <vt:lpstr>匿名数组</vt:lpstr>
      <vt:lpstr>值传递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Java程序设计</dc:title>
  <dc:creator>yangrl</dc:creator>
  <dc:description>Nordri® 
专注于有效的信息传递设计
www.nordridesign.com</dc:description>
  <dc:subject>PPT模板/图示</dc:subject>
  <cp:lastModifiedBy>大灰很</cp:lastModifiedBy>
  <cp:revision>353</cp:revision>
  <dcterms:created xsi:type="dcterms:W3CDTF">2017-02-24T02:44:00Z</dcterms:created>
  <dcterms:modified xsi:type="dcterms:W3CDTF">2026-03-30T17:04:20Z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XPowerLiteLastOptimized">
    <vt:lpwstr>280499</vt:lpwstr>
  </property>
  <property fmtid="{D5CDD505-2E9C-101B-9397-08002B2CF9AE}" pid="3" name="NXPowerLiteSettings">
    <vt:lpwstr>F7000400038000</vt:lpwstr>
  </property>
  <property fmtid="{D5CDD505-2E9C-101B-9397-08002B2CF9AE}" pid="4" name="NXPowerLiteVersion">
    <vt:lpwstr>D5.0.6</vt:lpwstr>
  </property>
  <property fmtid="{D5CDD505-2E9C-101B-9397-08002B2CF9AE}" pid="5" name="KSOProductBuildVer">
    <vt:lpwstr>2052-12.1.0.25225</vt:lpwstr>
  </property>
  <property fmtid="{D5CDD505-2E9C-101B-9397-08002B2CF9AE}" pid="6" name="ICV">
    <vt:lpwstr>68396AE8F8D04811950837842639DE55_12</vt:lpwstr>
  </property>
</Properties>
</file>