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256" r:id="rId3"/>
    <p:sldId id="1594" r:id="rId5"/>
    <p:sldId id="1592" r:id="rId6"/>
    <p:sldId id="1600" r:id="rId7"/>
    <p:sldId id="1593" r:id="rId8"/>
    <p:sldId id="1598" r:id="rId9"/>
    <p:sldId id="1596" r:id="rId10"/>
    <p:sldId id="1597" r:id="rId11"/>
    <p:sldId id="1599" r:id="rId12"/>
    <p:sldId id="1601" r:id="rId13"/>
    <p:sldId id="1602" r:id="rId14"/>
    <p:sldId id="1604" r:id="rId15"/>
    <p:sldId id="1605" r:id="rId16"/>
    <p:sldId id="1628" r:id="rId17"/>
    <p:sldId id="1629" r:id="rId18"/>
    <p:sldId id="1630" r:id="rId19"/>
    <p:sldId id="1632" r:id="rId20"/>
    <p:sldId id="1633" r:id="rId21"/>
    <p:sldId id="1608" r:id="rId22"/>
    <p:sldId id="1609" r:id="rId23"/>
    <p:sldId id="1610" r:id="rId24"/>
    <p:sldId id="1627" r:id="rId25"/>
    <p:sldId id="1611" r:id="rId26"/>
    <p:sldId id="1624" r:id="rId27"/>
    <p:sldId id="1620" r:id="rId28"/>
    <p:sldId id="1625" r:id="rId2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5200"/>
    <a:srgbClr val="C06000"/>
    <a:srgbClr val="039ABD"/>
    <a:srgbClr val="1D8DA3"/>
    <a:srgbClr val="099AB7"/>
    <a:srgbClr val="33CCFF"/>
    <a:srgbClr val="CCFFFF"/>
    <a:srgbClr val="F3B10D"/>
    <a:srgbClr val="CCFF66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>
      <p:cViewPr varScale="1">
        <p:scale>
          <a:sx n="114" d="100"/>
          <a:sy n="114" d="100"/>
        </p:scale>
        <p:origin x="-1542" y="60"/>
      </p:cViewPr>
      <p:guideLst>
        <p:guide orient="horz" pos="2126"/>
        <p:guide orient="horz" pos="4234"/>
        <p:guide orient="horz" pos="4020"/>
        <p:guide orient="horz" pos="576"/>
        <p:guide pos="2743"/>
        <p:guide pos="5464"/>
        <p:guide pos="29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2454" y="24"/>
      </p:cViewPr>
      <p:guideLst>
        <p:guide orient="horz" pos="2834"/>
        <p:guide pos="205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19548-F454-4331-83C2-8A7F164E39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25D8A-A620-4ACE-B1CF-F6E9B44ECD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CE75B1-D996-41EC-AA92-8E0F9339AE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CBB548-4544-46A5-8423-F94A584A16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ordridesign.com/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ordridesign.com/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5" descr="E:\PAT 图片资源素材\PPT\待整理\精选 0 (13)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4" r="11656" b="3263"/>
          <a:stretch>
            <a:fillRect/>
          </a:stretch>
        </p:blipFill>
        <p:spPr bwMode="auto">
          <a:xfrm flipV="1">
            <a:off x="3111190" y="-1"/>
            <a:ext cx="6057842" cy="685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矩形 11"/>
          <p:cNvSpPr>
            <a:spLocks noChangeArrowheads="1"/>
          </p:cNvSpPr>
          <p:nvPr userDrawn="1"/>
        </p:nvSpPr>
        <p:spPr bwMode="auto">
          <a:xfrm>
            <a:off x="19228" y="6886078"/>
            <a:ext cx="9144000" cy="287338"/>
          </a:xfrm>
          <a:prstGeom prst="rect">
            <a:avLst/>
          </a:prstGeom>
          <a:solidFill>
            <a:srgbClr val="BBBFC3">
              <a:alpha val="0"/>
            </a:srgbClr>
          </a:solidFill>
          <a:ln>
            <a:noFill/>
          </a:ln>
        </p:spPr>
        <p:txBody>
          <a:bodyPr anchor="ctr"/>
          <a:lstStyle/>
          <a:p>
            <a:pPr marL="622300" lvl="0"/>
            <a:endParaRPr lang="en-US" altLang="zh-CN" sz="1100" dirty="0">
              <a:cs typeface="Arial" panose="020B0604020202020204" pitchFamily="34" charset="0"/>
            </a:endParaRPr>
          </a:p>
        </p:txBody>
      </p:sp>
      <p:sp>
        <p:nvSpPr>
          <p:cNvPr id="23" name="Rectangle 5">
            <a:hlinkClick r:id="rId3"/>
          </p:cNvPr>
          <p:cNvSpPr txBox="1">
            <a:spLocks noChangeArrowheads="1"/>
          </p:cNvSpPr>
          <p:nvPr userDrawn="1"/>
        </p:nvSpPr>
        <p:spPr bwMode="gray">
          <a:xfrm>
            <a:off x="-17285" y="5876800"/>
            <a:ext cx="3059832" cy="504527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9000"/>
                </a:schemeClr>
              </a:gs>
              <a:gs pos="100000">
                <a:schemeClr val="bg1">
                  <a:lumMod val="75000"/>
                  <a:alpha val="48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lIns="144000" rIns="5040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marL="0" indent="355600" algn="l" eaLnBrk="0" hangingPunct="0">
              <a:spcBef>
                <a:spcPct val="60000"/>
              </a:spcBef>
              <a:buClr>
                <a:schemeClr val="accent1"/>
              </a:buClr>
            </a:pPr>
            <a:endParaRPr lang="en-US" altLang="zh-CN" sz="1400" i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/>
          </p:nvPr>
        </p:nvSpPr>
        <p:spPr>
          <a:xfrm>
            <a:off x="468313" y="2132856"/>
            <a:ext cx="6047903" cy="639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5400" b="1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8314" y="2952936"/>
            <a:ext cx="6047292" cy="3722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5" name="内容占位符 8"/>
          <p:cNvSpPr>
            <a:spLocks noGrp="1"/>
          </p:cNvSpPr>
          <p:nvPr>
            <p:ph sz="quarter" idx="12" hasCustomPrompt="1"/>
          </p:nvPr>
        </p:nvSpPr>
        <p:spPr>
          <a:xfrm>
            <a:off x="468312" y="981075"/>
            <a:ext cx="8207376" cy="5400675"/>
          </a:xfrm>
        </p:spPr>
        <p:txBody>
          <a:bodyPr/>
          <a:lstStyle>
            <a:lvl1pPr>
              <a:lnSpc>
                <a:spcPct val="120000"/>
              </a:lnSpc>
              <a:buClr>
                <a:srgbClr val="7030A0"/>
              </a:buClr>
              <a:buSzPct val="70000"/>
              <a:buFont typeface="Wingdings" panose="05000000000000000000" pitchFamily="2" charset="2"/>
              <a:buChar char="n"/>
              <a:defRPr sz="2600" baseline="0"/>
            </a:lvl1pPr>
            <a:lvl2pPr marL="742950" indent="-285750">
              <a:buFont typeface="Wingdings" panose="05000000000000000000" pitchFamily="2" charset="2"/>
              <a:buChar char="l"/>
              <a:defRPr sz="2200"/>
            </a:lvl2pPr>
            <a:lvl3pPr>
              <a:defRPr sz="1600"/>
            </a:lvl3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838" y="6381750"/>
            <a:ext cx="8188325" cy="11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468313" y="6453188"/>
            <a:ext cx="1007343" cy="268287"/>
          </a:xfrm>
        </p:spPr>
        <p:txBody>
          <a:bodyPr/>
          <a:lstStyle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468313" y="6453188"/>
            <a:ext cx="1007343" cy="268287"/>
          </a:xfrm>
        </p:spPr>
        <p:txBody>
          <a:bodyPr/>
          <a:lstStyle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7" name="矩形 11"/>
          <p:cNvSpPr>
            <a:spLocks noChangeArrowheads="1"/>
          </p:cNvSpPr>
          <p:nvPr userDrawn="1"/>
        </p:nvSpPr>
        <p:spPr bwMode="auto">
          <a:xfrm>
            <a:off x="0" y="6864350"/>
            <a:ext cx="9144000" cy="287338"/>
          </a:xfrm>
          <a:prstGeom prst="rect">
            <a:avLst/>
          </a:prstGeom>
          <a:solidFill>
            <a:srgbClr val="BBBFC3">
              <a:alpha val="0"/>
            </a:srgbClr>
          </a:solidFill>
          <a:ln>
            <a:noFill/>
          </a:ln>
        </p:spPr>
        <p:txBody>
          <a:bodyPr anchor="ctr"/>
          <a:lstStyle/>
          <a:p>
            <a:pPr marL="622300" lvl="0"/>
            <a:endParaRPr lang="en-US" altLang="zh-CN" sz="1100" dirty="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配色方案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日期占位符 5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7" name="页脚占位符 5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8" name="灯片编号占位符 57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741702" y="1398826"/>
            <a:ext cx="7672274" cy="4811474"/>
            <a:chOff x="468311" y="1227376"/>
            <a:chExt cx="8219055" cy="5154374"/>
          </a:xfrm>
        </p:grpSpPr>
        <p:sp>
          <p:nvSpPr>
            <p:cNvPr id="6" name="矩形 5"/>
            <p:cNvSpPr/>
            <p:nvPr userDrawn="1"/>
          </p:nvSpPr>
          <p:spPr bwMode="auto">
            <a:xfrm>
              <a:off x="7477213" y="2816932"/>
              <a:ext cx="1210153" cy="1213910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0">
                  <a:schemeClr val="bg1">
                    <a:lumMod val="95000"/>
                    <a:alpha val="0"/>
                  </a:schemeClr>
                </a:gs>
                <a:gs pos="47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266666" y="2816932"/>
              <a:ext cx="1210153" cy="1213910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0">
                  <a:schemeClr val="bg1">
                    <a:lumMod val="95000"/>
                    <a:alpha val="0"/>
                  </a:schemeClr>
                </a:gs>
                <a:gs pos="47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 bwMode="auto">
            <a:xfrm>
              <a:off x="468314" y="2816932"/>
              <a:ext cx="2606725" cy="1213910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0">
                  <a:schemeClr val="bg1">
                    <a:lumMod val="95000"/>
                    <a:alpha val="0"/>
                  </a:schemeClr>
                </a:gs>
                <a:gs pos="47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10" name="左大括号 9"/>
            <p:cNvSpPr/>
            <p:nvPr userDrawn="1"/>
          </p:nvSpPr>
          <p:spPr>
            <a:xfrm rot="5400000">
              <a:off x="4342637" y="-2230069"/>
              <a:ext cx="454784" cy="8203433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 userDrawn="1"/>
          </p:nvSpPr>
          <p:spPr bwMode="auto">
            <a:xfrm>
              <a:off x="468313" y="2564904"/>
              <a:ext cx="504056" cy="5040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2" name="椭圆 11"/>
            <p:cNvSpPr/>
            <p:nvPr userDrawn="1"/>
          </p:nvSpPr>
          <p:spPr bwMode="auto">
            <a:xfrm>
              <a:off x="1169203" y="2564904"/>
              <a:ext cx="504056" cy="50405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2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3" name="椭圆 12"/>
            <p:cNvSpPr/>
            <p:nvPr userDrawn="1"/>
          </p:nvSpPr>
          <p:spPr bwMode="auto">
            <a:xfrm>
              <a:off x="1870093" y="2564904"/>
              <a:ext cx="504056" cy="50405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3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4" name="椭圆 13"/>
            <p:cNvSpPr/>
            <p:nvPr userDrawn="1"/>
          </p:nvSpPr>
          <p:spPr bwMode="auto">
            <a:xfrm>
              <a:off x="2570983" y="2564904"/>
              <a:ext cx="504056" cy="50405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4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5" name="椭圆 14"/>
            <p:cNvSpPr/>
            <p:nvPr userDrawn="1"/>
          </p:nvSpPr>
          <p:spPr bwMode="auto">
            <a:xfrm>
              <a:off x="3271873" y="2564904"/>
              <a:ext cx="504056" cy="50405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5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6" name="椭圆 15"/>
            <p:cNvSpPr/>
            <p:nvPr userDrawn="1"/>
          </p:nvSpPr>
          <p:spPr bwMode="auto">
            <a:xfrm>
              <a:off x="3972763" y="2564904"/>
              <a:ext cx="504056" cy="5040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6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7" name="椭圆 16"/>
            <p:cNvSpPr/>
            <p:nvPr userDrawn="1"/>
          </p:nvSpPr>
          <p:spPr bwMode="auto">
            <a:xfrm>
              <a:off x="4673653" y="2564904"/>
              <a:ext cx="504056" cy="50405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7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8" name="椭圆 17"/>
            <p:cNvSpPr/>
            <p:nvPr userDrawn="1"/>
          </p:nvSpPr>
          <p:spPr bwMode="auto">
            <a:xfrm>
              <a:off x="5374543" y="2564904"/>
              <a:ext cx="504056" cy="50405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8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9" name="椭圆 18"/>
            <p:cNvSpPr/>
            <p:nvPr userDrawn="1"/>
          </p:nvSpPr>
          <p:spPr bwMode="auto">
            <a:xfrm>
              <a:off x="6075433" y="2564904"/>
              <a:ext cx="504056" cy="50405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9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0" name="椭圆 19"/>
            <p:cNvSpPr/>
            <p:nvPr userDrawn="1"/>
          </p:nvSpPr>
          <p:spPr bwMode="auto">
            <a:xfrm>
              <a:off x="6776323" y="2564904"/>
              <a:ext cx="504056" cy="50405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10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1" name="椭圆 20"/>
            <p:cNvSpPr/>
            <p:nvPr userDrawn="1"/>
          </p:nvSpPr>
          <p:spPr bwMode="auto">
            <a:xfrm>
              <a:off x="7477213" y="2564904"/>
              <a:ext cx="504056" cy="50405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11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2" name="椭圆 21"/>
            <p:cNvSpPr/>
            <p:nvPr userDrawn="1"/>
          </p:nvSpPr>
          <p:spPr bwMode="auto">
            <a:xfrm>
              <a:off x="8178102" y="2564904"/>
              <a:ext cx="504056" cy="50405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11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3" name="左大括号 22"/>
            <p:cNvSpPr/>
            <p:nvPr userDrawn="1"/>
          </p:nvSpPr>
          <p:spPr>
            <a:xfrm rot="5400000">
              <a:off x="3736233" y="1751874"/>
              <a:ext cx="227392" cy="1156110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左大括号 23"/>
            <p:cNvSpPr/>
            <p:nvPr userDrawn="1"/>
          </p:nvSpPr>
          <p:spPr>
            <a:xfrm rot="5400000">
              <a:off x="5887737" y="1050984"/>
              <a:ext cx="227392" cy="2557890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左大括号 24"/>
            <p:cNvSpPr/>
            <p:nvPr userDrawn="1"/>
          </p:nvSpPr>
          <p:spPr>
            <a:xfrm rot="5400000">
              <a:off x="7941572" y="1751874"/>
              <a:ext cx="227392" cy="1156110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左大括号 25"/>
            <p:cNvSpPr/>
            <p:nvPr userDrawn="1"/>
          </p:nvSpPr>
          <p:spPr>
            <a:xfrm rot="5400000">
              <a:off x="1605452" y="1079093"/>
              <a:ext cx="227392" cy="2501673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左大括号 26"/>
            <p:cNvSpPr/>
            <p:nvPr userDrawn="1"/>
          </p:nvSpPr>
          <p:spPr>
            <a:xfrm rot="5400000" flipH="1">
              <a:off x="4342828" y="632797"/>
              <a:ext cx="415982" cy="8165010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内容占位符 4"/>
            <p:cNvSpPr txBox="1"/>
            <p:nvPr userDrawn="1"/>
          </p:nvSpPr>
          <p:spPr>
            <a:xfrm>
              <a:off x="468314" y="5008949"/>
              <a:ext cx="8203430" cy="425203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342900" indent="-3429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6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 sz="12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chemeClr val="bg1">
                      <a:lumMod val="50000"/>
                    </a:schemeClr>
                  </a:solidFill>
                </a:rPr>
                <a:t>2003</a:t>
              </a:r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</a:rPr>
                <a:t>版本配色方案 </a:t>
              </a:r>
              <a:r>
                <a:rPr lang="zh-CN" altLang="en-US" sz="1600" b="1" dirty="0" smtClean="0"/>
                <a:t>（</a:t>
              </a:r>
              <a:r>
                <a:rPr lang="en-US" altLang="zh-CN" sz="1600" b="1" dirty="0" smtClean="0"/>
                <a:t>8</a:t>
              </a:r>
              <a:r>
                <a:rPr lang="zh-CN" altLang="en-US" sz="1600" b="1" dirty="0" smtClean="0"/>
                <a:t>种配色）</a:t>
              </a:r>
              <a:endParaRPr lang="zh-CN" altLang="en-US" sz="1600" b="1" dirty="0"/>
            </a:p>
          </p:txBody>
        </p:sp>
        <p:sp>
          <p:nvSpPr>
            <p:cNvPr id="29" name="TextBox 28"/>
            <p:cNvSpPr txBox="1"/>
            <p:nvPr userDrawn="1"/>
          </p:nvSpPr>
          <p:spPr>
            <a:xfrm>
              <a:off x="1305749" y="1916832"/>
              <a:ext cx="889987" cy="2779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文字与背景</a:t>
              </a:r>
              <a:endParaRPr lang="zh-CN" altLang="en-US" sz="1050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0" name="TextBox 29"/>
            <p:cNvSpPr txBox="1"/>
            <p:nvPr userDrawn="1"/>
          </p:nvSpPr>
          <p:spPr>
            <a:xfrm>
              <a:off x="3555616" y="1916832"/>
              <a:ext cx="588624" cy="2695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常用色</a:t>
              </a:r>
              <a:endParaRPr lang="zh-CN" altLang="en-US" sz="1050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5707120" y="1916832"/>
              <a:ext cx="588624" cy="2695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辅助色</a:t>
              </a:r>
              <a:endParaRPr lang="zh-CN" altLang="en-US" sz="1050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2" name="TextBox 31"/>
            <p:cNvSpPr txBox="1"/>
            <p:nvPr userDrawn="1"/>
          </p:nvSpPr>
          <p:spPr>
            <a:xfrm>
              <a:off x="7729242" y="1916832"/>
              <a:ext cx="588623" cy="2695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链接色</a:t>
              </a:r>
              <a:endParaRPr lang="zh-CN" altLang="en-US" sz="1050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33" name="直接连接符 32"/>
            <p:cNvCxnSpPr>
              <a:stCxn id="11" idx="7"/>
              <a:endCxn id="11" idx="3"/>
            </p:cNvCxnSpPr>
            <p:nvPr userDrawn="1"/>
          </p:nvCxnSpPr>
          <p:spPr>
            <a:xfrm flipH="1">
              <a:off x="542130" y="263872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>
              <a:stCxn id="12" idx="7"/>
              <a:endCxn id="12" idx="3"/>
            </p:cNvCxnSpPr>
            <p:nvPr userDrawn="1"/>
          </p:nvCxnSpPr>
          <p:spPr>
            <a:xfrm flipH="1">
              <a:off x="1243020" y="263872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>
              <a:stCxn id="13" idx="7"/>
              <a:endCxn id="13" idx="3"/>
            </p:cNvCxnSpPr>
            <p:nvPr userDrawn="1"/>
          </p:nvCxnSpPr>
          <p:spPr>
            <a:xfrm flipH="1">
              <a:off x="1943910" y="263872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>
              <a:stCxn id="14" idx="7"/>
              <a:endCxn id="14" idx="3"/>
            </p:cNvCxnSpPr>
            <p:nvPr userDrawn="1"/>
          </p:nvCxnSpPr>
          <p:spPr>
            <a:xfrm flipH="1">
              <a:off x="2644800" y="263872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 userDrawn="1"/>
          </p:nvSpPr>
          <p:spPr>
            <a:xfrm>
              <a:off x="468314" y="5610918"/>
              <a:ext cx="8203430" cy="770832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7843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800" b="1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配色规则：</a:t>
              </a:r>
              <a:endParaRPr lang="en-US" altLang="zh-CN" sz="800" b="1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通常情况下，配色方案中的前四种色彩文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——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“字与背景色”固定不变。常用色与模板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/logo/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企业标准色一致。辅助色可根据对色彩的要求进行调整。链接色可根据需求进行调整。</a:t>
              </a:r>
              <a:endParaRPr lang="en-US" altLang="zh-CN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配色方案的编辑：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07/10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版本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设计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菜单中 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Wingdings" panose="05000000000000000000" pitchFamily="2" charset="2"/>
                </a:rPr>
                <a:t>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颜色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中修改；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03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版本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格式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菜单</a:t>
              </a:r>
              <a:r>
                <a:rPr lang="en-US" altLang="zh-CN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Wingdings" panose="05000000000000000000" pitchFamily="2" charset="2"/>
                </a:rPr>
                <a:t>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幻灯片设计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en-US" altLang="zh-CN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Wingdings" panose="05000000000000000000" pitchFamily="2" charset="2"/>
                </a:rPr>
                <a:t>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配色方案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endParaRPr lang="zh-CN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8" name="椭圆 37"/>
            <p:cNvSpPr/>
            <p:nvPr userDrawn="1"/>
          </p:nvSpPr>
          <p:spPr bwMode="auto">
            <a:xfrm>
              <a:off x="468313" y="3778814"/>
              <a:ext cx="504056" cy="5040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39" name="椭圆 38"/>
            <p:cNvSpPr/>
            <p:nvPr userDrawn="1"/>
          </p:nvSpPr>
          <p:spPr bwMode="auto">
            <a:xfrm>
              <a:off x="1169203" y="3778814"/>
              <a:ext cx="504056" cy="50405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2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0" name="椭圆 39"/>
            <p:cNvSpPr/>
            <p:nvPr userDrawn="1"/>
          </p:nvSpPr>
          <p:spPr bwMode="auto">
            <a:xfrm>
              <a:off x="1870093" y="3778814"/>
              <a:ext cx="504056" cy="50405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3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1" name="椭圆 40"/>
            <p:cNvSpPr/>
            <p:nvPr userDrawn="1"/>
          </p:nvSpPr>
          <p:spPr bwMode="auto">
            <a:xfrm>
              <a:off x="2570983" y="3778814"/>
              <a:ext cx="504056" cy="50405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4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42" name="直接连接符 41"/>
            <p:cNvCxnSpPr>
              <a:stCxn id="38" idx="7"/>
              <a:endCxn id="38" idx="3"/>
            </p:cNvCxnSpPr>
            <p:nvPr userDrawn="1"/>
          </p:nvCxnSpPr>
          <p:spPr>
            <a:xfrm flipH="1">
              <a:off x="542130" y="385263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>
              <a:stCxn id="39" idx="7"/>
              <a:endCxn id="39" idx="3"/>
            </p:cNvCxnSpPr>
            <p:nvPr userDrawn="1"/>
          </p:nvCxnSpPr>
          <p:spPr>
            <a:xfrm flipH="1">
              <a:off x="1243020" y="385263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>
              <a:stCxn id="40" idx="7"/>
              <a:endCxn id="40" idx="3"/>
            </p:cNvCxnSpPr>
            <p:nvPr userDrawn="1"/>
          </p:nvCxnSpPr>
          <p:spPr>
            <a:xfrm flipH="1">
              <a:off x="1943910" y="385263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>
              <a:stCxn id="41" idx="7"/>
              <a:endCxn id="41" idx="3"/>
            </p:cNvCxnSpPr>
            <p:nvPr userDrawn="1"/>
          </p:nvCxnSpPr>
          <p:spPr>
            <a:xfrm flipH="1">
              <a:off x="2644800" y="385263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46" name="椭圆 45"/>
            <p:cNvSpPr/>
            <p:nvPr userDrawn="1"/>
          </p:nvSpPr>
          <p:spPr bwMode="auto">
            <a:xfrm>
              <a:off x="3271873" y="3778814"/>
              <a:ext cx="504056" cy="50405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5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7" name="椭圆 46"/>
            <p:cNvSpPr/>
            <p:nvPr userDrawn="1"/>
          </p:nvSpPr>
          <p:spPr bwMode="auto">
            <a:xfrm>
              <a:off x="3972763" y="3778814"/>
              <a:ext cx="504056" cy="5040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6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8" name="椭圆 47"/>
            <p:cNvSpPr/>
            <p:nvPr userDrawn="1"/>
          </p:nvSpPr>
          <p:spPr bwMode="auto">
            <a:xfrm>
              <a:off x="7477213" y="3778814"/>
              <a:ext cx="504056" cy="50405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7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9" name="椭圆 48"/>
            <p:cNvSpPr/>
            <p:nvPr userDrawn="1"/>
          </p:nvSpPr>
          <p:spPr bwMode="auto">
            <a:xfrm>
              <a:off x="8178102" y="3778814"/>
              <a:ext cx="504056" cy="50405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8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59" name="内容占位符 4"/>
            <p:cNvSpPr txBox="1"/>
            <p:nvPr userDrawn="1"/>
          </p:nvSpPr>
          <p:spPr>
            <a:xfrm>
              <a:off x="468314" y="1227376"/>
              <a:ext cx="8203430" cy="425203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342900" indent="-3429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6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 sz="12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zh-CN" sz="1600" b="1" dirty="0" smtClean="0">
                  <a:solidFill>
                    <a:schemeClr val="bg1">
                      <a:lumMod val="50000"/>
                    </a:schemeClr>
                  </a:solidFill>
                </a:rPr>
                <a:t>2007/2010</a:t>
              </a:r>
              <a:r>
                <a:rPr lang="zh-CN" altLang="en-US" sz="1600" b="1" dirty="0" smtClean="0">
                  <a:solidFill>
                    <a:schemeClr val="bg1">
                      <a:lumMod val="50000"/>
                    </a:schemeClr>
                  </a:solidFill>
                </a:rPr>
                <a:t>版本配色方案 </a:t>
              </a:r>
              <a:r>
                <a:rPr lang="zh-CN" altLang="en-US" sz="1600" b="1" dirty="0" smtClean="0"/>
                <a:t>（</a:t>
              </a:r>
              <a:r>
                <a:rPr lang="en-US" altLang="zh-CN" sz="1600" b="1" dirty="0" smtClean="0"/>
                <a:t>12</a:t>
              </a:r>
              <a:r>
                <a:rPr lang="zh-CN" altLang="en-US" sz="1600" b="1" dirty="0" smtClean="0"/>
                <a:t>种配色）</a:t>
              </a:r>
              <a:endParaRPr lang="zh-CN" altLang="en-US" sz="1600" b="1" dirty="0"/>
            </a:p>
          </p:txBody>
        </p:sp>
      </p:grp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5" descr="E:\PAT 图片资源素材\PPT\待整理\精选 0 (13)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59" r="33230" b="6423"/>
          <a:stretch>
            <a:fillRect/>
          </a:stretch>
        </p:blipFill>
        <p:spPr bwMode="auto">
          <a:xfrm>
            <a:off x="3851921" y="0"/>
            <a:ext cx="529208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11"/>
          <p:cNvSpPr>
            <a:spLocks noChangeArrowheads="1"/>
          </p:cNvSpPr>
          <p:nvPr userDrawn="1"/>
        </p:nvSpPr>
        <p:spPr bwMode="auto">
          <a:xfrm>
            <a:off x="0" y="6864350"/>
            <a:ext cx="9144000" cy="287338"/>
          </a:xfrm>
          <a:prstGeom prst="rect">
            <a:avLst/>
          </a:prstGeom>
          <a:solidFill>
            <a:srgbClr val="BBBFC3">
              <a:alpha val="0"/>
            </a:srgbClr>
          </a:solidFill>
          <a:ln>
            <a:noFill/>
          </a:ln>
        </p:spPr>
        <p:txBody>
          <a:bodyPr anchor="ctr"/>
          <a:lstStyle/>
          <a:p>
            <a:pPr marL="622300" lvl="0"/>
            <a:endParaRPr lang="en-US" altLang="zh-CN" sz="1100" dirty="0">
              <a:cs typeface="Arial" panose="020B0604020202020204" pitchFamily="34" charset="0"/>
            </a:endParaRPr>
          </a:p>
        </p:txBody>
      </p:sp>
      <p:sp>
        <p:nvSpPr>
          <p:cNvPr id="13" name="Rectangle 5">
            <a:hlinkClick r:id="rId3"/>
          </p:cNvPr>
          <p:cNvSpPr txBox="1">
            <a:spLocks noChangeArrowheads="1"/>
          </p:cNvSpPr>
          <p:nvPr userDrawn="1"/>
        </p:nvSpPr>
        <p:spPr bwMode="gray">
          <a:xfrm>
            <a:off x="0" y="5886624"/>
            <a:ext cx="3347367" cy="504527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49000"/>
                </a:schemeClr>
              </a:gs>
              <a:gs pos="0">
                <a:schemeClr val="accent1"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lIns="144000" rIns="5040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marL="355600" indent="0" algn="l" eaLnBrk="0" hangingPunct="0">
              <a:spcBef>
                <a:spcPct val="60000"/>
              </a:spcBef>
              <a:buClr>
                <a:schemeClr val="accent1"/>
              </a:buClr>
            </a:pPr>
            <a:endParaRPr lang="en-US" altLang="zh-CN" sz="1400" i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8575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65735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5735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18D58E-1A28-429D-A6C0-1EC971DF880D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85800" y="28575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65735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5735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379095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79095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18D58E-1A28-429D-A6C0-1EC971DF880D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7886700" cy="20986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8650" y="4076700"/>
            <a:ext cx="7886700" cy="21002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>
              <a:buNone/>
            </a:pP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en-US" dirty="0">
                <a:latin typeface="Times New Roman" panose="02020603050405020304" pitchFamily="18" charset="0"/>
              </a:rPr>
            </a:fld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>
              <a:buNone/>
            </a:pPr>
            <a:fld id="{BB962C8B-B14F-4D97-AF65-F5344CB8AC3E}" type="datetime1">
              <a:rPr lang="en-US" dirty="0">
                <a:latin typeface="Times New Roman" panose="02020603050405020304" pitchFamily="18" charset="0"/>
              </a:rPr>
            </a:fld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en-US" dirty="0">
                <a:latin typeface="Times New Roman" panose="02020603050405020304" pitchFamily="18" charset="0"/>
              </a:rPr>
            </a:fld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3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5" descr="E:\PAT 图片资源素材\PPT\待整理\精选 0 (13).jpg"/>
          <p:cNvPicPr>
            <a:picLocks noChangeAspect="1" noChangeArrowheads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4" r="20205" b="3263"/>
          <a:stretch>
            <a:fillRect/>
          </a:stretch>
        </p:blipFill>
        <p:spPr bwMode="auto">
          <a:xfrm rot="10800000" flipH="1" flipV="1">
            <a:off x="5353149" y="765173"/>
            <a:ext cx="3790851" cy="609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梯形 34"/>
          <p:cNvSpPr/>
          <p:nvPr userDrawn="1"/>
        </p:nvSpPr>
        <p:spPr bwMode="auto">
          <a:xfrm rot="16200000">
            <a:off x="4178903" y="-4199923"/>
            <a:ext cx="786193" cy="9144000"/>
          </a:xfrm>
          <a:prstGeom prst="trapezoid">
            <a:avLst>
              <a:gd name="adj" fmla="val 0"/>
            </a:avLst>
          </a:prstGeom>
          <a:gradFill flip="none" rotWithShape="1">
            <a:gsLst>
              <a:gs pos="73000">
                <a:srgbClr val="FFFF00">
                  <a:lumMod val="0"/>
                  <a:lumOff val="100000"/>
                  <a:alpha val="47000"/>
                </a:srgbClr>
              </a:gs>
              <a:gs pos="90000">
                <a:srgbClr val="039ABD">
                  <a:alpha val="12000"/>
                </a:srgbClr>
              </a:gs>
              <a:gs pos="100000">
                <a:srgbClr val="92D050">
                  <a:lumMod val="0"/>
                  <a:alpha val="0"/>
                </a:srgbClr>
              </a:gs>
              <a:gs pos="47000">
                <a:srgbClr val="92D050">
                  <a:alpha val="0"/>
                </a:srgbClr>
              </a:gs>
              <a:gs pos="9000">
                <a:srgbClr val="FFC000">
                  <a:alpha val="59000"/>
                </a:srgbClr>
              </a:gs>
            </a:gsLst>
            <a:lin ang="5400000" scaled="0"/>
            <a:tileRect/>
          </a:gradFill>
          <a:ln>
            <a:noFill/>
          </a:ln>
          <a:effectLst>
            <a:outerShdw blurRad="381000" dist="1143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 bwMode="auto">
          <a:xfrm>
            <a:off x="0" y="765175"/>
            <a:ext cx="8675688" cy="5616575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453188"/>
            <a:ext cx="2895600" cy="268287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"/>
          </p:nvPr>
        </p:nvSpPr>
        <p:spPr>
          <a:xfrm flipH="1">
            <a:off x="468313" y="981076"/>
            <a:ext cx="8207375" cy="5400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" name="矩形 11"/>
          <p:cNvSpPr>
            <a:spLocks noChangeArrowheads="1"/>
          </p:cNvSpPr>
          <p:nvPr userDrawn="1"/>
        </p:nvSpPr>
        <p:spPr bwMode="auto">
          <a:xfrm>
            <a:off x="0" y="6864350"/>
            <a:ext cx="9144000" cy="287338"/>
          </a:xfrm>
          <a:prstGeom prst="rect">
            <a:avLst/>
          </a:prstGeom>
          <a:solidFill>
            <a:srgbClr val="BBBFC3">
              <a:alpha val="0"/>
            </a:srgbClr>
          </a:solidFill>
          <a:ln>
            <a:noFill/>
          </a:ln>
        </p:spPr>
        <p:txBody>
          <a:bodyPr anchor="ctr"/>
          <a:lstStyle/>
          <a:p>
            <a:pPr marL="622300"/>
            <a:endParaRPr lang="en-US" altLang="zh-CN" sz="11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>
          <a:xfrm>
            <a:off x="6530976" y="6453188"/>
            <a:ext cx="2133600" cy="268287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68313" y="6453188"/>
            <a:ext cx="1007343" cy="268287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7" name="Picture 2"/>
          <p:cNvPicPr>
            <a:picLocks noChangeAspect="1" noChangeArrowheads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838" y="6381750"/>
            <a:ext cx="8188325" cy="11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5" name="Picture 2"/>
          <p:cNvPicPr>
            <a:picLocks noChangeAspect="1" noChangeArrowheads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765968"/>
            <a:ext cx="8666164" cy="12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477838" y="188641"/>
            <a:ext cx="7078190" cy="349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j-ea"/>
          <a:cs typeface="+mn-cs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j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5.bin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6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.emf"/><Relationship Id="rId1" Type="http://schemas.openxmlformats.org/officeDocument/2006/relationships/oleObject" Target="../embeddings/oleObject7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26390" y="2209165"/>
            <a:ext cx="4479925" cy="639445"/>
          </a:xfrm>
        </p:spPr>
        <p:txBody>
          <a:bodyPr>
            <a:noAutofit/>
          </a:bodyPr>
          <a:lstStyle/>
          <a:p>
            <a:pPr marL="342900" lvl="0" indent="-342900" fontAlgn="base">
              <a:lnSpc>
                <a:spcPct val="110000"/>
              </a:lnSpc>
              <a:spcAft>
                <a:spcPct val="0"/>
              </a:spcAft>
            </a:pPr>
            <a:r>
              <a:rPr lang="zh-CN" altLang="en-US" sz="4000" b="0" u="none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面向对象程序设计</a:t>
            </a:r>
            <a:endParaRPr lang="zh-CN" altLang="en-US" sz="4000" b="0" u="none" kern="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97280" y="3283585"/>
            <a:ext cx="4672330" cy="779145"/>
          </a:xfrm>
        </p:spPr>
        <p:txBody>
          <a:bodyPr>
            <a:noAutofit/>
          </a:bodyPr>
          <a:lstStyle/>
          <a:p>
            <a:r>
              <a:rPr lang="zh-CN" altLang="en-US" sz="2800" u="none" dirty="0" smtClean="0">
                <a:solidFill>
                  <a:srgbClr val="000000"/>
                </a:solidFill>
                <a:latin typeface="微软雅黑" panose="020B0503020204020204" pitchFamily="34" charset="-122"/>
                <a:sym typeface="+mn-ea"/>
              </a:rPr>
              <a:t>文本</a:t>
            </a:r>
            <a:r>
              <a:rPr lang="en-US" altLang="zh-CN" sz="2800" u="none" dirty="0" smtClean="0">
                <a:solidFill>
                  <a:srgbClr val="000000"/>
                </a:solidFill>
                <a:latin typeface="微软雅黑" panose="020B0503020204020204" pitchFamily="34" charset="-122"/>
                <a:sym typeface="+mn-ea"/>
              </a:rPr>
              <a:t>IO</a:t>
            </a:r>
            <a:r>
              <a:rPr lang="zh-CN" altLang="en-US" sz="2800" u="none" dirty="0" smtClean="0">
                <a:solidFill>
                  <a:srgbClr val="000000"/>
                </a:solidFill>
                <a:latin typeface="微软雅黑" panose="020B0503020204020204" pitchFamily="34" charset="-122"/>
                <a:sym typeface="+mn-ea"/>
              </a:rPr>
              <a:t>、二进制</a:t>
            </a:r>
            <a:r>
              <a:rPr lang="en-US" altLang="zh-CN" sz="2800" u="none" dirty="0" smtClean="0">
                <a:solidFill>
                  <a:srgbClr val="000000"/>
                </a:solidFill>
                <a:latin typeface="微软雅黑" panose="020B0503020204020204" pitchFamily="34" charset="-122"/>
                <a:sym typeface="+mn-ea"/>
              </a:rPr>
              <a:t>IO</a:t>
            </a:r>
            <a:r>
              <a:rPr lang="zh-CN" altLang="en-US" sz="2800" u="none" dirty="0" smtClean="0">
                <a:solidFill>
                  <a:srgbClr val="000000"/>
                </a:solidFill>
                <a:latin typeface="微软雅黑" panose="020B0503020204020204" pitchFamily="34" charset="-122"/>
                <a:sym typeface="+mn-ea"/>
              </a:rPr>
              <a:t>、</a:t>
            </a:r>
            <a:r>
              <a:rPr lang="en-US" altLang="zh-CN" sz="2800" u="none" dirty="0" smtClean="0">
                <a:solidFill>
                  <a:srgbClr val="000000"/>
                </a:solidFill>
                <a:latin typeface="微软雅黑" panose="020B0503020204020204" pitchFamily="34" charset="-122"/>
                <a:sym typeface="+mn-ea"/>
              </a:rPr>
              <a:t>JavaFX</a:t>
            </a:r>
            <a:endParaRPr lang="en-US" altLang="zh-CN" sz="2800" u="none" dirty="0" smtClean="0">
              <a:solidFill>
                <a:srgbClr val="000000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172400" y="16351"/>
            <a:ext cx="64807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 </a:t>
            </a:r>
            <a:r>
              <a:rPr lang="zh-CN" altLang="en-US" dirty="0" smtClean="0"/>
              <a:t>流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流是个抽象的概念，是对输入输出设备的抽象，Java程序中，对于数据的输入/输出操作都是以“流”的方式进行。设备可以是文件，网络，内存等。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一个流可以理解为一个数据的序列。输入流表示从一个源读取数据，输出流表示向一个目标写数据。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9980" y="2515235"/>
            <a:ext cx="2244725" cy="22567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315" y="5810250"/>
            <a:ext cx="4333875" cy="1047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2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输入流</a:t>
            </a:r>
            <a:r>
              <a:rPr lang="en-US" altLang="zh-CN" dirty="0"/>
              <a:t>(</a:t>
            </a:r>
            <a:r>
              <a:rPr lang="en-US" altLang="zh-CN" dirty="0" err="1"/>
              <a:t>InputStream</a:t>
            </a:r>
            <a:r>
              <a:rPr lang="en-US" altLang="zh-CN" dirty="0"/>
              <a:t>)</a:t>
            </a:r>
            <a:r>
              <a:rPr lang="zh-CN" altLang="en-US" dirty="0"/>
              <a:t>和输出流</a:t>
            </a:r>
            <a:r>
              <a:rPr lang="en-US" altLang="zh-CN" dirty="0"/>
              <a:t>(</a:t>
            </a:r>
            <a:r>
              <a:rPr lang="en-US" altLang="zh-CN" dirty="0" err="1"/>
              <a:t>OutputStream</a:t>
            </a:r>
            <a:r>
              <a:rPr lang="en-US" altLang="zh-CN" dirty="0" smtClean="0"/>
              <a:t>)</a:t>
            </a:r>
            <a:endParaRPr lang="en-US" altLang="zh-CN" dirty="0"/>
          </a:p>
          <a:p>
            <a:r>
              <a:rPr lang="zh-CN" altLang="en-US" dirty="0"/>
              <a:t>字节流和字符流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>
              <a:buClr>
                <a:srgbClr val="7030A0"/>
              </a:buClr>
            </a:pPr>
            <a:r>
              <a:rPr lang="zh-CN" altLang="en-US" dirty="0" smtClean="0"/>
              <a:t>字节</a:t>
            </a:r>
            <a:r>
              <a:rPr lang="zh-CN" altLang="en-US" dirty="0"/>
              <a:t>流以字节为基本处理单位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>
              <a:buClr>
                <a:srgbClr val="7030A0"/>
              </a:buClr>
            </a:pPr>
            <a:r>
              <a:rPr lang="zh-CN" altLang="en-US" dirty="0" smtClean="0"/>
              <a:t>字符流</a:t>
            </a:r>
            <a:r>
              <a:rPr lang="zh-CN" altLang="en-US" dirty="0"/>
              <a:t>以字符为基本处理单位，采用了统一的编码标准。</a:t>
            </a:r>
            <a:endParaRPr lang="zh-CN" altLang="en-US" dirty="0"/>
          </a:p>
          <a:p>
            <a:pPr>
              <a:buFont typeface="Wingdings" panose="05000000000000000000" charset="0"/>
              <a:buChar char="n"/>
            </a:pPr>
            <a:r>
              <a:rPr lang="zh-CN" altLang="en-US" sz="2600" dirty="0">
                <a:sym typeface="+mn-ea"/>
              </a:rPr>
              <a:t>字节流在顶层有两个抽象类：</a:t>
            </a:r>
            <a:r>
              <a:rPr lang="en-US" altLang="zh-CN" sz="2600" dirty="0" err="1">
                <a:sym typeface="+mn-ea"/>
              </a:rPr>
              <a:t>InputStream</a:t>
            </a:r>
            <a:r>
              <a:rPr lang="en-US" altLang="zh-CN" sz="2600" dirty="0">
                <a:sym typeface="+mn-ea"/>
              </a:rPr>
              <a:t> </a:t>
            </a:r>
            <a:r>
              <a:rPr lang="zh-CN" altLang="en-US" sz="2600" dirty="0">
                <a:sym typeface="+mn-ea"/>
              </a:rPr>
              <a:t>和 </a:t>
            </a:r>
            <a:r>
              <a:rPr lang="en-US" altLang="zh-CN" sz="2600" dirty="0" err="1">
                <a:sym typeface="+mn-ea"/>
              </a:rPr>
              <a:t>OutputStream</a:t>
            </a:r>
            <a:r>
              <a:rPr lang="zh-CN" altLang="en-US" sz="2600" dirty="0">
                <a:sym typeface="+mn-ea"/>
              </a:rPr>
              <a:t>，定义了所有字节流的关键方法</a:t>
            </a:r>
            <a:r>
              <a:rPr lang="zh-CN" altLang="en-US" sz="2600" dirty="0" smtClean="0">
                <a:sym typeface="+mn-ea"/>
              </a:rPr>
              <a:t>。</a:t>
            </a:r>
            <a:endParaRPr lang="zh-CN" altLang="en-US" sz="2600" dirty="0" smtClean="0">
              <a:sym typeface="+mn-ea"/>
            </a:endParaRPr>
          </a:p>
          <a:p>
            <a:pPr lvl="1">
              <a:buClr>
                <a:srgbClr val="7030A0"/>
              </a:buClr>
              <a:buFont typeface="Wingdings" panose="05000000000000000000" charset="0"/>
              <a:buChar char="l"/>
            </a:pPr>
            <a:r>
              <a:rPr lang="zh-CN" altLang="en-US" sz="2200" dirty="0" smtClean="0">
                <a:sym typeface="+mn-ea"/>
              </a:rPr>
              <a:t>最</a:t>
            </a:r>
            <a:r>
              <a:rPr lang="zh-CN" altLang="en-US" sz="2200" dirty="0">
                <a:sym typeface="+mn-ea"/>
              </a:rPr>
              <a:t>重要的两种方法是</a:t>
            </a:r>
            <a:r>
              <a:rPr lang="en-US" altLang="zh-CN" sz="2200" dirty="0">
                <a:sym typeface="+mn-ea"/>
              </a:rPr>
              <a:t>read()</a:t>
            </a:r>
            <a:r>
              <a:rPr lang="zh-CN" altLang="en-US" sz="2200" dirty="0">
                <a:sym typeface="+mn-ea"/>
              </a:rPr>
              <a:t>和</a:t>
            </a:r>
            <a:r>
              <a:rPr lang="en-US" altLang="zh-CN" sz="2200" dirty="0">
                <a:sym typeface="+mn-ea"/>
              </a:rPr>
              <a:t>write()</a:t>
            </a:r>
            <a:r>
              <a:rPr lang="zh-CN" altLang="en-US" sz="2200" dirty="0">
                <a:sym typeface="+mn-ea"/>
              </a:rPr>
              <a:t>，它们分别用于读写字节。</a:t>
            </a:r>
            <a:endParaRPr lang="zh-CN" altLang="en-US" sz="2200" dirty="0"/>
          </a:p>
          <a:p>
            <a:pPr>
              <a:buFont typeface="Wingdings" panose="05000000000000000000" charset="0"/>
              <a:buChar char="n"/>
            </a:pPr>
            <a:r>
              <a:rPr lang="zh-CN" altLang="en-US" sz="2600" dirty="0">
                <a:sym typeface="+mn-ea"/>
              </a:rPr>
              <a:t>字符流顶层有两个抽象类：</a:t>
            </a:r>
            <a:r>
              <a:rPr lang="en-US" altLang="zh-CN" sz="2600" dirty="0">
                <a:sym typeface="+mn-ea"/>
              </a:rPr>
              <a:t>Reader</a:t>
            </a:r>
            <a:r>
              <a:rPr lang="zh-CN" altLang="en-US" sz="2600" dirty="0">
                <a:sym typeface="+mn-ea"/>
              </a:rPr>
              <a:t>和</a:t>
            </a:r>
            <a:r>
              <a:rPr lang="en-US" altLang="zh-CN" sz="2600" dirty="0">
                <a:sym typeface="+mn-ea"/>
              </a:rPr>
              <a:t>Writer</a:t>
            </a:r>
            <a:r>
              <a:rPr lang="zh-CN" altLang="en-US" sz="2600" dirty="0">
                <a:sym typeface="+mn-ea"/>
              </a:rPr>
              <a:t>，定义了所有字符流的关键方法</a:t>
            </a:r>
            <a:r>
              <a:rPr lang="zh-CN" altLang="en-US" sz="2600" dirty="0" smtClean="0">
                <a:sym typeface="+mn-ea"/>
              </a:rPr>
              <a:t>。</a:t>
            </a:r>
            <a:endParaRPr lang="zh-CN" altLang="en-US" sz="2600" dirty="0" smtClean="0">
              <a:sym typeface="+mn-ea"/>
            </a:endParaRPr>
          </a:p>
          <a:p>
            <a:pPr lvl="1">
              <a:buClr>
                <a:srgbClr val="7030A0"/>
              </a:buClr>
              <a:buFont typeface="Wingdings" panose="05000000000000000000" charset="0"/>
              <a:buChar char="l"/>
            </a:pPr>
            <a:r>
              <a:rPr lang="zh-CN" altLang="en-US" sz="2220" dirty="0" smtClean="0">
                <a:sym typeface="+mn-ea"/>
              </a:rPr>
              <a:t>其中</a:t>
            </a:r>
            <a:r>
              <a:rPr lang="zh-CN" altLang="en-US" sz="2220" dirty="0">
                <a:sym typeface="+mn-ea"/>
              </a:rPr>
              <a:t>两个最重要的是</a:t>
            </a:r>
            <a:r>
              <a:rPr lang="en-US" altLang="zh-CN" sz="2220" dirty="0">
                <a:sym typeface="+mn-ea"/>
              </a:rPr>
              <a:t>read()</a:t>
            </a:r>
            <a:r>
              <a:rPr lang="zh-CN" altLang="en-US" sz="2220" dirty="0">
                <a:sym typeface="+mn-ea"/>
              </a:rPr>
              <a:t>和</a:t>
            </a:r>
            <a:r>
              <a:rPr lang="en-US" altLang="zh-CN" sz="2220" dirty="0">
                <a:sym typeface="+mn-ea"/>
              </a:rPr>
              <a:t>write()</a:t>
            </a:r>
            <a:r>
              <a:rPr lang="zh-CN" altLang="en-US" sz="2220" dirty="0">
                <a:sym typeface="+mn-ea"/>
              </a:rPr>
              <a:t>，它们分别进行字符数据的读和</a:t>
            </a:r>
            <a:r>
              <a:rPr lang="zh-CN" altLang="en-US" sz="2220" dirty="0" smtClean="0">
                <a:sym typeface="+mn-ea"/>
              </a:rPr>
              <a:t>写</a:t>
            </a:r>
            <a:r>
              <a:rPr lang="zh-CN" altLang="en-US" sz="2220" dirty="0">
                <a:sym typeface="+mn-ea"/>
              </a:rPr>
              <a:t>。</a:t>
            </a:r>
            <a:endParaRPr lang="zh-CN" altLang="en-US" sz="2220" dirty="0"/>
          </a:p>
          <a:p>
            <a:pPr>
              <a:buNone/>
            </a:pPr>
            <a:endParaRPr lang="zh-CN" altLang="en-US" sz="22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pic>
        <p:nvPicPr>
          <p:cNvPr id="8198" name="Picture 7"/>
          <p:cNvPicPr>
            <a:picLocks noChangeAspect="1"/>
          </p:cNvPicPr>
          <p:nvPr>
            <p:ph sz="quarter" idx="12"/>
          </p:nvPr>
        </p:nvPicPr>
        <p:blipFill>
          <a:blip r:embed="rId1"/>
          <a:stretch>
            <a:fillRect/>
          </a:stretch>
        </p:blipFill>
        <p:spPr>
          <a:xfrm>
            <a:off x="1348740" y="2736850"/>
            <a:ext cx="6248400" cy="362585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5" name="标题 1"/>
          <p:cNvSpPr>
            <a:spLocks noGrp="1"/>
          </p:cNvSpPr>
          <p:nvPr/>
        </p:nvSpPr>
        <p:spPr>
          <a:xfrm>
            <a:off x="398463" y="151176"/>
            <a:ext cx="7078190" cy="349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CN" dirty="0" smtClean="0"/>
              <a:t> </a:t>
            </a:r>
            <a:r>
              <a:rPr lang="zh-CN" altLang="en-US" dirty="0" smtClean="0"/>
              <a:t>文本</a:t>
            </a:r>
            <a:r>
              <a:rPr lang="en-US" altLang="zh-CN" dirty="0" smtClean="0"/>
              <a:t>IO</a:t>
            </a:r>
            <a:endParaRPr lang="en-US" altLang="zh-CN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201930" y="1068705"/>
            <a:ext cx="8425815" cy="1419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2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文本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I/O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需要进行编码和解码。在写入一个字符时，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Java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虚拟机会将统一码转化为特定文件编码，而在读取字符时，将特定文件编码转化为统一码。二进制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I/O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不需要转化。如果你向文件写入一个字节，就是将原始的字节复制到文件中。当从文件读取一个字节时，就会返回文件中的确切字节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600" dirty="0" err="1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/>
              <a:t>Scanner</a:t>
            </a:r>
            <a:r>
              <a:rPr lang="zh-CN" altLang="en-US" dirty="0"/>
              <a:t>类读取文本数据，使用</a:t>
            </a:r>
            <a:r>
              <a:rPr lang="en-US" altLang="zh-CN" dirty="0"/>
              <a:t>PrintWriter</a:t>
            </a:r>
            <a:r>
              <a:rPr lang="zh-CN" altLang="en-US" dirty="0"/>
              <a:t>类写文本数据</a:t>
            </a:r>
            <a:endParaRPr lang="zh-CN" altLang="en-US" dirty="0"/>
          </a:p>
        </p:txBody>
      </p:sp>
      <p:sp>
        <p:nvSpPr>
          <p:cNvPr id="5" name="Rectangle 8"/>
          <p:cNvSpPr/>
          <p:nvPr/>
        </p:nvSpPr>
        <p:spPr>
          <a:xfrm>
            <a:off x="1277620" y="5197475"/>
            <a:ext cx="6629400" cy="9906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PrintWriter output = new PrintWriter("temp.txt");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output.println("Java 101");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output.close();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6" name="Rectangle 9"/>
          <p:cNvSpPr/>
          <p:nvPr/>
        </p:nvSpPr>
        <p:spPr>
          <a:xfrm>
            <a:off x="1201420" y="2225675"/>
            <a:ext cx="6629400" cy="914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Scanner input = new Scanner(new File("temp.txt"));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System.out.println(input.nextLine());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graphicFrame>
        <p:nvGraphicFramePr>
          <p:cNvPr id="7" name="Object 12"/>
          <p:cNvGraphicFramePr>
            <a:graphicFrameLocks noChangeAspect="1"/>
          </p:cNvGraphicFramePr>
          <p:nvPr/>
        </p:nvGraphicFramePr>
        <p:xfrm>
          <a:off x="2650808" y="3292475"/>
          <a:ext cx="4210050" cy="183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" imgW="4220210" imgH="1827530" progId="Word.Picture.8">
                  <p:embed/>
                </p:oleObj>
              </mc:Choice>
              <mc:Fallback>
                <p:oleObj name="" r:id="rId1" imgW="4220210" imgH="1827530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50808" y="3292475"/>
                        <a:ext cx="4210050" cy="1830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Line 11"/>
          <p:cNvSpPr/>
          <p:nvPr/>
        </p:nvSpPr>
        <p:spPr>
          <a:xfrm>
            <a:off x="2649220" y="2530475"/>
            <a:ext cx="533400" cy="121920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sm" len="sm"/>
            <a:tailEnd type="stealth" w="sm" len="sm"/>
          </a:ln>
        </p:spPr>
      </p:sp>
      <p:sp>
        <p:nvSpPr>
          <p:cNvPr id="10" name="Line 10"/>
          <p:cNvSpPr/>
          <p:nvPr/>
        </p:nvSpPr>
        <p:spPr>
          <a:xfrm flipV="1">
            <a:off x="3030220" y="4511675"/>
            <a:ext cx="228600" cy="76200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sm" len="sm"/>
            <a:tailEnd type="stealth" w="sm" len="sm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59399" name="Object 6"/>
          <p:cNvGraphicFramePr>
            <a:graphicFrameLocks noChangeAspect="1"/>
          </p:cNvGraphicFramePr>
          <p:nvPr/>
        </p:nvGraphicFramePr>
        <p:xfrm>
          <a:off x="548005" y="1193800"/>
          <a:ext cx="8260080" cy="4808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4035425" imgH="2346960" progId="Word.Picture.8">
                  <p:embed/>
                </p:oleObj>
              </mc:Choice>
              <mc:Fallback>
                <p:oleObj name="" r:id="rId1" imgW="4035425" imgH="2346960" progId="Word.Picture.8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8005" y="1193800"/>
                        <a:ext cx="8260080" cy="48088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graphicFrame>
        <p:nvGraphicFramePr>
          <p:cNvPr id="61447" name="Object 6"/>
          <p:cNvGraphicFramePr>
            <a:graphicFrameLocks noChangeAspect="1"/>
          </p:cNvGraphicFramePr>
          <p:nvPr/>
        </p:nvGraphicFramePr>
        <p:xfrm>
          <a:off x="231775" y="1203325"/>
          <a:ext cx="8680450" cy="445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4508500" imgH="2311400" progId="Word.Picture.8">
                  <p:embed/>
                </p:oleObj>
              </mc:Choice>
              <mc:Fallback>
                <p:oleObj name="" r:id="rId1" imgW="4508500" imgH="2311400" progId="Word.Picture.8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1775" y="1203325"/>
                        <a:ext cx="8680450" cy="4451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852170" y="869315"/>
            <a:ext cx="8005445" cy="6185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public class ReplaceText {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public static void main(String[] args) throws Exception {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// Check command line parameter usage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if (args.length != 4) {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System.out.println(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"Usage: java ReplaceText sourceFile targetFile oldStr newStr");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System.exit(1);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}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// Check if source file exists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File sourceFile = new File(args[0]);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if (!sourceFile.exists()) {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System.out.println("Source file " + args[0] + " does not exist");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System.exit(2);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}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// Check if target file exists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File targetFile = new File(args[1]);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if (targetFile.exists()) {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System.out.println("Target file " + args[1] + " already exists");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System.exit(3);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}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try (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// Create input and output files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Scanner input = new Scanner(sourceFile);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PrintWriter output = new PrintWriter(targetFile);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) {        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while (input.hasNext()) {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String s1 = input.nextLine();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String s2 = s1.replaceAll(args[2], args[3]);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output.println(s2);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}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}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}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1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二进制</a:t>
            </a:r>
            <a:r>
              <a:rPr lang="en-US" altLang="zh-CN"/>
              <a:t>IO</a:t>
            </a:r>
            <a:r>
              <a:rPr lang="zh-CN" altLang="en-US"/>
              <a:t>类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pic>
        <p:nvPicPr>
          <p:cNvPr id="9222" name="Picture 7"/>
          <p:cNvPicPr>
            <a:picLocks noChangeAspect="1"/>
          </p:cNvPicPr>
          <p:nvPr>
            <p:ph sz="quarter" idx="12"/>
          </p:nvPr>
        </p:nvPicPr>
        <p:blipFill>
          <a:blip r:embed="rId1"/>
          <a:stretch>
            <a:fillRect/>
          </a:stretch>
        </p:blipFill>
        <p:spPr>
          <a:xfrm>
            <a:off x="467995" y="1872615"/>
            <a:ext cx="8207375" cy="3112770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graphicFrame>
        <p:nvGraphicFramePr>
          <p:cNvPr id="9220" name="Object 6"/>
          <p:cNvGraphicFramePr>
            <a:graphicFrameLocks noChangeAspect="1"/>
          </p:cNvGraphicFramePr>
          <p:nvPr/>
        </p:nvGraphicFramePr>
        <p:xfrm>
          <a:off x="0" y="1048385"/>
          <a:ext cx="8915400" cy="528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4584065" imgH="2706370" progId="Word.Picture.8">
                  <p:embed/>
                </p:oleObj>
              </mc:Choice>
              <mc:Fallback>
                <p:oleObj name="" r:id="rId1" imgW="4584065" imgH="2706370" progId="Word.Picture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1048385"/>
                        <a:ext cx="8915400" cy="5283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graphicFrame>
        <p:nvGraphicFramePr>
          <p:cNvPr id="10247" name="Object 9"/>
          <p:cNvGraphicFramePr>
            <a:graphicFrameLocks noChangeAspect="1"/>
          </p:cNvGraphicFramePr>
          <p:nvPr/>
        </p:nvGraphicFramePr>
        <p:xfrm>
          <a:off x="0" y="2208213"/>
          <a:ext cx="9144000" cy="317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4584065" imgH="1589405" progId="Word.Picture.8">
                  <p:embed/>
                </p:oleObj>
              </mc:Choice>
              <mc:Fallback>
                <p:oleObj name="" r:id="rId1" imgW="4584065" imgH="1589405" progId="Word.Picture.8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2208213"/>
                        <a:ext cx="9144000" cy="3178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14339" name="Rectangle 2"/>
          <p:cNvSpPr>
            <a:spLocks noGrp="1"/>
          </p:cNvSpPr>
          <p:nvPr>
            <p:ph type="title"/>
          </p:nvPr>
        </p:nvSpPr>
        <p:spPr>
          <a:xfrm>
            <a:off x="152400" y="142240"/>
            <a:ext cx="8686800" cy="609600"/>
          </a:xfrm>
        </p:spPr>
        <p:txBody>
          <a:bodyPr vert="horz" wrap="square" lIns="92075" tIns="46038" rIns="92075" bIns="46038" anchor="ctr"/>
          <a:p>
            <a:r>
              <a:rPr lang="en-US" altLang="zh-CN" dirty="0">
                <a:ea typeface="宋体" panose="02010600030101010101" pitchFamily="2" charset="-122"/>
              </a:rPr>
              <a:t>FilterInputStream/FilterOutputStream</a:t>
            </a:r>
            <a:endParaRPr lang="en-US" altLang="zh-CN" b="1" dirty="0">
              <a:ea typeface="宋体" panose="02010600030101010101" pitchFamily="2" charset="-122"/>
            </a:endParaRPr>
          </a:p>
        </p:txBody>
      </p:sp>
      <p:sp>
        <p:nvSpPr>
          <p:cNvPr id="14340" name="Rectangle 3"/>
          <p:cNvSpPr>
            <a:spLocks noGrp="1"/>
          </p:cNvSpPr>
          <p:nvPr>
            <p:ph idx="1"/>
          </p:nvPr>
        </p:nvSpPr>
        <p:spPr>
          <a:xfrm>
            <a:off x="152400" y="4648200"/>
            <a:ext cx="8915400" cy="1905000"/>
          </a:xfrm>
        </p:spPr>
        <p:txBody>
          <a:bodyPr vert="horz" wrap="square" lIns="92075" tIns="46038" rIns="92075" bIns="46038" anchor="t">
            <a:normAutofit fontScale="80000"/>
          </a:bodyPr>
          <a:p>
            <a:pPr marL="0" indent="0">
              <a:lnSpc>
                <a:spcPct val="120000"/>
              </a:lnSpc>
              <a:buNone/>
            </a:pPr>
            <a:r>
              <a:rPr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FilterInputStream 的作用是用来“封装其它的输入流，并为它们提供额外的功能”。它的常用的子类有BufferedInputStream和DataInputStream。</a:t>
            </a:r>
            <a:endParaRPr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BufferedInputStream的作用就是为“输入流提供缓冲功能，以及mark()和reset()功能”。</a:t>
            </a:r>
            <a:endParaRPr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DataInputStream 是用来装饰其它输入流，它“允许应用程序以与机器无关方式从底层输入流中读取基本 Java 数据类型”。应用程序可以使用DataOutputStream(数据输出流)写入由DataInputStream(数据输入流)读取的数据。</a:t>
            </a:r>
            <a:endParaRPr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4341" name="Object 4"/>
          <p:cNvGraphicFramePr>
            <a:graphicFrameLocks noChangeAspect="1"/>
          </p:cNvGraphicFramePr>
          <p:nvPr/>
        </p:nvGraphicFramePr>
        <p:xfrm>
          <a:off x="228600" y="1143000"/>
          <a:ext cx="8534400" cy="326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4629785" imgH="1772285" progId="Word.Picture.8">
                  <p:embed/>
                </p:oleObj>
              </mc:Choice>
              <mc:Fallback>
                <p:oleObj name="" r:id="rId1" imgW="4629785" imgH="1772285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600" y="1143000"/>
                        <a:ext cx="8534400" cy="3265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Line 5"/>
          <p:cNvSpPr/>
          <p:nvPr/>
        </p:nvSpPr>
        <p:spPr>
          <a:xfrm flipV="1">
            <a:off x="1371600" y="2057400"/>
            <a:ext cx="2667000" cy="259080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sm" len="sm"/>
            <a:tailEnd type="stealth" w="sm" len="sm"/>
          </a:ln>
        </p:spPr>
      </p:sp>
      <p:sp>
        <p:nvSpPr>
          <p:cNvPr id="14343" name="Line 6"/>
          <p:cNvSpPr/>
          <p:nvPr/>
        </p:nvSpPr>
        <p:spPr>
          <a:xfrm flipV="1">
            <a:off x="1524000" y="3505200"/>
            <a:ext cx="2514600" cy="114300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sm" len="sm"/>
            <a:tailEnd type="stealth" w="sm" len="sm"/>
          </a:ln>
        </p:spPr>
      </p:sp>
      <p:sp>
        <p:nvSpPr>
          <p:cNvPr id="2" name="文本框 1"/>
          <p:cNvSpPr txBox="1"/>
          <p:nvPr/>
        </p:nvSpPr>
        <p:spPr>
          <a:xfrm>
            <a:off x="80645" y="884555"/>
            <a:ext cx="3140710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3200" dirty="0" err="1" smtClean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装饰器 设计模式</a:t>
            </a:r>
            <a:endParaRPr lang="zh-CN" altLang="en-US" sz="3200" dirty="0" err="1" smtClean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400" dirty="0"/>
            </a:fld>
            <a:endParaRPr lang="en-US" altLang="en-US" sz="1400" dirty="0"/>
          </a:p>
        </p:txBody>
      </p:sp>
      <p:sp>
        <p:nvSpPr>
          <p:cNvPr id="24579" name="Rectangle 2"/>
          <p:cNvSpPr>
            <a:spLocks noGrp="1"/>
          </p:cNvSpPr>
          <p:nvPr>
            <p:ph type="title"/>
          </p:nvPr>
        </p:nvSpPr>
        <p:spPr>
          <a:xfrm>
            <a:off x="69850" y="-112395"/>
            <a:ext cx="8763000" cy="914400"/>
          </a:xfrm>
        </p:spPr>
        <p:txBody>
          <a:bodyPr vert="horz" wrap="square" lIns="92075" tIns="46038" rIns="92075" bIns="46038" anchor="ctr"/>
          <a:p>
            <a:r>
              <a:rPr lang="en-US" altLang="en-US" sz="3200" dirty="0">
                <a:cs typeface="Courier New" panose="02070309020205020404" charset="0"/>
              </a:rPr>
              <a:t>BufferedInputStream/BufferedOutputStream</a:t>
            </a:r>
            <a:r>
              <a:rPr lang="en-US" altLang="en-US" sz="3600" dirty="0">
                <a:cs typeface="Courier New" panose="02070309020205020404" charset="0"/>
              </a:rPr>
              <a:t> </a:t>
            </a:r>
            <a:endParaRPr lang="en-US" altLang="en-US" sz="3600" dirty="0">
              <a:ea typeface="Courier New" panose="02070309020205020404" charset="0"/>
            </a:endParaRPr>
          </a:p>
        </p:txBody>
      </p:sp>
      <p:sp>
        <p:nvSpPr>
          <p:cNvPr id="24580" name="Rectangle 3"/>
          <p:cNvSpPr>
            <a:spLocks noGrp="1"/>
          </p:cNvSpPr>
          <p:nvPr>
            <p:ph idx="1"/>
          </p:nvPr>
        </p:nvSpPr>
        <p:spPr>
          <a:xfrm>
            <a:off x="212725" y="2567305"/>
            <a:ext cx="8839200" cy="2214880"/>
          </a:xfrm>
        </p:spPr>
        <p:txBody>
          <a:bodyPr vert="horz" wrap="square" lIns="92075" tIns="46038" rIns="92075" bIns="46038" anchor="t">
            <a:normAutofit lnSpcReduction="10000"/>
          </a:bodyPr>
          <a:p>
            <a:pPr lvl="1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cs typeface="Courier New" panose="02070309020205020404" charset="0"/>
              </a:rPr>
              <a:t>// Create a BufferedInputStream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lvl="1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cs typeface="Courier New" panose="02070309020205020404" charset="0"/>
              </a:rPr>
              <a:t>public BufferedInputStream(InputStream in)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lvl="1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cs typeface="Courier New" panose="02070309020205020404" charset="0"/>
              </a:rPr>
              <a:t>public BufferedInputStream(InputStream in, int bufferSize)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lvl="1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cs typeface="Courier New" panose="02070309020205020404" charset="0"/>
              </a:rPr>
              <a:t> 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lvl="1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cs typeface="Courier New" panose="02070309020205020404" charset="0"/>
              </a:rPr>
              <a:t>// Create a BufferedOutputStream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lvl="1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cs typeface="Courier New" panose="02070309020205020404" charset="0"/>
              </a:rPr>
              <a:t>public BufferedOutputStream(OutputStream out)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lvl="1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cs typeface="Courier New" panose="02070309020205020404" charset="0"/>
              </a:rPr>
              <a:t>public BufferedOutputStream(OutputStreamr out, int bufferSize)</a:t>
            </a:r>
            <a:endParaRPr lang="en-US" altLang="en-US" sz="2000" dirty="0">
              <a:ea typeface="Courier New" panose="02070309020205020404" charset="0"/>
            </a:endParaRPr>
          </a:p>
        </p:txBody>
      </p:sp>
      <p:sp>
        <p:nvSpPr>
          <p:cNvPr id="24581" name="Rectangle 4"/>
          <p:cNvSpPr/>
          <p:nvPr/>
        </p:nvSpPr>
        <p:spPr>
          <a:xfrm>
            <a:off x="1671638" y="2462213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/>
          </a:p>
        </p:txBody>
      </p:sp>
      <p:pic>
        <p:nvPicPr>
          <p:cNvPr id="24582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725" y="4724400"/>
            <a:ext cx="8674100" cy="140970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9850" y="940435"/>
            <a:ext cx="805053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>
              <a:buNone/>
            </a:pPr>
            <a:r>
              <a:rPr lang="en-US" altLang="en-US" sz="2800" dirty="0">
                <a:cs typeface="Courier New" panose="02070309020205020404" charset="0"/>
                <a:sym typeface="+mn-ea"/>
              </a:rPr>
              <a:t>BufferedInputStream/BufferedOutputStream</a:t>
            </a:r>
            <a:r>
              <a:rPr lang="zh-CN" altLang="en-US" sz="2800" dirty="0">
                <a:cs typeface="Courier New" panose="02070309020205020404" charset="0"/>
                <a:sym typeface="+mn-ea"/>
              </a:rPr>
              <a:t>通过缓冲区减少磁盘读写次数来提高输入和输出的速度。</a:t>
            </a:r>
            <a:endParaRPr lang="zh-CN" altLang="en-US" sz="2800" dirty="0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Courier New" panose="020703090202050204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序列化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zh-CN" altLang="en-US" dirty="0"/>
              <a:t>Java 提供了一种对象序列化的机制，该机制中，一个对象可以被表示为一个字节序列，该字节序列包括该对象的数据、有关对象的类型的信息和存储在对象中数据的类型。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将序列化对象写入文件之后，可以从文件中读取出来，并且对它进行反序列化，也就是说，对象的类型信息、对象的数据，还有对象中的数据类型可以用来在内存中新建对象。。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Serializable</a:t>
            </a:r>
            <a:r>
              <a:rPr lang="zh-CN" altLang="en-US" dirty="0"/>
              <a:t>接口</a:t>
            </a:r>
            <a:endParaRPr lang="zh-CN" altLang="en-US" dirty="0"/>
          </a:p>
          <a:p>
            <a:pPr lvl="1"/>
            <a:r>
              <a:rPr lang="zh-CN" altLang="en-US" dirty="0"/>
              <a:t>只有实现</a:t>
            </a:r>
            <a:r>
              <a:rPr lang="en-US" altLang="zh-CN" dirty="0"/>
              <a:t>Serializable</a:t>
            </a:r>
            <a:r>
              <a:rPr lang="zh-CN" altLang="en-US" dirty="0"/>
              <a:t>接口的对象才可以被串行化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b="1" dirty="0" err="1"/>
              <a:t>ObjectOutputStream</a:t>
            </a:r>
            <a:r>
              <a:rPr lang="zh-CN" altLang="en-US" b="1" dirty="0"/>
              <a:t>类</a:t>
            </a:r>
            <a:endParaRPr lang="zh-CN" altLang="en-US" dirty="0"/>
          </a:p>
          <a:p>
            <a:pPr lvl="1"/>
            <a:r>
              <a:rPr lang="en-US" altLang="zh-CN" dirty="0" smtClean="0"/>
              <a:t> write</a:t>
            </a:r>
            <a:endParaRPr lang="en-US" altLang="zh-CN" dirty="0" smtClean="0"/>
          </a:p>
          <a:p>
            <a:r>
              <a:rPr lang="en-US" altLang="zh-CN" b="1" dirty="0" err="1"/>
              <a:t>ObjectInputStream</a:t>
            </a:r>
            <a:r>
              <a:rPr lang="zh-CN" altLang="en-US" b="1" dirty="0"/>
              <a:t>类</a:t>
            </a:r>
            <a:endParaRPr lang="zh-CN" altLang="en-US" dirty="0"/>
          </a:p>
          <a:p>
            <a:pPr lvl="1"/>
            <a:r>
              <a:rPr lang="en-US" altLang="zh-CN" dirty="0" smtClean="0"/>
              <a:t>Read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transient</a:t>
            </a:r>
            <a:r>
              <a:rPr lang="zh-CN" altLang="en-US" dirty="0"/>
              <a:t>关键字</a:t>
            </a:r>
            <a:endParaRPr lang="zh-CN" altLang="en-US" dirty="0"/>
          </a:p>
          <a:p>
            <a:pPr lvl="1"/>
            <a:r>
              <a:rPr lang="zh-CN" altLang="en-US" dirty="0"/>
              <a:t>对于某些类型的变量，其状态是瞬时的，无法或无需保存其状态，对于这些变量，可以用</a:t>
            </a:r>
            <a:r>
              <a:rPr lang="en-US" altLang="zh-CN" dirty="0"/>
              <a:t>transient</a:t>
            </a:r>
            <a:r>
              <a:rPr lang="zh-CN" altLang="en-US" dirty="0"/>
              <a:t>关键字标明。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序列化示例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2"/>
          </p:nvPr>
        </p:nvSpPr>
        <p:spPr/>
        <p:txBody>
          <a:bodyPr>
            <a:normAutofit fontScale="90000" lnSpcReduction="20000"/>
          </a:bodyPr>
          <a:lstStyle/>
          <a:p>
            <a:pPr marL="0" indent="0">
              <a:buNone/>
            </a:pPr>
            <a:r>
              <a:rPr dirty="0"/>
              <a:t>public class Employee implements java.io.Serializable</a:t>
            </a:r>
            <a:endParaRPr dirty="0"/>
          </a:p>
          <a:p>
            <a:pPr marL="0" indent="0">
              <a:buNone/>
            </a:pPr>
            <a:r>
              <a:rPr dirty="0"/>
              <a:t>{</a:t>
            </a:r>
            <a:endParaRPr dirty="0"/>
          </a:p>
          <a:p>
            <a:pPr marL="0" indent="0">
              <a:buNone/>
            </a:pPr>
            <a:r>
              <a:rPr dirty="0"/>
              <a:t>   public String name;</a:t>
            </a:r>
            <a:endParaRPr dirty="0"/>
          </a:p>
          <a:p>
            <a:pPr marL="0" indent="0">
              <a:buNone/>
            </a:pPr>
            <a:r>
              <a:rPr dirty="0"/>
              <a:t>   public String address;</a:t>
            </a:r>
            <a:endParaRPr dirty="0"/>
          </a:p>
          <a:p>
            <a:pPr marL="0" indent="0">
              <a:buNone/>
            </a:pPr>
            <a:r>
              <a:rPr dirty="0"/>
              <a:t>   public transient int SSN;</a:t>
            </a:r>
            <a:endParaRPr dirty="0"/>
          </a:p>
          <a:p>
            <a:pPr marL="0" indent="0">
              <a:buNone/>
            </a:pPr>
            <a:r>
              <a:rPr dirty="0"/>
              <a:t>   public int number;</a:t>
            </a:r>
            <a:endParaRPr dirty="0"/>
          </a:p>
          <a:p>
            <a:pPr marL="0" indent="0">
              <a:buNone/>
            </a:pPr>
            <a:r>
              <a:rPr dirty="0"/>
              <a:t>   public void mailCheck()</a:t>
            </a:r>
            <a:endParaRPr dirty="0"/>
          </a:p>
          <a:p>
            <a:pPr marL="0" indent="0">
              <a:buNone/>
            </a:pPr>
            <a:r>
              <a:rPr dirty="0"/>
              <a:t>   {</a:t>
            </a:r>
            <a:endParaRPr dirty="0"/>
          </a:p>
          <a:p>
            <a:pPr marL="0" indent="0">
              <a:buNone/>
            </a:pPr>
            <a:r>
              <a:rPr dirty="0"/>
              <a:t>      System.out.println("Mailing a check to " + name</a:t>
            </a:r>
            <a:endParaRPr dirty="0"/>
          </a:p>
          <a:p>
            <a:pPr marL="0" indent="0">
              <a:buNone/>
            </a:pPr>
            <a:r>
              <a:rPr dirty="0"/>
              <a:t>                           + " " + address);</a:t>
            </a:r>
            <a:endParaRPr dirty="0"/>
          </a:p>
          <a:p>
            <a:pPr marL="0" indent="0">
              <a:buNone/>
            </a:pPr>
            <a:r>
              <a:rPr dirty="0"/>
              <a:t>   }</a:t>
            </a:r>
            <a:endParaRPr dirty="0"/>
          </a:p>
          <a:p>
            <a:pPr marL="0" indent="0">
              <a:buNone/>
            </a:pPr>
            <a:r>
              <a:rPr dirty="0"/>
              <a:t>}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sz="quarter" idx="12"/>
          </p:nvPr>
        </p:nvSpPr>
        <p:spPr/>
        <p:txBody>
          <a:bodyPr>
            <a:normAutofit fontScale="50000"/>
          </a:bodyPr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000"/>
              <a:t>序列化：</a:t>
            </a:r>
            <a:endParaRPr lang="zh-CN" altLang="en-US" sz="40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/>
              <a:t>public class SerializeDemo</a:t>
            </a:r>
            <a:endParaRPr lang="zh-CN" altLang="en-US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/>
              <a:t>{</a:t>
            </a:r>
            <a:endParaRPr lang="zh-CN" altLang="en-US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/>
              <a:t>   public static void main(String [] args)</a:t>
            </a:r>
            <a:endParaRPr lang="zh-CN" altLang="en-US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/>
              <a:t>   {</a:t>
            </a:r>
            <a:endParaRPr lang="zh-CN" altLang="en-US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/>
              <a:t>      Employee e = new Employee();</a:t>
            </a:r>
            <a:endParaRPr lang="zh-CN" altLang="en-US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/>
              <a:t>      e.name = "Reyan Ali";</a:t>
            </a:r>
            <a:endParaRPr lang="zh-CN" altLang="en-US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/>
              <a:t>      e.address = "Phokka Kuan, Ambehta Peer";</a:t>
            </a:r>
            <a:endParaRPr lang="zh-CN" altLang="en-US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/>
              <a:t>      e.SSN = 11122333;</a:t>
            </a:r>
            <a:endParaRPr lang="zh-CN" altLang="en-US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/>
              <a:t>      e.number = 101;</a:t>
            </a:r>
            <a:endParaRPr lang="zh-CN" altLang="en-US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/>
              <a:t>      try</a:t>
            </a:r>
            <a:endParaRPr lang="zh-CN" altLang="en-US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/>
              <a:t>      {</a:t>
            </a:r>
            <a:endParaRPr lang="zh-CN" altLang="en-US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/>
              <a:t>         FileOutputStream fileOut =</a:t>
            </a:r>
            <a:endParaRPr lang="zh-CN" altLang="en-US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/>
              <a:t>         new FileOutputStream("/tmp/employee.ser");</a:t>
            </a:r>
            <a:endParaRPr lang="zh-CN" altLang="en-US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/>
              <a:t>         ObjectOutputStream out = new ObjectOutputStream(fileOut);</a:t>
            </a:r>
            <a:endParaRPr lang="zh-CN" altLang="en-US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/>
              <a:t>         out.writeObject(e);</a:t>
            </a:r>
            <a:endParaRPr lang="zh-CN" altLang="en-US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/>
              <a:t>         out.close();</a:t>
            </a:r>
            <a:endParaRPr lang="zh-CN" altLang="en-US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/>
              <a:t>         fileOut.close();</a:t>
            </a:r>
            <a:endParaRPr lang="zh-CN" altLang="en-US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/>
              <a:t>         System.out.printf("Serialized data is saved in /tmp/employee.ser");</a:t>
            </a:r>
            <a:endParaRPr lang="zh-CN" altLang="en-US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/>
              <a:t>      }catch(IOException i)</a:t>
            </a:r>
            <a:endParaRPr lang="zh-CN" altLang="en-US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/>
              <a:t>      {</a:t>
            </a:r>
            <a:endParaRPr lang="zh-CN" altLang="en-US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/>
              <a:t>          i.printStackTrace();</a:t>
            </a:r>
            <a:endParaRPr lang="zh-CN" altLang="en-US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/>
              <a:t>      }</a:t>
            </a:r>
            <a:endParaRPr lang="zh-CN" altLang="en-US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/>
              <a:t>   }</a:t>
            </a:r>
            <a:endParaRPr lang="zh-CN" altLang="en-US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/>
              <a:t>}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sz="quarter" idx="12"/>
          </p:nvPr>
        </p:nvSpPr>
        <p:spPr/>
        <p:txBody>
          <a:bodyPr>
            <a:normAutofit fontScale="25000"/>
          </a:bodyPr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8000"/>
              <a:t>反序列化</a:t>
            </a:r>
            <a:r>
              <a:rPr lang="zh-CN" altLang="en-US"/>
              <a:t>：</a:t>
            </a:r>
            <a:endParaRPr lang="zh-CN" altLang="en-US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public class DeserializeDemo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{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public static void main(String [] args)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{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   Employee e = null;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   try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   {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      FileInputStream fileIn = new FileInputStream("/tmp/employee.ser");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      ObjectInputStream in = new ObjectInputStream(fileIn);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      e = (Employee) in.readObject();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      in.close();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      fileIn.close();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   }catch(IOException i)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   {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      i.printStackTrace();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      return;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   }catch(ClassNotFoundException c)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   {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      System.out.println("Employee class not found");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      c.printStackTrace();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      return;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   }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   System.out.println("Deserialized Employee...");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   System.out.println("Name: " + e.name);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   System.out.println("Address: " + e.address);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   System.out.println("SSN: " + e.SSN);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   System.out.println("Number: " + e.number);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    }</a:t>
            </a:r>
            <a:endParaRPr lang="zh-CN" altLang="en-US" sz="45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4500"/>
              <a:t>}</a:t>
            </a:r>
            <a:endParaRPr lang="zh-CN" altLang="en-US" sz="45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灯片编号占位符 2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5123" name="Slide Number Placeholder 4"/>
          <p:cNvSpPr txBox="1">
            <a:spLocks noGrp="1"/>
          </p:cNvSpPr>
          <p:nvPr/>
        </p:nvSpPr>
        <p:spPr>
          <a:xfrm>
            <a:off x="6553200" y="63992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512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/>
          <a:p>
            <a:r>
              <a:rPr lang="en-US" altLang="zh-CN" dirty="0">
                <a:ea typeface="宋体" panose="02010600030101010101" pitchFamily="2" charset="-122"/>
              </a:rPr>
              <a:t>Java GUI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125" name="Text Box 3"/>
          <p:cNvSpPr txBox="1"/>
          <p:nvPr/>
        </p:nvSpPr>
        <p:spPr>
          <a:xfrm>
            <a:off x="339090" y="1668780"/>
            <a:ext cx="8305800" cy="221488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>
              <a:lnSpc>
                <a:spcPct val="120000"/>
              </a:lnSpc>
              <a:spcBef>
                <a:spcPct val="50000"/>
              </a:spcBef>
              <a:buSzTx/>
              <a:buFont typeface="Wingdings" panose="05000000000000000000" charset="0"/>
              <a:buChar char="n"/>
            </a:pPr>
            <a:r>
              <a:rPr lang="en-US" altLang="zh-CN" sz="3000" dirty="0">
                <a:ea typeface="宋体" panose="02010600030101010101" pitchFamily="2" charset="-122"/>
              </a:rPr>
              <a:t>AWT</a:t>
            </a:r>
            <a:endParaRPr lang="en-US" altLang="zh-CN" sz="3000" dirty="0">
              <a:ea typeface="宋体" panose="02010600030101010101" pitchFamily="2" charset="-122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SzTx/>
              <a:buFont typeface="Wingdings" panose="05000000000000000000" charset="0"/>
              <a:buChar char="n"/>
            </a:pPr>
            <a:r>
              <a:rPr lang="en-US" altLang="zh-CN" sz="3000" dirty="0">
                <a:ea typeface="宋体" panose="02010600030101010101" pitchFamily="2" charset="-122"/>
              </a:rPr>
              <a:t>Swing</a:t>
            </a:r>
            <a:endParaRPr lang="en-US" altLang="zh-CN" sz="3000" dirty="0">
              <a:ea typeface="宋体" panose="02010600030101010101" pitchFamily="2" charset="-122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SzTx/>
              <a:buFont typeface="Wingdings" panose="05000000000000000000" charset="0"/>
              <a:buChar char="n"/>
            </a:pPr>
            <a:r>
              <a:rPr lang="en-US" altLang="zh-CN" sz="3000" dirty="0">
                <a:ea typeface="宋体" panose="02010600030101010101" pitchFamily="2" charset="-122"/>
              </a:rPr>
              <a:t>JavaFX</a:t>
            </a:r>
            <a:endParaRPr lang="en-US" altLang="zh-CN" sz="3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灯片编号占位符 2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6147" name="Slide Number Placeholder 4"/>
          <p:cNvSpPr txBox="1">
            <a:spLocks noGrp="1"/>
          </p:cNvSpPr>
          <p:nvPr/>
        </p:nvSpPr>
        <p:spPr>
          <a:xfrm>
            <a:off x="6553200" y="63992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614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/>
          <a:p>
            <a:r>
              <a:rPr lang="en-US" altLang="zh-CN" dirty="0">
                <a:ea typeface="宋体" panose="02010600030101010101" pitchFamily="2" charset="-122"/>
              </a:rPr>
              <a:t>JavaFX</a:t>
            </a:r>
            <a:r>
              <a:rPr lang="zh-CN" altLang="en-US" dirty="0">
                <a:ea typeface="宋体" panose="02010600030101010101" pitchFamily="2" charset="-122"/>
              </a:rPr>
              <a:t>程序基本结构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7181" name="Object 3"/>
          <p:cNvGraphicFramePr>
            <a:graphicFrameLocks noChangeAspect="1"/>
          </p:cNvGraphicFramePr>
          <p:nvPr/>
        </p:nvGraphicFramePr>
        <p:xfrm>
          <a:off x="2800985" y="3804603"/>
          <a:ext cx="3541713" cy="244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994535" imgH="1374775" progId="Word.Picture.8">
                  <p:embed/>
                </p:oleObj>
              </mc:Choice>
              <mc:Fallback>
                <p:oleObj name="" r:id="rId1" imgW="1994535" imgH="1374775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00985" y="3804603"/>
                        <a:ext cx="3541713" cy="2446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897255" y="1149350"/>
            <a:ext cx="7759700" cy="21558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0000"/>
              </a:lnSpc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en-US" altLang="zh-CN" sz="16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Stage</a:t>
            </a:r>
            <a:r>
              <a:rPr lang="zh-CN" altLang="en-US" sz="16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（舞台）</a:t>
            </a:r>
            <a:endParaRPr lang="en-US" altLang="zh-CN" sz="16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20000"/>
              </a:lnSpc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zh-CN" altLang="zh-CN" sz="16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一个</a:t>
            </a:r>
            <a:r>
              <a:rPr lang="en-US" altLang="zh-CN" sz="16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Stage</a:t>
            </a:r>
            <a:r>
              <a:rPr lang="zh-CN" altLang="en-US" sz="16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是一个窗口对象，当应用程序启动的时候，一个成为主舞台的</a:t>
            </a:r>
            <a:r>
              <a:rPr lang="en-US" altLang="zh-CN" sz="16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Stage</a:t>
            </a:r>
            <a:r>
              <a:rPr lang="zh-CN" altLang="zh-CN" sz="16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对象由</a:t>
            </a:r>
            <a:r>
              <a:rPr lang="en-US" altLang="zh-CN" sz="16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JVM</a:t>
            </a:r>
            <a:r>
              <a:rPr lang="zh-CN" altLang="en-US" sz="16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自动创建</a:t>
            </a:r>
            <a:endParaRPr lang="zh-CN" altLang="en-US" sz="16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lvl="0" indent="-285750">
              <a:lnSpc>
                <a:spcPct val="120000"/>
              </a:lnSpc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en-US" altLang="zh-CN" sz="16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Scene</a:t>
            </a:r>
            <a:r>
              <a:rPr lang="zh-CN" altLang="en-US" sz="16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（场景）</a:t>
            </a:r>
            <a:endParaRPr lang="en-US" altLang="zh-CN" sz="16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20000"/>
              </a:lnSpc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zh-CN" altLang="en-US" sz="16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Stage设置场景，可以设置一个场景，也可以通过设置场景的方式来做到多个场景之间切换 </a:t>
            </a:r>
            <a:endParaRPr lang="zh-CN" altLang="en-US" sz="16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20000"/>
              </a:lnSpc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en-US" altLang="zh-CN" sz="16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Scene</a:t>
            </a:r>
            <a:r>
              <a:rPr lang="zh-CN" altLang="en-US" sz="16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放置面板和各种</a:t>
            </a:r>
            <a:r>
              <a:rPr lang="en-US" altLang="zh-CN" sz="16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</a:t>
            </a:r>
            <a:r>
              <a:rPr lang="zh-CN" altLang="en-US" sz="16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组件</a:t>
            </a:r>
            <a:endParaRPr lang="zh-CN" altLang="en-US" sz="16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灯片编号占位符 2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7171" name="Slide Number Placeholder 4"/>
          <p:cNvSpPr txBox="1">
            <a:spLocks noGrp="1"/>
          </p:cNvSpPr>
          <p:nvPr/>
        </p:nvSpPr>
        <p:spPr>
          <a:xfrm>
            <a:off x="6553200" y="63992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pic>
        <p:nvPicPr>
          <p:cNvPr id="8205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87425"/>
            <a:ext cx="8485188" cy="4770438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FXML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2"/>
          </p:nvPr>
        </p:nvSpPr>
        <p:spPr/>
        <p:txBody>
          <a:bodyPr/>
          <a:p>
            <a:r>
              <a:rPr lang="en-US" altLang="zh-CN"/>
              <a:t>FXML</a:t>
            </a:r>
            <a:r>
              <a:rPr lang="zh-CN" altLang="en-US"/>
              <a:t>实现</a:t>
            </a:r>
            <a:r>
              <a:rPr lang="zh-CN" altLang="en-US"/>
              <a:t>界面与代码分离</a:t>
            </a:r>
            <a:endParaRPr lang="zh-CN" altLang="en-US"/>
          </a:p>
          <a:p>
            <a:r>
              <a:rPr lang="zh-CN" altLang="en-US"/>
              <a:t>JavaFX应用程序中定义用户界面的，基于XML的声明性标记语言。FXML非常适合用来静态布局，如表单、控件和表格。</a:t>
            </a:r>
            <a:endParaRPr lang="zh-CN" altLang="en-US"/>
          </a:p>
          <a:p>
            <a:r>
              <a:rPr lang="zh-CN" altLang="en-US"/>
              <a:t>FXML文件中的每一个元素可以映射到JavaFX中的一个类，每个FXML元素的属性或者其子元素都可以映射为该对应JavaFXML类的属性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灯片编号占位符 2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8195" name="Slide Number Placeholder 4"/>
          <p:cNvSpPr txBox="1">
            <a:spLocks noGrp="1"/>
          </p:cNvSpPr>
          <p:nvPr/>
        </p:nvSpPr>
        <p:spPr>
          <a:xfrm>
            <a:off x="6553200" y="63992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819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布局面板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43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" y="1633855"/>
            <a:ext cx="8391525" cy="3282950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400" dirty="0"/>
            </a:fld>
            <a:endParaRPr lang="en-US" altLang="en-US" sz="1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p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p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p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0" y="26892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p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p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p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p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p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24003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p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2095" y="1129030"/>
            <a:ext cx="804037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20000"/>
              </a:lnSpc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zh-CN" altLang="en-US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Pane 是其它布局控件类的父类，可以将Pane看成一个绝对布局控件，当将某个控件放置在Pane当中的时候，需要指定它的位置坐标（layoutX和layoutY）</a:t>
            </a:r>
            <a:endParaRPr lang="zh-CN" altLang="en-US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20000"/>
              </a:lnSpc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zh-CN" altLang="en-US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BorderPane  将界面分割上上下左右中5部分，我们可以将控件放置在其中</a:t>
            </a:r>
            <a:endParaRPr lang="zh-CN" altLang="en-US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635" y="2767965"/>
            <a:ext cx="5473700" cy="36461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3" name="Slide Number Placeholder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400" dirty="0"/>
            </a:fld>
            <a:endParaRPr lang="en-US" altLang="en-US" sz="1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p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p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p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0" y="268478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p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p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p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p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p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24003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p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p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0" y="370395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p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5425" y="985520"/>
            <a:ext cx="34036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20000"/>
              </a:lnSpc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zh-CN" altLang="en-US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HBox可以水平排列控件</a:t>
            </a:r>
            <a:endParaRPr lang="zh-CN" altLang="en-US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1710" y="829945"/>
            <a:ext cx="4772025" cy="77152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25425" y="2274570"/>
            <a:ext cx="318516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20000"/>
              </a:lnSpc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zh-CN" altLang="en-US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VBox垂直排列控件，不换列</a:t>
            </a:r>
            <a:endParaRPr lang="zh-CN" altLang="en-US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710" y="1760855"/>
            <a:ext cx="2406650" cy="254190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225425" y="4302760"/>
            <a:ext cx="5545455" cy="15659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20000"/>
              </a:lnSpc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zh-CN" altLang="en-US" sz="16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FlowPane  FlowPane可以设置一个方向水平或者垂直。默认方向为水平，那么放入FlowPane中的控件会先水平排列，如果第一行满了以后进入下一行继续水平排列。垂直方向类似的，先垂直排列，如果第一列满了以后进入第二列继续垂直排列</a:t>
            </a:r>
            <a:endParaRPr lang="zh-CN" altLang="en-US" sz="16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865" y="3522345"/>
            <a:ext cx="3103880" cy="3336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GridPane</a:t>
            </a:r>
            <a:endParaRPr lang="zh-CN" altLang="en-US"/>
          </a:p>
          <a:p>
            <a:pPr lvl="1"/>
            <a:r>
              <a:rPr lang="zh-CN" altLang="en-US"/>
              <a:t>GridPane将其孩子结点灵活地放置在行列网格中。若设置了边框和边缘（border and/or padding），它的内容只能在这些间隙内部。</a:t>
            </a:r>
            <a:endParaRPr lang="zh-CN" altLang="en-US"/>
          </a:p>
          <a:p>
            <a:pPr lvl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en-US" dirty="0">
                <a:latin typeface="Times New Roman" panose="02020603050405020304" pitchFamily="18" charset="0"/>
              </a:rPr>
            </a:fld>
            <a:endParaRPr lang="en-US" dirty="0">
              <a:latin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7710" y="1998345"/>
            <a:ext cx="4476750" cy="20193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888105"/>
            <a:ext cx="6400800" cy="2638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由Nordri®（www.nordridesign.com ） 设计提供">
  <a:themeElements>
    <a:clrScheme name="自定义 56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FFC000"/>
      </a:accent1>
      <a:accent2>
        <a:srgbClr val="6DAA2D"/>
      </a:accent2>
      <a:accent3>
        <a:srgbClr val="5F5F5F"/>
      </a:accent3>
      <a:accent4>
        <a:srgbClr val="777777"/>
      </a:accent4>
      <a:accent5>
        <a:srgbClr val="B2B2B2"/>
      </a:accent5>
      <a:accent6>
        <a:srgbClr val="DDDDDD"/>
      </a:accent6>
      <a:hlink>
        <a:srgbClr val="0070C0"/>
      </a:hlink>
      <a:folHlink>
        <a:srgbClr val="7030A0"/>
      </a:folHlink>
    </a:clrScheme>
    <a:fontScheme name="Nordri开发标准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 w="9525">
          <a:noFill/>
        </a:ln>
      </a:spPr>
      <a:bodyPr lIns="92075" tIns="46038" rIns="92075" bIns="46038"/>
      <a:lstStyle>
        <a:defPPr marL="0" lvl="0" indent="0">
          <a:buNone/>
          <a:defRPr lang="en-US" altLang="zh-CN" sz="1600" dirty="0">
            <a:solidFill>
              <a:schemeClr val="bg2"/>
            </a:solidFill>
            <a:latin typeface="Courier New" panose="02070309020205020404" charset="0"/>
            <a:ea typeface="宋体" panose="02010600030101010101" pitchFamily="2" charset="-122"/>
          </a:defRPr>
        </a:defPPr>
      </a:lstStyle>
    </a:spDef>
    <a:txDef>
      <a:spPr>
        <a:noFill/>
      </a:spPr>
      <a:bodyPr wrap="none" rtlCol="0">
        <a:spAutoFit/>
      </a:bodyPr>
      <a:lstStyle>
        <a:defPPr>
          <a:lnSpc>
            <a:spcPct val="120000"/>
          </a:lnSpc>
          <a:defRPr sz="1600" dirty="0" err="1" smtClean="0">
            <a:solidFill>
              <a:prstClr val="black"/>
            </a:solidFill>
            <a:latin typeface="Arial" panose="020B0604020202020204" pitchFamily="34" charset="0"/>
            <a:ea typeface="微软雅黑" panose="020B0503020204020204" pitchFamily="34" charset="-122"/>
            <a:cs typeface="Arial" panose="020B0604020202020204" pitchFamily="3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5683</Words>
  <Application>WPS 演示</Application>
  <PresentationFormat>全屏显示(4:3)</PresentationFormat>
  <Paragraphs>289</Paragraphs>
  <Slides>26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26</vt:i4>
      </vt:variant>
    </vt:vector>
  </HeadingPairs>
  <TitlesOfParts>
    <vt:vector size="46" baseType="lpstr">
      <vt:lpstr>Arial</vt:lpstr>
      <vt:lpstr>宋体</vt:lpstr>
      <vt:lpstr>Wingdings</vt:lpstr>
      <vt:lpstr>Courier New</vt:lpstr>
      <vt:lpstr>微软雅黑</vt:lpstr>
      <vt:lpstr>黑体</vt:lpstr>
      <vt:lpstr>Times New Roman</vt:lpstr>
      <vt:lpstr>Calibri</vt:lpstr>
      <vt:lpstr>Wingdings</vt:lpstr>
      <vt:lpstr>Monotype Sorts</vt:lpstr>
      <vt:lpstr>Arial Unicode MS</vt:lpstr>
      <vt:lpstr>Monotype Sorts</vt:lpstr>
      <vt:lpstr>由Nordri®（www.nordridesign.com ） 设计提供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面向对象程序设计</vt:lpstr>
      <vt:lpstr> 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二进制IO类</vt:lpstr>
      <vt:lpstr>PowerPoint 演示文稿</vt:lpstr>
      <vt:lpstr>PowerPoint 演示文稿</vt:lpstr>
      <vt:lpstr>FilterInputStream/FilterOutputStream</vt:lpstr>
      <vt:lpstr>BufferedInputStream/BufferedOutputStream </vt:lpstr>
      <vt:lpstr>序列化</vt:lpstr>
      <vt:lpstr>PowerPoint 演示文稿</vt:lpstr>
      <vt:lpstr>序列化示例</vt:lpstr>
      <vt:lpstr>PowerPoint 演示文稿</vt:lpstr>
      <vt:lpstr>PowerPoint 演示文稿</vt:lpstr>
      <vt:lpstr>Java GUI</vt:lpstr>
      <vt:lpstr>JavaFX程序基本结构</vt:lpstr>
      <vt:lpstr>PowerPoint 演示文稿</vt:lpstr>
      <vt:lpstr>FXML</vt:lpstr>
      <vt:lpstr>布局面板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Java程序设计</dc:title>
  <dc:creator>yangrl</dc:creator>
  <dc:description>Nordri® 
专注于有效的信息传递设计
www.nordridesign.com</dc:description>
  <dc:subject>PPT模板/图示</dc:subject>
  <cp:lastModifiedBy>大灰很</cp:lastModifiedBy>
  <cp:revision>910</cp:revision>
  <dcterms:created xsi:type="dcterms:W3CDTF">2017-02-24T02:44:00Z</dcterms:created>
  <dcterms:modified xsi:type="dcterms:W3CDTF">2021-06-02T14:22:12Z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280499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D5.0.6</vt:lpwstr>
  </property>
  <property fmtid="{D5CDD505-2E9C-101B-9397-08002B2CF9AE}" pid="5" name="KSOProductBuildVer">
    <vt:lpwstr>2052-11.1.0.10495</vt:lpwstr>
  </property>
  <property fmtid="{D5CDD505-2E9C-101B-9397-08002B2CF9AE}" pid="6" name="ICV">
    <vt:lpwstr>A54BDF3514064696904CF0D9E4C615B0</vt:lpwstr>
  </property>
</Properties>
</file>