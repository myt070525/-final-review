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6"/>
  </p:handoutMasterIdLst>
  <p:sldIdLst>
    <p:sldId id="256" r:id="rId3"/>
    <p:sldId id="325" r:id="rId5"/>
    <p:sldId id="266" r:id="rId6"/>
    <p:sldId id="264" r:id="rId7"/>
    <p:sldId id="301" r:id="rId8"/>
    <p:sldId id="296" r:id="rId9"/>
    <p:sldId id="297" r:id="rId10"/>
    <p:sldId id="298" r:id="rId11"/>
    <p:sldId id="299" r:id="rId12"/>
    <p:sldId id="300" r:id="rId13"/>
    <p:sldId id="295" r:id="rId14"/>
    <p:sldId id="303" r:id="rId15"/>
    <p:sldId id="305" r:id="rId16"/>
    <p:sldId id="306" r:id="rId17"/>
    <p:sldId id="307" r:id="rId18"/>
    <p:sldId id="326" r:id="rId19"/>
    <p:sldId id="267" r:id="rId20"/>
    <p:sldId id="280" r:id="rId21"/>
    <p:sldId id="269" r:id="rId22"/>
    <p:sldId id="317" r:id="rId23"/>
    <p:sldId id="323" r:id="rId24"/>
    <p:sldId id="258" r:id="rId25"/>
  </p:sldIdLst>
  <p:sldSz cx="9144000" cy="6858000" type="screen4x3"/>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8" userDrawn="1">
          <p15:clr>
            <a:srgbClr val="A4A3A4"/>
          </p15:clr>
        </p15:guide>
        <p15:guide id="2" orient="horz" pos="4201" userDrawn="1">
          <p15:clr>
            <a:srgbClr val="A4A3A4"/>
          </p15:clr>
        </p15:guide>
        <p15:guide id="3" orient="horz" pos="4065" userDrawn="1">
          <p15:clr>
            <a:srgbClr val="A4A3A4"/>
          </p15:clr>
        </p15:guide>
        <p15:guide id="4" orient="horz" pos="482" userDrawn="1">
          <p15:clr>
            <a:srgbClr val="A4A3A4"/>
          </p15:clr>
        </p15:guide>
        <p15:guide id="5" orient="horz" pos="618" userDrawn="1">
          <p15:clr>
            <a:srgbClr val="A4A3A4"/>
          </p15:clr>
        </p15:guide>
        <p15:guide id="6" pos="2880" userDrawn="1">
          <p15:clr>
            <a:srgbClr val="A4A3A4"/>
          </p15:clr>
        </p15:guide>
        <p15:guide id="7" pos="5465" userDrawn="1">
          <p15:clr>
            <a:srgbClr val="A4A3A4"/>
          </p15:clr>
        </p15:guide>
        <p15:guide id="8" pos="2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24" autoAdjust="0"/>
    <p:restoredTop sz="92639"/>
  </p:normalViewPr>
  <p:slideViewPr>
    <p:cSldViewPr showGuides="1">
      <p:cViewPr varScale="1">
        <p:scale>
          <a:sx n="81" d="100"/>
          <a:sy n="81" d="100"/>
        </p:scale>
        <p:origin x="-1819" y="-62"/>
      </p:cViewPr>
      <p:guideLst>
        <p:guide orient="horz" pos="2098"/>
        <p:guide orient="horz" pos="4201"/>
        <p:guide orient="horz" pos="4065"/>
        <p:guide orient="horz" pos="482"/>
        <p:guide orient="horz" pos="618"/>
        <p:guide pos="2880"/>
        <p:guide pos="5465"/>
        <p:guide pos="295"/>
      </p:guideLst>
    </p:cSldViewPr>
  </p:slideViewPr>
  <p:notesTextViewPr>
    <p:cViewPr>
      <p:scale>
        <a:sx n="1" d="1"/>
        <a:sy n="1" d="1"/>
      </p:scale>
      <p:origin x="0" y="0"/>
    </p:cViewPr>
  </p:notesTextViewPr>
  <p:notesViewPr>
    <p:cSldViewPr>
      <p:cViewPr varScale="1">
        <p:scale>
          <a:sx n="64" d="100"/>
          <a:sy n="64" d="100"/>
        </p:scale>
        <p:origin x="-334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p:cNvSpPr>
          <p:nvPr>
            <p:ph type="sldImg"/>
          </p:nvPr>
        </p:nvSpPr>
        <p:spPr bwMode="auto">
          <a:noFill/>
          <a:ln>
            <a:solidFill>
              <a:srgbClr val="000000"/>
            </a:solidFill>
            <a:miter lim="800000"/>
          </a:ln>
        </p:spPr>
      </p:sp>
      <p:sp>
        <p:nvSpPr>
          <p:cNvPr id="25602" name="Notes Placeholder 2"/>
          <p:cNvSpPr>
            <a:spLocks noGrp="1"/>
          </p:cNvSpPr>
          <p:nvPr>
            <p:ph type="body" idx="1"/>
          </p:nvPr>
        </p:nvSpPr>
        <p:spPr bwMode="auto">
          <a:noFill/>
        </p:spPr>
        <p:txBody>
          <a:bodyPr wrap="square" numCol="1" anchor="t" anchorCtr="0" compatLnSpc="1"/>
          <a:lstStyle/>
          <a:p>
            <a:pPr>
              <a:spcBef>
                <a:spcPct val="0"/>
              </a:spcBef>
            </a:pPr>
            <a:endParaRPr lang="zh-CN" altLang="en-US" smtClean="0"/>
          </a:p>
        </p:txBody>
      </p:sp>
      <p:sp>
        <p:nvSpPr>
          <p:cNvPr id="2560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0D6A1DB-A09E-4EE2-A5C9-C9D6805F2BA3}" type="slidenum">
              <a:rPr lang="zh-CN" altLang="en-US"/>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dirty="0" smtClean="0"/>
              <a:t>单击此处编辑母版标题样式</a:t>
            </a:r>
            <a:endParaRPr lang="zh-CN" altLang="en-US" dirty="0"/>
          </a:p>
        </p:txBody>
      </p:sp>
      <p:sp>
        <p:nvSpPr>
          <p:cNvPr id="3" name="副标题 2"/>
          <p:cNvSpPr>
            <a:spLocks noGrp="1"/>
          </p:cNvSpPr>
          <p:nvPr userDrawn="1">
            <p:ph type="subTitle" idx="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a:defRPr sz="2200"/>
            </a:lvl2pPr>
            <a:lvl3pPr>
              <a:defRPr sz="1600"/>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3.jpe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1605" y="2489200"/>
            <a:ext cx="5882005" cy="639445"/>
          </a:xfrm>
        </p:spPr>
        <p:txBody>
          <a:bodyPr>
            <a:noAutofit/>
          </a:bodyPr>
          <a:lstStyle/>
          <a:p>
            <a:pPr marL="342900" lvl="0" indent="-342900" fontAlgn="base">
              <a:lnSpc>
                <a:spcPct val="110000"/>
              </a:lnSpc>
              <a:spcAft>
                <a:spcPct val="0"/>
              </a:spcAft>
            </a:pPr>
            <a:r>
              <a:rPr lang="zh-CN" altLang="en-US" sz="5400" kern="0" dirty="0">
                <a:solidFill>
                  <a:srgbClr val="C00000"/>
                </a:solidFill>
                <a:latin typeface="方正正大黑简体" panose="02000500000000000000" pitchFamily="2" charset="-122"/>
                <a:ea typeface="方正正大黑简体" panose="02000500000000000000" pitchFamily="2" charset="-122"/>
              </a:rPr>
              <a:t>面向对象程序设计</a:t>
            </a:r>
            <a:endParaRPr lang="zh-CN" altLang="en-US" sz="5400" kern="0" dirty="0">
              <a:solidFill>
                <a:srgbClr val="C00000"/>
              </a:solidFill>
              <a:latin typeface="方正正大黑简体" panose="02000500000000000000" pitchFamily="2" charset="-122"/>
              <a:ea typeface="方正正大黑简体" panose="02000500000000000000" pitchFamily="2" charset="-122"/>
            </a:endParaRPr>
          </a:p>
        </p:txBody>
      </p:sp>
      <p:sp>
        <p:nvSpPr>
          <p:cNvPr id="3" name="副标题 2"/>
          <p:cNvSpPr>
            <a:spLocks noGrp="1"/>
          </p:cNvSpPr>
          <p:nvPr>
            <p:ph type="subTitle" idx="1"/>
          </p:nvPr>
        </p:nvSpPr>
        <p:spPr>
          <a:xfrm>
            <a:off x="1737360" y="3429000"/>
            <a:ext cx="2176145" cy="851535"/>
          </a:xfrm>
        </p:spPr>
        <p:txBody>
          <a:bodyPr>
            <a:noAutofit/>
          </a:bodyPr>
          <a:lstStyle/>
          <a:p>
            <a:pPr lvl="0" algn="r"/>
            <a:r>
              <a:rPr lang="zh-CN" altLang="en-US" sz="3600" b="1" dirty="0"/>
              <a:t>第一章</a:t>
            </a:r>
            <a:endParaRPr lang="zh-CN" altLang="en-US" sz="3600" b="1" dirty="0"/>
          </a:p>
          <a:p>
            <a:pPr lvl="0" algn="r"/>
            <a:endParaRPr lang="zh-CN" altLang="en-US" sz="2400" b="1" dirty="0"/>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4" name="副标题 2"/>
          <p:cNvSpPr>
            <a:spLocks noGrp="1"/>
          </p:cNvSpPr>
          <p:nvPr>
            <p:custDataLst>
              <p:tags r:id="rId1"/>
            </p:custDataLst>
          </p:nvPr>
        </p:nvSpPr>
        <p:spPr>
          <a:xfrm>
            <a:off x="2366645" y="4437380"/>
            <a:ext cx="1432560" cy="711835"/>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ct val="20000"/>
              </a:spcBef>
              <a:buFont typeface="Arial" panose="020B0604020202020204" pitchFamily="34" charset="0"/>
              <a:buNone/>
              <a:defRPr sz="3600" kern="1200">
                <a:solidFill>
                  <a:schemeClr val="tx1"/>
                </a:solidFill>
                <a:latin typeface="+mj-ea"/>
                <a:ea typeface="+mj-ea"/>
                <a:cs typeface="+mn-cs"/>
              </a:defRPr>
            </a:lvl1pPr>
            <a:lvl2pPr marL="457200" indent="0" algn="ctr" defTabSz="914400" rtl="0" eaLnBrk="1" latinLnBrk="0" hangingPunct="1">
              <a:lnSpc>
                <a:spcPct val="120000"/>
              </a:lnSpc>
              <a:spcBef>
                <a:spcPct val="20000"/>
              </a:spcBef>
              <a:buFont typeface="Arial" panose="020B0604020202020204" pitchFamily="34" charset="0"/>
              <a:buNone/>
              <a:defRPr sz="1600" kern="1200">
                <a:solidFill>
                  <a:schemeClr val="tx1">
                    <a:tint val="75000"/>
                  </a:schemeClr>
                </a:solidFill>
                <a:latin typeface="+mn-lt"/>
                <a:ea typeface="+mj-ea"/>
                <a:cs typeface="+mn-cs"/>
              </a:defRPr>
            </a:lvl2pPr>
            <a:lvl3pPr marL="914400" indent="0" algn="ctr" defTabSz="914400" rtl="0" eaLnBrk="1" latinLnBrk="0" hangingPunct="1">
              <a:lnSpc>
                <a:spcPct val="120000"/>
              </a:lnSpc>
              <a:spcBef>
                <a:spcPct val="20000"/>
              </a:spcBef>
              <a:buFont typeface="Arial" panose="020B0604020202020204" pitchFamily="34" charset="0"/>
              <a:buNone/>
              <a:defRPr sz="1400" kern="1200">
                <a:solidFill>
                  <a:schemeClr val="tx1">
                    <a:tint val="75000"/>
                  </a:schemeClr>
                </a:solidFill>
                <a:latin typeface="+mn-lt"/>
                <a:ea typeface="+mj-ea"/>
                <a:cs typeface="+mn-cs"/>
              </a:defRPr>
            </a:lvl3pPr>
            <a:lvl4pPr marL="1371600" indent="0" algn="ctr" defTabSz="914400" rtl="0" eaLnBrk="1" latinLnBrk="0" hangingPunct="1">
              <a:lnSpc>
                <a:spcPct val="120000"/>
              </a:lnSpc>
              <a:spcBef>
                <a:spcPct val="20000"/>
              </a:spcBef>
              <a:buFont typeface="Arial" panose="020B0604020202020204" pitchFamily="34" charset="0"/>
              <a:buNone/>
              <a:defRPr sz="1200" kern="1200">
                <a:solidFill>
                  <a:schemeClr val="tx1">
                    <a:tint val="75000"/>
                  </a:schemeClr>
                </a:solidFill>
                <a:latin typeface="+mn-lt"/>
                <a:ea typeface="+mj-ea"/>
                <a:cs typeface="+mn-cs"/>
              </a:defRPr>
            </a:lvl4pPr>
            <a:lvl5pPr marL="1828800" indent="0" algn="ctr" defTabSz="914400" rtl="0" eaLnBrk="1" latinLnBrk="0" hangingPunct="1">
              <a:lnSpc>
                <a:spcPct val="120000"/>
              </a:lnSpc>
              <a:spcBef>
                <a:spcPct val="20000"/>
              </a:spcBef>
              <a:buFont typeface="Arial" panose="020B0604020202020204" pitchFamily="34" charset="0"/>
              <a:buNone/>
              <a:defRPr sz="1200" kern="1200">
                <a:solidFill>
                  <a:schemeClr val="tx1">
                    <a:tint val="75000"/>
                  </a:schemeClr>
                </a:solidFill>
                <a:latin typeface="+mn-lt"/>
                <a:ea typeface="+mj-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lvl="0" algn="r"/>
            <a:r>
              <a:rPr lang="zh-CN" altLang="en-US" sz="3600" dirty="0">
                <a:latin typeface="宋体" panose="02010600030101010101" pitchFamily="2" charset="-122"/>
                <a:ea typeface="宋体" panose="02010600030101010101" pitchFamily="2" charset="-122"/>
              </a:rPr>
              <a:t>刘峰</a:t>
            </a:r>
            <a:endParaRPr lang="zh-CN" altLang="en-US" sz="24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
        <p:nvSpPr>
          <p:cNvPr id="9" name="文本框 8"/>
          <p:cNvSpPr txBox="1"/>
          <p:nvPr/>
        </p:nvSpPr>
        <p:spPr>
          <a:xfrm>
            <a:off x="495935" y="5027930"/>
            <a:ext cx="7347585" cy="1641475"/>
          </a:xfrm>
          <a:prstGeom prst="rect">
            <a:avLst/>
          </a:prstGeom>
          <a:noFill/>
        </p:spPr>
        <p:txBody>
          <a:bodyPr wrap="square" rtlCol="0" anchor="t">
            <a:spAutoFit/>
          </a:bodyPr>
          <a:p>
            <a:pPr>
              <a:lnSpc>
                <a:spcPct val="120000"/>
              </a:lnSpc>
            </a:pPr>
            <a:r>
              <a:rPr lang="zh-CN" altLang="en-US" sz="28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头哥平台：https://www.educoder.net/</a:t>
            </a:r>
            <a:endParaRPr lang="zh-CN" altLang="en-US" sz="28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endParaRPr>
          </a:p>
          <a:p>
            <a:pPr>
              <a:lnSpc>
                <a:spcPct val="120000"/>
              </a:lnSpc>
            </a:pPr>
            <a:r>
              <a:rPr lang="zh-CN" altLang="en-US" sz="28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邀请码：</a:t>
            </a:r>
            <a:r>
              <a:rPr lang="en-US" altLang="zh-CN" sz="28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 GL49HE</a:t>
            </a:r>
            <a:endParaRPr lang="en-US" altLang="zh-CN" sz="28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sym typeface="+mn-ea"/>
            </a:endParaRPr>
          </a:p>
          <a:p>
            <a:pPr>
              <a:lnSpc>
                <a:spcPct val="120000"/>
              </a:lnSpc>
            </a:pPr>
            <a:endParaRPr lang="zh-CN" altLang="en-US" sz="28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内容占位符 5"/>
          <p:cNvSpPr/>
          <p:nvPr>
            <p:ph sz="quarter" idx="12"/>
          </p:nvPr>
        </p:nvSpPr>
        <p:spPr>
          <a:xfrm>
            <a:off x="467995" y="981075"/>
            <a:ext cx="8207375" cy="3812540"/>
          </a:xfrm>
        </p:spPr>
        <p:txBody>
          <a:bodyPr>
            <a:normAutofit/>
          </a:bodyPr>
          <a:p>
            <a:r>
              <a:rPr lang="en-US" altLang="zh-CN"/>
              <a:t>QQ</a:t>
            </a:r>
            <a:r>
              <a:rPr lang="zh-CN" altLang="en-US"/>
              <a:t>群</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pPr marL="0" indent="0">
              <a:buNone/>
            </a:pPr>
            <a:endParaRPr lang="en-US" altLang="zh-CN"/>
          </a:p>
        </p:txBody>
      </p:sp>
      <p:pic>
        <p:nvPicPr>
          <p:cNvPr id="7" name="图片 6"/>
          <p:cNvPicPr/>
          <p:nvPr/>
        </p:nvPicPr>
        <p:blipFill>
          <a:blip r:embed="rId1"/>
          <a:srcRect t="18817" b="20281"/>
          <a:stretch>
            <a:fillRect/>
          </a:stretch>
        </p:blipFill>
        <p:spPr>
          <a:xfrm>
            <a:off x="2555875" y="764540"/>
            <a:ext cx="4128770" cy="4485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4294967295"/>
          </p:nvPr>
        </p:nvSpPr>
        <p:spPr>
          <a:xfrm>
            <a:off x="791210" y="871122"/>
            <a:ext cx="3429000" cy="928687"/>
          </a:xfrm>
        </p:spPr>
        <p:txBody>
          <a:bodyPr>
            <a:normAutofit fontScale="70000" lnSpcReduction="20000"/>
          </a:bodyPr>
          <a:lstStyle/>
          <a:p>
            <a:pPr>
              <a:buNone/>
            </a:pPr>
            <a:r>
              <a:rPr lang="zh-CN" altLang="en-US" sz="4800" dirty="0" smtClean="0">
                <a:solidFill>
                  <a:srgbClr val="C00000"/>
                </a:solidFill>
              </a:rPr>
              <a:t>本课程主要内容</a:t>
            </a:r>
            <a:endParaRPr lang="zh-CN" altLang="en-US" sz="4800" dirty="0" smtClean="0">
              <a:solidFill>
                <a:srgbClr val="C00000"/>
              </a:solidFill>
            </a:endParaRPr>
          </a:p>
        </p:txBody>
      </p:sp>
      <p:sp>
        <p:nvSpPr>
          <p:cNvPr id="24579" name="矩形 6"/>
          <p:cNvSpPr>
            <a:spLocks noChangeArrowheads="1"/>
          </p:cNvSpPr>
          <p:nvPr/>
        </p:nvSpPr>
        <p:spPr bwMode="auto">
          <a:xfrm>
            <a:off x="7747000" y="4857750"/>
            <a:ext cx="1111250" cy="769938"/>
          </a:xfrm>
          <a:prstGeom prst="rect">
            <a:avLst/>
          </a:prstGeom>
          <a:noFill/>
          <a:ln w="9525">
            <a:noFill/>
            <a:miter lim="800000"/>
          </a:ln>
        </p:spPr>
        <p:txBody>
          <a:bodyPr wrap="none">
            <a:spAutoFit/>
          </a:bodyPr>
          <a:lstStyle/>
          <a:p>
            <a:r>
              <a:rPr lang="en-US" altLang="zh-CN" sz="2200" b="1">
                <a:solidFill>
                  <a:schemeClr val="bg1"/>
                </a:solidFill>
                <a:latin typeface="Calibri" panose="020F0502020204030204" pitchFamily="34" charset="0"/>
              </a:rPr>
              <a:t>Back to </a:t>
            </a:r>
            <a:endParaRPr lang="en-US" altLang="zh-CN" sz="2200" b="1">
              <a:solidFill>
                <a:schemeClr val="bg1"/>
              </a:solidFill>
              <a:latin typeface="Calibri" panose="020F0502020204030204" pitchFamily="34" charset="0"/>
            </a:endParaRPr>
          </a:p>
          <a:p>
            <a:r>
              <a:rPr lang="en-US" altLang="zh-CN" sz="2200" b="1">
                <a:solidFill>
                  <a:schemeClr val="bg1"/>
                </a:solidFill>
                <a:latin typeface="Calibri" panose="020F0502020204030204" pitchFamily="34" charset="0"/>
              </a:rPr>
              <a:t>school</a:t>
            </a:r>
            <a:endParaRPr lang="zh-CN" altLang="en-US" sz="2200" b="1">
              <a:solidFill>
                <a:schemeClr val="bg1"/>
              </a:solidFill>
              <a:latin typeface="Calibri" panose="020F0502020204030204" pitchFamily="34" charset="0"/>
            </a:endParaRPr>
          </a:p>
        </p:txBody>
      </p:sp>
      <p:sp>
        <p:nvSpPr>
          <p:cNvPr id="7" name="内容占位符 6"/>
          <p:cNvSpPr>
            <a:spLocks noGrp="1"/>
          </p:cNvSpPr>
          <p:nvPr/>
        </p:nvSpPr>
        <p:spPr>
          <a:xfrm>
            <a:off x="685800" y="1871980"/>
            <a:ext cx="6508750" cy="432943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ct val="20000"/>
              </a:spcBef>
              <a:buClr>
                <a:srgbClr val="7030A0"/>
              </a:buClr>
              <a:buSzPct val="70000"/>
              <a:buFont typeface="Wingdings" panose="05000000000000000000" pitchFamily="2" charset="2"/>
              <a:buChar char="n"/>
              <a:defRPr sz="2600" kern="1200" baseline="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22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800" smtClean="0"/>
              <a:t>Java</a:t>
            </a:r>
            <a:r>
              <a:rPr lang="zh-CN" altLang="en-US" sz="2800" smtClean="0"/>
              <a:t>语言的基本语法、面向对象抽象、封装、继承、多态等基本概念及</a:t>
            </a:r>
            <a:r>
              <a:rPr lang="en-US" altLang="zh-CN" sz="2800" smtClean="0"/>
              <a:t>Java</a:t>
            </a:r>
            <a:r>
              <a:rPr lang="zh-CN" altLang="en-US" sz="2800" smtClean="0"/>
              <a:t>语言的实现</a:t>
            </a:r>
            <a:endParaRPr lang="zh-CN" altLang="en-US" sz="2800" smtClean="0"/>
          </a:p>
          <a:p>
            <a:pPr lvl="1"/>
            <a:endParaRPr lang="en-US" altLang="zh-CN" sz="2365"/>
          </a:p>
          <a:p>
            <a:r>
              <a:rPr lang="zh-CN" altLang="zh-CN" sz="2400" dirty="0"/>
              <a:t>为后续课程（软件设计与体系结构等）进一步学习设计模式等面向对象设计方法打下基础。</a:t>
            </a:r>
            <a:endParaRPr lang="en-US" altLang="zh-CN" sz="2400" dirty="0"/>
          </a:p>
        </p:txBody>
      </p:sp>
    </p:spTree>
  </p:cSld>
  <p:clrMapOvr>
    <a:masterClrMapping/>
  </p:clrMapOvr>
  <p:transition>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dirty="0" smtClean="0"/>
              <a:t>引言</a:t>
            </a:r>
            <a:endParaRPr lang="zh-CN" altLang="en-US" dirty="0"/>
          </a:p>
        </p:txBody>
      </p:sp>
      <p:sp>
        <p:nvSpPr>
          <p:cNvPr id="2" name="灯片编号占位符 1"/>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7" name="内容占位符 6"/>
          <p:cNvSpPr>
            <a:spLocks noGrp="1"/>
          </p:cNvSpPr>
          <p:nvPr>
            <p:ph sz="quarter" idx="12"/>
          </p:nvPr>
        </p:nvSpPr>
        <p:spPr/>
        <p:txBody>
          <a:bodyPr>
            <a:normAutofit/>
          </a:bodyPr>
          <a:lstStyle/>
          <a:p>
            <a:r>
              <a:rPr altLang="zh-CN" dirty="0"/>
              <a:t>程序，也被称为软件，是发给计算机</a:t>
            </a:r>
            <a:r>
              <a:rPr lang="zh-CN" dirty="0"/>
              <a:t>（计算设备）</a:t>
            </a:r>
            <a:r>
              <a:rPr altLang="zh-CN" dirty="0"/>
              <a:t>的指令。程序就是用计算机语言编写的</a:t>
            </a:r>
            <a:r>
              <a:rPr lang="zh-CN" dirty="0"/>
              <a:t>。</a:t>
            </a:r>
            <a:endParaRPr lang="zh-CN" dirty="0"/>
          </a:p>
          <a:p>
            <a:pPr marL="0" indent="0">
              <a:buNone/>
            </a:pPr>
            <a:endParaRPr lang="zh-CN" dirty="0"/>
          </a:p>
          <a:p>
            <a:r>
              <a:rPr lang="zh-CN" dirty="0"/>
              <a:t>什么是计算机</a:t>
            </a:r>
            <a:endParaRPr lang="zh-CN" dirty="0"/>
          </a:p>
          <a:p>
            <a:pPr lvl="1"/>
            <a:r>
              <a:rPr lang="en-US" altLang="zh-CN" dirty="0"/>
              <a:t>CPU</a:t>
            </a:r>
            <a:endParaRPr lang="en-US" altLang="zh-CN" dirty="0"/>
          </a:p>
          <a:p>
            <a:pPr lvl="1"/>
            <a:r>
              <a:rPr lang="zh-CN" altLang="en-US" dirty="0"/>
              <a:t>比特和字节</a:t>
            </a:r>
            <a:endParaRPr lang="zh-CN" altLang="en-US" dirty="0"/>
          </a:p>
          <a:p>
            <a:pPr lvl="1"/>
            <a:r>
              <a:rPr lang="zh-CN" altLang="en-US" dirty="0"/>
              <a:t>内存</a:t>
            </a:r>
            <a:endParaRPr lang="zh-CN" altLang="en-US" dirty="0"/>
          </a:p>
          <a:p>
            <a:pPr lvl="1"/>
            <a:r>
              <a:rPr lang="zh-CN" altLang="en-US" dirty="0"/>
              <a:t>存储设备</a:t>
            </a:r>
            <a:endParaRPr lang="zh-CN" altLang="en-US" dirty="0"/>
          </a:p>
          <a:p>
            <a:pPr lvl="1"/>
            <a:r>
              <a:rPr lang="zh-CN" altLang="en-US" dirty="0"/>
              <a:t>输入输出设备</a:t>
            </a:r>
            <a:endParaRPr lang="zh-CN" dirty="0"/>
          </a:p>
          <a:p>
            <a:pPr marL="0" indent="0">
              <a:buNone/>
            </a:pPr>
            <a:endParaRPr lang="zh-CN" dirty="0"/>
          </a:p>
          <a:p>
            <a:pPr marL="0" indent="0">
              <a:buNone/>
            </a:pPr>
            <a:endParaRPr lang="zh-C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编程语言</a:t>
            </a:r>
            <a:endParaRPr lang="zh-CN" altLang="en-US" dirty="0"/>
          </a:p>
        </p:txBody>
      </p:sp>
      <p:sp>
        <p:nvSpPr>
          <p:cNvPr id="2" name="灯片编号占位符 1"/>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7" name="内容占位符 6"/>
          <p:cNvSpPr>
            <a:spLocks noGrp="1"/>
          </p:cNvSpPr>
          <p:nvPr>
            <p:ph sz="quarter" idx="12"/>
          </p:nvPr>
        </p:nvSpPr>
        <p:spPr/>
        <p:txBody>
          <a:bodyPr>
            <a:normAutofit/>
          </a:bodyPr>
          <a:lstStyle/>
          <a:p>
            <a:pPr lvl="0"/>
            <a:r>
              <a:rPr lang="zh-CN" sz="2800" dirty="0">
                <a:sym typeface="+mn-ea"/>
              </a:rPr>
              <a:t>机器语言</a:t>
            </a:r>
            <a:endParaRPr lang="zh-CN" sz="2800" dirty="0"/>
          </a:p>
          <a:p>
            <a:pPr lvl="0"/>
            <a:r>
              <a:rPr lang="zh-CN" sz="2800" dirty="0">
                <a:sym typeface="+mn-ea"/>
              </a:rPr>
              <a:t>汇编语言</a:t>
            </a:r>
            <a:endParaRPr lang="zh-CN" sz="2800" dirty="0"/>
          </a:p>
          <a:p>
            <a:pPr lvl="0"/>
            <a:r>
              <a:rPr lang="zh-CN" sz="2800" dirty="0">
                <a:sym typeface="+mn-ea"/>
              </a:rPr>
              <a:t>结构化语言（</a:t>
            </a:r>
            <a:r>
              <a:rPr lang="en-US" altLang="zh-CN" sz="2800" dirty="0">
                <a:sym typeface="+mn-ea"/>
              </a:rPr>
              <a:t>C</a:t>
            </a:r>
            <a:r>
              <a:rPr lang="zh-CN" altLang="en-US" sz="2800" dirty="0">
                <a:sym typeface="+mn-ea"/>
              </a:rPr>
              <a:t>、</a:t>
            </a:r>
            <a:r>
              <a:rPr lang="en-US" altLang="zh-CN" sz="2800" dirty="0">
                <a:sym typeface="+mn-ea"/>
              </a:rPr>
              <a:t>Pascal.......)</a:t>
            </a:r>
            <a:endParaRPr lang="en-US" altLang="zh-CN" sz="2800" dirty="0"/>
          </a:p>
          <a:p>
            <a:pPr lvl="0"/>
            <a:r>
              <a:rPr lang="zh-CN" sz="2800" dirty="0">
                <a:sym typeface="+mn-ea"/>
              </a:rPr>
              <a:t>面向对象语言（</a:t>
            </a:r>
            <a:r>
              <a:rPr lang="en-US" altLang="zh-CN" sz="2800" dirty="0">
                <a:sym typeface="+mn-ea"/>
              </a:rPr>
              <a:t>C++</a:t>
            </a:r>
            <a:r>
              <a:rPr lang="zh-CN" altLang="en-US" sz="2800" dirty="0">
                <a:sym typeface="+mn-ea"/>
              </a:rPr>
              <a:t>、</a:t>
            </a:r>
            <a:r>
              <a:rPr lang="en-US" altLang="zh-CN" sz="2800" dirty="0">
                <a:sym typeface="+mn-ea"/>
              </a:rPr>
              <a:t>Java</a:t>
            </a:r>
            <a:r>
              <a:rPr lang="zh-CN" altLang="en-US" sz="2800" dirty="0">
                <a:sym typeface="+mn-ea"/>
              </a:rPr>
              <a:t>、</a:t>
            </a:r>
            <a:r>
              <a:rPr lang="en-US" altLang="zh-CN" sz="2800" dirty="0">
                <a:sym typeface="+mn-ea"/>
              </a:rPr>
              <a:t>C#.....)</a:t>
            </a:r>
            <a:endParaRPr lang="en-US" altLang="zh-CN" sz="2800" dirty="0"/>
          </a:p>
          <a:p>
            <a:pPr lvl="0"/>
            <a:r>
              <a:rPr lang="zh-CN" sz="2800" dirty="0">
                <a:sym typeface="+mn-ea"/>
              </a:rPr>
              <a:t>专用语言</a:t>
            </a:r>
            <a:r>
              <a:rPr lang="en-US" altLang="zh-CN" sz="2800" dirty="0">
                <a:sym typeface="+mn-ea"/>
              </a:rPr>
              <a:t>(</a:t>
            </a:r>
            <a:r>
              <a:rPr lang="zh-CN" altLang="zh-CN" sz="2800" dirty="0">
                <a:sym typeface="+mn-ea"/>
              </a:rPr>
              <a:t>例如人工智能语言LISP</a:t>
            </a:r>
            <a:endParaRPr lang="zh-CN" altLang="zh-CN" sz="2800" dirty="0">
              <a:sym typeface="+mn-ea"/>
            </a:endParaRPr>
          </a:p>
          <a:p>
            <a:pPr marL="0" lvl="0" indent="0">
              <a:buNone/>
            </a:pPr>
            <a:r>
              <a:rPr lang="zh-CN" altLang="zh-CN" sz="2800" dirty="0">
                <a:sym typeface="+mn-ea"/>
              </a:rPr>
              <a:t>                    和PROLOG等</a:t>
            </a:r>
            <a:r>
              <a:rPr lang="en-US" altLang="zh-CN" sz="2800" dirty="0">
                <a:sym typeface="+mn-ea"/>
              </a:rPr>
              <a:t>)</a:t>
            </a:r>
            <a:endParaRPr lang="zh-CN" sz="2800" dirty="0"/>
          </a:p>
          <a:p>
            <a:pPr marL="0" indent="0">
              <a:buNone/>
            </a:pPr>
            <a:endParaRPr lang="zh-CN" sz="2800" dirty="0"/>
          </a:p>
        </p:txBody>
      </p:sp>
      <p:sp>
        <p:nvSpPr>
          <p:cNvPr id="4" name="右大括号 3"/>
          <p:cNvSpPr/>
          <p:nvPr/>
        </p:nvSpPr>
        <p:spPr>
          <a:xfrm>
            <a:off x="6663055" y="2345055"/>
            <a:ext cx="273685" cy="216725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6936740" y="3015615"/>
            <a:ext cx="1808480" cy="681990"/>
          </a:xfrm>
          <a:prstGeom prst="rect">
            <a:avLst/>
          </a:prstGeom>
          <a:noFill/>
        </p:spPr>
        <p:txBody>
          <a:bodyPr wrap="none" rtlCol="0">
            <a:spAutoFit/>
          </a:bodyPr>
          <a:lstStyle/>
          <a:p>
            <a:pPr>
              <a:lnSpc>
                <a:spcPct val="120000"/>
              </a:lnSpc>
            </a:pPr>
            <a:r>
              <a:rPr lang="zh-CN" altLang="en-US" sz="32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高级语言</a:t>
            </a:r>
            <a:endParaRPr lang="zh-CN" altLang="en-US" sz="32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编程语言</a:t>
            </a:r>
            <a:endParaRPr lang="zh-CN" altLang="en-US"/>
          </a:p>
        </p:txBody>
      </p:sp>
      <p:sp>
        <p:nvSpPr>
          <p:cNvPr id="3" name="内容占位符 2"/>
          <p:cNvSpPr>
            <a:spLocks noGrp="1"/>
          </p:cNvSpPr>
          <p:nvPr>
            <p:ph sz="quarter" idx="12"/>
          </p:nvPr>
        </p:nvSpPr>
        <p:spPr/>
        <p:txBody>
          <a:bodyPr>
            <a:normAutofit/>
          </a:bodyPr>
          <a:lstStyle/>
          <a:p>
            <a:r>
              <a:rPr lang="zh-CN" altLang="en-US"/>
              <a:t>机器语言</a:t>
            </a:r>
            <a:endParaRPr lang="zh-CN" altLang="en-US"/>
          </a:p>
          <a:p>
            <a:pPr lvl="1"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机器语言（</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Machine language </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）机器指令集构成，能够直接被机器（</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CPU</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）执行。</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不同种类的CPU所对应的机器指令也就不同</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同型号的计算机其机器语言是不相通的</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fontAlgn="auto">
              <a:lnSpc>
                <a:spcPct val="15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机器语言表现形式是二进制编码。机器指令通常由操作码和操作数两部分组成，操作码指出该指令所要完成的操作，即指令的功能，操作数指出参与运算的对象，以及运算结果所存放的位置等。                          </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fontAlgn="auto">
              <a:lnSpc>
                <a:spcPct val="15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机器语言编写的程序不易读、出错率高、难以维护，例如为了进行两数相加，也许要写成如下二进制形式 ：</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gn="ctr" fontAlgn="auto">
              <a:lnSpc>
                <a:spcPct val="150000"/>
              </a:lnSpc>
              <a:buNone/>
            </a:pP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1101101010011010</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a:lnSpc>
                <a:spcPct val="90000"/>
              </a:lnSpc>
              <a:spcBef>
                <a:spcPct val="20000"/>
              </a:spcBef>
              <a:buClr>
                <a:schemeClr val="tx1"/>
              </a:buClr>
              <a:buNone/>
            </a:pPr>
            <a:endParaRPr lang="en-US" altLang="zh-CN" sz="2200" dirty="0">
              <a:solidFill>
                <a:schemeClr val="tx2"/>
              </a:solidFill>
              <a:latin typeface="Courier New" panose="02070309020205020404" pitchFamily="49" charset="0"/>
              <a:ea typeface="宋体" panose="02010600030101010101" pitchFamily="2" charset="-122"/>
            </a:endParaRPr>
          </a:p>
          <a:p>
            <a:pPr lvl="1"/>
            <a:endParaRPr lang="en-US" altLang="zh-CN"/>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编程语言</a:t>
            </a:r>
            <a:endParaRPr lang="zh-CN" altLang="en-US"/>
          </a:p>
        </p:txBody>
      </p:sp>
      <p:sp>
        <p:nvSpPr>
          <p:cNvPr id="3" name="内容占位符 2"/>
          <p:cNvSpPr>
            <a:spLocks noGrp="1"/>
          </p:cNvSpPr>
          <p:nvPr>
            <p:ph sz="quarter" idx="12"/>
          </p:nvPr>
        </p:nvSpPr>
        <p:spPr>
          <a:xfrm>
            <a:off x="468312" y="990600"/>
            <a:ext cx="8207376" cy="5400675"/>
          </a:xfrm>
        </p:spPr>
        <p:txBody>
          <a:bodyPr>
            <a:normAutofit/>
          </a:bodyPr>
          <a:lstStyle/>
          <a:p>
            <a:r>
              <a:rPr lang="zh-CN" altLang="en-US"/>
              <a:t>汇编语言</a:t>
            </a:r>
            <a:endParaRPr lang="zh-CN" altLang="en-US"/>
          </a:p>
          <a:p>
            <a:pPr indent="0" fontAlgn="auto">
              <a:lnSpc>
                <a:spcPct val="150000"/>
              </a:lnSpc>
              <a:spcBef>
                <a:spcPts val="0"/>
              </a:spcBef>
              <a:buClr>
                <a:schemeClr val="tx2"/>
              </a:buClr>
              <a:buSzPct val="75000"/>
              <a:buFont typeface="Monotype Sorts" pitchFamily="2" charset="2"/>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汇编语言中，用助记符代替机器指令的操作码，用地址符号或标号代替指令或操作数的地址。在不同的设备中，汇编语言对应着不同的机器语言指令集，通过汇编过程转换成机器指令。特定的汇编语言和特定的机器语言指令集是一一对应的，不同平台之间不可直接移植。</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buClr>
                <a:schemeClr val="tx2"/>
              </a:buClr>
              <a:buSzPct val="75000"/>
              <a:buFont typeface="Monotype Sorts" pitchFamily="2" charset="2"/>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汇编语言的出现使得程序设计变得更加容易。由于计算机不理解汇编语言，所以需要使用一种被称为汇编器的程序将汇编语言程序转换为机器代码。例如：为进行两数相加，你也许会用汇编语言编写如下所示的一条指令：</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fontAlgn="auto">
              <a:lnSpc>
                <a:spcPct val="150000"/>
              </a:lnSpc>
              <a:spcBef>
                <a:spcPts val="0"/>
              </a:spcBef>
              <a:buClr>
                <a:schemeClr val="tx2"/>
              </a:buClr>
              <a:buSzPct val="75000"/>
              <a:buFont typeface="Monotype Sorts" pitchFamily="2" charset="2"/>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ADD  2, 3, R</a:t>
            </a:r>
            <a:endPar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0" algn="l" fontAlgn="auto">
              <a:lnSpc>
                <a:spcPct val="150000"/>
              </a:lnSpc>
              <a:spcBef>
                <a:spcPts val="0"/>
              </a:spcBef>
              <a:buClr>
                <a:schemeClr val="tx1"/>
              </a:buClr>
              <a:buNone/>
            </a:pPr>
            <a:endParaRPr lang="en-US" altLang="zh-CN" sz="2000" dirty="0">
              <a:solidFill>
                <a:schemeClr val="tx2"/>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graphicFrame>
        <p:nvGraphicFramePr>
          <p:cNvPr id="18438" name="Object 5"/>
          <p:cNvGraphicFramePr>
            <a:graphicFrameLocks noChangeAspect="1"/>
          </p:cNvGraphicFramePr>
          <p:nvPr/>
        </p:nvGraphicFramePr>
        <p:xfrm>
          <a:off x="2099310" y="5319395"/>
          <a:ext cx="5457190" cy="1538605"/>
        </p:xfrm>
        <a:graphic>
          <a:graphicData uri="http://schemas.openxmlformats.org/presentationml/2006/ole">
            <mc:AlternateContent xmlns:mc="http://schemas.openxmlformats.org/markup-compatibility/2006">
              <mc:Choice xmlns:v="urn:schemas-microsoft-com:vml" Requires="v">
                <p:oleObj spid="_x0000_s3083" name="" r:id="rId1" imgW="4857750" imgH="1295400" progId="Word.Picture.8">
                  <p:embed/>
                </p:oleObj>
              </mc:Choice>
              <mc:Fallback>
                <p:oleObj name="" r:id="rId1" imgW="4857750" imgH="1295400" progId="Word.Picture.8">
                  <p:embed/>
                  <p:pic>
                    <p:nvPicPr>
                      <p:cNvPr id="0" name="图片 3076"/>
                      <p:cNvPicPr/>
                      <p:nvPr/>
                    </p:nvPicPr>
                    <p:blipFill>
                      <a:blip r:embed="rId2"/>
                      <a:stretch>
                        <a:fillRect/>
                      </a:stretch>
                    </p:blipFill>
                    <p:spPr>
                      <a:xfrm>
                        <a:off x="2099310" y="5319395"/>
                        <a:ext cx="5457190" cy="1538605"/>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编程语言</a:t>
            </a:r>
            <a:endParaRPr lang="zh-CN" altLang="en-US"/>
          </a:p>
        </p:txBody>
      </p:sp>
      <p:sp>
        <p:nvSpPr>
          <p:cNvPr id="3" name="内容占位符 2"/>
          <p:cNvSpPr>
            <a:spLocks noGrp="1"/>
          </p:cNvSpPr>
          <p:nvPr>
            <p:ph sz="quarter" idx="12"/>
          </p:nvPr>
        </p:nvSpPr>
        <p:spPr>
          <a:xfrm>
            <a:off x="468312" y="990600"/>
            <a:ext cx="8207376" cy="5400675"/>
          </a:xfrm>
        </p:spPr>
        <p:txBody>
          <a:bodyPr>
            <a:normAutofit lnSpcReduction="10000"/>
          </a:bodyPr>
          <a:lstStyle/>
          <a:p>
            <a:r>
              <a:rPr lang="zh-CN" altLang="en-US"/>
              <a:t>高级语言</a:t>
            </a:r>
            <a:endParaRPr lang="zh-CN" altLang="en-US"/>
          </a:p>
          <a:p>
            <a:pPr marL="742950" lvl="1" indent="0" algn="l" fontAlgn="auto">
              <a:lnSpc>
                <a:spcPct val="150000"/>
              </a:lnSpc>
              <a:spcBef>
                <a:spcPts val="0"/>
              </a:spcBef>
              <a:buClr>
                <a:schemeClr val="tx1"/>
              </a:buCl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高级语言，它是较接近自然语言和数学公式的编程，基本脱离了机器的硬件系统，用人们更易理解的方式编写程序</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085850" lvl="1" indent="-342900" algn="l" fontAlgn="auto">
              <a:lnSpc>
                <a:spcPct val="150000"/>
              </a:lnSpc>
              <a:spcBef>
                <a:spcPts val="0"/>
              </a:spcBef>
              <a:buClr>
                <a:schemeClr val="tx1"/>
              </a:buClr>
            </a:pP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结构化语言</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543050" lvl="2" indent="-342900" algn="l" fontAlgn="auto">
              <a:lnSpc>
                <a:spcPct val="150000"/>
              </a:lnSpc>
              <a:spcBef>
                <a:spcPts val="0"/>
              </a:spcBef>
              <a:buClr>
                <a:schemeClr val="tx1"/>
              </a:buClr>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采用子程序、程式码区块、for循环以及while循环等结构</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085850" lvl="1" indent="-342900" algn="l" fontAlgn="auto">
              <a:lnSpc>
                <a:spcPct val="150000"/>
              </a:lnSpc>
              <a:spcBef>
                <a:spcPts val="0"/>
              </a:spcBef>
              <a:buClr>
                <a:schemeClr val="tx1"/>
              </a:buClr>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面向对象语言</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543050" lvl="2" indent="-342900" algn="l" fontAlgn="auto">
              <a:lnSpc>
                <a:spcPct val="150000"/>
              </a:lnSpc>
              <a:spcBef>
                <a:spcPts val="0"/>
              </a:spcBef>
              <a:buClr>
                <a:schemeClr val="tx1"/>
              </a:buClr>
            </a:pP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根据面向对象实现设计的语言。</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以对象作为基本程序结构单位的程序设计语言，设计是以对象为核心，而对象是程序运行时刻的基本成分。</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提供</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类、继承</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、封装</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、多态性</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等机制</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543050" lvl="2" indent="-342900" algn="l" fontAlgn="auto">
              <a:lnSpc>
                <a:spcPct val="150000"/>
              </a:lnSpc>
              <a:spcBef>
                <a:spcPts val="0"/>
              </a:spcBef>
              <a:buClr>
                <a:schemeClr val="tx1"/>
              </a:buClr>
            </a:pP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面向对象语言</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使描述问题的问题空间（也称问题域）与实现解法的解空间（也称求解域）在结构上尽可能一致</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543050" lvl="2" indent="-342900" algn="l" fontAlgn="auto">
              <a:lnSpc>
                <a:spcPct val="150000"/>
              </a:lnSpc>
              <a:spcBef>
                <a:spcPts val="0"/>
              </a:spcBef>
              <a:buClr>
                <a:schemeClr val="tx1"/>
              </a:buClr>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085850" lvl="1" indent="-342900" algn="l" fontAlgn="auto">
              <a:lnSpc>
                <a:spcPct val="150000"/>
              </a:lnSpc>
              <a:spcBef>
                <a:spcPts val="0"/>
              </a:spcBef>
              <a:buClr>
                <a:schemeClr val="tx1"/>
              </a:buClr>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专用语言</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例如人工智能语言LISP和PROLOG等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endParaRPr lang="zh-CN" sz="2475" dirty="0"/>
          </a:p>
          <a:p>
            <a:pPr marL="1085850" lvl="1" indent="-342900" algn="l" fontAlgn="auto">
              <a:lnSpc>
                <a:spcPct val="150000"/>
              </a:lnSpc>
              <a:spcBef>
                <a:spcPts val="0"/>
              </a:spcBef>
              <a:buClr>
                <a:schemeClr val="tx1"/>
              </a:buClr>
            </a:pPr>
            <a:endParaRPr lang="zh-CN" altLang="en-US" sz="2475"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编程语言</a:t>
            </a:r>
            <a:endParaRPr lang="zh-CN" altLang="en-US"/>
          </a:p>
        </p:txBody>
      </p:sp>
      <p:sp>
        <p:nvSpPr>
          <p:cNvPr id="3" name="内容占位符 2"/>
          <p:cNvSpPr>
            <a:spLocks noGrp="1"/>
          </p:cNvSpPr>
          <p:nvPr>
            <p:ph sz="quarter" idx="12"/>
          </p:nvPr>
        </p:nvSpPr>
        <p:spPr>
          <a:xfrm>
            <a:off x="468312" y="990600"/>
            <a:ext cx="8207376" cy="5400675"/>
          </a:xfrm>
        </p:spPr>
        <p:txBody>
          <a:bodyPr>
            <a:normAutofit fontScale="50000"/>
          </a:bodyPr>
          <a:lstStyle/>
          <a:p>
            <a:r>
              <a:rPr lang="zh-CN" altLang="en-US" sz="4800"/>
              <a:t>编译器与解释器</a:t>
            </a:r>
            <a:endParaRPr lang="zh-CN" altLang="en-US" sz="4800"/>
          </a:p>
          <a:p>
            <a:pPr lvl="1" fontAlgn="auto">
              <a:lnSpc>
                <a:spcPct val="150000"/>
              </a:lnSpc>
              <a:spcBef>
                <a:spcPts val="0"/>
              </a:spcBef>
            </a:pPr>
            <a:r>
              <a:rPr lang="zh-CN" altLang="en-US" sz="36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编译器（compiler）：将源程序翻译成被称为目标程序的机器语言程序。然后通常会与其它辅助的库代码进行链接，构成可执行文件，该文件可以在机器上运行。</a:t>
            </a:r>
            <a:endParaRPr lang="zh-CN" altLang="en-US" sz="36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fontAlgn="auto">
              <a:lnSpc>
                <a:spcPct val="150000"/>
              </a:lnSpc>
              <a:spcBef>
                <a:spcPts val="0"/>
              </a:spcBef>
              <a:buNone/>
            </a:pPr>
            <a:endParaRPr lang="zh-CN" altLang="en-US" sz="36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fontAlgn="auto">
              <a:lnSpc>
                <a:spcPct val="150000"/>
              </a:lnSpc>
              <a:spcBef>
                <a:spcPts val="0"/>
              </a:spcBef>
            </a:pPr>
            <a:r>
              <a:rPr lang="zh-CN" altLang="en-US" sz="36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解释器：从源代码中读一条语句，将其翻译为机器代码或者虚拟机器代码，立刻执行。</a:t>
            </a:r>
            <a:endParaRPr lang="zh-CN" altLang="en-US" sz="30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fontAlgn="auto">
              <a:lnSpc>
                <a:spcPct val="150000"/>
              </a:lnSpc>
              <a:spcBef>
                <a:spcPts val="0"/>
              </a:spcBef>
              <a:buNone/>
            </a:pPr>
            <a:endParaRPr lang="zh-CN" altLang="en-US" sz="3000"/>
          </a:p>
          <a:p>
            <a:pPr lvl="1"/>
            <a:r>
              <a:rPr lang="zh-CN" altLang="en-US" sz="40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Java是编译型语言还是解释型语言？</a:t>
            </a:r>
            <a:r>
              <a:rPr lang="zh-CN" altLang="en-US" sz="40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0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2"/>
            <a:r>
              <a:rPr lang="zh-CN" altLang="en-US" sz="3200" noProof="0" smtClean="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Java代码编译为.class文件，然后由JVM解释运行。实时编译器（Just In Time Compiler，JIT）</a:t>
            </a:r>
            <a:r>
              <a:rPr lang="zh-CN" altLang="en-US" sz="3200" dirty="0"/>
              <a:t>会监测程序运行情况，识别出</a:t>
            </a:r>
            <a:r>
              <a:rPr lang="en-US" altLang="zh-CN" sz="3200" dirty="0"/>
              <a:t>‌</a:t>
            </a:r>
            <a:r>
              <a:rPr lang="zh-CN" altLang="en-US" sz="3200" dirty="0"/>
              <a:t>频繁执行的热点代码</a:t>
            </a:r>
            <a:r>
              <a:rPr lang="en-US" altLang="zh-CN" sz="3200" dirty="0"/>
              <a:t>‌</a:t>
            </a:r>
            <a:r>
              <a:rPr lang="zh-CN" altLang="en-US" sz="3200" dirty="0"/>
              <a:t>（如循环体、被高频调用的方法），并将其</a:t>
            </a:r>
            <a:r>
              <a:rPr lang="en-US" altLang="zh-CN" sz="3200" dirty="0"/>
              <a:t>‌</a:t>
            </a:r>
            <a:r>
              <a:rPr lang="zh-CN" altLang="en-US" sz="3200" dirty="0"/>
              <a:t>动态编译为本地机器码</a:t>
            </a:r>
            <a:r>
              <a:rPr lang="en-US" altLang="zh-CN" sz="3200" dirty="0"/>
              <a:t>‌</a:t>
            </a:r>
            <a:r>
              <a:rPr lang="zh-CN" altLang="en-US" sz="3200" dirty="0"/>
              <a:t>。编译后的机器码可以直接由</a:t>
            </a:r>
            <a:r>
              <a:rPr lang="en-US" altLang="zh-CN" sz="3200" dirty="0"/>
              <a:t> CPU </a:t>
            </a:r>
            <a:r>
              <a:rPr lang="zh-CN" altLang="en-US" sz="3200" dirty="0"/>
              <a:t>执行，避免了解释执行的开销，从而显著提升程序的运行速度。</a:t>
            </a:r>
            <a:endParaRPr lang="zh-CN" altLang="en-US" sz="3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操作系统</a:t>
            </a:r>
            <a:endParaRPr lang="zh-CN" altLang="en-US"/>
          </a:p>
        </p:txBody>
      </p:sp>
      <p:sp>
        <p:nvSpPr>
          <p:cNvPr id="3" name="内容占位符 2"/>
          <p:cNvSpPr>
            <a:spLocks noGrp="1"/>
          </p:cNvSpPr>
          <p:nvPr>
            <p:ph sz="quarter" idx="12"/>
          </p:nvPr>
        </p:nvSpPr>
        <p:spPr>
          <a:xfrm>
            <a:off x="468312" y="990600"/>
            <a:ext cx="8207376" cy="5400675"/>
          </a:xfrm>
        </p:spPr>
        <p:txBody>
          <a:bodyPr>
            <a:normAutofit/>
          </a:bodyPr>
          <a:lstStyle/>
          <a:p>
            <a:r>
              <a:rPr lang="zh-CN" altLang="en-US" sz="2800">
                <a:latin typeface="微软雅黑" panose="020B0503020204020204" pitchFamily="34" charset="-122"/>
                <a:ea typeface="微软雅黑" panose="020B0503020204020204" pitchFamily="34" charset="-122"/>
                <a:cs typeface="微软雅黑" panose="020B0503020204020204" pitchFamily="34" charset="-122"/>
              </a:rPr>
              <a:t>操作系统</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OS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 是管理和控制计算机的动作的程序。</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a:t>监控和控制系统的活动</a:t>
            </a:r>
            <a:endParaRPr lang="zh-CN" altLang="en-US"/>
          </a:p>
          <a:p>
            <a:pPr lvl="1"/>
            <a:r>
              <a:rPr lang="zh-CN" altLang="en-US"/>
              <a:t>分配和调配系统资源</a:t>
            </a:r>
            <a:endParaRPr lang="zh-CN" altLang="en-US"/>
          </a:p>
          <a:p>
            <a:pPr lvl="1"/>
            <a:r>
              <a:rPr lang="zh-CN" altLang="en-US"/>
              <a:t>调度操作</a:t>
            </a:r>
            <a:endParaRPr lang="zh-CN" altLang="en-US"/>
          </a:p>
          <a:p>
            <a:pPr lvl="2"/>
            <a:r>
              <a:rPr lang="zh-CN" altLang="en-US" sz="2200"/>
              <a:t>多道程序设计</a:t>
            </a:r>
            <a:endParaRPr lang="zh-CN" altLang="en-US" sz="2200"/>
          </a:p>
          <a:p>
            <a:pPr lvl="2"/>
            <a:r>
              <a:rPr lang="zh-CN" altLang="en-US" sz="2200"/>
              <a:t>多线程</a:t>
            </a:r>
            <a:endParaRPr lang="zh-CN" altLang="en-US" sz="2200"/>
          </a:p>
          <a:p>
            <a:pPr lvl="2"/>
            <a:r>
              <a:rPr lang="zh-CN" altLang="en-US" sz="2200"/>
              <a:t>多处理器</a:t>
            </a:r>
            <a:endParaRPr lang="zh-CN" altLang="en-US" sz="2200"/>
          </a:p>
          <a:p>
            <a:pPr marL="1085850" lvl="1" indent="-342900" algn="l" fontAlgn="auto">
              <a:lnSpc>
                <a:spcPct val="150000"/>
              </a:lnSpc>
              <a:spcBef>
                <a:spcPts val="0"/>
              </a:spcBef>
              <a:buClr>
                <a:schemeClr val="tx1"/>
              </a:buClr>
            </a:pPr>
            <a:endParaRPr lang="zh-CN" altLang="en-US" sz="2475"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graphicFrame>
        <p:nvGraphicFramePr>
          <p:cNvPr id="22535" name="Object 6"/>
          <p:cNvGraphicFramePr>
            <a:graphicFrameLocks noChangeAspect="1"/>
          </p:cNvGraphicFramePr>
          <p:nvPr/>
        </p:nvGraphicFramePr>
        <p:xfrm>
          <a:off x="4876800" y="1371600"/>
          <a:ext cx="4038600" cy="3919538"/>
        </p:xfrm>
        <a:graphic>
          <a:graphicData uri="http://schemas.openxmlformats.org/presentationml/2006/ole">
            <mc:AlternateContent xmlns:mc="http://schemas.openxmlformats.org/markup-compatibility/2006">
              <mc:Choice xmlns:v="urn:schemas-microsoft-com:vml" Requires="v">
                <p:oleObj spid="_x0000_s4101" name="" r:id="rId1" imgW="1998345" imgH="1840230" progId="Word.Picture.8">
                  <p:embed/>
                </p:oleObj>
              </mc:Choice>
              <mc:Fallback>
                <p:oleObj name="" r:id="rId1" imgW="1998345" imgH="1840230" progId="Word.Picture.8">
                  <p:embed/>
                  <p:pic>
                    <p:nvPicPr>
                      <p:cNvPr id="0" name="图片 3077"/>
                      <p:cNvPicPr/>
                      <p:nvPr/>
                    </p:nvPicPr>
                    <p:blipFill>
                      <a:blip r:embed="rId2"/>
                      <a:stretch>
                        <a:fillRect/>
                      </a:stretch>
                    </p:blipFill>
                    <p:spPr>
                      <a:xfrm>
                        <a:off x="4876800" y="1371600"/>
                        <a:ext cx="4038600" cy="39195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Java</a:t>
            </a:r>
            <a:endParaRPr lang="en-US" altLang="zh-CN" dirty="0"/>
          </a:p>
        </p:txBody>
      </p:sp>
      <p:sp>
        <p:nvSpPr>
          <p:cNvPr id="2" name="灯片编号占位符 1"/>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7" name="内容占位符 6"/>
          <p:cNvSpPr>
            <a:spLocks noGrp="1"/>
          </p:cNvSpPr>
          <p:nvPr>
            <p:ph sz="quarter" idx="12"/>
          </p:nvPr>
        </p:nvSpPr>
        <p:spPr/>
        <p:txBody>
          <a:bodyPr>
            <a:normAutofit/>
          </a:bodyPr>
          <a:lstStyle/>
          <a:p>
            <a:r>
              <a:rPr lang="en-US" altLang="zh-CN" dirty="0"/>
              <a:t>Java</a:t>
            </a:r>
            <a:r>
              <a:rPr lang="zh-CN" altLang="zh-CN" dirty="0"/>
              <a:t>语言是</a:t>
            </a:r>
            <a:r>
              <a:rPr lang="en-US" altLang="zh-CN" dirty="0"/>
              <a:t>20</a:t>
            </a:r>
            <a:r>
              <a:rPr lang="zh-CN" altLang="zh-CN" dirty="0"/>
              <a:t>世纪</a:t>
            </a:r>
            <a:r>
              <a:rPr lang="en-US" altLang="zh-CN" dirty="0"/>
              <a:t>90</a:t>
            </a:r>
            <a:r>
              <a:rPr lang="zh-CN" altLang="zh-CN" dirty="0"/>
              <a:t>年代由</a:t>
            </a:r>
            <a:r>
              <a:rPr lang="en-US" altLang="zh-CN" dirty="0"/>
              <a:t>Sun Microsystems</a:t>
            </a:r>
            <a:r>
              <a:rPr lang="zh-CN" altLang="zh-CN" dirty="0"/>
              <a:t>公司</a:t>
            </a:r>
            <a:r>
              <a:rPr lang="zh-CN" altLang="en-US" dirty="0">
                <a:sym typeface="+mn-ea"/>
              </a:rPr>
              <a:t>（</a:t>
            </a:r>
            <a:r>
              <a:rPr lang="en-US" altLang="zh-CN" dirty="0">
                <a:sym typeface="+mn-ea"/>
              </a:rPr>
              <a:t>2010</a:t>
            </a:r>
            <a:r>
              <a:rPr lang="zh-CN" altLang="zh-CN" dirty="0">
                <a:sym typeface="+mn-ea"/>
              </a:rPr>
              <a:t>年</a:t>
            </a:r>
            <a:r>
              <a:rPr lang="en-US" altLang="zh-CN" dirty="0">
                <a:sym typeface="+mn-ea"/>
              </a:rPr>
              <a:t>Sun</a:t>
            </a:r>
            <a:r>
              <a:rPr lang="zh-CN" altLang="en-US" dirty="0">
                <a:sym typeface="+mn-ea"/>
              </a:rPr>
              <a:t>公司被</a:t>
            </a:r>
            <a:r>
              <a:rPr lang="en-US" altLang="zh-CN" dirty="0">
                <a:sym typeface="+mn-ea"/>
              </a:rPr>
              <a:t>Oracle</a:t>
            </a:r>
            <a:r>
              <a:rPr lang="zh-CN" altLang="en-US" dirty="0">
                <a:sym typeface="+mn-ea"/>
              </a:rPr>
              <a:t>公司收购）</a:t>
            </a:r>
            <a:r>
              <a:rPr lang="zh-CN" altLang="zh-CN" dirty="0"/>
              <a:t>开发的革命性的编程</a:t>
            </a:r>
            <a:r>
              <a:rPr lang="zh-CN" altLang="zh-CN" dirty="0" smtClean="0"/>
              <a:t>语言</a:t>
            </a:r>
            <a:endParaRPr lang="en-US" altLang="zh-CN" dirty="0" smtClean="0"/>
          </a:p>
          <a:p>
            <a:r>
              <a:rPr lang="en-US" altLang="zh-CN" dirty="0"/>
              <a:t>Java</a:t>
            </a:r>
            <a:r>
              <a:rPr lang="zh-CN" altLang="zh-CN" dirty="0"/>
              <a:t>技术的通用性、高效性、平台移植性和安全性，使之成为网络计算的理想技术。 </a:t>
            </a:r>
            <a:endParaRPr lang="en-US" altLang="zh-CN" dirty="0" smtClean="0"/>
          </a:p>
          <a:p>
            <a:r>
              <a:rPr lang="zh-CN" altLang="zh-CN" dirty="0"/>
              <a:t>迄今为止， </a:t>
            </a:r>
            <a:r>
              <a:rPr lang="en-US" altLang="zh-CN" sz="2800" dirty="0"/>
              <a:t>Java</a:t>
            </a:r>
            <a:r>
              <a:rPr lang="zh-CN" altLang="zh-CN" sz="2800" dirty="0"/>
              <a:t>已经成为最流行的编程语言之一。 </a:t>
            </a:r>
            <a:endParaRPr lang="zh-CN"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sz="320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3200" dirty="0">
                <a:latin typeface="微软雅黑" panose="020B0503020204020204" pitchFamily="34" charset="-122"/>
                <a:ea typeface="微软雅黑" panose="020B0503020204020204" pitchFamily="34" charset="-122"/>
                <a:cs typeface="微软雅黑" panose="020B0503020204020204" pitchFamily="34" charset="-122"/>
              </a:rPr>
              <a:t>语言的设计特性</a:t>
            </a:r>
            <a:endParaRPr lang="zh-CN" altLang="en-US" sz="3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7" name="内容占位符 6"/>
          <p:cNvSpPr>
            <a:spLocks noGrp="1"/>
          </p:cNvSpPr>
          <p:nvPr>
            <p:ph sz="quarter" idx="12"/>
          </p:nvPr>
        </p:nvSpPr>
        <p:spPr/>
        <p:txBody>
          <a:bodyPr>
            <a:normAutofit/>
          </a:bodyPr>
          <a:lstStyle/>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是简单的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是面向对象的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是分布式的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是解释的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是健壮的 </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是安全的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是结构中立的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是可移植的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是高性能的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是多线程的</a:t>
            </a:r>
            <a:endParaRPr lang="zh-CN" altLang="en-US" sz="2800" dirty="0">
              <a:ea typeface="宋体" panose="02010600030101010101" pitchFamily="2" charset="-122"/>
            </a:endParaRPr>
          </a:p>
          <a:p>
            <a:pPr>
              <a:lnSpc>
                <a:spcPct val="90000"/>
              </a:lnSpc>
            </a:pPr>
            <a:r>
              <a:rPr lang="en-US" altLang="zh-CN" sz="2800" dirty="0">
                <a:ea typeface="宋体" panose="02010600030101010101" pitchFamily="2" charset="-122"/>
                <a:sym typeface="+mn-ea"/>
              </a:rPr>
              <a:t>Java</a:t>
            </a:r>
            <a:r>
              <a:rPr lang="zh-CN" altLang="en-US" sz="2800" dirty="0">
                <a:ea typeface="宋体" panose="02010600030101010101" pitchFamily="2" charset="-122"/>
                <a:sym typeface="+mn-ea"/>
              </a:rPr>
              <a:t>是动态的</a:t>
            </a:r>
            <a:endParaRPr lang="zh-CN" altLang="en-US" sz="2800" dirty="0">
              <a:ea typeface="宋体" panose="02010600030101010101" pitchFamily="2" charset="-122"/>
            </a:endParaRPr>
          </a:p>
          <a:p>
            <a:endParaRPr lang="zh-CN"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Java </a:t>
            </a:r>
            <a:r>
              <a:rPr lang="zh-CN" altLang="en-US" dirty="0"/>
              <a:t>语言规范、</a:t>
            </a:r>
            <a:r>
              <a:rPr lang="en-US" altLang="zh-CN" dirty="0"/>
              <a:t>Java </a:t>
            </a:r>
            <a:r>
              <a:rPr lang="en-US" altLang="zh-CN" dirty="0"/>
              <a:t>API</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normAutofit/>
          </a:bodyPr>
          <a:lstStyle/>
          <a:p>
            <a:pPr lvl="1" indent="0" fontAlgn="auto">
              <a:lnSpc>
                <a:spcPct val="150000"/>
              </a:lnSpc>
              <a:spcBef>
                <a:spcPts val="0"/>
              </a:spcBef>
              <a:buNone/>
            </a:pPr>
            <a:endParaRPr lang="zh-CN"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628650" lvl="0" indent="-342900" fontAlgn="auto">
              <a:lnSpc>
                <a:spcPct val="150000"/>
              </a:lnSpc>
              <a:spcBef>
                <a:spcPts val="0"/>
              </a:spcBef>
            </a:pPr>
            <a:r>
              <a:rPr lang="en-US" altLang="zh-CN" sz="2360" b="1"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360" b="1" dirty="0">
                <a:latin typeface="微软雅黑" panose="020B0503020204020204" pitchFamily="34" charset="-122"/>
                <a:ea typeface="微软雅黑" panose="020B0503020204020204" pitchFamily="34" charset="-122"/>
                <a:cs typeface="微软雅黑" panose="020B0503020204020204" pitchFamily="34" charset="-122"/>
              </a:rPr>
              <a:t>语言规范 </a:t>
            </a:r>
            <a:endParaRPr lang="zh-CN" altLang="en-US" sz="2360" b="1" dirty="0">
              <a:latin typeface="微软雅黑" panose="020B0503020204020204" pitchFamily="34" charset="-122"/>
              <a:ea typeface="微软雅黑" panose="020B0503020204020204" pitchFamily="34" charset="-122"/>
              <a:cs typeface="微软雅黑" panose="020B0503020204020204" pitchFamily="34" charset="-122"/>
            </a:endParaRPr>
          </a:p>
          <a:p>
            <a:pPr marL="1085850" lvl="1" indent="-342900" fontAlgn="auto">
              <a:lnSpc>
                <a:spcPct val="150000"/>
              </a:lnSpc>
              <a:spcBef>
                <a:spcPts val="0"/>
              </a:spcBef>
            </a:pPr>
            <a:r>
              <a:rPr lang="zh-CN" altLang="zh-CN" sz="2360" dirty="0">
                <a:latin typeface="微软雅黑" panose="020B0503020204020204" pitchFamily="34" charset="-122"/>
                <a:ea typeface="微软雅黑" panose="020B0503020204020204" pitchFamily="34" charset="-122"/>
                <a:cs typeface="微软雅黑" panose="020B0503020204020204" pitchFamily="34" charset="-122"/>
              </a:rPr>
              <a:t>是对语言的技术定义，包括Java程序设计语言的语法和语义</a:t>
            </a:r>
            <a:endParaRPr lang="zh-CN" altLang="zh-CN" sz="236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0" indent="-342900" fontAlgn="auto">
              <a:lnSpc>
                <a:spcPct val="150000"/>
              </a:lnSpc>
              <a:spcBef>
                <a:spcPts val="0"/>
              </a:spcBef>
            </a:pPr>
            <a:r>
              <a:rPr lang="zh-CN" altLang="zh-CN" sz="2360" b="1" dirty="0">
                <a:latin typeface="微软雅黑" panose="020B0503020204020204" pitchFamily="34" charset="-122"/>
                <a:ea typeface="微软雅黑" panose="020B0503020204020204" pitchFamily="34" charset="-122"/>
                <a:cs typeface="微软雅黑" panose="020B0503020204020204" pitchFamily="34" charset="-122"/>
              </a:rPr>
              <a:t>应用程序编程接口</a:t>
            </a:r>
            <a:r>
              <a:rPr lang="zh-CN" altLang="zh-CN" sz="236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360" dirty="0">
                <a:latin typeface="微软雅黑" panose="020B0503020204020204" pitchFamily="34" charset="-122"/>
                <a:ea typeface="微软雅黑" panose="020B0503020204020204" pitchFamily="34" charset="-122"/>
                <a:cs typeface="微软雅黑" panose="020B0503020204020204" pitchFamily="34" charset="-122"/>
              </a:rPr>
              <a:t>Application Programming Interface</a:t>
            </a:r>
            <a:r>
              <a:rPr lang="zh-CN" altLang="zh-CN" sz="236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360" dirty="0">
                <a:latin typeface="微软雅黑" panose="020B0503020204020204" pitchFamily="34" charset="-122"/>
                <a:ea typeface="微软雅黑" panose="020B0503020204020204" pitchFamily="34" charset="-122"/>
                <a:cs typeface="微软雅黑" panose="020B0503020204020204" pitchFamily="34" charset="-122"/>
              </a:rPr>
              <a:t>API</a:t>
            </a:r>
            <a:r>
              <a:rPr lang="zh-CN" altLang="zh-CN" sz="2360" dirty="0">
                <a:latin typeface="微软雅黑" panose="020B0503020204020204" pitchFamily="34" charset="-122"/>
                <a:ea typeface="微软雅黑" panose="020B0503020204020204" pitchFamily="34" charset="-122"/>
                <a:cs typeface="微软雅黑" panose="020B0503020204020204" pitchFamily="34" charset="-122"/>
              </a:rPr>
              <a:t>）。为开发</a:t>
            </a:r>
            <a:r>
              <a:rPr lang="en-US" altLang="zh-CN" sz="236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360" dirty="0">
                <a:latin typeface="微软雅黑" panose="020B0503020204020204" pitchFamily="34" charset="-122"/>
                <a:ea typeface="微软雅黑" panose="020B0503020204020204" pitchFamily="34" charset="-122"/>
                <a:cs typeface="微软雅黑" panose="020B0503020204020204" pitchFamily="34" charset="-122"/>
              </a:rPr>
              <a:t>程序预定义的类和接口、</a:t>
            </a:r>
            <a:r>
              <a:rPr lang="zh-CN" altLang="zh-CN" sz="2360" dirty="0">
                <a:latin typeface="微软雅黑" panose="020B0503020204020204" pitchFamily="34" charset="-122"/>
                <a:ea typeface="微软雅黑" panose="020B0503020204020204" pitchFamily="34" charset="-122"/>
                <a:cs typeface="微软雅黑" panose="020B0503020204020204" pitchFamily="34" charset="-122"/>
              </a:rPr>
              <a:t>应用程序编程接口包含了对软件常用功能的支持，涉及到基本数据对象、用户界面、网络与安全、</a:t>
            </a:r>
            <a:r>
              <a:rPr lang="en-US" altLang="zh-CN" sz="2360" dirty="0">
                <a:latin typeface="微软雅黑" panose="020B0503020204020204" pitchFamily="34" charset="-122"/>
                <a:ea typeface="微软雅黑" panose="020B0503020204020204" pitchFamily="34" charset="-122"/>
                <a:cs typeface="微软雅黑" panose="020B0503020204020204" pitchFamily="34" charset="-122"/>
              </a:rPr>
              <a:t>XML</a:t>
            </a:r>
            <a:r>
              <a:rPr lang="zh-CN" altLang="zh-CN" sz="2360" dirty="0">
                <a:latin typeface="微软雅黑" panose="020B0503020204020204" pitchFamily="34" charset="-122"/>
                <a:ea typeface="微软雅黑" panose="020B0503020204020204" pitchFamily="34" charset="-122"/>
                <a:cs typeface="微软雅黑" panose="020B0503020204020204" pitchFamily="34" charset="-122"/>
              </a:rPr>
              <a:t>生成、数据库访问等众多方面。 </a:t>
            </a:r>
            <a:endParaRPr lang="en-US" altLang="zh-CN" sz="236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nSpc>
                <a:spcPct val="90000"/>
              </a:lnSpc>
              <a:buNone/>
            </a:pPr>
            <a:endParaRPr lang="zh-CN" altLang="en-US" sz="1500" dirty="0" smtClean="0">
              <a:latin typeface="Times New Roman" panose="02020603050405020304" pitchFamily="18" charset="0"/>
            </a:endParaRPr>
          </a:p>
          <a:p>
            <a:pPr lvl="1" indent="0" fontAlgn="auto">
              <a:lnSpc>
                <a:spcPct val="150000"/>
              </a:lnSpc>
              <a:spcBef>
                <a:spcPts val="0"/>
              </a:spcBef>
            </a:pPr>
            <a:endParaRPr lang="zh-CN" altLang="en-US" sz="15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Java API</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normAutofit/>
          </a:bodyPr>
          <a:lstStyle/>
          <a:p>
            <a:pPr indent="0" fontAlgn="auto">
              <a:lnSpc>
                <a:spcPct val="150000"/>
              </a:lnSpc>
              <a:spcBef>
                <a:spcPts val="0"/>
              </a:spcBef>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目前</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的体系结构已经变得相当庞大。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Sun</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公司在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1998</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年将</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平台划分成</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 EE</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 SE</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 ME</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共</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个版本，针对不同的市场目标和设备进行了定位。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fontAlgn="auto">
              <a:lnSpc>
                <a:spcPct val="150000"/>
              </a:lnSpc>
              <a:spcBef>
                <a:spcPts val="0"/>
              </a:spcBef>
            </a:pPr>
            <a:r>
              <a:rPr lang="en-US" altLang="zh-CN" sz="1690" dirty="0">
                <a:latin typeface="微软雅黑" panose="020B0503020204020204" pitchFamily="34" charset="-122"/>
                <a:ea typeface="微软雅黑" panose="020B0503020204020204" pitchFamily="34" charset="-122"/>
                <a:cs typeface="微软雅黑" panose="020B0503020204020204" pitchFamily="34" charset="-122"/>
                <a:sym typeface="+mn-ea"/>
              </a:rPr>
              <a:t>Java EE</a:t>
            </a:r>
            <a:r>
              <a:rPr lang="zh-CN" altLang="zh-CN" sz="169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90" dirty="0">
                <a:latin typeface="微软雅黑" panose="020B0503020204020204" pitchFamily="34" charset="-122"/>
                <a:ea typeface="微软雅黑" panose="020B0503020204020204" pitchFamily="34" charset="-122"/>
                <a:cs typeface="微软雅黑" panose="020B0503020204020204" pitchFamily="34" charset="-122"/>
                <a:sym typeface="+mn-ea"/>
              </a:rPr>
              <a:t>Java Platform, Enterprise Edition</a:t>
            </a:r>
            <a:r>
              <a:rPr lang="zh-CN" altLang="zh-CN" sz="1690" dirty="0">
                <a:latin typeface="微软雅黑" panose="020B0503020204020204" pitchFamily="34" charset="-122"/>
                <a:ea typeface="微软雅黑" panose="020B0503020204020204" pitchFamily="34" charset="-122"/>
                <a:cs typeface="微软雅黑" panose="020B0503020204020204" pitchFamily="34" charset="-122"/>
                <a:sym typeface="+mn-ea"/>
              </a:rPr>
              <a:t>）的主要目的是为企业计算提供一个应用服务器的运行和开发平台。 </a:t>
            </a:r>
            <a:endParaRPr lang="zh-CN" altLang="zh-CN" sz="169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fontAlgn="auto">
              <a:lnSpc>
                <a:spcPct val="150000"/>
              </a:lnSpc>
              <a:spcBef>
                <a:spcPts val="0"/>
              </a:spcBef>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 SE</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 Platform, Standard Edition</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）的主要目的是为台式机和工作站提供一个开发和运行平台。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fontAlgn="auto">
              <a:lnSpc>
                <a:spcPct val="150000"/>
              </a:lnSpc>
              <a:spcBef>
                <a:spcPts val="0"/>
              </a:spcBef>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 ME</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 Platform, Micro Edition</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）主要面向电子消费产品，目的是为电子消费产品提供一个</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的运行平台，使得</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程序可以在手机、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PDA</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、机顶盒等产品上运行。 </a:t>
            </a: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pP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JDK</a:t>
            </a:r>
            <a:endParaRPr lang="en-US" altLang="zh-CN"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a:xfrm>
            <a:off x="478472" y="981075"/>
            <a:ext cx="8207376" cy="5400675"/>
          </a:xfrm>
        </p:spPr>
        <p:txBody>
          <a:bodyPr/>
          <a:lstStyle/>
          <a:p>
            <a:pPr fontAlgn="base"/>
            <a:r>
              <a:rPr lang="en-US" altLang="zh-CN" dirty="0"/>
              <a:t>Java</a:t>
            </a:r>
            <a:r>
              <a:rPr lang="zh-CN" altLang="zh-CN" dirty="0"/>
              <a:t>提供了一个免费的</a:t>
            </a:r>
            <a:r>
              <a:rPr lang="en-US" altLang="zh-CN" dirty="0"/>
              <a:t>Java</a:t>
            </a:r>
            <a:r>
              <a:rPr lang="zh-CN" altLang="zh-CN" dirty="0"/>
              <a:t>开发工具集（</a:t>
            </a:r>
            <a:r>
              <a:rPr lang="en-US" altLang="zh-CN" dirty="0"/>
              <a:t>Java Development Kits</a:t>
            </a:r>
            <a:r>
              <a:rPr lang="zh-CN" altLang="zh-CN" dirty="0"/>
              <a:t>，</a:t>
            </a:r>
            <a:r>
              <a:rPr lang="en-US" altLang="zh-CN" dirty="0"/>
              <a:t>JDK</a:t>
            </a:r>
            <a:r>
              <a:rPr lang="zh-CN" altLang="zh-CN" dirty="0"/>
              <a:t>），编程人员可以利用这些工具来开发或者调试</a:t>
            </a:r>
            <a:r>
              <a:rPr lang="en-US" altLang="zh-CN" dirty="0"/>
              <a:t>Java</a:t>
            </a:r>
            <a:r>
              <a:rPr lang="zh-CN" altLang="zh-CN" dirty="0"/>
              <a:t>程序。 </a:t>
            </a:r>
            <a:endParaRPr lang="en-US" altLang="zh-CN" dirty="0" smtClean="0"/>
          </a:p>
          <a:p>
            <a:pPr fontAlgn="base"/>
            <a:r>
              <a:rPr lang="zh-CN" altLang="zh-CN" dirty="0"/>
              <a:t>如果只想运行已有的</a:t>
            </a:r>
            <a:r>
              <a:rPr lang="en-US" altLang="zh-CN" dirty="0"/>
              <a:t>Java</a:t>
            </a:r>
            <a:r>
              <a:rPr lang="zh-CN" altLang="zh-CN" dirty="0"/>
              <a:t>程序，可以只安装</a:t>
            </a:r>
            <a:r>
              <a:rPr lang="en-US" altLang="zh-CN" dirty="0"/>
              <a:t>Java</a:t>
            </a:r>
            <a:r>
              <a:rPr lang="zh-CN" altLang="zh-CN" dirty="0"/>
              <a:t>运行环境（</a:t>
            </a:r>
            <a:r>
              <a:rPr lang="en-US" altLang="zh-CN" dirty="0"/>
              <a:t>Java Runtime Environment</a:t>
            </a:r>
            <a:r>
              <a:rPr lang="zh-CN" altLang="zh-CN" dirty="0"/>
              <a:t>，</a:t>
            </a:r>
            <a:r>
              <a:rPr lang="en-US" altLang="zh-CN" dirty="0"/>
              <a:t>JRE</a:t>
            </a:r>
            <a:r>
              <a:rPr lang="zh-CN" altLang="zh-CN" dirty="0"/>
              <a:t>），</a:t>
            </a:r>
            <a:r>
              <a:rPr lang="en-US" altLang="zh-CN" dirty="0"/>
              <a:t>JRE</a:t>
            </a:r>
            <a:r>
              <a:rPr lang="zh-CN" altLang="zh-CN" dirty="0"/>
              <a:t>由</a:t>
            </a:r>
            <a:r>
              <a:rPr lang="en-US" altLang="zh-CN" dirty="0"/>
              <a:t>Java</a:t>
            </a:r>
            <a:r>
              <a:rPr lang="zh-CN" altLang="zh-CN" dirty="0"/>
              <a:t>虚拟机、</a:t>
            </a:r>
            <a:r>
              <a:rPr lang="en-US" altLang="zh-CN" dirty="0"/>
              <a:t>Java</a:t>
            </a:r>
            <a:r>
              <a:rPr lang="zh-CN" altLang="zh-CN" dirty="0"/>
              <a:t>的核心类以及一些支持文件组成。可以在网站</a:t>
            </a:r>
            <a:r>
              <a:rPr lang="en-US" altLang="zh-CN" dirty="0"/>
              <a:t>http://</a:t>
            </a:r>
            <a:r>
              <a:rPr lang="en-US" altLang="zh-CN" dirty="0" err="1"/>
              <a:t>www.java.com</a:t>
            </a:r>
            <a:r>
              <a:rPr lang="en-US" altLang="zh-CN" dirty="0"/>
              <a:t>/</a:t>
            </a:r>
            <a:r>
              <a:rPr lang="zh-CN" altLang="zh-CN" dirty="0"/>
              <a:t>上免费下载</a:t>
            </a:r>
            <a:r>
              <a:rPr lang="en-US" altLang="zh-CN" dirty="0"/>
              <a:t>Java</a:t>
            </a:r>
            <a:r>
              <a:rPr lang="zh-CN" altLang="zh-CN" dirty="0"/>
              <a:t>的</a:t>
            </a:r>
            <a:r>
              <a:rPr lang="en-US" altLang="zh-CN" dirty="0"/>
              <a:t>JRE</a:t>
            </a:r>
            <a:r>
              <a:rPr lang="zh-CN" altLang="zh-CN" dirty="0"/>
              <a:t> </a:t>
            </a:r>
            <a:r>
              <a:rPr lang="zh-CN" altLang="en-US" dirty="0" smtClean="0"/>
              <a:t>。</a:t>
            </a:r>
            <a:endParaRPr lang="en-US" altLang="zh-CN" dirty="0" smtClean="0"/>
          </a:p>
          <a:p>
            <a:pPr fontAlgn="base"/>
            <a:r>
              <a:rPr lang="zh-CN" altLang="zh-CN" dirty="0"/>
              <a:t>为了开发</a:t>
            </a:r>
            <a:r>
              <a:rPr lang="en-US" altLang="zh-CN" dirty="0"/>
              <a:t>Java</a:t>
            </a:r>
            <a:r>
              <a:rPr lang="zh-CN" altLang="zh-CN" dirty="0"/>
              <a:t>应用程序，需要安装</a:t>
            </a:r>
            <a:r>
              <a:rPr lang="en-US" altLang="zh-CN" dirty="0"/>
              <a:t>JDK</a:t>
            </a:r>
            <a:r>
              <a:rPr lang="zh-CN" altLang="zh-CN" dirty="0"/>
              <a:t>。在安装</a:t>
            </a:r>
            <a:r>
              <a:rPr lang="en-US" altLang="zh-CN" dirty="0"/>
              <a:t>JDK</a:t>
            </a:r>
            <a:r>
              <a:rPr lang="zh-CN" altLang="zh-CN" dirty="0"/>
              <a:t>的同时将安装</a:t>
            </a:r>
            <a:r>
              <a:rPr lang="en-US" altLang="zh-CN" dirty="0"/>
              <a:t>JRE</a:t>
            </a:r>
            <a:r>
              <a:rPr lang="zh-CN" altLang="zh-CN" dirty="0"/>
              <a:t>。 </a:t>
            </a:r>
            <a:endParaRPr lang="zh-CN" altLang="zh-CN" dirty="0" smtClean="0"/>
          </a:p>
          <a:p>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sz="quarter" idx="12"/>
          </p:nvPr>
        </p:nvSpPr>
        <p:spPr/>
        <p:txBody>
          <a:bodyPr/>
          <a:p>
            <a:r>
              <a:rPr lang="en-US" altLang="zh-CN"/>
              <a:t>JDK</a:t>
            </a:r>
            <a:r>
              <a:rPr lang="zh-CN" altLang="en-US"/>
              <a:t>版本</a:t>
            </a: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pic>
        <p:nvPicPr>
          <p:cNvPr id="5" name="图片 4"/>
          <p:cNvPicPr>
            <a:picLocks noChangeAspect="1"/>
          </p:cNvPicPr>
          <p:nvPr/>
        </p:nvPicPr>
        <p:blipFill>
          <a:blip r:embed="rId1"/>
          <a:stretch>
            <a:fillRect/>
          </a:stretch>
        </p:blipFill>
        <p:spPr>
          <a:xfrm>
            <a:off x="252095" y="1480820"/>
            <a:ext cx="4438650" cy="5377180"/>
          </a:xfrm>
          <a:prstGeom prst="rect">
            <a:avLst/>
          </a:prstGeom>
        </p:spPr>
      </p:pic>
      <p:pic>
        <p:nvPicPr>
          <p:cNvPr id="6" name="图片 5"/>
          <p:cNvPicPr>
            <a:picLocks noChangeAspect="1"/>
          </p:cNvPicPr>
          <p:nvPr/>
        </p:nvPicPr>
        <p:blipFill>
          <a:blip r:embed="rId2"/>
          <a:stretch>
            <a:fillRect/>
          </a:stretch>
        </p:blipFill>
        <p:spPr>
          <a:xfrm>
            <a:off x="4681220" y="1574165"/>
            <a:ext cx="4462780" cy="42151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Java </a:t>
            </a:r>
            <a:r>
              <a:rPr lang="zh-CN" altLang="zh-CN" dirty="0"/>
              <a:t>开发过程</a:t>
            </a:r>
            <a:endParaRPr lang="zh-CN" altLang="zh-CN"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lstStyle/>
          <a:p>
            <a:pPr>
              <a:buNone/>
            </a:pPr>
            <a:r>
              <a:rPr lang="zh-CN" altLang="zh-CN" dirty="0"/>
              <a:t> </a:t>
            </a:r>
            <a:endParaRPr lang="zh-CN" altLang="en-US" dirty="0"/>
          </a:p>
        </p:txBody>
      </p:sp>
      <p:sp>
        <p:nvSpPr>
          <p:cNvPr id="5" name="Rectangle 2"/>
          <p:cNvSpPr>
            <a:spLocks noChangeArrowheads="1"/>
          </p:cNvSpPr>
          <p:nvPr/>
        </p:nvSpPr>
        <p:spPr bwMode="auto">
          <a:xfrm>
            <a:off x="611559" y="2924943"/>
            <a:ext cx="1063226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743684" y="2758440"/>
          <a:ext cx="7464276" cy="1340768"/>
        </p:xfrm>
        <a:graphic>
          <a:graphicData uri="http://schemas.openxmlformats.org/presentationml/2006/ole">
            <mc:AlternateContent xmlns:mc="http://schemas.openxmlformats.org/markup-compatibility/2006">
              <mc:Choice xmlns:v="urn:schemas-microsoft-com:vml" Requires="v">
                <p:oleObj spid="_x0000_s1045" name="" r:id="rId1" imgW="5610860" imgH="1027430" progId="Visio.Drawing.11">
                  <p:embed/>
                </p:oleObj>
              </mc:Choice>
              <mc:Fallback>
                <p:oleObj name="" r:id="rId1" imgW="5610860" imgH="102743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684" y="2758440"/>
                        <a:ext cx="7464276" cy="1340768"/>
                      </a:xfrm>
                      <a:prstGeom prst="rect">
                        <a:avLst/>
                      </a:prstGeom>
                      <a:noFill/>
                    </p:spPr>
                  </p:pic>
                </p:oleObj>
              </mc:Fallback>
            </mc:AlternateContent>
          </a:graphicData>
        </a:graphic>
      </p:graphicFrame>
      <p:sp>
        <p:nvSpPr>
          <p:cNvPr id="7" name="文本框 6"/>
          <p:cNvSpPr txBox="1"/>
          <p:nvPr/>
        </p:nvSpPr>
        <p:spPr>
          <a:xfrm>
            <a:off x="3363992" y="4553486"/>
            <a:ext cx="2111475" cy="362343"/>
          </a:xfrm>
          <a:prstGeom prst="rect">
            <a:avLst/>
          </a:prstGeom>
          <a:noFill/>
        </p:spPr>
        <p:txBody>
          <a:bodyPr wrap="none" rtlCol="0">
            <a:spAutoFit/>
          </a:bodyPr>
          <a:lstStyle/>
          <a:p>
            <a:pPr>
              <a:lnSpc>
                <a:spcPct val="120000"/>
              </a:lnSpc>
            </a:pPr>
            <a:r>
              <a:rPr kumimoji="1" lang="en-US" altLang="zh-CN" sz="1600">
                <a:solidFill>
                  <a:prstClr val="black"/>
                </a:solidFill>
                <a:latin typeface="Arial" panose="020B0604020202020204" pitchFamily="34" charset="0"/>
                <a:ea typeface="微软雅黑" panose="020B0503020204020204" pitchFamily="34" charset="-122"/>
                <a:cs typeface="Arial" panose="020B0604020202020204" pitchFamily="34" charset="0"/>
              </a:rPr>
              <a:t>Java</a:t>
            </a:r>
            <a:r>
              <a:rPr kumimoji="1"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程序的开发过程 </a:t>
            </a:r>
            <a:endParaRPr kumimoji="1" lang="zh-CN" altLang="en-US" sz="160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lstStyle/>
          <a:p>
            <a:pPr>
              <a:buNone/>
            </a:pPr>
            <a:r>
              <a:rPr lang="zh-CN" altLang="zh-CN" dirty="0"/>
              <a:t>由于</a:t>
            </a:r>
            <a:r>
              <a:rPr lang="en-US" altLang="zh-CN" dirty="0"/>
              <a:t>Java</a:t>
            </a:r>
            <a:r>
              <a:rPr lang="zh-CN" altLang="zh-CN" dirty="0"/>
              <a:t>虚拟机可以运行在不同的操作系统之上，因此同一个字节代码文件可以在</a:t>
            </a:r>
            <a:r>
              <a:rPr lang="en-US" altLang="zh-CN" dirty="0"/>
              <a:t>Windows</a:t>
            </a:r>
            <a:r>
              <a:rPr lang="zh-CN" altLang="zh-CN" dirty="0"/>
              <a:t>、</a:t>
            </a:r>
            <a:r>
              <a:rPr lang="en-US" altLang="zh-CN" dirty="0"/>
              <a:t>Solaris OS</a:t>
            </a:r>
            <a:r>
              <a:rPr lang="zh-CN" altLang="zh-CN" dirty="0"/>
              <a:t>、</a:t>
            </a:r>
            <a:r>
              <a:rPr lang="en-US" altLang="zh-CN" dirty="0"/>
              <a:t>Linux</a:t>
            </a:r>
            <a:r>
              <a:rPr lang="zh-CN" altLang="zh-CN" dirty="0"/>
              <a:t>、</a:t>
            </a:r>
            <a:r>
              <a:rPr lang="en-US" altLang="zh-CN" dirty="0"/>
              <a:t>Mac OS</a:t>
            </a:r>
            <a:r>
              <a:rPr lang="zh-CN" altLang="zh-CN" dirty="0"/>
              <a:t>等操作系统上运行 </a:t>
            </a:r>
            <a:r>
              <a:rPr lang="zh-CN" altLang="en-US" dirty="0" smtClean="0"/>
              <a:t>。</a:t>
            </a:r>
            <a:endParaRPr lang="zh-CN" altLang="en-US" dirty="0"/>
          </a:p>
        </p:txBody>
      </p:sp>
      <p:sp>
        <p:nvSpPr>
          <p:cNvPr id="5" name="Rectangle 2"/>
          <p:cNvSpPr>
            <a:spLocks noChangeArrowheads="1"/>
          </p:cNvSpPr>
          <p:nvPr/>
        </p:nvSpPr>
        <p:spPr bwMode="auto">
          <a:xfrm>
            <a:off x="611559" y="2924943"/>
            <a:ext cx="1063226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文本框 6"/>
          <p:cNvSpPr txBox="1"/>
          <p:nvPr/>
        </p:nvSpPr>
        <p:spPr>
          <a:xfrm>
            <a:off x="1979712" y="5976645"/>
            <a:ext cx="5474576" cy="387798"/>
          </a:xfrm>
          <a:prstGeom prst="rect">
            <a:avLst/>
          </a:prstGeom>
          <a:noFill/>
        </p:spPr>
        <p:txBody>
          <a:bodyPr wrap="none" rtlCol="0">
            <a:spAutoFit/>
          </a:bodyPr>
          <a:lstStyle/>
          <a:p>
            <a:pPr>
              <a:lnSpc>
                <a:spcPct val="120000"/>
              </a:lnSpc>
            </a:pPr>
            <a:r>
              <a:rPr lang="zh-CN" altLang="zh-CN" sz="1600" dirty="0"/>
              <a:t>通过</a:t>
            </a:r>
            <a:r>
              <a:rPr lang="en-US" altLang="zh-CN" sz="1600" dirty="0"/>
              <a:t>Java</a:t>
            </a:r>
            <a:r>
              <a:rPr lang="zh-CN" altLang="zh-CN" sz="1600" dirty="0"/>
              <a:t>虚拟机，同一个</a:t>
            </a:r>
            <a:r>
              <a:rPr lang="en-US" altLang="zh-CN" sz="1600" dirty="0"/>
              <a:t>Java</a:t>
            </a:r>
            <a:r>
              <a:rPr lang="zh-CN" altLang="zh-CN" sz="1600" dirty="0"/>
              <a:t>程序可以在各种平台上运行 </a:t>
            </a:r>
            <a:r>
              <a:rPr kumimoji="1" lang="zh-CN" altLang="en-US" sz="160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endParaRPr kumimoji="1" lang="zh-CN" altLang="en-US" sz="160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Rectangle 2"/>
          <p:cNvSpPr>
            <a:spLocks noChangeArrowheads="1"/>
          </p:cNvSpPr>
          <p:nvPr/>
        </p:nvSpPr>
        <p:spPr bwMode="auto">
          <a:xfrm>
            <a:off x="0" y="-1"/>
            <a:ext cx="1340026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2778214" y="2458472"/>
          <a:ext cx="3593986" cy="3458364"/>
        </p:xfrm>
        <a:graphic>
          <a:graphicData uri="http://schemas.openxmlformats.org/presentationml/2006/ole">
            <mc:AlternateContent xmlns:mc="http://schemas.openxmlformats.org/markup-compatibility/2006">
              <mc:Choice xmlns:v="urn:schemas-microsoft-com:vml" Requires="v">
                <p:oleObj spid="_x0000_s2069" name="" r:id="rId1" imgW="4335145" imgH="4165600" progId="Visio.Drawing.11">
                  <p:embed/>
                </p:oleObj>
              </mc:Choice>
              <mc:Fallback>
                <p:oleObj name="" r:id="rId1" imgW="4335145" imgH="41656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214" y="2458472"/>
                        <a:ext cx="3593986" cy="3458364"/>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Java</a:t>
            </a:r>
            <a:r>
              <a:rPr lang="zh-CN" altLang="en-US" dirty="0"/>
              <a:t>开发工具</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lstStyle/>
          <a:p>
            <a:pPr fontAlgn="base"/>
            <a:r>
              <a:rPr lang="en-US" altLang="zh-CN" dirty="0"/>
              <a:t>IntelliJ IDEA</a:t>
            </a:r>
            <a:endParaRPr lang="en-US" altLang="zh-CN" dirty="0"/>
          </a:p>
          <a:p>
            <a:pPr fontAlgn="base"/>
            <a:r>
              <a:rPr lang="en-US" altLang="zh-CN" dirty="0"/>
              <a:t>Eclipse</a:t>
            </a:r>
            <a:endParaRPr lang="en-US" altLang="zh-CN" dirty="0"/>
          </a:p>
          <a:p>
            <a:pPr fontAlgn="base"/>
            <a:r>
              <a:rPr lang="en-US" altLang="zh-CN" dirty="0"/>
              <a:t>netBeans</a:t>
            </a:r>
            <a:endParaRPr lang="en-US" altLang="zh-CN"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9395" name="Rectangle 2"/>
          <p:cNvSpPr>
            <a:spLocks noGrp="1"/>
          </p:cNvSpPr>
          <p:nvPr>
            <p:ph type="title"/>
          </p:nvPr>
        </p:nvSpPr>
        <p:spPr>
          <a:xfrm>
            <a:off x="398780" y="-273050"/>
            <a:ext cx="7772400" cy="1428750"/>
          </a:xfrm>
        </p:spPr>
        <p:txBody>
          <a:bodyPr vert="horz" wrap="square" lIns="92075" tIns="46038" rIns="92075" bIns="46038" anchor="ctr"/>
          <a:lstStyle/>
          <a:p>
            <a:r>
              <a:rPr lang="zh-CN" altLang="en-US" dirty="0">
                <a:latin typeface="微软雅黑" panose="020B0503020204020204" pitchFamily="34" charset="-122"/>
                <a:ea typeface="微软雅黑" panose="020B0503020204020204" pitchFamily="34" charset="-122"/>
              </a:rPr>
              <a:t>程序设计风格和文档</a:t>
            </a:r>
            <a:endParaRPr lang="zh-CN" altLang="en-US" dirty="0">
              <a:latin typeface="微软雅黑" panose="020B0503020204020204" pitchFamily="34" charset="-122"/>
              <a:ea typeface="微软雅黑" panose="020B0503020204020204" pitchFamily="34" charset="-122"/>
            </a:endParaRPr>
          </a:p>
        </p:txBody>
      </p:sp>
      <p:sp>
        <p:nvSpPr>
          <p:cNvPr id="59396" name="Rectangle 3"/>
          <p:cNvSpPr>
            <a:spLocks noGrp="1"/>
          </p:cNvSpPr>
          <p:nvPr>
            <p:ph idx="1"/>
          </p:nvPr>
        </p:nvSpPr>
        <p:spPr>
          <a:xfrm>
            <a:off x="901700" y="1657350"/>
            <a:ext cx="7269163" cy="3529013"/>
          </a:xfrm>
        </p:spPr>
        <p:txBody>
          <a:bodyPr vert="horz" wrap="square" lIns="92075" tIns="46038" rIns="92075" bIns="46038" anchor="t">
            <a:normAutofit fontScale="60000"/>
          </a:bodyPr>
          <a:lstStyle/>
          <a:p>
            <a:pPr algn="just"/>
            <a:r>
              <a:rPr lang="zh-CN" altLang="en-US" sz="3600" dirty="0">
                <a:latin typeface="微软雅黑" panose="020B0503020204020204" pitchFamily="34" charset="-122"/>
                <a:ea typeface="微软雅黑" panose="020B0503020204020204" pitchFamily="34" charset="-122"/>
              </a:rPr>
              <a:t>正确的注释和注释风格</a:t>
            </a:r>
            <a:endParaRPr lang="zh-CN" altLang="en-US" sz="3600" dirty="0">
              <a:latin typeface="微软雅黑" panose="020B0503020204020204" pitchFamily="34" charset="-122"/>
              <a:ea typeface="微软雅黑" panose="020B0503020204020204" pitchFamily="34" charset="-122"/>
            </a:endParaRPr>
          </a:p>
          <a:p>
            <a:pPr lvl="1" algn="just"/>
            <a:r>
              <a:rPr lang="zh-CN" altLang="en-US" sz="3200" dirty="0">
                <a:latin typeface="微软雅黑" panose="020B0503020204020204" pitchFamily="34" charset="-122"/>
                <a:ea typeface="微软雅黑" panose="020B0503020204020204" pitchFamily="34" charset="-122"/>
              </a:rPr>
              <a:t>单行注释  </a:t>
            </a:r>
            <a:r>
              <a:rPr lang="en-US" altLang="zh-CN" sz="3200" dirty="0">
                <a:latin typeface="微软雅黑" panose="020B0503020204020204" pitchFamily="34" charset="-122"/>
                <a:ea typeface="微软雅黑" panose="020B0503020204020204" pitchFamily="34" charset="-122"/>
              </a:rPr>
              <a:t>//</a:t>
            </a:r>
            <a:endParaRPr lang="en-US" altLang="zh-CN" sz="3200" dirty="0">
              <a:latin typeface="微软雅黑" panose="020B0503020204020204" pitchFamily="34" charset="-122"/>
              <a:ea typeface="微软雅黑" panose="020B0503020204020204" pitchFamily="34" charset="-122"/>
            </a:endParaRPr>
          </a:p>
          <a:p>
            <a:pPr lvl="1" algn="just"/>
            <a:r>
              <a:rPr lang="zh-CN" altLang="en-US" sz="3200" dirty="0">
                <a:latin typeface="微软雅黑" panose="020B0503020204020204" pitchFamily="34" charset="-122"/>
                <a:ea typeface="微软雅黑" panose="020B0503020204020204" pitchFamily="34" charset="-122"/>
              </a:rPr>
              <a:t>多行注释 </a:t>
            </a:r>
            <a:r>
              <a:rPr lang="en-US" altLang="zh-CN" sz="3200" dirty="0">
                <a:latin typeface="微软雅黑" panose="020B0503020204020204" pitchFamily="34" charset="-122"/>
                <a:ea typeface="微软雅黑" panose="020B0503020204020204" pitchFamily="34" charset="-122"/>
              </a:rPr>
              <a:t>/*    */</a:t>
            </a:r>
            <a:endParaRPr lang="en-US" altLang="zh-CN" sz="3200" dirty="0">
              <a:latin typeface="微软雅黑" panose="020B0503020204020204" pitchFamily="34" charset="-122"/>
              <a:ea typeface="微软雅黑" panose="020B0503020204020204" pitchFamily="34" charset="-122"/>
            </a:endParaRPr>
          </a:p>
          <a:p>
            <a:pPr lvl="1" algn="just"/>
            <a:r>
              <a:rPr lang="zh-CN" altLang="en-US" sz="3200" dirty="0">
                <a:latin typeface="微软雅黑" panose="020B0503020204020204" pitchFamily="34" charset="-122"/>
                <a:ea typeface="微软雅黑" panose="020B0503020204020204" pitchFamily="34" charset="-122"/>
              </a:rPr>
              <a:t>文档注释 </a:t>
            </a:r>
            <a:r>
              <a:rPr lang="en-US" altLang="zh-CN" sz="3200" dirty="0">
                <a:latin typeface="微软雅黑" panose="020B0503020204020204" pitchFamily="34" charset="-122"/>
                <a:ea typeface="微软雅黑" panose="020B0503020204020204" pitchFamily="34" charset="-122"/>
              </a:rPr>
              <a:t>/**   */</a:t>
            </a:r>
            <a:endParaRPr lang="zh-CN" altLang="en-US" sz="3200" dirty="0">
              <a:latin typeface="微软雅黑" panose="020B0503020204020204" pitchFamily="34" charset="-122"/>
              <a:ea typeface="微软雅黑" panose="020B0503020204020204" pitchFamily="34" charset="-122"/>
            </a:endParaRPr>
          </a:p>
          <a:p>
            <a:pPr algn="just"/>
            <a:r>
              <a:rPr lang="zh-CN" altLang="en-US" sz="3600" dirty="0">
                <a:latin typeface="微软雅黑" panose="020B0503020204020204" pitchFamily="34" charset="-122"/>
                <a:ea typeface="微软雅黑" panose="020B0503020204020204" pitchFamily="34" charset="-122"/>
              </a:rPr>
              <a:t>命名习惯</a:t>
            </a:r>
            <a:endParaRPr lang="zh-CN" altLang="en-US" sz="3600" dirty="0">
              <a:latin typeface="微软雅黑" panose="020B0503020204020204" pitchFamily="34" charset="-122"/>
              <a:ea typeface="微软雅黑" panose="020B0503020204020204" pitchFamily="34" charset="-122"/>
            </a:endParaRPr>
          </a:p>
          <a:p>
            <a:pPr algn="just"/>
            <a:r>
              <a:rPr lang="zh-CN" altLang="en-US" sz="3600" dirty="0">
                <a:latin typeface="微软雅黑" panose="020B0503020204020204" pitchFamily="34" charset="-122"/>
                <a:ea typeface="微软雅黑" panose="020B0503020204020204" pitchFamily="34" charset="-122"/>
              </a:rPr>
              <a:t>正确的缩进和空白</a:t>
            </a:r>
            <a:endParaRPr lang="zh-CN" altLang="en-US" sz="3600" dirty="0">
              <a:latin typeface="微软雅黑" panose="020B0503020204020204" pitchFamily="34" charset="-122"/>
              <a:ea typeface="微软雅黑" panose="020B0503020204020204" pitchFamily="34" charset="-122"/>
            </a:endParaRPr>
          </a:p>
          <a:p>
            <a:pPr algn="just"/>
            <a:r>
              <a:rPr lang="zh-CN" altLang="en-US" sz="3600" dirty="0">
                <a:latin typeface="微软雅黑" panose="020B0503020204020204" pitchFamily="34" charset="-122"/>
                <a:ea typeface="微软雅黑" panose="020B0503020204020204" pitchFamily="34" charset="-122"/>
              </a:rPr>
              <a:t>块的风格</a:t>
            </a:r>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5539" name="Rectangle 2"/>
          <p:cNvSpPr>
            <a:spLocks noGrp="1"/>
          </p:cNvSpPr>
          <p:nvPr>
            <p:ph type="title"/>
          </p:nvPr>
        </p:nvSpPr>
        <p:spPr>
          <a:xfrm>
            <a:off x="316865" y="-230505"/>
            <a:ext cx="7772400" cy="1428750"/>
          </a:xfrm>
        </p:spPr>
        <p:txBody>
          <a:bodyPr vert="horz" wrap="square" lIns="92075" tIns="46038" rIns="92075" bIns="46038" anchor="ct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程序设计错误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5540" name="Rectangle 3"/>
          <p:cNvSpPr>
            <a:spLocks noGrp="1"/>
          </p:cNvSpPr>
          <p:nvPr>
            <p:ph idx="1"/>
          </p:nvPr>
        </p:nvSpPr>
        <p:spPr>
          <a:xfrm>
            <a:off x="685800" y="1371600"/>
            <a:ext cx="7696200" cy="4114800"/>
          </a:xfrm>
        </p:spPr>
        <p:txBody>
          <a:bodyPr vert="horz" wrap="square" lIns="92075" tIns="46038" rIns="92075" bIns="46038" anchor="t"/>
          <a:lstStyle/>
          <a:p>
            <a:pPr indent="0" algn="just" fontAlgn="auto">
              <a:lnSpc>
                <a:spcPct val="150000"/>
              </a:lnSpc>
              <a:spcBef>
                <a:spcPts val="0"/>
              </a:spcBef>
            </a:pPr>
            <a:r>
              <a:rPr lang="zh-CN" altLang="en-US" sz="2000" dirty="0">
                <a:latin typeface="微软雅黑" panose="020B0503020204020204" pitchFamily="34" charset="-122"/>
                <a:ea typeface="微软雅黑" panose="020B0503020204020204" pitchFamily="34" charset="-122"/>
              </a:rPr>
              <a:t>语法错误</a:t>
            </a:r>
            <a:endParaRPr lang="zh-CN" altLang="en-US" sz="2000" dirty="0">
              <a:latin typeface="微软雅黑" panose="020B0503020204020204" pitchFamily="34" charset="-122"/>
              <a:ea typeface="微软雅黑" panose="020B0503020204020204" pitchFamily="34" charset="-122"/>
            </a:endParaRPr>
          </a:p>
          <a:p>
            <a:pPr lvl="1" indent="0" algn="just" fontAlgn="auto">
              <a:lnSpc>
                <a:spcPct val="150000"/>
              </a:lnSpc>
              <a:spcBef>
                <a:spcPts val="0"/>
              </a:spcBef>
            </a:pPr>
            <a:r>
              <a:rPr lang="zh-CN" altLang="en-US" sz="2000" dirty="0">
                <a:latin typeface="微软雅黑" panose="020B0503020204020204" pitchFamily="34" charset="-122"/>
                <a:ea typeface="微软雅黑" panose="020B0503020204020204" pitchFamily="34" charset="-122"/>
              </a:rPr>
              <a:t>由编译器检测</a:t>
            </a:r>
            <a:endParaRPr lang="zh-CN" altLang="en-US" sz="2000" dirty="0">
              <a:latin typeface="微软雅黑" panose="020B0503020204020204" pitchFamily="34" charset="-122"/>
              <a:ea typeface="微软雅黑" panose="020B0503020204020204" pitchFamily="34" charset="-122"/>
            </a:endParaRPr>
          </a:p>
          <a:p>
            <a:pPr indent="0" algn="just" fontAlgn="auto">
              <a:lnSpc>
                <a:spcPct val="150000"/>
              </a:lnSpc>
              <a:spcBef>
                <a:spcPts val="0"/>
              </a:spcBef>
            </a:pPr>
            <a:r>
              <a:rPr lang="zh-CN" altLang="en-US" sz="2000" dirty="0">
                <a:latin typeface="微软雅黑" panose="020B0503020204020204" pitchFamily="34" charset="-122"/>
                <a:ea typeface="微软雅黑" panose="020B0503020204020204" pitchFamily="34" charset="-122"/>
              </a:rPr>
              <a:t>运行错误</a:t>
            </a:r>
            <a:endParaRPr lang="zh-CN" altLang="en-US" sz="2000" dirty="0">
              <a:latin typeface="微软雅黑" panose="020B0503020204020204" pitchFamily="34" charset="-122"/>
              <a:ea typeface="微软雅黑" panose="020B0503020204020204" pitchFamily="34" charset="-122"/>
            </a:endParaRPr>
          </a:p>
          <a:p>
            <a:pPr lvl="1" indent="0" algn="just" fontAlgn="auto">
              <a:lnSpc>
                <a:spcPct val="150000"/>
              </a:lnSpc>
              <a:spcBef>
                <a:spcPts val="0"/>
              </a:spcBef>
            </a:pPr>
            <a:r>
              <a:rPr lang="zh-CN" altLang="en-US" sz="2000" dirty="0">
                <a:latin typeface="微软雅黑" panose="020B0503020204020204" pitchFamily="34" charset="-122"/>
                <a:ea typeface="微软雅黑" panose="020B0503020204020204" pitchFamily="34" charset="-122"/>
              </a:rPr>
              <a:t>导致程序不能正常运行</a:t>
            </a:r>
            <a:endParaRPr lang="zh-CN" altLang="en-US" sz="2000" dirty="0">
              <a:latin typeface="微软雅黑" panose="020B0503020204020204" pitchFamily="34" charset="-122"/>
              <a:ea typeface="微软雅黑" panose="020B0503020204020204" pitchFamily="34" charset="-122"/>
            </a:endParaRPr>
          </a:p>
          <a:p>
            <a:pPr indent="0" algn="just" fontAlgn="auto">
              <a:lnSpc>
                <a:spcPct val="150000"/>
              </a:lnSpc>
              <a:spcBef>
                <a:spcPts val="0"/>
              </a:spcBef>
            </a:pPr>
            <a:r>
              <a:rPr lang="zh-CN" altLang="en-US" sz="2000" dirty="0">
                <a:latin typeface="微软雅黑" panose="020B0503020204020204" pitchFamily="34" charset="-122"/>
                <a:ea typeface="微软雅黑" panose="020B0503020204020204" pitchFamily="34" charset="-122"/>
              </a:rPr>
              <a:t>逻辑错误</a:t>
            </a:r>
            <a:endParaRPr lang="zh-CN" altLang="en-US" sz="2000" dirty="0">
              <a:latin typeface="微软雅黑" panose="020B0503020204020204" pitchFamily="34" charset="-122"/>
              <a:ea typeface="微软雅黑" panose="020B0503020204020204" pitchFamily="34" charset="-122"/>
            </a:endParaRPr>
          </a:p>
          <a:p>
            <a:pPr lvl="1" indent="0" algn="just" fontAlgn="auto">
              <a:lnSpc>
                <a:spcPct val="150000"/>
              </a:lnSpc>
              <a:spcBef>
                <a:spcPts val="0"/>
              </a:spcBef>
            </a:pPr>
            <a:r>
              <a:rPr lang="zh-CN" altLang="en-US" sz="2000" dirty="0">
                <a:latin typeface="微软雅黑" panose="020B0503020204020204" pitchFamily="34" charset="-122"/>
                <a:ea typeface="微软雅黑" panose="020B0503020204020204" pitchFamily="34" charset="-122"/>
              </a:rPr>
              <a:t>产生不正确的结果</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txBox="1"/>
          <p:nvPr/>
        </p:nvSpPr>
        <p:spPr>
          <a:xfrm>
            <a:off x="2843808" y="2916658"/>
            <a:ext cx="4752528" cy="728366"/>
          </a:xfrm>
          <a:prstGeom prst="rect">
            <a:avLst/>
          </a:prstGeom>
        </p:spPr>
        <p:txBody>
          <a:bodyPr vert="horz" lIns="91440" tIns="45720" rIns="91440" bIns="45720" rtlCol="0" anchor="ctr">
            <a:normAutofit fontScale="90000" lnSpcReduction="20000"/>
          </a:bodyPr>
          <a:lstStyle>
            <a:lvl1pPr algn="l" defTabSz="914400" rtl="0" eaLnBrk="1" latinLnBrk="0" hangingPunct="1">
              <a:spcBef>
                <a:spcPct val="0"/>
              </a:spcBef>
              <a:buNone/>
              <a:defRPr sz="2800" b="1" kern="1200">
                <a:solidFill>
                  <a:schemeClr val="bg1"/>
                </a:solidFill>
                <a:latin typeface="+mj-ea"/>
                <a:ea typeface="+mj-ea"/>
                <a:cs typeface="+mj-cs"/>
              </a:defRPr>
            </a:lvl1pPr>
          </a:lstStyle>
          <a:p>
            <a:r>
              <a:rPr lang="zh-CN" altLang="en-US" sz="4400" dirty="0" smtClean="0">
                <a:solidFill>
                  <a:schemeClr val="tx1"/>
                </a:solidFill>
              </a:rPr>
              <a:t>本节课程结束！</a:t>
            </a:r>
            <a:endParaRPr lang="zh-CN" altLang="en-US" sz="4400" dirty="0">
              <a:solidFill>
                <a:schemeClr val="tx1"/>
              </a:solidFill>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MDQ5MTU2ZTc1NWM5MmVmN2NjNGZiZmE3NjI4MWI4NjAifQ=="/>
  <p:tag name="KSO_WPP_MARK_KEY" val="b21f8df2-1e6b-40e1-b200-f219a42d369b"/>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1910E"/>
        </a:solidFill>
        <a:ln>
          <a:noFill/>
        </a:ln>
      </a:spPr>
      <a:bodyPr vert="horz" wrap="square" lIns="91440" tIns="45720" rIns="91440" bIns="45720" numCol="1" anchor="t" anchorCtr="0" compatLnSpc="1"/>
      <a:lstStyle>
        <a:defPPr>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3302</Words>
  <Application>WPS 演示</Application>
  <PresentationFormat>全屏显示(4:3)</PresentationFormat>
  <Paragraphs>240</Paragraphs>
  <Slides>22</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22</vt:i4>
      </vt:variant>
    </vt:vector>
  </HeadingPairs>
  <TitlesOfParts>
    <vt:vector size="40" baseType="lpstr">
      <vt:lpstr>Arial</vt:lpstr>
      <vt:lpstr>宋体</vt:lpstr>
      <vt:lpstr>Wingdings</vt:lpstr>
      <vt:lpstr>微软雅黑</vt:lpstr>
      <vt:lpstr>黑体</vt:lpstr>
      <vt:lpstr>方正正大黑简体</vt:lpstr>
      <vt:lpstr>Calibri</vt:lpstr>
      <vt:lpstr>Calibri</vt:lpstr>
      <vt:lpstr>Courier New</vt:lpstr>
      <vt:lpstr>Monotype Sorts</vt:lpstr>
      <vt:lpstr>Wingdings</vt:lpstr>
      <vt:lpstr>Arial Unicode MS</vt:lpstr>
      <vt:lpstr>Times New Roman</vt:lpstr>
      <vt:lpstr>由Nordri®（www.nordridesign.com ） 设计提供</vt:lpstr>
      <vt:lpstr>Word.Picture.8</vt:lpstr>
      <vt:lpstr>Word.Picture.8</vt:lpstr>
      <vt:lpstr>Visio.Drawing.11</vt:lpstr>
      <vt:lpstr>Visio.Drawing.11</vt:lpstr>
      <vt:lpstr>面向对象程序设计</vt:lpstr>
      <vt:lpstr>PowerPoint 演示文稿</vt:lpstr>
      <vt:lpstr>PowerPoint 演示文稿</vt:lpstr>
      <vt:lpstr>引言</vt:lpstr>
      <vt:lpstr>编程语言</vt:lpstr>
      <vt:lpstr>编程语言</vt:lpstr>
      <vt:lpstr>编程语言</vt:lpstr>
      <vt:lpstr>编程语言</vt:lpstr>
      <vt:lpstr>编程语言</vt:lpstr>
      <vt:lpstr>操作系统</vt:lpstr>
      <vt:lpstr>Java</vt:lpstr>
      <vt:lpstr>Java语言的设计特性</vt:lpstr>
      <vt:lpstr>Java 语言规范、Java API</vt:lpstr>
      <vt:lpstr>Java API</vt:lpstr>
      <vt:lpstr>JDK</vt:lpstr>
      <vt:lpstr>PowerPoint 演示文稿</vt:lpstr>
      <vt:lpstr>Java 开发过程</vt:lpstr>
      <vt:lpstr>PowerPoint 演示文稿</vt:lpstr>
      <vt:lpstr>Java开发工具</vt:lpstr>
      <vt:lpstr>程序设计风格和文档</vt:lpstr>
      <vt:lpstr>程序设计错误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Nordri® Design</dc:creator>
  <dc:description>Nordri® 
专注于有效的信息传递设计
www.nordridesign.com</dc:description>
  <dc:subject>PPT模板/图示</dc:subject>
  <cp:lastModifiedBy>大灰很</cp:lastModifiedBy>
  <cp:revision>509</cp:revision>
  <dcterms:created xsi:type="dcterms:W3CDTF">2011-11-03T02:06:00Z</dcterms:created>
  <dcterms:modified xsi:type="dcterms:W3CDTF">2026-03-02T14:21:15Z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2052-12.1.0.25225</vt:lpwstr>
  </property>
  <property fmtid="{D5CDD505-2E9C-101B-9397-08002B2CF9AE}" pid="6" name="ICV">
    <vt:lpwstr>1FD74E2B1D7445CAB68B37AD00C2F9F4</vt:lpwstr>
  </property>
</Properties>
</file>