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56" r:id="rId3"/>
    <p:sldId id="1020" r:id="rId5"/>
    <p:sldId id="1103" r:id="rId6"/>
    <p:sldId id="1104" r:id="rId7"/>
    <p:sldId id="1154" r:id="rId8"/>
    <p:sldId id="1155" r:id="rId9"/>
    <p:sldId id="1107" r:id="rId10"/>
    <p:sldId id="1108" r:id="rId11"/>
    <p:sldId id="1110" r:id="rId12"/>
    <p:sldId id="1111" r:id="rId13"/>
    <p:sldId id="1121" r:id="rId14"/>
    <p:sldId id="1123" r:id="rId15"/>
    <p:sldId id="1122" r:id="rId16"/>
    <p:sldId id="1124" r:id="rId17"/>
    <p:sldId id="1126" r:id="rId18"/>
    <p:sldId id="1127" r:id="rId19"/>
    <p:sldId id="1128" r:id="rId20"/>
    <p:sldId id="1129" r:id="rId21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4234" userDrawn="1">
          <p15:clr>
            <a:srgbClr val="A4A3A4"/>
          </p15:clr>
        </p15:guide>
        <p15:guide id="3" orient="horz" pos="4065" userDrawn="1">
          <p15:clr>
            <a:srgbClr val="A4A3A4"/>
          </p15:clr>
        </p15:guide>
        <p15:guide id="4" orient="horz" pos="672" userDrawn="1">
          <p15:clr>
            <a:srgbClr val="A4A3A4"/>
          </p15:clr>
        </p15:guide>
        <p15:guide id="5" pos="2760" userDrawn="1">
          <p15:clr>
            <a:srgbClr val="A4A3A4"/>
          </p15:clr>
        </p15:guide>
        <p15:guide id="6" pos="5468" userDrawn="1">
          <p15:clr>
            <a:srgbClr val="A4A3A4"/>
          </p15:clr>
        </p15:guide>
        <p15:guide id="7" pos="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200"/>
    <a:srgbClr val="C06000"/>
    <a:srgbClr val="039ABD"/>
    <a:srgbClr val="1D8DA3"/>
    <a:srgbClr val="099AB7"/>
    <a:srgbClr val="33CCFF"/>
    <a:srgbClr val="CCFFFF"/>
    <a:srgbClr val="F3B10D"/>
    <a:srgbClr val="CCFF66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-1542" y="60"/>
      </p:cViewPr>
      <p:guideLst>
        <p:guide orient="horz" pos="2160"/>
        <p:guide orient="horz" pos="4234"/>
        <p:guide orient="horz" pos="4065"/>
        <p:guide orient="horz" pos="672"/>
        <p:guide pos="2760"/>
        <p:guide pos="5468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454" y="24"/>
      </p:cViewPr>
      <p:guideLst>
        <p:guide orient="horz" pos="2826"/>
        <p:guide pos="20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19548-F454-4331-83C2-8A7F164E39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5D8A-A620-4ACE-B1CF-F6E9B44ECD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E75B1-D996-41EC-AA92-8E0F9339AE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BB548-4544-46A5-8423-F94A584A16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rdridesign.com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11656" b="3263"/>
          <a:stretch>
            <a:fillRect/>
          </a:stretch>
        </p:blipFill>
        <p:spPr bwMode="auto">
          <a:xfrm flipV="1">
            <a:off x="3111190" y="-1"/>
            <a:ext cx="6057842" cy="685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11"/>
          <p:cNvSpPr>
            <a:spLocks noChangeArrowheads="1"/>
          </p:cNvSpPr>
          <p:nvPr userDrawn="1"/>
        </p:nvSpPr>
        <p:spPr bwMode="auto">
          <a:xfrm>
            <a:off x="19228" y="6886078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2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-17285" y="5876800"/>
            <a:ext cx="3059832" cy="504527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9000"/>
                </a:schemeClr>
              </a:gs>
              <a:gs pos="100000">
                <a:schemeClr val="bg1">
                  <a:lumMod val="75000"/>
                  <a:alpha val="4800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0" indent="35560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468313" y="2132856"/>
            <a:ext cx="6047903" cy="63967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8314" y="2952936"/>
            <a:ext cx="6047292" cy="3722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5" name="内容占位符 8"/>
          <p:cNvSpPr>
            <a:spLocks noGrp="1"/>
          </p:cNvSpPr>
          <p:nvPr>
            <p:ph sz="quarter" idx="12" hasCustomPrompt="1"/>
          </p:nvPr>
        </p:nvSpPr>
        <p:spPr>
          <a:xfrm>
            <a:off x="468312" y="981075"/>
            <a:ext cx="8207376" cy="5400675"/>
          </a:xfrm>
        </p:spPr>
        <p:txBody>
          <a:bodyPr/>
          <a:lstStyle>
            <a:lvl1pPr>
              <a:lnSpc>
                <a:spcPct val="120000"/>
              </a:lnSpc>
              <a:buClr>
                <a:srgbClr val="7030A0"/>
              </a:buClr>
              <a:buSzPct val="70000"/>
              <a:buFont typeface="Wingdings" panose="05000000000000000000" pitchFamily="2" charset="2"/>
              <a:buChar char="n"/>
              <a:defRPr sz="2600" baseline="0"/>
            </a:lvl1pPr>
            <a:lvl2pPr marL="742950" indent="-285750">
              <a:buFont typeface="Wingdings" panose="05000000000000000000" pitchFamily="2" charset="2"/>
              <a:buChar char="l"/>
              <a:defRPr sz="2200"/>
            </a:lvl2pPr>
            <a:lvl3pPr>
              <a:defRPr sz="1600"/>
            </a:lvl3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468313" y="6453188"/>
            <a:ext cx="1007343" cy="268287"/>
          </a:xfrm>
        </p:spPr>
        <p:txBody>
          <a:bodyPr/>
          <a:lstStyle/>
          <a:p>
            <a:r>
              <a:rPr lang="en-US" altLang="zh-CN" dirty="0" smtClean="0"/>
              <a:t>P</a:t>
            </a:r>
            <a:fld id="{62DCC93C-90AC-48A1-9D9E-CBAB17A91522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7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配色方案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日期占位符 5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7" name="页脚占位符 5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8" name="灯片编号占位符 5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741702" y="1398826"/>
            <a:ext cx="7672274" cy="4811474"/>
            <a:chOff x="468311" y="1227376"/>
            <a:chExt cx="8219055" cy="5154374"/>
          </a:xfrm>
        </p:grpSpPr>
        <p:sp>
          <p:nvSpPr>
            <p:cNvPr id="6" name="矩形 5"/>
            <p:cNvSpPr/>
            <p:nvPr userDrawn="1"/>
          </p:nvSpPr>
          <p:spPr bwMode="auto">
            <a:xfrm>
              <a:off x="7477213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266666" y="2816932"/>
              <a:ext cx="1210153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 bwMode="auto">
            <a:xfrm>
              <a:off x="468314" y="2816932"/>
              <a:ext cx="2606725" cy="1213910"/>
            </a:xfrm>
            <a:prstGeom prst="rect">
              <a:avLst/>
            </a:pr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0">
                  <a:schemeClr val="bg1">
                    <a:lumMod val="95000"/>
                    <a:alpha val="0"/>
                  </a:schemeClr>
                </a:gs>
                <a:gs pos="47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algn="ctr"/>
              <a:endParaRPr lang="zh-CN" altLang="en-US"/>
            </a:p>
          </p:txBody>
        </p:sp>
        <p:sp>
          <p:nvSpPr>
            <p:cNvPr id="10" name="左大括号 9"/>
            <p:cNvSpPr/>
            <p:nvPr userDrawn="1"/>
          </p:nvSpPr>
          <p:spPr>
            <a:xfrm rot="5400000">
              <a:off x="4342637" y="-2230069"/>
              <a:ext cx="454784" cy="820343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 userDrawn="1"/>
          </p:nvSpPr>
          <p:spPr bwMode="auto">
            <a:xfrm>
              <a:off x="468313" y="256490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椭圆 11"/>
            <p:cNvSpPr/>
            <p:nvPr userDrawn="1"/>
          </p:nvSpPr>
          <p:spPr bwMode="auto">
            <a:xfrm>
              <a:off x="1169203" y="256490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3" name="椭圆 12"/>
            <p:cNvSpPr/>
            <p:nvPr userDrawn="1"/>
          </p:nvSpPr>
          <p:spPr bwMode="auto">
            <a:xfrm>
              <a:off x="1870093" y="256490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4" name="椭圆 13"/>
            <p:cNvSpPr/>
            <p:nvPr userDrawn="1"/>
          </p:nvSpPr>
          <p:spPr bwMode="auto">
            <a:xfrm>
              <a:off x="2570983" y="256490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5" name="椭圆 14"/>
            <p:cNvSpPr/>
            <p:nvPr userDrawn="1"/>
          </p:nvSpPr>
          <p:spPr bwMode="auto">
            <a:xfrm>
              <a:off x="3271873" y="256490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6" name="椭圆 15"/>
            <p:cNvSpPr/>
            <p:nvPr userDrawn="1"/>
          </p:nvSpPr>
          <p:spPr bwMode="auto">
            <a:xfrm>
              <a:off x="3972763" y="256490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7" name="椭圆 16"/>
            <p:cNvSpPr/>
            <p:nvPr userDrawn="1"/>
          </p:nvSpPr>
          <p:spPr bwMode="auto">
            <a:xfrm>
              <a:off x="4673653" y="2564904"/>
              <a:ext cx="504056" cy="504056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8" name="椭圆 17"/>
            <p:cNvSpPr/>
            <p:nvPr userDrawn="1"/>
          </p:nvSpPr>
          <p:spPr bwMode="auto">
            <a:xfrm>
              <a:off x="5374543" y="2564904"/>
              <a:ext cx="504056" cy="50405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9" name="椭圆 18"/>
            <p:cNvSpPr/>
            <p:nvPr userDrawn="1"/>
          </p:nvSpPr>
          <p:spPr bwMode="auto">
            <a:xfrm>
              <a:off x="6075433" y="2564904"/>
              <a:ext cx="504056" cy="504056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9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0" name="椭圆 19"/>
            <p:cNvSpPr/>
            <p:nvPr userDrawn="1"/>
          </p:nvSpPr>
          <p:spPr bwMode="auto">
            <a:xfrm>
              <a:off x="6776323" y="2564904"/>
              <a:ext cx="504056" cy="50405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10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1" name="椭圆 20"/>
            <p:cNvSpPr/>
            <p:nvPr userDrawn="1"/>
          </p:nvSpPr>
          <p:spPr bwMode="auto">
            <a:xfrm>
              <a:off x="7477213" y="256490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2" name="椭圆 21"/>
            <p:cNvSpPr/>
            <p:nvPr userDrawn="1"/>
          </p:nvSpPr>
          <p:spPr bwMode="auto">
            <a:xfrm>
              <a:off x="8178102" y="256490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3" name="左大括号 22"/>
            <p:cNvSpPr/>
            <p:nvPr userDrawn="1"/>
          </p:nvSpPr>
          <p:spPr>
            <a:xfrm rot="5400000">
              <a:off x="3736233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左大括号 23"/>
            <p:cNvSpPr/>
            <p:nvPr userDrawn="1"/>
          </p:nvSpPr>
          <p:spPr>
            <a:xfrm rot="5400000">
              <a:off x="5887737" y="1050984"/>
              <a:ext cx="227392" cy="255789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大括号 24"/>
            <p:cNvSpPr/>
            <p:nvPr userDrawn="1"/>
          </p:nvSpPr>
          <p:spPr>
            <a:xfrm rot="5400000">
              <a:off x="7941572" y="1751874"/>
              <a:ext cx="227392" cy="11561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左大括号 25"/>
            <p:cNvSpPr/>
            <p:nvPr userDrawn="1"/>
          </p:nvSpPr>
          <p:spPr>
            <a:xfrm rot="5400000">
              <a:off x="1605452" y="1079093"/>
              <a:ext cx="227392" cy="2501673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左大括号 26"/>
            <p:cNvSpPr/>
            <p:nvPr userDrawn="1"/>
          </p:nvSpPr>
          <p:spPr>
            <a:xfrm rot="5400000" flipH="1">
              <a:off x="4342828" y="632797"/>
              <a:ext cx="415982" cy="8165010"/>
            </a:xfrm>
            <a:prstGeom prst="leftBrace">
              <a:avLst>
                <a:gd name="adj1" fmla="val 51183"/>
                <a:gd name="adj2" fmla="val 50000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内容占位符 4"/>
            <p:cNvSpPr txBox="1"/>
            <p:nvPr userDrawn="1"/>
          </p:nvSpPr>
          <p:spPr>
            <a:xfrm>
              <a:off x="468314" y="5008949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</a:rPr>
                <a:t>2003</a:t>
              </a:r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8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1305749" y="1916832"/>
              <a:ext cx="889987" cy="2779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文字与背景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 userDrawn="1"/>
          </p:nvSpPr>
          <p:spPr>
            <a:xfrm>
              <a:off x="3555616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常用色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5707120" y="1916832"/>
              <a:ext cx="588624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辅助色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 userDrawn="1"/>
          </p:nvSpPr>
          <p:spPr>
            <a:xfrm>
              <a:off x="7729242" y="1916832"/>
              <a:ext cx="588623" cy="2695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050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链接色</a:t>
              </a:r>
              <a:endParaRPr lang="zh-CN" altLang="en-US" sz="1050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3" name="直接连接符 32"/>
            <p:cNvCxnSpPr>
              <a:stCxn id="11" idx="7"/>
              <a:endCxn id="11" idx="3"/>
            </p:cNvCxnSpPr>
            <p:nvPr userDrawn="1"/>
          </p:nvCxnSpPr>
          <p:spPr>
            <a:xfrm flipH="1">
              <a:off x="54213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12" idx="7"/>
              <a:endCxn id="12" idx="3"/>
            </p:cNvCxnSpPr>
            <p:nvPr userDrawn="1"/>
          </p:nvCxnSpPr>
          <p:spPr>
            <a:xfrm flipH="1">
              <a:off x="124302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3" idx="7"/>
              <a:endCxn id="13" idx="3"/>
            </p:cNvCxnSpPr>
            <p:nvPr userDrawn="1"/>
          </p:nvCxnSpPr>
          <p:spPr>
            <a:xfrm flipH="1">
              <a:off x="194391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14" idx="7"/>
              <a:endCxn id="14" idx="3"/>
            </p:cNvCxnSpPr>
            <p:nvPr userDrawn="1"/>
          </p:nvCxnSpPr>
          <p:spPr>
            <a:xfrm flipH="1">
              <a:off x="2644800" y="263872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 userDrawn="1"/>
          </p:nvSpPr>
          <p:spPr>
            <a:xfrm>
              <a:off x="468314" y="5610918"/>
              <a:ext cx="8203430" cy="770832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7843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800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配色规则：</a:t>
              </a:r>
              <a:endParaRPr lang="en-US" altLang="zh-CN" sz="800" b="1" dirty="0" smtClean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通常情况下，配色方案中的前四种色彩文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——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“字与背景色”固定不变。常用色与模板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/logo/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企业标准色一致。辅助色可根据对色彩的要求进行调整。链接色可根据需求进行调整。</a:t>
              </a:r>
              <a:endParaRPr lang="en-US" altLang="zh-CN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配色方案的编辑：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07/10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菜单中 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颜色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中修改；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03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版本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格式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菜单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幻灯片设计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lang="en-US" altLang="zh-CN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Wingdings" panose="05000000000000000000" pitchFamily="2" charset="2"/>
                </a:rPr>
                <a:t>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【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配色方案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】</a:t>
              </a:r>
              <a:endParaRPr lang="zh-CN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8" name="椭圆 37"/>
            <p:cNvSpPr/>
            <p:nvPr userDrawn="1"/>
          </p:nvSpPr>
          <p:spPr bwMode="auto">
            <a:xfrm>
              <a:off x="468313" y="3778814"/>
              <a:ext cx="504056" cy="50405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1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9" name="椭圆 38"/>
            <p:cNvSpPr/>
            <p:nvPr userDrawn="1"/>
          </p:nvSpPr>
          <p:spPr bwMode="auto">
            <a:xfrm>
              <a:off x="1169203" y="3778814"/>
              <a:ext cx="504056" cy="50405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2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0" name="椭圆 39"/>
            <p:cNvSpPr/>
            <p:nvPr userDrawn="1"/>
          </p:nvSpPr>
          <p:spPr bwMode="auto">
            <a:xfrm>
              <a:off x="1870093" y="3778814"/>
              <a:ext cx="504056" cy="504056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3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1" name="椭圆 40"/>
            <p:cNvSpPr/>
            <p:nvPr userDrawn="1"/>
          </p:nvSpPr>
          <p:spPr bwMode="auto">
            <a:xfrm>
              <a:off x="2570983" y="3778814"/>
              <a:ext cx="504056" cy="5040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4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42" name="直接连接符 41"/>
            <p:cNvCxnSpPr>
              <a:stCxn id="38" idx="7"/>
              <a:endCxn id="38" idx="3"/>
            </p:cNvCxnSpPr>
            <p:nvPr userDrawn="1"/>
          </p:nvCxnSpPr>
          <p:spPr>
            <a:xfrm flipH="1">
              <a:off x="54213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39" idx="7"/>
              <a:endCxn id="39" idx="3"/>
            </p:cNvCxnSpPr>
            <p:nvPr userDrawn="1"/>
          </p:nvCxnSpPr>
          <p:spPr>
            <a:xfrm flipH="1">
              <a:off x="124302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40" idx="7"/>
              <a:endCxn id="40" idx="3"/>
            </p:cNvCxnSpPr>
            <p:nvPr userDrawn="1"/>
          </p:nvCxnSpPr>
          <p:spPr>
            <a:xfrm flipH="1">
              <a:off x="194391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41" idx="7"/>
              <a:endCxn id="41" idx="3"/>
            </p:cNvCxnSpPr>
            <p:nvPr userDrawn="1"/>
          </p:nvCxnSpPr>
          <p:spPr>
            <a:xfrm flipH="1">
              <a:off x="2644800" y="3852631"/>
              <a:ext cx="356422" cy="356422"/>
            </a:xfrm>
            <a:prstGeom prst="line">
              <a:avLst/>
            </a:prstGeom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46" name="椭圆 45"/>
            <p:cNvSpPr/>
            <p:nvPr userDrawn="1"/>
          </p:nvSpPr>
          <p:spPr bwMode="auto">
            <a:xfrm>
              <a:off x="3271873" y="3778814"/>
              <a:ext cx="504056" cy="50405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5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7" name="椭圆 46"/>
            <p:cNvSpPr/>
            <p:nvPr userDrawn="1"/>
          </p:nvSpPr>
          <p:spPr bwMode="auto">
            <a:xfrm>
              <a:off x="3972763" y="3778814"/>
              <a:ext cx="504056" cy="5040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6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8" name="椭圆 47"/>
            <p:cNvSpPr/>
            <p:nvPr userDrawn="1"/>
          </p:nvSpPr>
          <p:spPr bwMode="auto">
            <a:xfrm>
              <a:off x="7477213" y="3778814"/>
              <a:ext cx="504056" cy="50405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7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9" name="椭圆 48"/>
            <p:cNvSpPr/>
            <p:nvPr userDrawn="1"/>
          </p:nvSpPr>
          <p:spPr bwMode="auto">
            <a:xfrm>
              <a:off x="8178102" y="3778814"/>
              <a:ext cx="504056" cy="50405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vert="horz" wrap="square" lIns="0" tIns="0" rIns="0" bIns="0" numCol="1" rtlCol="0" anchor="ctr" anchorCtr="0" compatLnSpc="1"/>
            <a:lstStyle/>
            <a:p>
              <a:pPr algn="ctr"/>
              <a:r>
                <a:rPr lang="en-US" altLang="zh-CN" sz="1400" dirty="0" smtClean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8</a:t>
              </a:r>
              <a:endParaRPr lang="zh-CN" altLang="en-US" sz="1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9" name="内容占位符 4"/>
            <p:cNvSpPr txBox="1"/>
            <p:nvPr userDrawn="1"/>
          </p:nvSpPr>
          <p:spPr>
            <a:xfrm>
              <a:off x="468314" y="1227376"/>
              <a:ext cx="8203430" cy="425203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6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 sz="1200" kern="1200">
                  <a:solidFill>
                    <a:schemeClr val="tx1"/>
                  </a:solidFill>
                  <a:latin typeface="+mj-ea"/>
                  <a:ea typeface="+mj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zh-CN" sz="1600" b="1" dirty="0" smtClean="0">
                  <a:solidFill>
                    <a:schemeClr val="bg1">
                      <a:lumMod val="50000"/>
                    </a:schemeClr>
                  </a:solidFill>
                </a:rPr>
                <a:t>2007/2010</a:t>
              </a:r>
              <a:r>
                <a:rPr lang="zh-CN" altLang="en-US" sz="1600" b="1" dirty="0" smtClean="0">
                  <a:solidFill>
                    <a:schemeClr val="bg1">
                      <a:lumMod val="50000"/>
                    </a:schemeClr>
                  </a:solidFill>
                </a:rPr>
                <a:t>版本配色方案 </a:t>
              </a:r>
              <a:r>
                <a:rPr lang="zh-CN" altLang="en-US" sz="1600" b="1" dirty="0" smtClean="0"/>
                <a:t>（</a:t>
              </a:r>
              <a:r>
                <a:rPr lang="en-US" altLang="zh-CN" sz="1600" b="1" dirty="0" smtClean="0"/>
                <a:t>12</a:t>
              </a:r>
              <a:r>
                <a:rPr lang="zh-CN" altLang="en-US" sz="1600" b="1" dirty="0" smtClean="0"/>
                <a:t>种配色）</a:t>
              </a:r>
              <a:endParaRPr lang="zh-CN" altLang="en-US" sz="1600" b="1" dirty="0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9" r="33230" b="6423"/>
          <a:stretch>
            <a:fillRect/>
          </a:stretch>
        </p:blipFill>
        <p:spPr bwMode="auto">
          <a:xfrm>
            <a:off x="3851921" y="0"/>
            <a:ext cx="529208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 lvl="0"/>
            <a:endParaRPr lang="en-US" altLang="zh-CN" sz="1100" dirty="0">
              <a:cs typeface="Arial" panose="020B0604020202020204" pitchFamily="34" charset="0"/>
            </a:endParaRPr>
          </a:p>
        </p:txBody>
      </p:sp>
      <p:sp>
        <p:nvSpPr>
          <p:cNvPr id="13" name="Rectangle 5">
            <a:hlinkClick r:id="rId3"/>
          </p:cNvPr>
          <p:cNvSpPr txBox="1">
            <a:spLocks noChangeArrowheads="1"/>
          </p:cNvSpPr>
          <p:nvPr userDrawn="1"/>
        </p:nvSpPr>
        <p:spPr bwMode="gray">
          <a:xfrm>
            <a:off x="0" y="5886624"/>
            <a:ext cx="3347367" cy="504527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49000"/>
                </a:schemeClr>
              </a:gs>
              <a:gs pos="0">
                <a:schemeClr val="accent1"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txBody>
          <a:bodyPr lIns="144000" rIns="5040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marL="355600" indent="0" algn="l" eaLnBrk="0" hangingPunct="0">
              <a:spcBef>
                <a:spcPct val="60000"/>
              </a:spcBef>
              <a:buClr>
                <a:schemeClr val="accent1"/>
              </a:buClr>
            </a:pPr>
            <a:endParaRPr lang="en-US" altLang="zh-CN" sz="1400" i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18D58E-1A28-429D-A6C0-1EC971DF880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28575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6573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573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909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9095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18D58E-1A28-429D-A6C0-1EC971DF880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5" descr="E:\PAT 图片资源素材\PPT\待整理\精选 0 (13).jpg"/>
          <p:cNvPicPr>
            <a:picLocks noChangeAspect="1" noChangeArrowheads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r="20205" b="3263"/>
          <a:stretch>
            <a:fillRect/>
          </a:stretch>
        </p:blipFill>
        <p:spPr bwMode="auto">
          <a:xfrm rot="10800000" flipH="1" flipV="1">
            <a:off x="5353149" y="765173"/>
            <a:ext cx="3790851" cy="609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梯形 34"/>
          <p:cNvSpPr/>
          <p:nvPr userDrawn="1"/>
        </p:nvSpPr>
        <p:spPr bwMode="auto">
          <a:xfrm rot="16200000">
            <a:off x="4178903" y="-4199923"/>
            <a:ext cx="786193" cy="9144000"/>
          </a:xfrm>
          <a:prstGeom prst="trapezoid">
            <a:avLst>
              <a:gd name="adj" fmla="val 0"/>
            </a:avLst>
          </a:prstGeom>
          <a:gradFill flip="none" rotWithShape="1">
            <a:gsLst>
              <a:gs pos="73000">
                <a:srgbClr val="FFFF00">
                  <a:lumMod val="0"/>
                  <a:lumOff val="100000"/>
                  <a:alpha val="47000"/>
                </a:srgbClr>
              </a:gs>
              <a:gs pos="90000">
                <a:srgbClr val="039ABD">
                  <a:alpha val="12000"/>
                </a:srgbClr>
              </a:gs>
              <a:gs pos="100000">
                <a:srgbClr val="92D050">
                  <a:lumMod val="0"/>
                  <a:alpha val="0"/>
                </a:srgbClr>
              </a:gs>
              <a:gs pos="47000">
                <a:srgbClr val="92D050">
                  <a:alpha val="0"/>
                </a:srgbClr>
              </a:gs>
              <a:gs pos="9000">
                <a:srgbClr val="FFC000">
                  <a:alpha val="59000"/>
                </a:srgbClr>
              </a:gs>
            </a:gsLst>
            <a:lin ang="5400000" scaled="0"/>
            <a:tileRect/>
          </a:gradFill>
          <a:ln>
            <a:noFill/>
          </a:ln>
          <a:effectLst>
            <a:outerShdw blurRad="381000" dist="1143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 bwMode="auto">
          <a:xfrm>
            <a:off x="0" y="765175"/>
            <a:ext cx="8675688" cy="5616575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53188"/>
            <a:ext cx="2895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"/>
          </p:nvPr>
        </p:nvSpPr>
        <p:spPr>
          <a:xfrm flipH="1">
            <a:off x="468313" y="981076"/>
            <a:ext cx="8207375" cy="5400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矩形 11"/>
          <p:cNvSpPr>
            <a:spLocks noChangeArrowheads="1"/>
          </p:cNvSpPr>
          <p:nvPr userDrawn="1"/>
        </p:nvSpPr>
        <p:spPr bwMode="auto">
          <a:xfrm>
            <a:off x="0" y="6864350"/>
            <a:ext cx="9144000" cy="287338"/>
          </a:xfrm>
          <a:prstGeom prst="rect">
            <a:avLst/>
          </a:prstGeom>
          <a:solidFill>
            <a:srgbClr val="BBBFC3">
              <a:alpha val="0"/>
            </a:srgbClr>
          </a:solidFill>
          <a:ln>
            <a:noFill/>
          </a:ln>
        </p:spPr>
        <p:txBody>
          <a:bodyPr anchor="ctr"/>
          <a:lstStyle/>
          <a:p>
            <a:pPr marL="622300"/>
            <a:endParaRPr lang="en-US" altLang="zh-CN" sz="11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530976" y="6453188"/>
            <a:ext cx="2133600" cy="268287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68313" y="6453188"/>
            <a:ext cx="1007343" cy="26828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7" name="Picture 2"/>
          <p:cNvPicPr>
            <a:picLocks noChangeAspect="1" noChangeArrowheads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838" y="6381750"/>
            <a:ext cx="8188325" cy="11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2"/>
          <p:cNvPicPr>
            <a:picLocks noChangeAspect="1" noChangeArrowheads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765968"/>
            <a:ext cx="8666164" cy="12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77838" y="188641"/>
            <a:ext cx="7078190" cy="349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j-ea"/>
          <a:cs typeface="+mn-cs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j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6390" y="2209165"/>
            <a:ext cx="4479925" cy="639445"/>
          </a:xfrm>
        </p:spPr>
        <p:txBody>
          <a:bodyPr>
            <a:noAutofit/>
          </a:bodyPr>
          <a:lstStyle/>
          <a:p>
            <a:pPr marL="342900" lvl="0" indent="-342900" fontAlgn="base">
              <a:lnSpc>
                <a:spcPct val="110000"/>
              </a:lnSpc>
              <a:spcAft>
                <a:spcPct val="0"/>
              </a:spcAft>
            </a:pPr>
            <a:r>
              <a:rPr lang="zh-CN" altLang="en-US" sz="4000" b="0" u="none" kern="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面向对象程序设计</a:t>
            </a:r>
            <a:endParaRPr lang="zh-CN" altLang="en-US" sz="4000" b="0" u="none" kern="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72160" y="3084830"/>
            <a:ext cx="3589020" cy="1221105"/>
          </a:xfrm>
        </p:spPr>
        <p:txBody>
          <a:bodyPr>
            <a:noAutofit/>
          </a:bodyPr>
          <a:lstStyle/>
          <a:p>
            <a:r>
              <a:rPr lang="zh-CN" altLang="en-US" sz="2800" u="none" dirty="0" smtClean="0">
                <a:solidFill>
                  <a:srgbClr val="000000"/>
                </a:solidFill>
                <a:latin typeface="微软雅黑" panose="020B0503020204020204" pitchFamily="34" charset="-122"/>
              </a:rPr>
              <a:t>第</a:t>
            </a:r>
            <a:r>
              <a:rPr lang="en-US" altLang="zh-CN" sz="2800" u="none" dirty="0" smtClean="0">
                <a:solidFill>
                  <a:srgbClr val="000000"/>
                </a:solidFill>
                <a:latin typeface="微软雅黑" panose="020B0503020204020204" pitchFamily="34" charset="-122"/>
              </a:rPr>
              <a:t>10</a:t>
            </a:r>
            <a:r>
              <a:rPr lang="zh-CN" altLang="en-US" sz="2800" u="none" dirty="0" smtClean="0">
                <a:solidFill>
                  <a:srgbClr val="000000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2800" u="none" dirty="0" smtClean="0">
                <a:solidFill>
                  <a:srgbClr val="000000"/>
                </a:solidFill>
                <a:latin typeface="微软雅黑" panose="020B0503020204020204" pitchFamily="34" charset="-122"/>
              </a:rPr>
              <a:t>11</a:t>
            </a:r>
            <a:r>
              <a:rPr lang="zh-CN" altLang="en-US" sz="2800" u="none" dirty="0" smtClean="0">
                <a:solidFill>
                  <a:srgbClr val="000000"/>
                </a:solidFill>
                <a:latin typeface="微软雅黑" panose="020B0503020204020204" pitchFamily="34" charset="-122"/>
              </a:rPr>
              <a:t>章</a:t>
            </a:r>
            <a:endParaRPr lang="zh-CN" altLang="en-US" sz="2800" u="none" dirty="0" smtClean="0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172400" y="16351"/>
            <a:ext cx="64807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xfrm>
            <a:off x="228600" y="0"/>
            <a:ext cx="7772400" cy="9144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sz="4000" b="0" u="none" dirty="0">
                <a:latin typeface="Arial" panose="020B0604020202020204" pitchFamily="34" charset="0"/>
                <a:ea typeface="微软雅黑" panose="020B0503020204020204" pitchFamily="34" charset="-122"/>
              </a:rPr>
              <a:t>格式化字符串</a:t>
            </a:r>
            <a:endParaRPr lang="zh-CN" altLang="en-US" sz="4000" b="0" u="none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182880" y="990600"/>
            <a:ext cx="8498205" cy="5105400"/>
          </a:xfrm>
        </p:spPr>
        <p:txBody>
          <a:bodyPr vert="horz" wrap="square" lIns="92075" tIns="46038" rIns="92075" bIns="46038" anchor="t">
            <a:normAutofit/>
          </a:bodyPr>
          <a:lstStyle/>
          <a:p>
            <a:pPr indent="0" fontAlgn="auto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String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类包含静态方法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format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，可以创建一个格式化的字符串。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public static String format(String format, Object ... args)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format是格式化串，是符合格式字符串语法描述的字符串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args是格式化串中格式说明符引用的参数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indent="0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String.format ("%s:%09.2f\n","输出浮点型变量",dTemp);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2" indent="0"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ate date=new Date();                                 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2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 s=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String.format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("年-月-日格式：%tF%n",date)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2" indent="0" fontAlgn="auto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8678" name="图片 5"/>
          <p:cNvPicPr>
            <a:picLocks noChangeAspect="1"/>
          </p:cNvPicPr>
          <p:nvPr/>
        </p:nvPicPr>
        <p:blipFill>
          <a:blip r:embed="rId1"/>
          <a:srcRect t="37029" r="28681"/>
          <a:stretch>
            <a:fillRect/>
          </a:stretch>
        </p:blipFill>
        <p:spPr>
          <a:xfrm>
            <a:off x="1056005" y="4935855"/>
            <a:ext cx="7031355" cy="1517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400" dirty="0">
                <a:ea typeface="宋体" panose="02010600030101010101" pitchFamily="2" charset="-122"/>
              </a:rPr>
            </a:fld>
            <a:endParaRPr lang="zh-CN" altLang="en-US" sz="1400" dirty="0">
              <a:ea typeface="宋体" panose="02010600030101010101" pitchFamily="2" charset="-122"/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xfrm>
            <a:off x="228600" y="0"/>
            <a:ext cx="7772400" cy="914400"/>
          </a:xfrm>
        </p:spPr>
        <p:txBody>
          <a:bodyPr vert="horz" wrap="square" lIns="92075" tIns="46038" rIns="92075" bIns="46038" anchor="ctr"/>
          <a:lstStyle/>
          <a:p>
            <a:r>
              <a:rPr lang="en-US" altLang="zh-CN" sz="4000" b="0" u="none" dirty="0">
                <a:latin typeface="Arial" panose="020B0604020202020204" pitchFamily="34" charset="0"/>
                <a:ea typeface="微软雅黑" panose="020B0503020204020204" pitchFamily="34" charset="-122"/>
              </a:rPr>
              <a:t>StringBuilder</a:t>
            </a:r>
            <a:r>
              <a:rPr lang="zh-CN" altLang="zh-CN" sz="4000" b="0" u="none" dirty="0"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4000" b="0" u="none" dirty="0">
                <a:latin typeface="Arial" panose="020B0604020202020204" pitchFamily="34" charset="0"/>
                <a:ea typeface="微软雅黑" panose="020B0503020204020204" pitchFamily="34" charset="-122"/>
              </a:rPr>
              <a:t>StringBuffer</a:t>
            </a:r>
            <a:endParaRPr lang="en-US" altLang="zh-CN" sz="4000" b="0" u="none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182880" y="990600"/>
            <a:ext cx="8498205" cy="5105400"/>
          </a:xfrm>
        </p:spPr>
        <p:txBody>
          <a:bodyPr vert="horz" wrap="square" lIns="92075" tIns="46038" rIns="92075" bIns="46038" anchor="t">
            <a:normAutofit/>
          </a:bodyPr>
          <a:lstStyle/>
          <a:p>
            <a:pPr indent="0" fontAlgn="auto">
              <a:lnSpc>
                <a:spcPct val="10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en-US" sz="222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String</a:t>
            </a:r>
            <a:r>
              <a:rPr lang="zh-CN" altLang="en-US" sz="222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是不可改变的，</a:t>
            </a:r>
            <a:r>
              <a:rPr lang="en-US" altLang="zh-CN" sz="222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StringBuilder</a:t>
            </a:r>
            <a:r>
              <a:rPr lang="zh-CN" altLang="zh-CN" sz="222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22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StringBuffer</a:t>
            </a:r>
            <a:r>
              <a:rPr lang="zh-CN" altLang="en-US" sz="222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是可变字符串，可以添加、插入、追加新内容。</a:t>
            </a:r>
            <a:endParaRPr lang="zh-CN" altLang="en-US" sz="2220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0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en-US" altLang="zh-CN" sz="222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StringBuffer</a:t>
            </a:r>
            <a:r>
              <a:rPr lang="zh-CN" altLang="zh-CN" sz="2220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是线程安全的（多线程时使用）</a:t>
            </a:r>
            <a:endParaRPr lang="zh-CN" altLang="en-US" sz="2220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0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endParaRPr lang="zh-CN" altLang="en-US" sz="2220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endParaRPr lang="en-US" altLang="zh-CN" sz="2220" b="0" u="none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endParaRPr lang="zh-CN" altLang="en-US" sz="22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015" y="2121535"/>
            <a:ext cx="4418965" cy="4257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7239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 因</a:t>
            </a:r>
            <a:endParaRPr lang="en-US" altLang="zh-CN" sz="40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266700" y="950595"/>
            <a:ext cx="8610600" cy="918845"/>
          </a:xfrm>
        </p:spPr>
        <p:txBody>
          <a:bodyPr vert="horz" wrap="square" lIns="92075" tIns="46038" rIns="92075" bIns="46038" anchor="t"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假设要定义一个类来对圆、矩形和三角形建模。这些类有很多共同的特性。设计这些类来避免冗余的最好的方式是什么？答案就是使用继承。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9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0" y="1805305"/>
            <a:ext cx="6105525" cy="50526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266700" y="950595"/>
            <a:ext cx="8610600" cy="3771265"/>
          </a:xfrm>
        </p:spPr>
        <p:txBody>
          <a:bodyPr vert="horz" wrap="square" lIns="92075" tIns="46038" rIns="92075" bIns="46038" anchor="t">
            <a:noAutofit/>
          </a:bodyPr>
          <a:lstStyle/>
          <a:p>
            <a:pPr indent="0" fontAlgn="auto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父类 也称为 超类、基类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 也称为 次类、扩展类、派生类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子类并不是父类的一个子集，实际上，一个子类通常比它的父类包含更多的信息和方法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父类的私有数据在该类之外是不可访问的，因此不能在子类中直接使用。但是若父类定义了公共的访问器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修改器，可通过这些公共的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修改器来访问和修改它们。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Clr>
                <a:srgbClr val="7030A0"/>
              </a:buClr>
              <a:buFont typeface="Wingdings" panose="05000000000000000000" charset="0"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 smtClean="0"/>
              <a:t>P</a:t>
            </a:r>
            <a:fld id="{62DCC93C-90AC-48A1-9D9E-CBAB17A9152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n"/>
            </a:pPr>
            <a:r>
              <a:rPr lang="zh-CN" altLang="en-US" sz="2800">
                <a:ea typeface="宋体" panose="02010600030101010101" pitchFamily="2" charset="-122"/>
              </a:rPr>
              <a:t>不是所有的</a:t>
            </a:r>
            <a:r>
              <a:rPr lang="en-US" altLang="zh-CN" sz="2800">
                <a:ea typeface="宋体" panose="02010600030101010101" pitchFamily="2" charset="-122"/>
              </a:rPr>
              <a:t>”is-a”</a:t>
            </a:r>
            <a:r>
              <a:rPr lang="zh-CN" altLang="zh-CN" sz="2800">
                <a:ea typeface="宋体" panose="02010600030101010101" pitchFamily="2" charset="-122"/>
              </a:rPr>
              <a:t>关系都该用继承来建模。</a:t>
            </a:r>
            <a:endParaRPr lang="zh-CN" altLang="zh-CN" sz="2800"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n"/>
            </a:pPr>
            <a:r>
              <a:rPr lang="zh-CN" altLang="zh-CN" sz="2800">
                <a:ea typeface="宋体" panose="02010600030101010101" pitchFamily="2" charset="-122"/>
              </a:rPr>
              <a:t>继承是用来为</a:t>
            </a:r>
            <a:r>
              <a:rPr lang="en-US" altLang="zh-CN" sz="2800">
                <a:ea typeface="宋体" panose="02010600030101010101" pitchFamily="2" charset="-122"/>
              </a:rPr>
              <a:t>“is-a”</a:t>
            </a:r>
            <a:r>
              <a:rPr lang="zh-CN" altLang="en-US" sz="2800">
                <a:ea typeface="宋体" panose="02010600030101010101" pitchFamily="2" charset="-122"/>
              </a:rPr>
              <a:t>关系建模的。</a:t>
            </a:r>
            <a:endParaRPr lang="zh-CN" altLang="en-US" sz="2800"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n"/>
            </a:pPr>
            <a:r>
              <a:rPr lang="zh-CN" altLang="en-US" sz="2800">
                <a:ea typeface="宋体" panose="02010600030101010101" pitchFamily="2" charset="-122"/>
              </a:rPr>
              <a:t>里氏替换原则</a:t>
            </a:r>
            <a:r>
              <a:rPr lang="en-US" altLang="zh-CN" sz="2800">
                <a:ea typeface="宋体" panose="02010600030101010101" pitchFamily="2" charset="-122"/>
              </a:rPr>
              <a:t>(Liskov Substitution Principle LSP)</a:t>
            </a:r>
            <a:r>
              <a:rPr lang="zh-CN" altLang="en-US" sz="2800">
                <a:ea typeface="宋体" panose="02010600030101010101" pitchFamily="2" charset="-122"/>
              </a:rPr>
              <a:t> </a:t>
            </a:r>
            <a:endParaRPr lang="en-US" altLang="zh-CN" sz="2800">
              <a:ea typeface="宋体" panose="02010600030101010101" pitchFamily="2" charset="-122"/>
            </a:endParaRPr>
          </a:p>
          <a:p>
            <a:pPr lvl="1">
              <a:buClr>
                <a:srgbClr val="7030A0"/>
              </a:buClr>
              <a:buFont typeface="Wingdings" panose="05000000000000000000" charset="0"/>
              <a:buChar char="l"/>
            </a:pPr>
            <a:r>
              <a:rPr lang="zh-CN" altLang="en-US" sz="2400">
                <a:ea typeface="宋体" panose="02010600030101010101" pitchFamily="2" charset="-122"/>
              </a:rPr>
              <a:t>任何基类可以出现的地方，子类一定可以出现。 </a:t>
            </a:r>
            <a:r>
              <a:rPr lang="en-US" altLang="zh-CN" sz="2400">
                <a:ea typeface="宋体" panose="02010600030101010101" pitchFamily="2" charset="-122"/>
              </a:rPr>
              <a:t>LSP</a:t>
            </a:r>
            <a:r>
              <a:rPr lang="zh-CN" altLang="en-US" sz="2400">
                <a:ea typeface="宋体" panose="02010600030101010101" pitchFamily="2" charset="-122"/>
              </a:rPr>
              <a:t>是继承复用的基石，只有当子类类可以替换掉基类，软件单位的功能不受到影响时，基类才能真正被复用，而子类也能够在基类的基础上增加新的行为。</a:t>
            </a:r>
            <a:endParaRPr lang="zh-CN" altLang="en-US" sz="2400">
              <a:ea typeface="宋体" panose="02010600030101010101" pitchFamily="2" charset="-122"/>
            </a:endParaRPr>
          </a:p>
          <a:p>
            <a:pPr lvl="1">
              <a:buClr>
                <a:srgbClr val="7030A0"/>
              </a:buClr>
              <a:buFont typeface="Wingdings" panose="05000000000000000000" charset="0"/>
              <a:buChar char="n"/>
            </a:pPr>
            <a:endParaRPr lang="zh-CN" altLang="en-US" sz="2400">
              <a:ea typeface="宋体" panose="02010600030101010101" pitchFamily="2" charset="-122"/>
            </a:endParaRPr>
          </a:p>
          <a:p>
            <a:pPr lvl="0">
              <a:buFont typeface="Wingdings" panose="05000000000000000000" charset="0"/>
              <a:buChar char="n"/>
            </a:pPr>
            <a:r>
              <a:rPr lang="en-US" altLang="zh-CN" sz="2700">
                <a:ea typeface="宋体" panose="02010600030101010101" pitchFamily="2" charset="-122"/>
              </a:rPr>
              <a:t>Java</a:t>
            </a:r>
            <a:r>
              <a:rPr lang="zh-CN" altLang="en-US" sz="2700">
                <a:ea typeface="宋体" panose="02010600030101010101" pitchFamily="2" charset="-122"/>
              </a:rPr>
              <a:t>不允许多重继承，只能单一继承</a:t>
            </a:r>
            <a:endParaRPr lang="zh-CN" altLang="en-US" sz="2700">
              <a:ea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228600" y="79375"/>
            <a:ext cx="7772400" cy="6858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4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</a:t>
            </a:r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</a:t>
            </a:r>
            <a:endParaRPr lang="zh-CN" altLang="en-US" sz="40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96" name="Text Box 3"/>
          <p:cNvSpPr txBox="1"/>
          <p:nvPr/>
        </p:nvSpPr>
        <p:spPr>
          <a:xfrm>
            <a:off x="228600" y="1524000"/>
            <a:ext cx="8686800" cy="8604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父类的构造方法不能被继承，它们被显式或隐式地调用。使用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关键字显式调用</a:t>
            </a:r>
            <a:r>
              <a:rPr lang="zh-CN" altLang="en-US" sz="2600" dirty="0">
                <a:ea typeface="宋体" panose="02010600030101010101" pitchFamily="2" charset="-122"/>
              </a:rPr>
              <a:t>。</a:t>
            </a:r>
            <a:endParaRPr lang="en-US" altLang="zh-CN" sz="2600" dirty="0">
              <a:ea typeface="宋体" panose="02010600030101010101" pitchFamily="2" charset="-122"/>
            </a:endParaRPr>
          </a:p>
        </p:txBody>
      </p:sp>
      <p:sp>
        <p:nvSpPr>
          <p:cNvPr id="8197" name="Text Box 4"/>
          <p:cNvSpPr txBox="1"/>
          <p:nvPr/>
        </p:nvSpPr>
        <p:spPr>
          <a:xfrm>
            <a:off x="716280" y="2477770"/>
            <a:ext cx="7387590" cy="171577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构造方法可用来构造一个类的实例。不像属性和方法，父类的构造方法是不能被子类继承的。它们只能从子类的构造方法中用关键字</a:t>
            </a:r>
            <a:r>
              <a:rPr lang="en-US" altLang="zh-CN" sz="20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调用。如果没有显式使用关键字</a:t>
            </a:r>
            <a:r>
              <a:rPr lang="en-US" altLang="zh-CN" sz="20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，那么将自动调用父类的无参构造方法</a:t>
            </a:r>
            <a:r>
              <a:rPr lang="zh-CN" altLang="en-US" sz="2800" dirty="0">
                <a:ea typeface="宋体" panose="02010600030101010101" pitchFamily="2" charset="-122"/>
              </a:rPr>
              <a:t>。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2420" y="4286885"/>
            <a:ext cx="8545830" cy="2122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lvl="0" indent="-285750">
              <a:lnSpc>
                <a:spcPct val="120000"/>
              </a:lnSpc>
              <a:spcBef>
                <a:spcPct val="50000"/>
              </a:spcBef>
              <a:buClr>
                <a:srgbClr val="7030A0"/>
              </a:buClr>
              <a:buSzTx/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super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是指这个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super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出现的类的父类。这个关键字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super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有以下两种途径：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20000"/>
              </a:lnSpc>
              <a:spcBef>
                <a:spcPct val="50000"/>
              </a:spcBef>
              <a:buClr>
                <a:srgbClr val="7030A0"/>
              </a:buClr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调用父类的构造方法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15975" lvl="1" indent="-358775">
              <a:lnSpc>
                <a:spcPct val="90000"/>
              </a:lnSpc>
              <a:spcBef>
                <a:spcPct val="50000"/>
              </a:spcBef>
              <a:buClr>
                <a:srgbClr val="7030A0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调用父类的方法</a:t>
            </a:r>
            <a:endParaRPr lang="zh-CN" altLang="en-US" sz="2400" dirty="0" err="1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9220" name="Text Box 3"/>
          <p:cNvSpPr txBox="1"/>
          <p:nvPr/>
        </p:nvSpPr>
        <p:spPr>
          <a:xfrm>
            <a:off x="304800" y="990600"/>
            <a:ext cx="8534400" cy="142049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构造方法可以调用重载的构造方法或它的父类的构造方法。如果它们都没有被显式调用，那编译器就会自动地将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作为构造方法的第一条语句。例如：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221" name="Rectangle 5"/>
          <p:cNvSpPr/>
          <p:nvPr/>
        </p:nvSpPr>
        <p:spPr>
          <a:xfrm>
            <a:off x="2514600" y="312896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9222" name="Rectangle 7"/>
          <p:cNvSpPr/>
          <p:nvPr/>
        </p:nvSpPr>
        <p:spPr>
          <a:xfrm>
            <a:off x="2514600" y="305276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9223" name="Object 6"/>
          <p:cNvGraphicFramePr>
            <a:graphicFrameLocks noChangeAspect="1"/>
          </p:cNvGraphicFramePr>
          <p:nvPr/>
        </p:nvGraphicFramePr>
        <p:xfrm>
          <a:off x="468313" y="4645660"/>
          <a:ext cx="807402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4122420" imgH="754380" progId="Word.Picture.8">
                  <p:embed/>
                </p:oleObj>
              </mc:Choice>
              <mc:Fallback>
                <p:oleObj name="" r:id="rId1" imgW="4122420" imgH="75438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313" y="4645660"/>
                        <a:ext cx="8074025" cy="1476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9"/>
          <p:cNvSpPr/>
          <p:nvPr/>
        </p:nvSpPr>
        <p:spPr>
          <a:xfrm>
            <a:off x="0" y="312896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9225" name="Object 8"/>
          <p:cNvGraphicFramePr>
            <a:graphicFrameLocks noChangeAspect="1"/>
          </p:cNvGraphicFramePr>
          <p:nvPr/>
        </p:nvGraphicFramePr>
        <p:xfrm>
          <a:off x="390208" y="2864485"/>
          <a:ext cx="844867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4122420" imgH="603250" progId="Word.Picture.8">
                  <p:embed/>
                </p:oleObj>
              </mc:Choice>
              <mc:Fallback>
                <p:oleObj name="" r:id="rId3" imgW="4122420" imgH="60325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0208" y="2864485"/>
                        <a:ext cx="8448675" cy="123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230505" y="0"/>
            <a:ext cx="7772400" cy="78486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sz="4000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警 告</a:t>
            </a:r>
            <a:endParaRPr lang="en-US" altLang="zh-CN" sz="40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68" name="Text Box 3"/>
          <p:cNvSpPr txBox="1"/>
          <p:nvPr/>
        </p:nvSpPr>
        <p:spPr>
          <a:xfrm>
            <a:off x="468630" y="1331595"/>
            <a:ext cx="8229600" cy="328993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要调用父类的构造方法就必须使用关键字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。在子类中调用父类构造方法的名字会引起一个语法错误。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要求使用关键字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的语句应该是构造方法的第一条语句。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132080" y="197485"/>
            <a:ext cx="3745230" cy="3810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sz="3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构造方法链</a:t>
            </a:r>
            <a:endParaRPr lang="en-US" altLang="zh-CN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2" name="Text Box 3"/>
          <p:cNvSpPr txBox="1"/>
          <p:nvPr/>
        </p:nvSpPr>
        <p:spPr>
          <a:xfrm>
            <a:off x="228600" y="1727200"/>
            <a:ext cx="8686800" cy="479996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public class Faculty extends Employee {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static void main(String[] args) {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new Faculty();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Faculty() {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System.out.println("(4) Faculty's no-arg constructor is invoked");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 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class Employee extends Person {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Employee() {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this("(2) Invoke Employee’s overloaded constructor");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System.out.println("(3) Employee's no-arg constructor is invoked");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 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Employee(String s) {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System.out.println(s);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 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class Person {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Person() {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System.out.println("(1) Person's no-arg constructor is invoked");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</a:t>
            </a:r>
            <a:endParaRPr lang="en-US" altLang="zh-CN" sz="12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2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1200" dirty="0">
              <a:solidFill>
                <a:schemeClr val="bg2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12293" name="Text Box 5"/>
          <p:cNvSpPr txBox="1"/>
          <p:nvPr/>
        </p:nvSpPr>
        <p:spPr>
          <a:xfrm>
            <a:off x="228600" y="917575"/>
            <a:ext cx="8534400" cy="70675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spcBef>
                <a:spcPct val="50000"/>
              </a:spcBef>
              <a:buClrTx/>
              <a:buSzTx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构造一个类的实例时，将会调用沿着继承链的所有父类的构造方法。这就被称为构造方法链（</a:t>
            </a: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constructor chaining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8382000" cy="8382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sz="3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父类没有无参构造方法的影响</a:t>
            </a:r>
            <a:endParaRPr lang="en-US" altLang="zh-CN" sz="3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2" name="Text Box 3"/>
          <p:cNvSpPr txBox="1"/>
          <p:nvPr/>
        </p:nvSpPr>
        <p:spPr>
          <a:xfrm>
            <a:off x="266700" y="2506345"/>
            <a:ext cx="8610600" cy="383095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public class Apple extends Fruit {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457200" lvl="1" indent="45720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public Apple(){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914400" lvl="2" indent="45720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super(“</a:t>
            </a:r>
            <a:r>
              <a:rPr lang="zh-CN" altLang="en-US" sz="1800" b="1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苹果</a:t>
            </a: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”);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457200" lvl="1" indent="45720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1800" b="1" dirty="0">
              <a:solidFill>
                <a:srgbClr val="FF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 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 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class Fruit {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Fruit(String name) {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System.out.println("Fruit's constructor is invoked");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18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2533" name="Text Box 4"/>
          <p:cNvSpPr txBox="1"/>
          <p:nvPr/>
        </p:nvSpPr>
        <p:spPr>
          <a:xfrm>
            <a:off x="346710" y="1299845"/>
            <a:ext cx="82296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从下面程序中找出错误：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350520" y="108585"/>
            <a:ext cx="7772400" cy="6858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sz="3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调用父类的方法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0" name="Text Box 7"/>
          <p:cNvSpPr txBox="1"/>
          <p:nvPr/>
        </p:nvSpPr>
        <p:spPr>
          <a:xfrm>
            <a:off x="228600" y="1295400"/>
            <a:ext cx="86106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可以如下改写</a:t>
            </a:r>
            <a:r>
              <a:rPr lang="en-US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Circle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</a:t>
            </a:r>
            <a:r>
              <a:rPr lang="en-US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printCircle()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581" name="Text Box 9"/>
          <p:cNvSpPr txBox="1"/>
          <p:nvPr/>
        </p:nvSpPr>
        <p:spPr>
          <a:xfrm>
            <a:off x="280035" y="2145665"/>
            <a:ext cx="8686800" cy="15684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public void printCircle() {</a:t>
            </a:r>
            <a:endParaRPr lang="en-US" altLang="zh-CN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  System.out.println("The circle is created " + </a:t>
            </a:r>
            <a:endParaRPr lang="en-US" altLang="zh-CN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    super.getDateCreated() + " and the radius is " + radius);</a:t>
            </a:r>
            <a:endParaRPr lang="en-US" altLang="zh-CN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}</a:t>
            </a:r>
            <a:endParaRPr lang="en-US" altLang="zh-CN" sz="24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367665" y="62865"/>
            <a:ext cx="7772400" cy="7620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声明一个子类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533400" y="1447800"/>
            <a:ext cx="8153400" cy="3912235"/>
          </a:xfrm>
        </p:spPr>
        <p:txBody>
          <a:bodyPr vert="horz" wrap="square" lIns="92075" tIns="46038" rIns="92075" bIns="46038" anchor="t">
            <a:noAutofit/>
          </a:bodyPr>
          <a:lstStyle/>
          <a:p>
            <a:pPr>
              <a:lnSpc>
                <a:spcPct val="9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子类从父类那里继承了它的属性和方法，你也可以：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2005" lvl="2" indent="-34163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添加新属性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2005" lvl="2" indent="-34163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添加新方法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2005" lvl="2" indent="-34163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覆盖父类方法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228600" y="0"/>
            <a:ext cx="7772400" cy="6858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sz="3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重写父类的方法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4" name="Text Box 3"/>
          <p:cNvSpPr txBox="1"/>
          <p:nvPr/>
        </p:nvSpPr>
        <p:spPr>
          <a:xfrm>
            <a:off x="228600" y="1066800"/>
            <a:ext cx="8610600" cy="97726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子类从父类中继承方法。有时，子类需要修改父类中定义的方法的实现，这个操作被称作重写（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method overriding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5605" name="Text Box 4"/>
          <p:cNvSpPr txBox="1"/>
          <p:nvPr/>
        </p:nvSpPr>
        <p:spPr>
          <a:xfrm>
            <a:off x="228600" y="2317115"/>
            <a:ext cx="8686800" cy="270700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public class Circle extends GeometricObject {</a:t>
            </a:r>
            <a:endParaRPr lang="en-US" altLang="zh-CN" sz="17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// Other methods are omitted</a:t>
            </a:r>
            <a:endParaRPr lang="en-US" altLang="zh-CN" sz="17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7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/** Override the toString method defined in GeometricObject */</a:t>
            </a:r>
            <a:endParaRPr lang="en-US" altLang="zh-CN" sz="17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public String toString() {</a:t>
            </a:r>
            <a:endParaRPr lang="en-US" altLang="zh-CN" sz="17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  return super.toString() + "\nradius is " + radius;</a:t>
            </a:r>
            <a:endParaRPr lang="en-US" altLang="zh-CN" sz="17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  } </a:t>
            </a:r>
            <a:endParaRPr lang="en-US" altLang="zh-CN" sz="17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700" b="1" dirty="0">
                <a:solidFill>
                  <a:schemeClr val="tx1"/>
                </a:solidFill>
                <a:latin typeface="Courier New" panose="02070309020205020404" charset="0"/>
                <a:ea typeface="宋体" panose="02010600030101010101" pitchFamily="2" charset="-122"/>
              </a:rPr>
              <a:t>}</a:t>
            </a:r>
            <a:endParaRPr lang="en-US" altLang="zh-CN" sz="1700" b="1" dirty="0">
              <a:solidFill>
                <a:schemeClr val="tx1"/>
              </a:solidFill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26628" name="Text Box 3"/>
          <p:cNvSpPr txBox="1"/>
          <p:nvPr/>
        </p:nvSpPr>
        <p:spPr>
          <a:xfrm>
            <a:off x="153670" y="4679950"/>
            <a:ext cx="8382000" cy="186372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仅当实例方法是可访问时，它才能被重写。这样，因为私有方法在它的类本身以外是不能访问的，所以不能覆盖它。如果子类中定义的方法在父类中是私有的，那么这两个方法完全没有关系</a:t>
            </a:r>
            <a:r>
              <a:rPr lang="zh-CN" altLang="en-US" sz="2400" dirty="0">
                <a:ea typeface="宋体" panose="02010600030101010101" pitchFamily="2" charset="-122"/>
              </a:rPr>
              <a:t>。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316230" y="0"/>
            <a:ext cx="7772400" cy="6858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2" name="Text Box 3"/>
          <p:cNvSpPr txBox="1"/>
          <p:nvPr/>
        </p:nvSpPr>
        <p:spPr>
          <a:xfrm>
            <a:off x="381000" y="1447800"/>
            <a:ext cx="8382000" cy="388048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与实例方法一样，静态方法也可以被继承。但是，静态方法不能被重写。如果父类中定义的静态方法在子类中被重新定义，那么定义在父类中的静态方法将被隐藏。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SzTx/>
              <a:buFont typeface="Wingdings" panose="05000000000000000000" charset="0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可以用父类名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静态方法名 调用隐藏的静态方法。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222250" y="0"/>
            <a:ext cx="7772400" cy="6096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重写和重载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6" name="Rectangle 5"/>
          <p:cNvSpPr/>
          <p:nvPr/>
        </p:nvSpPr>
        <p:spPr>
          <a:xfrm>
            <a:off x="2286000" y="3162300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8677" name="Rectangle 7"/>
          <p:cNvSpPr/>
          <p:nvPr/>
        </p:nvSpPr>
        <p:spPr>
          <a:xfrm>
            <a:off x="0" y="2354263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8678" name="Rectangle 10"/>
          <p:cNvSpPr/>
          <p:nvPr/>
        </p:nvSpPr>
        <p:spPr>
          <a:xfrm>
            <a:off x="0" y="2244725"/>
            <a:ext cx="9144000" cy="0"/>
          </a:xfrm>
          <a:prstGeom prst="rect">
            <a:avLst/>
          </a:prstGeom>
          <a:noFill/>
          <a:ln w="12700">
            <a:noFill/>
          </a:ln>
        </p:spPr>
        <p:txBody>
          <a:bodyPr wrap="none" anchor="ctr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28679" name="Object 9"/>
          <p:cNvGraphicFramePr>
            <a:graphicFrameLocks noChangeAspect="1"/>
          </p:cNvGraphicFramePr>
          <p:nvPr/>
        </p:nvGraphicFramePr>
        <p:xfrm>
          <a:off x="0" y="1143000"/>
          <a:ext cx="9144000" cy="409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" r:id="rId1" imgW="5757545" imgH="2150110" progId="Word.Picture.8">
                  <p:embed/>
                </p:oleObj>
              </mc:Choice>
              <mc:Fallback>
                <p:oleObj name="" r:id="rId1" imgW="5757545" imgH="215011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1143000"/>
                        <a:ext cx="9144000" cy="409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838200"/>
          </a:xfrm>
        </p:spPr>
        <p:txBody>
          <a:bodyPr vert="horz" wrap="square" lIns="92075" tIns="46038" rIns="92075" bIns="46038" anchor="ctr"/>
          <a:lstStyle/>
          <a:p>
            <a:r>
              <a:rPr lang="en-US" altLang="zh-CN" b="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Object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类和它的方法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052435" cy="2069465"/>
          </a:xfrm>
        </p:spPr>
        <p:txBody>
          <a:bodyPr vert="horz" wrap="square" lIns="92075" tIns="46038" rIns="92075" bIns="46038" anchor="t">
            <a:normAutofit/>
          </a:bodyPr>
          <a:lstStyle/>
          <a:p>
            <a:pPr>
              <a:lnSpc>
                <a:spcPct val="120000"/>
              </a:lnSpc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中的每个类都源于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java.lang.Object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类。如果在定义一个类时没有指定继承性，那么这个类的父类就被默认是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Object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6350" y="3768725"/>
          <a:ext cx="91376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" r:id="rId1" imgW="4752340" imgH="553085" progId="Word.Picture.8">
                  <p:embed/>
                </p:oleObj>
              </mc:Choice>
              <mc:Fallback>
                <p:oleObj name="" r:id="rId1" imgW="4752340" imgH="553085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50" y="3768725"/>
                        <a:ext cx="913765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none" lIns="92075" tIns="46038" rIns="92075" bIns="46038" anchor="ctr"/>
          <a:lstStyle/>
          <a:p>
            <a:pPr marL="0" indent="0" algn="r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ea typeface="宋体" panose="02010600030101010101" pitchFamily="2" charset="-122"/>
              </a:rPr>
            </a:fld>
            <a:endParaRPr lang="en-US" altLang="zh-CN" sz="1400" dirty="0"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135890" y="0"/>
            <a:ext cx="7772400" cy="685800"/>
          </a:xfrm>
        </p:spPr>
        <p:txBody>
          <a:bodyPr vert="horz" wrap="square" lIns="92075" tIns="46038" rIns="92075" bIns="46038" anchor="ctr"/>
          <a:lstStyle/>
          <a:p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Object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toString()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228600" y="1066800"/>
            <a:ext cx="8317865" cy="1676400"/>
          </a:xfrm>
        </p:spPr>
        <p:txBody>
          <a:bodyPr vert="horz" wrap="square" lIns="92075" tIns="46038" rIns="92075" bIns="46038" anchor="t">
            <a:normAutofit fontScale="97500"/>
          </a:bodyPr>
          <a:lstStyle/>
          <a:p>
            <a:pPr>
              <a:lnSpc>
                <a:spcPct val="120000"/>
              </a:lnSpc>
              <a:spcBef>
                <a:spcPct val="75000"/>
              </a:spcBef>
              <a:buClr>
                <a:srgbClr val="7030A0"/>
              </a:buClr>
              <a:buFont typeface="Wingdings" panose="05000000000000000000" charset="0"/>
              <a:buChar char="n"/>
            </a:pPr>
            <a:r>
              <a:rPr lang="zh-CN" altLang="en-US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调用一个对象的</a:t>
            </a:r>
            <a:r>
              <a:rPr lang="en-US" altLang="zh-CN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toString()</a:t>
            </a:r>
            <a:r>
              <a:rPr lang="zh-CN" altLang="en-US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会返回一个描述该对象的字符串。它的默认实现会返回一个由该对象所属的类名、</a:t>
            </a:r>
            <a:r>
              <a:rPr lang="en-US" altLang="zh-CN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</a:t>
            </a:r>
            <a:r>
              <a:rPr lang="zh-CN" altLang="en-US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符合</a:t>
            </a:r>
            <a:r>
              <a:rPr lang="en-US" altLang="zh-CN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(@)</a:t>
            </a:r>
            <a:r>
              <a:rPr lang="zh-CN" altLang="en-US" sz="266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以及一个表示这个对象的数组成的字符串。</a:t>
            </a:r>
            <a:endParaRPr lang="en-US" altLang="zh-CN" sz="266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725" name="Rectangle 4"/>
          <p:cNvSpPr/>
          <p:nvPr/>
        </p:nvSpPr>
        <p:spPr>
          <a:xfrm>
            <a:off x="762635" y="2743200"/>
            <a:ext cx="7239000" cy="1066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宋体" panose="02010600030101010101" pitchFamily="2" charset="-122"/>
              </a:rPr>
              <a:t>Loan loan = new Loan();</a:t>
            </a:r>
            <a:endParaRPr lang="en-US" altLang="zh-CN" sz="28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800" b="1" dirty="0">
                <a:solidFill>
                  <a:schemeClr val="tx1"/>
                </a:solidFill>
                <a:ea typeface="宋体" panose="02010600030101010101" pitchFamily="2" charset="-122"/>
              </a:rPr>
              <a:t>System.out.println(loan.toString());</a:t>
            </a:r>
            <a:endParaRPr lang="en-US" altLang="zh-CN" sz="28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726" name="Rectangle 5"/>
          <p:cNvSpPr/>
          <p:nvPr/>
        </p:nvSpPr>
        <p:spPr>
          <a:xfrm>
            <a:off x="323215" y="4342130"/>
            <a:ext cx="8185785" cy="211137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>
              <a:lnSpc>
                <a:spcPct val="120000"/>
              </a:lnSpc>
              <a:spcBef>
                <a:spcPct val="75000"/>
              </a:spcBef>
              <a:buFont typeface="Wingdings" panose="05000000000000000000" charset="0"/>
              <a:buChar char="n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这些代码会显示像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Loan@15037e5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这样的字符串。这个信息不是很有用，或者说没有什么信息量。通常，应该覆盖这个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toString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方法，这样，它可以返回一个代表该对象的描述性字符串。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1bef4419-3891-4055-8637-19d95b94e79c"/>
  <p:tag name="COMMONDATA" val="eyJoZGlkIjoiMDQ5MTU2ZTc1NWM5MmVmN2NjNGZiZmE3NjI4MWI4NjAifQ=="/>
</p:tagLst>
</file>

<file path=ppt/theme/theme1.xml><?xml version="1.0" encoding="utf-8"?>
<a:theme xmlns:a="http://schemas.openxmlformats.org/drawingml/2006/main" name="由Nordri®（www.nordridesign.com ） 设计提供">
  <a:themeElements>
    <a:clrScheme name="自定义 56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FFC000"/>
      </a:accent1>
      <a:accent2>
        <a:srgbClr val="6DAA2D"/>
      </a:accent2>
      <a:accent3>
        <a:srgbClr val="5F5F5F"/>
      </a:accent3>
      <a:accent4>
        <a:srgbClr val="777777"/>
      </a:accent4>
      <a:accent5>
        <a:srgbClr val="B2B2B2"/>
      </a:accent5>
      <a:accent6>
        <a:srgbClr val="DDDDDD"/>
      </a:accent6>
      <a:hlink>
        <a:srgbClr val="0070C0"/>
      </a:hlink>
      <a:folHlink>
        <a:srgbClr val="7030A0"/>
      </a:folHlink>
    </a:clrScheme>
    <a:fontScheme name="Nordri开发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 w="9525">
          <a:noFill/>
        </a:ln>
      </a:spPr>
      <a:bodyPr lIns="92075" tIns="46038" rIns="92075" bIns="46038"/>
      <a:lstStyle>
        <a:defPPr marL="0" lvl="0" indent="0">
          <a:buNone/>
          <a:defRPr lang="en-US" altLang="zh-CN" sz="1600" dirty="0">
            <a:solidFill>
              <a:schemeClr val="bg2"/>
            </a:solidFill>
            <a:latin typeface="Courier New" panose="02070309020205020404" charset="0"/>
            <a:ea typeface="宋体" panose="02010600030101010101" pitchFamily="2" charset="-122"/>
          </a:defRPr>
        </a:defPPr>
      </a:lstStyle>
    </a:spDef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1600" dirty="0" err="1" smtClean="0">
            <a:solidFill>
              <a:prstClr val="black"/>
            </a:solidFill>
            <a:latin typeface="Arial" panose="020B0604020202020204" pitchFamily="34" charset="0"/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3555</Words>
  <Application>WPS 演示</Application>
  <PresentationFormat>全屏显示(4:3)</PresentationFormat>
  <Paragraphs>204</Paragraphs>
  <Slides>18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Courier New</vt:lpstr>
      <vt:lpstr>微软雅黑</vt:lpstr>
      <vt:lpstr>黑体</vt:lpstr>
      <vt:lpstr>Times New Roman</vt:lpstr>
      <vt:lpstr>Calibri</vt:lpstr>
      <vt:lpstr>Wingdings</vt:lpstr>
      <vt:lpstr>Monotype Sorts</vt:lpstr>
      <vt:lpstr>Arial Unicode MS</vt:lpstr>
      <vt:lpstr>由Nordri®（www.nordridesign.com ） 设计提供</vt:lpstr>
      <vt:lpstr>Word.Picture.8</vt:lpstr>
      <vt:lpstr>Word.Picture.8</vt:lpstr>
      <vt:lpstr>Word.Picture.8</vt:lpstr>
      <vt:lpstr>Word.Picture.8</vt:lpstr>
      <vt:lpstr>面向对象程序设计</vt:lpstr>
      <vt:lpstr>格式化字符串</vt:lpstr>
      <vt:lpstr>StringBuilder和StringBuffer</vt:lpstr>
      <vt:lpstr>动 因</vt:lpstr>
      <vt:lpstr>PowerPoint 演示文稿</vt:lpstr>
      <vt:lpstr>PowerPoint 演示文稿</vt:lpstr>
      <vt:lpstr>使用super关键字</vt:lpstr>
      <vt:lpstr>PowerPoint 演示文稿</vt:lpstr>
      <vt:lpstr>警 告</vt:lpstr>
      <vt:lpstr>构造方法链</vt:lpstr>
      <vt:lpstr>父类没有无参构造方法的影响</vt:lpstr>
      <vt:lpstr>调用父类的方法</vt:lpstr>
      <vt:lpstr>声明一个子类</vt:lpstr>
      <vt:lpstr>重写父类的方法</vt:lpstr>
      <vt:lpstr>注意</vt:lpstr>
      <vt:lpstr>重写和重载</vt:lpstr>
      <vt:lpstr>Object类和它的方法</vt:lpstr>
      <vt:lpstr>Object类中的toString()方法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Java程序设计</dc:title>
  <dc:creator>yangrl</dc:creator>
  <dc:description>Nordri® 
专注于有效的信息传递设计
www.nordridesign.com</dc:description>
  <dc:subject>PPT模板/图示</dc:subject>
  <cp:lastModifiedBy>大灰很</cp:lastModifiedBy>
  <cp:revision>611</cp:revision>
  <dcterms:created xsi:type="dcterms:W3CDTF">2017-02-24T02:44:00Z</dcterms:created>
  <dcterms:modified xsi:type="dcterms:W3CDTF">2026-05-19T10:31:37Z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280499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D5.0.6</vt:lpwstr>
  </property>
  <property fmtid="{D5CDD505-2E9C-101B-9397-08002B2CF9AE}" pid="5" name="KSOProductBuildVer">
    <vt:lpwstr>2052-12.1.0.25865</vt:lpwstr>
  </property>
  <property fmtid="{D5CDD505-2E9C-101B-9397-08002B2CF9AE}" pid="6" name="ICV">
    <vt:lpwstr>A4F3E47BC3D64A3A99ABDA00528E6F9F</vt:lpwstr>
  </property>
</Properties>
</file>