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2"/>
  </p:handoutMasterIdLst>
  <p:sldIdLst>
    <p:sldId id="256" r:id="rId3"/>
    <p:sldId id="1392" r:id="rId5"/>
    <p:sldId id="1456" r:id="rId6"/>
    <p:sldId id="1393" r:id="rId7"/>
    <p:sldId id="1394" r:id="rId8"/>
    <p:sldId id="1395" r:id="rId9"/>
    <p:sldId id="1396" r:id="rId10"/>
    <p:sldId id="1397" r:id="rId11"/>
    <p:sldId id="1398" r:id="rId12"/>
    <p:sldId id="1399" r:id="rId13"/>
    <p:sldId id="1400" r:id="rId14"/>
    <p:sldId id="1401" r:id="rId15"/>
    <p:sldId id="1429" r:id="rId16"/>
    <p:sldId id="1403" r:id="rId17"/>
    <p:sldId id="1406" r:id="rId18"/>
    <p:sldId id="1407" r:id="rId19"/>
    <p:sldId id="1410" r:id="rId20"/>
    <p:sldId id="1458" r:id="rId2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5200"/>
    <a:srgbClr val="C06000"/>
    <a:srgbClr val="039ABD"/>
    <a:srgbClr val="1D8DA3"/>
    <a:srgbClr val="099AB7"/>
    <a:srgbClr val="33CCFF"/>
    <a:srgbClr val="CCFFFF"/>
    <a:srgbClr val="F3B10D"/>
    <a:srgbClr val="CCFF66"/>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p:cViewPr varScale="1">
        <p:scale>
          <a:sx n="114" d="100"/>
          <a:sy n="114" d="100"/>
        </p:scale>
        <p:origin x="-1542" y="60"/>
      </p:cViewPr>
      <p:guideLst>
        <p:guide orient="horz" pos="2127"/>
        <p:guide orient="horz" pos="4245"/>
        <p:guide orient="horz" pos="4031"/>
        <p:guide orient="horz" pos="605"/>
        <p:guide pos="2752"/>
        <p:guide pos="5446"/>
        <p:guide pos="301"/>
      </p:guideLst>
    </p:cSldViewPr>
  </p:slideViewPr>
  <p:notesTextViewPr>
    <p:cViewPr>
      <p:scale>
        <a:sx n="1" d="1"/>
        <a:sy n="1" d="1"/>
      </p:scale>
      <p:origin x="0" y="0"/>
    </p:cViewPr>
  </p:notesTextViewPr>
  <p:notesViewPr>
    <p:cSldViewPr>
      <p:cViewPr varScale="1">
        <p:scale>
          <a:sx n="59" d="100"/>
          <a:sy n="59" d="100"/>
        </p:scale>
        <p:origin x="2454" y="24"/>
      </p:cViewPr>
      <p:guideLst>
        <p:guide orient="horz" pos="2836"/>
        <p:guide pos="206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B19548-F454-4331-83C2-8A7F164E39A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E25D8A-A620-4ACE-B1CF-F6E9B44ECD2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CE75B1-D996-41EC-AA92-8E0F9339AE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CBB548-4544-46A5-8423-F94A584A161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headEnd type="none" w="med" len="med"/>
            <a:tailEnd type="none" w="med" len="med"/>
          </a:ln>
        </p:spPr>
      </p:sp>
      <p:sp>
        <p:nvSpPr>
          <p:cNvPr id="6147" name="备注占位符 2"/>
          <p:cNvSpPr>
            <a:spLocks noGrp="1"/>
          </p:cNvSpPr>
          <p:nvPr>
            <p:ph type="body" idx="1"/>
          </p:nvPr>
        </p:nvSpPr>
        <p:spPr>
          <a:xfrm>
            <a:off x="685800" y="4400550"/>
            <a:ext cx="5486400" cy="3600450"/>
          </a:xfrm>
          <a:prstGeom prst="rect">
            <a:avLst/>
          </a:prstGeom>
          <a:noFill/>
          <a:ln w="9525">
            <a:noFill/>
          </a:ln>
        </p:spPr>
        <p:txBody>
          <a:bodyPr/>
          <a:p>
            <a:pPr lvl="0"/>
            <a:r>
              <a:rPr lang="zh-CN" altLang="en-US" dirty="0">
                <a:ea typeface="宋体" panose="02010600030101010101" pitchFamily="2" charset="-122"/>
              </a:rPr>
              <a:t>模版的问题</a:t>
            </a:r>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65"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5074" r="11656" b="3263"/>
          <a:stretch>
            <a:fillRect/>
          </a:stretch>
        </p:blipFill>
        <p:spPr bwMode="auto">
          <a:xfrm flipV="1">
            <a:off x="3111190" y="-1"/>
            <a:ext cx="6057842" cy="685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矩形 11"/>
          <p:cNvSpPr>
            <a:spLocks noChangeArrowheads="1"/>
          </p:cNvSpPr>
          <p:nvPr userDrawn="1"/>
        </p:nvSpPr>
        <p:spPr bwMode="auto">
          <a:xfrm>
            <a:off x="19228" y="6886078"/>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23" name="Rectangle 5">
            <a:hlinkClick r:id="rId3"/>
          </p:cNvPr>
          <p:cNvSpPr txBox="1">
            <a:spLocks noChangeArrowheads="1"/>
          </p:cNvSpPr>
          <p:nvPr userDrawn="1"/>
        </p:nvSpPr>
        <p:spPr bwMode="gray">
          <a:xfrm>
            <a:off x="-17285" y="5876800"/>
            <a:ext cx="3059832" cy="504527"/>
          </a:xfrm>
          <a:prstGeom prst="rect">
            <a:avLst/>
          </a:prstGeom>
          <a:gradFill flip="none" rotWithShape="1">
            <a:gsLst>
              <a:gs pos="0">
                <a:schemeClr val="bg1">
                  <a:alpha val="29000"/>
                </a:schemeClr>
              </a:gs>
              <a:gs pos="100000">
                <a:schemeClr val="bg1">
                  <a:lumMod val="75000"/>
                  <a:alpha val="4800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indent="35560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
        <p:nvSpPr>
          <p:cNvPr id="2" name="标题 1"/>
          <p:cNvSpPr>
            <a:spLocks noGrp="1"/>
          </p:cNvSpPr>
          <p:nvPr userDrawn="1">
            <p:ph type="ctrTitle"/>
          </p:nvPr>
        </p:nvSpPr>
        <p:spPr>
          <a:xfrm>
            <a:off x="468313" y="2132856"/>
            <a:ext cx="6047903" cy="639678"/>
          </a:xfrm>
          <a:prstGeom prst="rect">
            <a:avLst/>
          </a:prstGeom>
        </p:spPr>
        <p:txBody>
          <a:bodyPr>
            <a:noAutofit/>
          </a:bodyPr>
          <a:lstStyle>
            <a:lvl1pPr algn="l">
              <a:defRPr sz="5400" b="1">
                <a:solidFill>
                  <a:schemeClr val="tx1"/>
                </a:solidFill>
                <a:latin typeface="+mj-ea"/>
                <a:ea typeface="+mj-ea"/>
              </a:defRPr>
            </a:lvl1pPr>
          </a:lstStyle>
          <a:p>
            <a:r>
              <a:rPr lang="zh-CN" altLang="en-US" smtClean="0"/>
              <a:t>单击此处编辑母版标题样式</a:t>
            </a:r>
            <a:endParaRPr lang="zh-CN" altLang="en-US" dirty="0"/>
          </a:p>
        </p:txBody>
      </p:sp>
      <p:sp>
        <p:nvSpPr>
          <p:cNvPr id="3" name="副标题 2"/>
          <p:cNvSpPr>
            <a:spLocks noGrp="1"/>
          </p:cNvSpPr>
          <p:nvPr userDrawn="1">
            <p:ph type="subTitle" idx="1" hasCustomPrompt="1"/>
          </p:nvPr>
        </p:nvSpPr>
        <p:spPr>
          <a:xfrm>
            <a:off x="468314" y="2952936"/>
            <a:ext cx="6047292" cy="372244"/>
          </a:xfrm>
          <a:prstGeom prst="rect">
            <a:avLst/>
          </a:prstGeom>
        </p:spPr>
        <p:txBody>
          <a:bodyPr>
            <a:noAutofit/>
          </a:bodyPr>
          <a:lstStyle>
            <a:lvl1pPr marL="0" indent="0" algn="l">
              <a:buNone/>
              <a:defRPr sz="3600">
                <a:solidFill>
                  <a:schemeClr val="tx1"/>
                </a:solidFill>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smtClean="0"/>
              <a:t>单击此处编辑母版标题样式</a:t>
            </a:r>
            <a:endParaRPr lang="zh-CN" altLang="en-US" dirty="0"/>
          </a:p>
        </p:txBody>
      </p:sp>
      <p:sp>
        <p:nvSpPr>
          <p:cNvPr id="3" name="页脚占位符 2"/>
          <p:cNvSpPr>
            <a:spLocks noGrp="1"/>
          </p:cNvSpPr>
          <p:nvPr>
            <p:ph type="ftr" sz="quarter" idx="10"/>
          </p:nvPr>
        </p:nvSpPr>
        <p:spPr/>
        <p:txBody>
          <a:bodyPr/>
          <a:lstStyle/>
          <a:p>
            <a:endParaRPr lang="zh-CN" altLang="en-US" dirty="0"/>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
        <p:nvSpPr>
          <p:cNvPr id="5" name="内容占位符 8"/>
          <p:cNvSpPr>
            <a:spLocks noGrp="1"/>
          </p:cNvSpPr>
          <p:nvPr>
            <p:ph sz="quarter" idx="12" hasCustomPrompt="1"/>
          </p:nvPr>
        </p:nvSpPr>
        <p:spPr>
          <a:xfrm>
            <a:off x="468312" y="981075"/>
            <a:ext cx="8207376" cy="5400675"/>
          </a:xfrm>
        </p:spPr>
        <p:txBody>
          <a:bodyPr/>
          <a:lstStyle>
            <a:lvl1pPr>
              <a:lnSpc>
                <a:spcPct val="120000"/>
              </a:lnSpc>
              <a:buClr>
                <a:srgbClr val="7030A0"/>
              </a:buClr>
              <a:buSzPct val="70000"/>
              <a:buFont typeface="Wingdings" panose="05000000000000000000" pitchFamily="2" charset="2"/>
              <a:buChar char="n"/>
              <a:defRPr sz="2600" baseline="0"/>
            </a:lvl1pPr>
            <a:lvl2pPr marL="742950" indent="-285750">
              <a:buFont typeface="Wingdings" panose="05000000000000000000" pitchFamily="2" charset="2"/>
              <a:buChar char="l"/>
              <a:defRPr sz="2200"/>
            </a:lvl2pPr>
            <a:lvl3pPr>
              <a:defRPr sz="1600"/>
            </a:lvl3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pic>
        <p:nvPicPr>
          <p:cNvPr id="6"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endParaRPr lang="zh-CN" altLang="en-US" dirty="0"/>
          </a:p>
        </p:txBody>
      </p:sp>
      <p:sp>
        <p:nvSpPr>
          <p:cNvPr id="5"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dirty="0"/>
          </a:p>
        </p:txBody>
      </p:sp>
      <p:sp>
        <p:nvSpPr>
          <p:cNvPr id="6"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
        <p:nvSpPr>
          <p:cNvPr id="7"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配色方案说明">
    <p:spTree>
      <p:nvGrpSpPr>
        <p:cNvPr id="1" name=""/>
        <p:cNvGrpSpPr/>
        <p:nvPr/>
      </p:nvGrpSpPr>
      <p:grpSpPr>
        <a:xfrm>
          <a:off x="0" y="0"/>
          <a:ext cx="0" cy="0"/>
          <a:chOff x="0" y="0"/>
          <a:chExt cx="0" cy="0"/>
        </a:xfrm>
      </p:grpSpPr>
      <p:sp>
        <p:nvSpPr>
          <p:cNvPr id="56" name="日期占位符 55"/>
          <p:cNvSpPr>
            <a:spLocks noGrp="1"/>
          </p:cNvSpPr>
          <p:nvPr>
            <p:ph type="dt" sz="half" idx="14"/>
          </p:nvPr>
        </p:nvSpPr>
        <p:spPr/>
        <p:txBody>
          <a:bodyPr/>
          <a:lstStyle/>
          <a:p>
            <a:endParaRPr lang="zh-CN" altLang="en-US"/>
          </a:p>
        </p:txBody>
      </p:sp>
      <p:sp>
        <p:nvSpPr>
          <p:cNvPr id="57" name="页脚占位符 56"/>
          <p:cNvSpPr>
            <a:spLocks noGrp="1"/>
          </p:cNvSpPr>
          <p:nvPr>
            <p:ph type="ftr" sz="quarter" idx="15"/>
          </p:nvPr>
        </p:nvSpPr>
        <p:spPr/>
        <p:txBody>
          <a:bodyPr/>
          <a:lstStyle/>
          <a:p>
            <a:endParaRPr lang="zh-CN" altLang="en-US" dirty="0"/>
          </a:p>
        </p:txBody>
      </p:sp>
      <p:sp>
        <p:nvSpPr>
          <p:cNvPr id="58" name="灯片编号占位符 57"/>
          <p:cNvSpPr>
            <a:spLocks noGrp="1"/>
          </p:cNvSpPr>
          <p:nvPr>
            <p:ph type="sldNum" sz="quarter" idx="16"/>
          </p:nvPr>
        </p:nvSpPr>
        <p:spPr/>
        <p:txBody>
          <a:bodyPr/>
          <a:lstStyle/>
          <a:p>
            <a:r>
              <a:rPr lang="en-US" altLang="zh-CN" smtClean="0"/>
              <a:t>P</a:t>
            </a:r>
            <a:fld id="{62DCC93C-90AC-48A1-9D9E-CBAB17A91522}" type="slidenum">
              <a:rPr lang="zh-CN" altLang="en-US" smtClean="0"/>
            </a:fld>
            <a:endParaRPr lang="zh-CN" altLang="en-US" dirty="0"/>
          </a:p>
        </p:txBody>
      </p:sp>
      <p:grpSp>
        <p:nvGrpSpPr>
          <p:cNvPr id="2" name="组合 1"/>
          <p:cNvGrpSpPr/>
          <p:nvPr userDrawn="1"/>
        </p:nvGrpSpPr>
        <p:grpSpPr>
          <a:xfrm>
            <a:off x="741702" y="1398826"/>
            <a:ext cx="7672274" cy="4811474"/>
            <a:chOff x="468311" y="1227376"/>
            <a:chExt cx="8219055" cy="5154374"/>
          </a:xfrm>
        </p:grpSpPr>
        <p:sp>
          <p:nvSpPr>
            <p:cNvPr id="6" name="矩形 5"/>
            <p:cNvSpPr/>
            <p:nvPr userDrawn="1"/>
          </p:nvSpPr>
          <p:spPr bwMode="auto">
            <a:xfrm>
              <a:off x="7477213"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7" name="矩形 6"/>
            <p:cNvSpPr/>
            <p:nvPr userDrawn="1"/>
          </p:nvSpPr>
          <p:spPr bwMode="auto">
            <a:xfrm>
              <a:off x="3266666"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8" name="矩形 7"/>
            <p:cNvSpPr/>
            <p:nvPr userDrawn="1"/>
          </p:nvSpPr>
          <p:spPr bwMode="auto">
            <a:xfrm>
              <a:off x="468314" y="2816932"/>
              <a:ext cx="2606725"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10" name="左大括号 9"/>
            <p:cNvSpPr/>
            <p:nvPr userDrawn="1"/>
          </p:nvSpPr>
          <p:spPr>
            <a:xfrm rot="5400000">
              <a:off x="4342637" y="-2230069"/>
              <a:ext cx="454784" cy="820343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椭圆 10"/>
            <p:cNvSpPr/>
            <p:nvPr userDrawn="1"/>
          </p:nvSpPr>
          <p:spPr bwMode="auto">
            <a:xfrm>
              <a:off x="468313" y="256490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2" name="椭圆 11"/>
            <p:cNvSpPr/>
            <p:nvPr userDrawn="1"/>
          </p:nvSpPr>
          <p:spPr bwMode="auto">
            <a:xfrm>
              <a:off x="1169203" y="256490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3" name="椭圆 12"/>
            <p:cNvSpPr/>
            <p:nvPr userDrawn="1"/>
          </p:nvSpPr>
          <p:spPr bwMode="auto">
            <a:xfrm>
              <a:off x="1870093" y="256490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椭圆 13"/>
            <p:cNvSpPr/>
            <p:nvPr userDrawn="1"/>
          </p:nvSpPr>
          <p:spPr bwMode="auto">
            <a:xfrm>
              <a:off x="2570983" y="256490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5" name="椭圆 14"/>
            <p:cNvSpPr/>
            <p:nvPr userDrawn="1"/>
          </p:nvSpPr>
          <p:spPr bwMode="auto">
            <a:xfrm>
              <a:off x="3271873" y="256490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6" name="椭圆 15"/>
            <p:cNvSpPr/>
            <p:nvPr userDrawn="1"/>
          </p:nvSpPr>
          <p:spPr bwMode="auto">
            <a:xfrm>
              <a:off x="3972763" y="256490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7" name="椭圆 16"/>
            <p:cNvSpPr/>
            <p:nvPr userDrawn="1"/>
          </p:nvSpPr>
          <p:spPr bwMode="auto">
            <a:xfrm>
              <a:off x="4673653" y="2564904"/>
              <a:ext cx="504056" cy="504056"/>
            </a:xfrm>
            <a:prstGeom prst="ellipse">
              <a:avLst/>
            </a:prstGeom>
            <a:solidFill>
              <a:schemeClr val="accent3"/>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8" name="椭圆 17"/>
            <p:cNvSpPr/>
            <p:nvPr userDrawn="1"/>
          </p:nvSpPr>
          <p:spPr bwMode="auto">
            <a:xfrm>
              <a:off x="5374543" y="2564904"/>
              <a:ext cx="504056" cy="504056"/>
            </a:xfrm>
            <a:prstGeom prst="ellipse">
              <a:avLst/>
            </a:prstGeom>
            <a:solidFill>
              <a:schemeClr val="accent4"/>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9" name="椭圆 18"/>
            <p:cNvSpPr/>
            <p:nvPr userDrawn="1"/>
          </p:nvSpPr>
          <p:spPr bwMode="auto">
            <a:xfrm>
              <a:off x="6075433" y="2564904"/>
              <a:ext cx="504056" cy="504056"/>
            </a:xfrm>
            <a:prstGeom prst="ellipse">
              <a:avLst/>
            </a:prstGeom>
            <a:solidFill>
              <a:schemeClr val="accent5"/>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9</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0" name="椭圆 19"/>
            <p:cNvSpPr/>
            <p:nvPr userDrawn="1"/>
          </p:nvSpPr>
          <p:spPr bwMode="auto">
            <a:xfrm>
              <a:off x="6776323" y="2564904"/>
              <a:ext cx="504056" cy="504056"/>
            </a:xfrm>
            <a:prstGeom prst="ellipse">
              <a:avLst/>
            </a:prstGeom>
            <a:solidFill>
              <a:schemeClr val="accent6"/>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10</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1" name="椭圆 20"/>
            <p:cNvSpPr/>
            <p:nvPr userDrawn="1"/>
          </p:nvSpPr>
          <p:spPr bwMode="auto">
            <a:xfrm>
              <a:off x="7477213" y="256490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2" name="椭圆 21"/>
            <p:cNvSpPr/>
            <p:nvPr userDrawn="1"/>
          </p:nvSpPr>
          <p:spPr bwMode="auto">
            <a:xfrm>
              <a:off x="8178102" y="256490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3" name="左大括号 22"/>
            <p:cNvSpPr/>
            <p:nvPr userDrawn="1"/>
          </p:nvSpPr>
          <p:spPr>
            <a:xfrm rot="5400000">
              <a:off x="3736233"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左大括号 23"/>
            <p:cNvSpPr/>
            <p:nvPr userDrawn="1"/>
          </p:nvSpPr>
          <p:spPr>
            <a:xfrm rot="5400000">
              <a:off x="5887737" y="1050984"/>
              <a:ext cx="227392" cy="255789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左大括号 24"/>
            <p:cNvSpPr/>
            <p:nvPr userDrawn="1"/>
          </p:nvSpPr>
          <p:spPr>
            <a:xfrm rot="5400000">
              <a:off x="7941572"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左大括号 25"/>
            <p:cNvSpPr/>
            <p:nvPr userDrawn="1"/>
          </p:nvSpPr>
          <p:spPr>
            <a:xfrm rot="5400000">
              <a:off x="1605452" y="1079093"/>
              <a:ext cx="227392" cy="250167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左大括号 26"/>
            <p:cNvSpPr/>
            <p:nvPr userDrawn="1"/>
          </p:nvSpPr>
          <p:spPr>
            <a:xfrm rot="5400000" flipH="1">
              <a:off x="4342828" y="632797"/>
              <a:ext cx="415982" cy="81650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内容占位符 4"/>
            <p:cNvSpPr txBox="1"/>
            <p:nvPr userDrawn="1"/>
          </p:nvSpPr>
          <p:spPr>
            <a:xfrm>
              <a:off x="468314" y="5008949"/>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600" b="1" dirty="0">
                  <a:solidFill>
                    <a:schemeClr val="bg1">
                      <a:lumMod val="50000"/>
                    </a:schemeClr>
                  </a:solidFill>
                </a:rPr>
                <a:t>2003</a:t>
              </a:r>
              <a:r>
                <a:rPr lang="zh-CN" altLang="en-US" sz="1600" b="1" dirty="0">
                  <a:solidFill>
                    <a:schemeClr val="bg1">
                      <a:lumMod val="50000"/>
                    </a:schemeClr>
                  </a:solidFill>
                </a:rPr>
                <a:t>版本配色方案 </a:t>
              </a:r>
              <a:r>
                <a:rPr lang="zh-CN" altLang="en-US" sz="1600" b="1" dirty="0" smtClean="0"/>
                <a:t>（</a:t>
              </a:r>
              <a:r>
                <a:rPr lang="en-US" altLang="zh-CN" sz="1600" b="1" dirty="0" smtClean="0"/>
                <a:t>8</a:t>
              </a:r>
              <a:r>
                <a:rPr lang="zh-CN" altLang="en-US" sz="1600" b="1" dirty="0" smtClean="0"/>
                <a:t>种配色）</a:t>
              </a:r>
              <a:endParaRPr lang="zh-CN" altLang="en-US" sz="1600" b="1" dirty="0"/>
            </a:p>
          </p:txBody>
        </p:sp>
        <p:sp>
          <p:nvSpPr>
            <p:cNvPr id="29" name="TextBox 28"/>
            <p:cNvSpPr txBox="1"/>
            <p:nvPr userDrawn="1"/>
          </p:nvSpPr>
          <p:spPr>
            <a:xfrm>
              <a:off x="1305749" y="1916832"/>
              <a:ext cx="889987" cy="2779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文字与背景</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TextBox 29"/>
            <p:cNvSpPr txBox="1"/>
            <p:nvPr userDrawn="1"/>
          </p:nvSpPr>
          <p:spPr>
            <a:xfrm>
              <a:off x="3555616"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常用色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1" name="TextBox 30"/>
            <p:cNvSpPr txBox="1"/>
            <p:nvPr userDrawn="1"/>
          </p:nvSpPr>
          <p:spPr>
            <a:xfrm>
              <a:off x="5707120"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辅助色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2" name="TextBox 31"/>
            <p:cNvSpPr txBox="1"/>
            <p:nvPr userDrawn="1"/>
          </p:nvSpPr>
          <p:spPr>
            <a:xfrm>
              <a:off x="7729242" y="1916832"/>
              <a:ext cx="588623"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链接色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3" name="直接连接符 32"/>
            <p:cNvCxnSpPr>
              <a:stCxn id="11" idx="7"/>
              <a:endCxn id="11" idx="3"/>
            </p:cNvCxnSpPr>
            <p:nvPr userDrawn="1"/>
          </p:nvCxnSpPr>
          <p:spPr>
            <a:xfrm flipH="1">
              <a:off x="54213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直接连接符 33"/>
            <p:cNvCxnSpPr>
              <a:stCxn id="12" idx="7"/>
              <a:endCxn id="12" idx="3"/>
            </p:cNvCxnSpPr>
            <p:nvPr userDrawn="1"/>
          </p:nvCxnSpPr>
          <p:spPr>
            <a:xfrm flipH="1">
              <a:off x="124302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接连接符 34"/>
            <p:cNvCxnSpPr>
              <a:stCxn id="13" idx="7"/>
              <a:endCxn id="13" idx="3"/>
            </p:cNvCxnSpPr>
            <p:nvPr userDrawn="1"/>
          </p:nvCxnSpPr>
          <p:spPr>
            <a:xfrm flipH="1">
              <a:off x="194391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直接连接符 35"/>
            <p:cNvCxnSpPr>
              <a:stCxn id="14" idx="7"/>
              <a:endCxn id="14" idx="3"/>
            </p:cNvCxnSpPr>
            <p:nvPr userDrawn="1"/>
          </p:nvCxnSpPr>
          <p:spPr>
            <a:xfrm flipH="1">
              <a:off x="264480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37" name="TextBox 36"/>
            <p:cNvSpPr txBox="1"/>
            <p:nvPr userDrawn="1"/>
          </p:nvSpPr>
          <p:spPr>
            <a:xfrm>
              <a:off x="468314" y="5610918"/>
              <a:ext cx="8203430" cy="770832"/>
            </a:xfrm>
            <a:prstGeom prst="rect">
              <a:avLst/>
            </a:prstGeom>
            <a:solidFill>
              <a:schemeClr val="accent1">
                <a:lumMod val="20000"/>
                <a:lumOff val="80000"/>
                <a:alpha val="27843"/>
              </a:schemeClr>
            </a:solidFill>
            <a:ln w="3175">
              <a:solidFill>
                <a:schemeClr val="bg1">
                  <a:lumMod val="75000"/>
                </a:schemeClr>
              </a:solidFill>
            </a:ln>
          </p:spPr>
          <p:txBody>
            <a:bodyPr wrap="square" rtlCol="0" anchor="ctr">
              <a:noAutofit/>
            </a:bodyPr>
            <a:lstStyle/>
            <a:p>
              <a:pPr>
                <a:lnSpc>
                  <a:spcPct val="120000"/>
                </a:lnSpc>
              </a:pPr>
              <a:r>
                <a:rPr lang="zh-CN" altLang="en-US"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配色规则：</a:t>
              </a:r>
              <a:endParaRPr lang="en-US" altLang="zh-CN"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通常情况下，配色方案中的前四种色彩文</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“字与背景色”固定不变。常用色与模板</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/logo/</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企业标准色一致。辅助色可根据对色彩的要求进行调整。链接色可根据需求进行调整。</a:t>
              </a:r>
              <a:endPar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配色方案的编辑：</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07/10</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菜单中 </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颜色</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中修改；</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03</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格式</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幻灯片设计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 </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endPar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38" name="椭圆 37"/>
            <p:cNvSpPr/>
            <p:nvPr userDrawn="1"/>
          </p:nvSpPr>
          <p:spPr bwMode="auto">
            <a:xfrm>
              <a:off x="468313" y="377881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9" name="椭圆 38"/>
            <p:cNvSpPr/>
            <p:nvPr userDrawn="1"/>
          </p:nvSpPr>
          <p:spPr bwMode="auto">
            <a:xfrm>
              <a:off x="1169203" y="377881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椭圆 39"/>
            <p:cNvSpPr/>
            <p:nvPr userDrawn="1"/>
          </p:nvSpPr>
          <p:spPr bwMode="auto">
            <a:xfrm>
              <a:off x="1870093" y="377881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1" name="椭圆 40"/>
            <p:cNvSpPr/>
            <p:nvPr userDrawn="1"/>
          </p:nvSpPr>
          <p:spPr bwMode="auto">
            <a:xfrm>
              <a:off x="2570983" y="377881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42" name="直接连接符 41"/>
            <p:cNvCxnSpPr>
              <a:stCxn id="38" idx="7"/>
              <a:endCxn id="38" idx="3"/>
            </p:cNvCxnSpPr>
            <p:nvPr userDrawn="1"/>
          </p:nvCxnSpPr>
          <p:spPr>
            <a:xfrm flipH="1">
              <a:off x="54213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3" name="直接连接符 42"/>
            <p:cNvCxnSpPr>
              <a:stCxn id="39" idx="7"/>
              <a:endCxn id="39" idx="3"/>
            </p:cNvCxnSpPr>
            <p:nvPr userDrawn="1"/>
          </p:nvCxnSpPr>
          <p:spPr>
            <a:xfrm flipH="1">
              <a:off x="124302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4" name="直接连接符 43"/>
            <p:cNvCxnSpPr>
              <a:stCxn id="40" idx="7"/>
              <a:endCxn id="40" idx="3"/>
            </p:cNvCxnSpPr>
            <p:nvPr userDrawn="1"/>
          </p:nvCxnSpPr>
          <p:spPr>
            <a:xfrm flipH="1">
              <a:off x="194391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5" name="直接连接符 44"/>
            <p:cNvCxnSpPr>
              <a:stCxn id="41" idx="7"/>
              <a:endCxn id="41" idx="3"/>
            </p:cNvCxnSpPr>
            <p:nvPr userDrawn="1"/>
          </p:nvCxnSpPr>
          <p:spPr>
            <a:xfrm flipH="1">
              <a:off x="264480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46" name="椭圆 45"/>
            <p:cNvSpPr/>
            <p:nvPr userDrawn="1"/>
          </p:nvSpPr>
          <p:spPr bwMode="auto">
            <a:xfrm>
              <a:off x="3271873" y="377881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7" name="椭圆 46"/>
            <p:cNvSpPr/>
            <p:nvPr userDrawn="1"/>
          </p:nvSpPr>
          <p:spPr bwMode="auto">
            <a:xfrm>
              <a:off x="3972763" y="377881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8" name="椭圆 47"/>
            <p:cNvSpPr/>
            <p:nvPr userDrawn="1"/>
          </p:nvSpPr>
          <p:spPr bwMode="auto">
            <a:xfrm>
              <a:off x="7477213" y="377881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9" name="椭圆 48"/>
            <p:cNvSpPr/>
            <p:nvPr userDrawn="1"/>
          </p:nvSpPr>
          <p:spPr bwMode="auto">
            <a:xfrm>
              <a:off x="8178102" y="377881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9" name="内容占位符 4"/>
            <p:cNvSpPr txBox="1"/>
            <p:nvPr userDrawn="1"/>
          </p:nvSpPr>
          <p:spPr>
            <a:xfrm>
              <a:off x="468314" y="1227376"/>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600" b="1" dirty="0" smtClean="0">
                  <a:solidFill>
                    <a:schemeClr val="bg1">
                      <a:lumMod val="50000"/>
                    </a:schemeClr>
                  </a:solidFill>
                </a:rPr>
                <a:t>2007/2010</a:t>
              </a:r>
              <a:r>
                <a:rPr lang="zh-CN" altLang="en-US" sz="1600" b="1" dirty="0" smtClean="0">
                  <a:solidFill>
                    <a:schemeClr val="bg1">
                      <a:lumMod val="50000"/>
                    </a:schemeClr>
                  </a:solidFill>
                </a:rPr>
                <a:t>版本配色方案 </a:t>
              </a:r>
              <a:r>
                <a:rPr lang="zh-CN" altLang="en-US" sz="1600" b="1" dirty="0" smtClean="0"/>
                <a:t>（</a:t>
              </a:r>
              <a:r>
                <a:rPr lang="en-US" altLang="zh-CN" sz="1600" b="1" dirty="0" smtClean="0"/>
                <a:t>12</a:t>
              </a:r>
              <a:r>
                <a:rPr lang="zh-CN" altLang="en-US" sz="1600" b="1" dirty="0" smtClean="0"/>
                <a:t>种配色）</a:t>
              </a:r>
              <a:endParaRPr lang="zh-CN" altLang="en-US" sz="1600" b="1" dirty="0"/>
            </a:p>
          </p:txBody>
        </p:sp>
      </p:grpSp>
      <p:sp>
        <p:nvSpPr>
          <p:cNvPr id="3" name="标题 2"/>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23"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4659" r="33230" b="6423"/>
          <a:stretch>
            <a:fillRect/>
          </a:stretch>
        </p:blipFill>
        <p:spPr bwMode="auto">
          <a:xfrm>
            <a:off x="3851921" y="0"/>
            <a:ext cx="52920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13" name="Rectangle 5">
            <a:hlinkClick r:id="rId3"/>
          </p:cNvPr>
          <p:cNvSpPr txBox="1">
            <a:spLocks noChangeArrowheads="1"/>
          </p:cNvSpPr>
          <p:nvPr userDrawn="1"/>
        </p:nvSpPr>
        <p:spPr bwMode="gray">
          <a:xfrm>
            <a:off x="0" y="5886624"/>
            <a:ext cx="3347367" cy="504527"/>
          </a:xfrm>
          <a:prstGeom prst="rect">
            <a:avLst/>
          </a:prstGeom>
          <a:gradFill flip="none" rotWithShape="1">
            <a:gsLst>
              <a:gs pos="100000">
                <a:schemeClr val="bg1">
                  <a:alpha val="49000"/>
                </a:schemeClr>
              </a:gs>
              <a:gs pos="0">
                <a:schemeClr val="accent1">
                  <a:tint val="23500"/>
                  <a:satMod val="160000"/>
                  <a:alpha val="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355600" indent="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8575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28575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858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78867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8650" y="4076700"/>
            <a:ext cx="78867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lvl="0">
              <a:buNone/>
            </a:pPr>
            <a:endParaRPr dirty="0">
              <a:latin typeface="Times New Roman" panose="02020603050405020304" pitchFamily="18" charset="0"/>
            </a:endParaRPr>
          </a:p>
        </p:txBody>
      </p:sp>
      <p:sp>
        <p:nvSpPr>
          <p:cNvPr id="5" name="灯片编号占位符 4"/>
          <p:cNvSpPr>
            <a:spLocks noGrp="1"/>
          </p:cNvSpPr>
          <p:nvPr>
            <p:ph type="sldNum" sz="quarter" idx="11"/>
          </p:nvPr>
        </p:nvSpPr>
        <p:spPr/>
        <p:txBody>
          <a:bodyPr/>
          <a:p>
            <a:pPr lvl="0">
              <a:buNone/>
            </a:pPr>
            <a:fld id="{9A0DB2DC-4C9A-4742-B13C-FB6460FD3503}" type="slidenum">
              <a:rPr lang="en-US" dirty="0">
                <a:latin typeface="Times New Roman" panose="02020603050405020304" pitchFamily="18" charset="0"/>
              </a:rPr>
            </a:fld>
            <a:endParaRPr 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3.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6" name="Picture 5" descr="E:\PAT 图片资源素材\PPT\待整理\精选 0 (13).jpg"/>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rcRect t="5074" r="20205" b="3263"/>
          <a:stretch>
            <a:fillRect/>
          </a:stretch>
        </p:blipFill>
        <p:spPr bwMode="auto">
          <a:xfrm rot="10800000" flipH="1" flipV="1">
            <a:off x="5353149" y="765173"/>
            <a:ext cx="3790851" cy="609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梯形 34"/>
          <p:cNvSpPr/>
          <p:nvPr userDrawn="1"/>
        </p:nvSpPr>
        <p:spPr bwMode="auto">
          <a:xfrm rot="16200000">
            <a:off x="4178903" y="-4199923"/>
            <a:ext cx="786193" cy="9144000"/>
          </a:xfrm>
          <a:prstGeom prst="trapezoid">
            <a:avLst>
              <a:gd name="adj" fmla="val 0"/>
            </a:avLst>
          </a:prstGeom>
          <a:gradFill flip="none" rotWithShape="1">
            <a:gsLst>
              <a:gs pos="73000">
                <a:srgbClr val="FFFF00">
                  <a:lumMod val="0"/>
                  <a:lumOff val="100000"/>
                  <a:alpha val="47000"/>
                </a:srgbClr>
              </a:gs>
              <a:gs pos="90000">
                <a:srgbClr val="039ABD">
                  <a:alpha val="12000"/>
                </a:srgbClr>
              </a:gs>
              <a:gs pos="100000">
                <a:srgbClr val="92D050">
                  <a:lumMod val="0"/>
                  <a:alpha val="0"/>
                </a:srgbClr>
              </a:gs>
              <a:gs pos="47000">
                <a:srgbClr val="92D050">
                  <a:alpha val="0"/>
                </a:srgbClr>
              </a:gs>
              <a:gs pos="9000">
                <a:srgbClr val="FFC000">
                  <a:alpha val="59000"/>
                </a:srgbClr>
              </a:gs>
            </a:gsLst>
            <a:lin ang="5400000" scaled="0"/>
            <a:tileRect/>
          </a:gradFill>
          <a:ln>
            <a:noFill/>
          </a:ln>
          <a:effectLst>
            <a:outerShdw blurRad="381000" dist="114300" dir="5400000" algn="t" rotWithShape="0">
              <a:prstClr val="black">
                <a:alpha val="40000"/>
              </a:prstClr>
            </a:outerShdw>
          </a:effectLst>
        </p:spPr>
        <p:txBody>
          <a:bodyPr vert="horz" wrap="square" lIns="91440" tIns="45720" rIns="91440" bIns="45720" numCol="1" rtlCol="0" anchor="t" anchorCtr="0" compatLnSpc="1"/>
          <a:lstStyle/>
          <a:p>
            <a:pPr algn="ctr"/>
            <a:endParaRPr lang="zh-CN" altLang="en-US"/>
          </a:p>
        </p:txBody>
      </p:sp>
      <p:sp>
        <p:nvSpPr>
          <p:cNvPr id="15" name="矩形 14"/>
          <p:cNvSpPr/>
          <p:nvPr userDrawn="1"/>
        </p:nvSpPr>
        <p:spPr bwMode="auto">
          <a:xfrm>
            <a:off x="0" y="765175"/>
            <a:ext cx="8675688" cy="5616575"/>
          </a:xfrm>
          <a:prstGeom prst="rect">
            <a:avLst/>
          </a:prstGeom>
          <a:solidFill>
            <a:schemeClr val="bg1">
              <a:alpha val="90000"/>
            </a:schemeClr>
          </a:solidFill>
          <a:ln>
            <a:noFill/>
          </a:ln>
        </p:spPr>
        <p:txBody>
          <a:bodyPr vert="horz" wrap="square" lIns="91440" tIns="45720" rIns="91440" bIns="45720" numCol="1" rtlCol="0" anchor="t" anchorCtr="0" compatLnSpc="1"/>
          <a:lstStyle/>
          <a:p>
            <a:pPr algn="ctr"/>
            <a:endParaRPr lang="zh-CN" altLang="en-US"/>
          </a:p>
        </p:txBody>
      </p:sp>
      <p:sp>
        <p:nvSpPr>
          <p:cNvPr id="5" name="页脚占位符 4"/>
          <p:cNvSpPr>
            <a:spLocks noGrp="1"/>
          </p:cNvSpPr>
          <p:nvPr>
            <p:ph type="ftr" sz="quarter" idx="3"/>
          </p:nvPr>
        </p:nvSpPr>
        <p:spPr>
          <a:xfrm>
            <a:off x="3124200" y="6453188"/>
            <a:ext cx="2895600" cy="268287"/>
          </a:xfrm>
          <a:prstGeom prst="rect">
            <a:avLst/>
          </a:prstGeom>
          <a:solidFill>
            <a:srgbClr val="FFFFFF">
              <a:alpha val="69804"/>
            </a:srgbClr>
          </a:solidFill>
        </p:spPr>
        <p:txBody>
          <a:bodyPr vert="horz" lIns="91440" tIns="45720" rIns="91440" bIns="45720" rtlCol="0" anchor="ctr"/>
          <a:lstStyle>
            <a:lvl1pPr algn="ctr">
              <a:defRPr sz="900">
                <a:solidFill>
                  <a:schemeClr val="tx1"/>
                </a:solidFill>
                <a:latin typeface="Arial" panose="020B0604020202020204" pitchFamily="34" charset="0"/>
                <a:cs typeface="Arial" panose="020B0604020202020204" pitchFamily="34" charset="0"/>
              </a:defRPr>
            </a:lvl1pPr>
          </a:lstStyle>
          <a:p>
            <a:endParaRPr lang="zh-CN" altLang="en-US" dirty="0"/>
          </a:p>
        </p:txBody>
      </p:sp>
      <p:sp>
        <p:nvSpPr>
          <p:cNvPr id="14" name="文本占位符 13"/>
          <p:cNvSpPr>
            <a:spLocks noGrp="1"/>
          </p:cNvSpPr>
          <p:nvPr>
            <p:ph type="body" idx="1"/>
          </p:nvPr>
        </p:nvSpPr>
        <p:spPr>
          <a:xfrm flipH="1">
            <a:off x="468313" y="981076"/>
            <a:ext cx="8207375" cy="5400674"/>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10"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a:endParaRPr lang="en-US" altLang="zh-CN" sz="1100" dirty="0">
              <a:solidFill>
                <a:schemeClr val="tx1"/>
              </a:solidFill>
              <a:cs typeface="Arial" panose="020B0604020202020204" pitchFamily="34" charset="0"/>
            </a:endParaRPr>
          </a:p>
        </p:txBody>
      </p:sp>
      <p:sp>
        <p:nvSpPr>
          <p:cNvPr id="7" name="日期占位符 6"/>
          <p:cNvSpPr>
            <a:spLocks noGrp="1"/>
          </p:cNvSpPr>
          <p:nvPr>
            <p:ph type="dt" sz="half" idx="2"/>
          </p:nvPr>
        </p:nvSpPr>
        <p:spPr>
          <a:xfrm>
            <a:off x="6530976" y="6453188"/>
            <a:ext cx="2133600" cy="268287"/>
          </a:xfrm>
          <a:prstGeom prst="rect">
            <a:avLst/>
          </a:prstGeom>
          <a:solidFill>
            <a:srgbClr val="FFFFFF">
              <a:alpha val="69804"/>
            </a:srgbClr>
          </a:solidFill>
        </p:spPr>
        <p:txBody>
          <a:bodyPr vert="horz" lIns="91440" tIns="45720" rIns="91440" bIns="45720" rtlCol="0" anchor="ctr"/>
          <a:lstStyle>
            <a:lvl1pPr algn="r">
              <a:defRPr sz="900">
                <a:solidFill>
                  <a:schemeClr val="tx1"/>
                </a:solidFill>
              </a:defRPr>
            </a:lvl1pPr>
          </a:lstStyle>
          <a:p>
            <a:endParaRPr lang="zh-CN" altLang="en-US"/>
          </a:p>
        </p:txBody>
      </p:sp>
      <p:sp>
        <p:nvSpPr>
          <p:cNvPr id="6" name="灯片编号占位符 5"/>
          <p:cNvSpPr>
            <a:spLocks noGrp="1"/>
          </p:cNvSpPr>
          <p:nvPr>
            <p:ph type="sldNum" sz="quarter" idx="4"/>
          </p:nvPr>
        </p:nvSpPr>
        <p:spPr>
          <a:xfrm>
            <a:off x="468313" y="6453188"/>
            <a:ext cx="1007343" cy="268287"/>
          </a:xfrm>
          <a:prstGeom prst="rect">
            <a:avLst/>
          </a:prstGeom>
          <a:noFill/>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r>
              <a:rPr lang="en-US" altLang="zh-CN" smtClean="0"/>
              <a:t>P</a:t>
            </a:r>
            <a:fld id="{62DCC93C-90AC-48A1-9D9E-CBAB17A91522}" type="slidenum">
              <a:rPr lang="zh-CN" altLang="en-US" smtClean="0"/>
            </a:fld>
            <a:endParaRPr lang="zh-CN" altLang="en-US" dirty="0"/>
          </a:p>
        </p:txBody>
      </p:sp>
      <p:pic>
        <p:nvPicPr>
          <p:cNvPr id="27" name="Picture 2"/>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2"/>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tretch>
            <a:fillRect/>
          </a:stretch>
        </p:blipFill>
        <p:spPr bwMode="auto">
          <a:xfrm>
            <a:off x="0" y="765968"/>
            <a:ext cx="8666164" cy="12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标题占位符 12"/>
          <p:cNvSpPr>
            <a:spLocks noGrp="1"/>
          </p:cNvSpPr>
          <p:nvPr>
            <p:ph type="title"/>
          </p:nvPr>
        </p:nvSpPr>
        <p:spPr>
          <a:xfrm>
            <a:off x="477838" y="188641"/>
            <a:ext cx="7078190" cy="349250"/>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defTabSz="914400" rtl="0" eaLnBrk="1" latinLnBrk="0" hangingPunct="1">
        <a:spcBef>
          <a:spcPct val="0"/>
        </a:spcBef>
        <a:buNone/>
        <a:defRPr sz="2800" b="1" kern="1200">
          <a:solidFill>
            <a:schemeClr val="tx1"/>
          </a:solidFill>
          <a:latin typeface="+mn-lt"/>
          <a:ea typeface="+mj-ea"/>
          <a:cs typeface="+mj-cs"/>
        </a:defRPr>
      </a:lvl1pPr>
    </p:titleStyle>
    <p:body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3.xml"/><Relationship Id="rId2" Type="http://schemas.openxmlformats.org/officeDocument/2006/relationships/image" Target="../media/image9.wmf"/><Relationship Id="rId1"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26390" y="2209165"/>
            <a:ext cx="4479925" cy="639445"/>
          </a:xfrm>
        </p:spPr>
        <p:txBody>
          <a:bodyPr>
            <a:noAutofit/>
          </a:bodyPr>
          <a:lstStyle/>
          <a:p>
            <a:pPr marL="342900" lvl="0" indent="-342900" fontAlgn="base">
              <a:lnSpc>
                <a:spcPct val="110000"/>
              </a:lnSpc>
              <a:spcAft>
                <a:spcPct val="0"/>
              </a:spcAft>
            </a:pPr>
            <a:r>
              <a:rPr lang="zh-CN" altLang="en-US" sz="4000" b="0" u="none" kern="0" dirty="0">
                <a:solidFill>
                  <a:srgbClr val="000000"/>
                </a:solidFill>
                <a:latin typeface="Arial" panose="020B0604020202020204" pitchFamily="34" charset="0"/>
                <a:ea typeface="微软雅黑" panose="020B0503020204020204" pitchFamily="34" charset="-122"/>
              </a:rPr>
              <a:t>面向对象程序设计</a:t>
            </a:r>
            <a:endParaRPr lang="zh-CN" altLang="en-US" sz="4000" b="0" u="none" kern="0" dirty="0">
              <a:solidFill>
                <a:srgbClr val="000000"/>
              </a:solidFill>
              <a:latin typeface="Arial" panose="020B0604020202020204" pitchFamily="34" charset="0"/>
              <a:ea typeface="微软雅黑" panose="020B0503020204020204" pitchFamily="34" charset="-122"/>
            </a:endParaRPr>
          </a:p>
        </p:txBody>
      </p:sp>
      <p:sp>
        <p:nvSpPr>
          <p:cNvPr id="3" name="副标题 2"/>
          <p:cNvSpPr>
            <a:spLocks noGrp="1"/>
          </p:cNvSpPr>
          <p:nvPr>
            <p:ph type="subTitle" idx="1"/>
          </p:nvPr>
        </p:nvSpPr>
        <p:spPr>
          <a:xfrm>
            <a:off x="772160" y="3084830"/>
            <a:ext cx="3589020" cy="1221105"/>
          </a:xfrm>
        </p:spPr>
        <p:txBody>
          <a:bodyPr>
            <a:noAutofit/>
          </a:bodyPr>
          <a:lstStyle/>
          <a:p>
            <a:r>
              <a:rPr lang="zh-CN" altLang="en-US" sz="2800" u="none" dirty="0" smtClean="0">
                <a:solidFill>
                  <a:srgbClr val="000000"/>
                </a:solidFill>
                <a:latin typeface="微软雅黑" panose="020B0503020204020204" pitchFamily="34" charset="-122"/>
              </a:rPr>
              <a:t>第</a:t>
            </a:r>
            <a:r>
              <a:rPr lang="en-US" altLang="zh-CN" sz="2800" u="none" dirty="0" smtClean="0">
                <a:solidFill>
                  <a:srgbClr val="000000"/>
                </a:solidFill>
                <a:latin typeface="微软雅黑" panose="020B0503020204020204" pitchFamily="34" charset="-122"/>
              </a:rPr>
              <a:t>13</a:t>
            </a:r>
            <a:r>
              <a:rPr lang="zh-CN" altLang="en-US" sz="2800" u="none" dirty="0" smtClean="0">
                <a:solidFill>
                  <a:srgbClr val="000000"/>
                </a:solidFill>
                <a:latin typeface="微软雅黑" panose="020B0503020204020204" pitchFamily="34" charset="-122"/>
              </a:rPr>
              <a:t>章 抽象类和接口</a:t>
            </a:r>
            <a:endParaRPr lang="zh-CN" altLang="en-US" sz="2800" u="none" dirty="0" smtClean="0">
              <a:solidFill>
                <a:srgbClr val="000000"/>
              </a:solidFill>
              <a:latin typeface="微软雅黑" panose="020B0503020204020204" pitchFamily="34" charset="-122"/>
            </a:endParaRPr>
          </a:p>
        </p:txBody>
      </p:sp>
      <p:sp>
        <p:nvSpPr>
          <p:cNvPr id="5" name="矩形 4"/>
          <p:cNvSpPr/>
          <p:nvPr/>
        </p:nvSpPr>
        <p:spPr>
          <a:xfrm>
            <a:off x="8172400" y="16351"/>
            <a:ext cx="648072"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123"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124" name="Rectangle 9"/>
          <p:cNvSpPr/>
          <p:nvPr/>
        </p:nvSpPr>
        <p:spPr>
          <a:xfrm>
            <a:off x="0" y="1233488"/>
            <a:ext cx="309880" cy="46037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sp>
        <p:nvSpPr>
          <p:cNvPr id="5125" name="Rectangle 11"/>
          <p:cNvSpPr/>
          <p:nvPr/>
        </p:nvSpPr>
        <p:spPr>
          <a:xfrm>
            <a:off x="0" y="1233488"/>
            <a:ext cx="309880" cy="46037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sp>
        <p:nvSpPr>
          <p:cNvPr id="5126" name="Rectangle 16"/>
          <p:cNvSpPr/>
          <p:nvPr/>
        </p:nvSpPr>
        <p:spPr>
          <a:xfrm>
            <a:off x="0" y="1203325"/>
            <a:ext cx="309880" cy="46037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sp>
        <p:nvSpPr>
          <p:cNvPr id="5127" name="Rectangle 18"/>
          <p:cNvSpPr>
            <a:spLocks noGrp="1"/>
          </p:cNvSpPr>
          <p:nvPr>
            <p:ph type="title"/>
          </p:nvPr>
        </p:nvSpPr>
        <p:spPr/>
        <p:txBody>
          <a:bodyPr vert="horz" wrap="square" lIns="92075" tIns="46038" rIns="92075" bIns="46038" anchor="ctr"/>
          <a:p>
            <a:r>
              <a:rPr lang="zh-CN" altLang="en-US" sz="4000" b="0" dirty="0">
                <a:latin typeface="微软雅黑" panose="020B0503020204020204" pitchFamily="34" charset="-122"/>
                <a:ea typeface="微软雅黑" panose="020B0503020204020204" pitchFamily="34" charset="-122"/>
              </a:rPr>
              <a:t>抽象类和抽象方法</a:t>
            </a:r>
            <a:endParaRPr lang="en-US" altLang="zh-CN" sz="4000" b="0" dirty="0">
              <a:latin typeface="微软雅黑" panose="020B0503020204020204" pitchFamily="34" charset="-122"/>
              <a:ea typeface="微软雅黑" panose="020B0503020204020204" pitchFamily="34" charset="-122"/>
            </a:endParaRPr>
          </a:p>
        </p:txBody>
      </p:sp>
      <p:sp>
        <p:nvSpPr>
          <p:cNvPr id="5132" name="Rectangle 25"/>
          <p:cNvSpPr/>
          <p:nvPr/>
        </p:nvSpPr>
        <p:spPr>
          <a:xfrm>
            <a:off x="0" y="922338"/>
            <a:ext cx="309880" cy="46037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graphicFrame>
        <p:nvGraphicFramePr>
          <p:cNvPr id="5133" name="Object 24"/>
          <p:cNvGraphicFramePr>
            <a:graphicFrameLocks noChangeAspect="1"/>
          </p:cNvGraphicFramePr>
          <p:nvPr/>
        </p:nvGraphicFramePr>
        <p:xfrm>
          <a:off x="0" y="847090"/>
          <a:ext cx="6629400" cy="5445125"/>
        </p:xfrm>
        <a:graphic>
          <a:graphicData uri="http://schemas.openxmlformats.org/presentationml/2006/ole">
            <mc:AlternateContent xmlns:mc="http://schemas.openxmlformats.org/markup-compatibility/2006">
              <mc:Choice xmlns:v="urn:schemas-microsoft-com:vml" Requires="v">
                <p:oleObj spid="_x0000_s3076" name="" r:id="rId1" imgW="5544185" imgH="4544695" progId="Word.Picture.8">
                  <p:embed/>
                </p:oleObj>
              </mc:Choice>
              <mc:Fallback>
                <p:oleObj name="" r:id="rId1" imgW="5544185" imgH="4544695" progId="Word.Picture.8">
                  <p:embed/>
                  <p:pic>
                    <p:nvPicPr>
                      <p:cNvPr id="0" name="图片 3075"/>
                      <p:cNvPicPr/>
                      <p:nvPr/>
                    </p:nvPicPr>
                    <p:blipFill>
                      <a:blip r:embed="rId2"/>
                      <a:stretch>
                        <a:fillRect/>
                      </a:stretch>
                    </p:blipFill>
                    <p:spPr>
                      <a:xfrm>
                        <a:off x="0" y="847090"/>
                        <a:ext cx="6629400" cy="5445125"/>
                      </a:xfrm>
                      <a:prstGeom prst="rect">
                        <a:avLst/>
                      </a:prstGeom>
                      <a:noFill/>
                      <a:ln w="38100">
                        <a:noFill/>
                        <a:miter/>
                      </a:ln>
                    </p:spPr>
                  </p:pic>
                </p:oleObj>
              </mc:Fallback>
            </mc:AlternateContent>
          </a:graphicData>
        </a:graphic>
      </p:graphicFrame>
      <p:sp>
        <p:nvSpPr>
          <p:cNvPr id="2" name="文本框 1"/>
          <p:cNvSpPr txBox="1"/>
          <p:nvPr/>
        </p:nvSpPr>
        <p:spPr>
          <a:xfrm>
            <a:off x="4570730" y="1092835"/>
            <a:ext cx="4065905" cy="681355"/>
          </a:xfrm>
          <a:prstGeom prst="rect">
            <a:avLst/>
          </a:prstGeom>
          <a:noFill/>
        </p:spPr>
        <p:txBody>
          <a:bodyPr wrap="square" rtlCol="0">
            <a:spAutoFit/>
          </a:bodyPr>
          <a:p>
            <a:pPr algn="l">
              <a:lnSpc>
                <a:spcPct val="120000"/>
              </a:lnSpc>
            </a:pPr>
            <a:r>
              <a:rPr lang="en-US" alt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抽象方法:</a:t>
            </a:r>
            <a:r>
              <a:rPr lang="en-US" alt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rPr>
              <a:t>在类中没有方法体的方法，</a:t>
            </a:r>
            <a:r>
              <a:rPr lang="zh-CN" alt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rPr>
              <a:t>使用</a:t>
            </a:r>
            <a:r>
              <a:rPr lang="en-US" alt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rPr>
              <a:t>abstract关键字来修饰该方法</a:t>
            </a:r>
            <a:endParaRPr lang="en-US" alt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框 2"/>
          <p:cNvSpPr txBox="1"/>
          <p:nvPr/>
        </p:nvSpPr>
        <p:spPr>
          <a:xfrm>
            <a:off x="4570730" y="2060575"/>
            <a:ext cx="4065905" cy="975995"/>
          </a:xfrm>
          <a:prstGeom prst="rect">
            <a:avLst/>
          </a:prstGeom>
          <a:noFill/>
        </p:spPr>
        <p:txBody>
          <a:bodyPr wrap="square" rtlCol="0">
            <a:spAutoFit/>
          </a:bodyPr>
          <a:p>
            <a:pPr algn="l">
              <a:lnSpc>
                <a:spcPct val="120000"/>
              </a:lnSpc>
            </a:pPr>
            <a:r>
              <a:rPr lang="en-US" alt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抽象</a:t>
            </a:r>
            <a:r>
              <a:rPr lang="zh-CN" altLang="en-US"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类</a:t>
            </a:r>
            <a:r>
              <a:rPr lang="en-US" alt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a:t>
            </a:r>
            <a:r>
              <a:rPr alt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rPr>
              <a:t>用abstract修饰的类，</a:t>
            </a:r>
            <a:r>
              <a:rPr 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rPr>
              <a:t>抽象类不能创建实例。</a:t>
            </a:r>
            <a:r>
              <a:rPr 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rPr>
              <a:t>包含抽象方法的类必须是抽象类，但抽象中可以没有抽象方法</a:t>
            </a:r>
            <a:endParaRPr lang="zh-CN" sz="1600" dirty="0" err="1" smtClean="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b="0"/>
              <a:t>为什么使用抽象方法</a:t>
            </a:r>
            <a:endParaRPr lang="zh-CN" altLang="en-US" sz="4000" b="0"/>
          </a:p>
        </p:txBody>
      </p:sp>
      <p:sp>
        <p:nvSpPr>
          <p:cNvPr id="3" name="内容占位符 2"/>
          <p:cNvSpPr>
            <a:spLocks noGrp="1"/>
          </p:cNvSpPr>
          <p:nvPr>
            <p:ph sz="quarter" idx="12"/>
          </p:nvPr>
        </p:nvSpPr>
        <p:spPr/>
        <p:txBody>
          <a:bodyPr/>
          <a:p>
            <a:r>
              <a:rPr lang="zh-CN" altLang="en-US"/>
              <a:t>封装了不变部分，扩展可变部分。</a:t>
            </a:r>
            <a:endParaRPr lang="zh-CN" altLang="en-US"/>
          </a:p>
          <a:p>
            <a:pPr lvl="1">
              <a:buClr>
                <a:srgbClr val="7030A0"/>
              </a:buClr>
            </a:pPr>
            <a:r>
              <a:rPr lang="zh-CN" altLang="en-US"/>
              <a:t>把可变部分定义为父类中的抽象方法，便于子类扩展</a:t>
            </a:r>
            <a:endParaRPr lang="zh-CN" altLang="en-US"/>
          </a:p>
          <a:p>
            <a:pPr lvl="1">
              <a:buClr>
                <a:srgbClr val="7030A0"/>
              </a:buClr>
            </a:pPr>
            <a:r>
              <a:rPr lang="zh-CN" altLang="en-US">
                <a:sym typeface="+mn-ea"/>
              </a:rPr>
              <a:t>在父类中实现了公共的部分代码，</a:t>
            </a:r>
            <a:r>
              <a:rPr lang="zh-CN" altLang="en-US"/>
              <a:t>便于代码复用。</a:t>
            </a:r>
            <a:endParaRPr lang="zh-CN" altLang="en-US"/>
          </a:p>
          <a:p>
            <a:pPr lvl="0">
              <a:buClr>
                <a:srgbClr val="7030A0"/>
              </a:buClr>
            </a:pPr>
            <a:r>
              <a:rPr lang="zh-CN" altLang="en-US"/>
              <a:t>模板设计模式</a:t>
            </a:r>
            <a:endParaRPr lang="zh-CN" altLang="en-US"/>
          </a:p>
          <a:p>
            <a:pPr lvl="1">
              <a:buClr>
                <a:srgbClr val="7030A0"/>
              </a:buClr>
            </a:pPr>
            <a:r>
              <a:rPr lang="zh-CN" altLang="en-US"/>
              <a:t>定义一个操作中的算法骨架，而将算法的一些步骤延迟到子类中，使得子类可以不改变该算法结构的情况下重定义该算法的某些特定步骤</a:t>
            </a:r>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pic>
        <p:nvPicPr>
          <p:cNvPr id="5" name="图片 4"/>
          <p:cNvPicPr>
            <a:picLocks noChangeAspect="1"/>
          </p:cNvPicPr>
          <p:nvPr/>
        </p:nvPicPr>
        <p:blipFill>
          <a:blip r:embed="rId1"/>
          <a:stretch>
            <a:fillRect/>
          </a:stretch>
        </p:blipFill>
        <p:spPr>
          <a:xfrm>
            <a:off x="3869690" y="3719830"/>
            <a:ext cx="4143375" cy="273367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171"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172" name="Rectangle 2"/>
          <p:cNvSpPr>
            <a:spLocks noGrp="1"/>
          </p:cNvSpPr>
          <p:nvPr>
            <p:ph type="title"/>
          </p:nvPr>
        </p:nvSpPr>
        <p:spPr>
          <a:xfrm>
            <a:off x="185738" y="179751"/>
            <a:ext cx="7078190" cy="34925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抽象类中的抽象方法</a:t>
            </a:r>
            <a:endParaRPr lang="en-US" altLang="zh-CN" b="0" dirty="0">
              <a:latin typeface="微软雅黑" panose="020B0503020204020204" pitchFamily="34" charset="-122"/>
              <a:ea typeface="微软雅黑" panose="020B0503020204020204" pitchFamily="34" charset="-122"/>
            </a:endParaRPr>
          </a:p>
        </p:txBody>
      </p:sp>
      <p:sp>
        <p:nvSpPr>
          <p:cNvPr id="7173" name="Text Box 3"/>
          <p:cNvSpPr txBox="1"/>
          <p:nvPr/>
        </p:nvSpPr>
        <p:spPr>
          <a:xfrm>
            <a:off x="304800" y="1600200"/>
            <a:ext cx="8305800" cy="340741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lvl="0">
              <a:lnSpc>
                <a:spcPct val="120000"/>
              </a:lnSpc>
              <a:spcBef>
                <a:spcPct val="50000"/>
              </a:spcBef>
              <a:buSzTx/>
              <a:buFont typeface="Wingdings" panose="05000000000000000000" charset="0"/>
              <a:buChar char="n"/>
            </a:pPr>
            <a:r>
              <a:rPr lang="zh-CN" altLang="en-US" sz="2800" dirty="0">
                <a:latin typeface="微软雅黑" panose="020B0503020204020204" pitchFamily="34" charset="-122"/>
                <a:ea typeface="微软雅黑" panose="020B0503020204020204" pitchFamily="34" charset="-122"/>
              </a:rPr>
              <a:t>抽象方法不能包含在非抽象类中。如果抽象父类的子类不能实现所有的抽象方法，那么子类也必须定义为抽象的。</a:t>
            </a:r>
            <a:endParaRPr lang="zh-CN" altLang="en-US" sz="2800" dirty="0">
              <a:latin typeface="微软雅黑" panose="020B0503020204020204" pitchFamily="34" charset="-122"/>
              <a:ea typeface="微软雅黑" panose="020B0503020204020204" pitchFamily="34" charset="-122"/>
            </a:endParaRPr>
          </a:p>
          <a:p>
            <a:pPr lvl="0">
              <a:lnSpc>
                <a:spcPct val="120000"/>
              </a:lnSpc>
              <a:spcBef>
                <a:spcPct val="50000"/>
              </a:spcBef>
              <a:buSzTx/>
              <a:buFont typeface="Wingdings" panose="05000000000000000000" charset="0"/>
              <a:buChar char="n"/>
            </a:pPr>
            <a:r>
              <a:rPr lang="zh-CN" altLang="en-US" sz="2800" dirty="0">
                <a:latin typeface="微软雅黑" panose="020B0503020204020204" pitchFamily="34" charset="-122"/>
                <a:ea typeface="微软雅黑" panose="020B0503020204020204" pitchFamily="34" charset="-122"/>
              </a:rPr>
              <a:t>换句话说，抽象类扩展的非抽象子类中，必须实现所有的抽象方法，即使在子类中都不会用到这些方法。</a:t>
            </a: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195"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196" name="Rectangle 2"/>
          <p:cNvSpPr>
            <a:spLocks noGrp="1"/>
          </p:cNvSpPr>
          <p:nvPr>
            <p:ph type="title"/>
          </p:nvPr>
        </p:nvSpPr>
        <p:spPr/>
        <p:txBody>
          <a:bodyPr vert="horz" wrap="square" lIns="92075" tIns="46038" rIns="92075" bIns="46038" anchor="ctr"/>
          <a:p>
            <a:r>
              <a:rPr lang="zh-CN" altLang="en-US" sz="4000" b="0" dirty="0">
                <a:latin typeface="微软雅黑" panose="020B0503020204020204" pitchFamily="34" charset="-122"/>
                <a:ea typeface="微软雅黑" panose="020B0503020204020204" pitchFamily="34" charset="-122"/>
              </a:rPr>
              <a:t>抽象类不能创建对象</a:t>
            </a:r>
            <a:endParaRPr lang="en-US" altLang="zh-CN" sz="4000" b="0" dirty="0">
              <a:latin typeface="微软雅黑" panose="020B0503020204020204" pitchFamily="34" charset="-122"/>
              <a:ea typeface="微软雅黑" panose="020B0503020204020204" pitchFamily="34" charset="-122"/>
            </a:endParaRPr>
          </a:p>
        </p:txBody>
      </p:sp>
      <p:sp>
        <p:nvSpPr>
          <p:cNvPr id="8197" name="Text Box 3"/>
          <p:cNvSpPr txBox="1"/>
          <p:nvPr/>
        </p:nvSpPr>
        <p:spPr>
          <a:xfrm>
            <a:off x="304800" y="1600200"/>
            <a:ext cx="8154035" cy="3599815"/>
          </a:xfrm>
          <a:prstGeom prst="rect">
            <a:avLst/>
          </a:prstGeom>
          <a:noFill/>
          <a:ln w="12700">
            <a:noFill/>
          </a:ln>
        </p:spPr>
        <p:txBody>
          <a:bodyPr wrap="square">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lvl="0" indent="0">
              <a:lnSpc>
                <a:spcPct val="150000"/>
              </a:lnSpc>
              <a:spcBef>
                <a:spcPts val="0"/>
              </a:spcBef>
              <a:buSzTx/>
              <a:buFont typeface="Wingdings" panose="05000000000000000000" charset="0"/>
              <a:buChar char="n"/>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不能使用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new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操作符来实例化抽象类。但仍然可以定义它的构造方法，这个构造方法被它子类的构造方法中调用。</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lvl="1" indent="0">
              <a:lnSpc>
                <a:spcPct val="150000"/>
              </a:lnSpc>
              <a:spcBef>
                <a:spcPts val="0"/>
              </a:spcBef>
              <a:buSzTx/>
              <a:buFont typeface="Wingdings" panose="05000000000000000000" charset="0"/>
              <a:buChar char="l"/>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GeometricObject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类的构造方法在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Circle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类和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Rectangle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类中被调用。</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219"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220" name="Rectangle 2"/>
          <p:cNvSpPr>
            <a:spLocks noGrp="1"/>
          </p:cNvSpPr>
          <p:nvPr>
            <p:ph type="title"/>
          </p:nvPr>
        </p:nvSpPr>
        <p:spPr/>
        <p:txBody>
          <a:bodyPr vert="horz" wrap="square" lIns="92075" tIns="46038" rIns="92075" bIns="46038" anchor="ctr"/>
          <a:p>
            <a:r>
              <a:rPr lang="zh-CN" altLang="en-US" sz="4000" b="0" dirty="0">
                <a:latin typeface="微软雅黑" panose="020B0503020204020204" pitchFamily="34" charset="-122"/>
                <a:ea typeface="微软雅黑" panose="020B0503020204020204" pitchFamily="34" charset="-122"/>
              </a:rPr>
              <a:t>不包含抽象方法的抽象类</a:t>
            </a:r>
            <a:endParaRPr lang="en-US" altLang="zh-CN" sz="4000" b="0" dirty="0">
              <a:latin typeface="微软雅黑" panose="020B0503020204020204" pitchFamily="34" charset="-122"/>
              <a:ea typeface="微软雅黑" panose="020B0503020204020204" pitchFamily="34" charset="-122"/>
            </a:endParaRPr>
          </a:p>
        </p:txBody>
      </p:sp>
      <p:sp>
        <p:nvSpPr>
          <p:cNvPr id="9221" name="Text Box 3"/>
          <p:cNvSpPr txBox="1"/>
          <p:nvPr/>
        </p:nvSpPr>
        <p:spPr>
          <a:xfrm>
            <a:off x="304800" y="1789430"/>
            <a:ext cx="8534400" cy="245364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lvl="0">
              <a:lnSpc>
                <a:spcPct val="120000"/>
              </a:lnSpc>
              <a:spcBef>
                <a:spcPct val="50000"/>
              </a:spcBef>
              <a:buSzTx/>
              <a:buFont typeface="Wingdings" panose="05000000000000000000" charset="0"/>
              <a:buChar char="n"/>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包含抽象方法的类必须是抽象的。但是，可以定义一个不包含抽象方法的抽象类。在这种情况下，不能使用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new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操作符创建该类的实例。这种类是用来定义新子类的父类的。</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243"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244" name="Rectangle 2"/>
          <p:cNvSpPr>
            <a:spLocks noGrp="1"/>
          </p:cNvSpPr>
          <p:nvPr>
            <p:ph type="title"/>
          </p:nvPr>
        </p:nvSpPr>
        <p:spPr/>
        <p:txBody>
          <a:bodyPr vert="horz" wrap="square" lIns="92075" tIns="46038" rIns="92075" bIns="46038" anchor="ctr"/>
          <a:p>
            <a:r>
              <a:rPr lang="zh-CN" altLang="en-US" sz="4000" b="0" dirty="0">
                <a:latin typeface="微软雅黑" panose="020B0503020204020204" pitchFamily="34" charset="-122"/>
                <a:ea typeface="微软雅黑" panose="020B0503020204020204" pitchFamily="34" charset="-122"/>
              </a:rPr>
              <a:t>抽象类的父类可以是具体的</a:t>
            </a:r>
            <a:endParaRPr lang="en-US" altLang="zh-CN" sz="4000" b="0" dirty="0">
              <a:latin typeface="微软雅黑" panose="020B0503020204020204" pitchFamily="34" charset="-122"/>
              <a:ea typeface="微软雅黑" panose="020B0503020204020204" pitchFamily="34" charset="-122"/>
            </a:endParaRPr>
          </a:p>
        </p:txBody>
      </p:sp>
      <p:sp>
        <p:nvSpPr>
          <p:cNvPr id="10245" name="Text Box 3"/>
          <p:cNvSpPr txBox="1"/>
          <p:nvPr/>
        </p:nvSpPr>
        <p:spPr>
          <a:xfrm>
            <a:off x="304800" y="1828800"/>
            <a:ext cx="8534400" cy="2825115"/>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lvl="0">
              <a:lnSpc>
                <a:spcPct val="120000"/>
              </a:lnSpc>
              <a:spcBef>
                <a:spcPct val="50000"/>
              </a:spcBef>
              <a:buSzTx/>
              <a:buFont typeface="Wingdings" panose="05000000000000000000" charset="0"/>
              <a:buChar char="n"/>
            </a:pPr>
            <a:r>
              <a:rPr lang="zh-CN" altLang="en-US" sz="3600" dirty="0">
                <a:ea typeface="宋体" panose="02010600030101010101" pitchFamily="2" charset="-122"/>
              </a:rPr>
              <a:t>即使子类的父类是具体的，这个子类也可以是抽象的。</a:t>
            </a:r>
            <a:endParaRPr lang="zh-CN" altLang="en-US" sz="3600" dirty="0">
              <a:ea typeface="宋体" panose="02010600030101010101" pitchFamily="2" charset="-122"/>
            </a:endParaRPr>
          </a:p>
          <a:p>
            <a:pPr lvl="1">
              <a:lnSpc>
                <a:spcPct val="120000"/>
              </a:lnSpc>
              <a:spcBef>
                <a:spcPct val="50000"/>
              </a:spcBef>
              <a:buSzTx/>
              <a:buFont typeface="Wingdings" panose="05000000000000000000" charset="0"/>
              <a:buChar char="l"/>
            </a:pPr>
            <a:r>
              <a:rPr lang="zh-CN" altLang="en-US" sz="3150" dirty="0">
                <a:ea typeface="宋体" panose="02010600030101010101" pitchFamily="2" charset="-122"/>
              </a:rPr>
              <a:t>例如：</a:t>
            </a:r>
            <a:r>
              <a:rPr lang="en-US" altLang="zh-CN" sz="3150" dirty="0">
                <a:ea typeface="宋体" panose="02010600030101010101" pitchFamily="2" charset="-122"/>
              </a:rPr>
              <a:t>Object</a:t>
            </a:r>
            <a:r>
              <a:rPr lang="zh-CN" altLang="en-US" sz="3150" dirty="0">
                <a:ea typeface="宋体" panose="02010600030101010101" pitchFamily="2" charset="-122"/>
              </a:rPr>
              <a:t>类是具体的，但它的子类如</a:t>
            </a:r>
            <a:r>
              <a:rPr lang="en-US" altLang="zh-CN" sz="3150" dirty="0">
                <a:ea typeface="宋体" panose="02010600030101010101" pitchFamily="2" charset="-122"/>
              </a:rPr>
              <a:t>GeometricObject</a:t>
            </a:r>
            <a:r>
              <a:rPr lang="zh-CN" altLang="en-US" sz="3150" dirty="0">
                <a:ea typeface="宋体" panose="02010600030101010101" pitchFamily="2" charset="-122"/>
              </a:rPr>
              <a:t>可以是抽象的。</a:t>
            </a:r>
            <a:endParaRPr lang="en-US" altLang="zh-CN" sz="3150" dirty="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267"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268" name="Rectangle 2"/>
          <p:cNvSpPr>
            <a:spLocks noGrp="1"/>
          </p:cNvSpPr>
          <p:nvPr>
            <p:ph type="title"/>
          </p:nvPr>
        </p:nvSpPr>
        <p:spPr/>
        <p:txBody>
          <a:bodyPr vert="horz" wrap="square" lIns="92075" tIns="46038" rIns="92075" bIns="46038" anchor="ctr"/>
          <a:p>
            <a:r>
              <a:rPr lang="zh-CN" altLang="en-US" sz="4000" b="0" dirty="0">
                <a:latin typeface="微软雅黑" panose="020B0503020204020204" pitchFamily="34" charset="-122"/>
                <a:ea typeface="微软雅黑" panose="020B0503020204020204" pitchFamily="34" charset="-122"/>
              </a:rPr>
              <a:t>覆盖具体方法为抽象的</a:t>
            </a:r>
            <a:endParaRPr lang="en-US" altLang="zh-CN" sz="4000" b="0" dirty="0">
              <a:latin typeface="微软雅黑" panose="020B0503020204020204" pitchFamily="34" charset="-122"/>
              <a:ea typeface="微软雅黑" panose="020B0503020204020204" pitchFamily="34" charset="-122"/>
            </a:endParaRPr>
          </a:p>
        </p:txBody>
      </p:sp>
      <p:sp>
        <p:nvSpPr>
          <p:cNvPr id="11269" name="Text Box 3"/>
          <p:cNvSpPr txBox="1"/>
          <p:nvPr/>
        </p:nvSpPr>
        <p:spPr>
          <a:xfrm>
            <a:off x="533400" y="1306830"/>
            <a:ext cx="8159750" cy="3784600"/>
          </a:xfrm>
          <a:prstGeom prst="rect">
            <a:avLst/>
          </a:prstGeom>
          <a:noFill/>
          <a:ln w="12700">
            <a:noFill/>
          </a:ln>
        </p:spPr>
        <p:txBody>
          <a:bodyPr wrap="square">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lvl="0">
              <a:lnSpc>
                <a:spcPct val="150000"/>
              </a:lnSpc>
              <a:spcBef>
                <a:spcPts val="0"/>
              </a:spcBef>
              <a:buSzTx/>
              <a:buFont typeface="Wingdings" panose="05000000000000000000" charset="0"/>
              <a:buChar char="n"/>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子类可以覆盖父类的方法并将它定义为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abstract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。这是很少见的，但是它在当父类的方法实现在子类中变得不合法时是很有用的。在这种情况下，子类必须被定义为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abstract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291"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292" name="Rectangle 2"/>
          <p:cNvSpPr>
            <a:spLocks noGrp="1"/>
          </p:cNvSpPr>
          <p:nvPr>
            <p:ph type="title"/>
          </p:nvPr>
        </p:nvSpPr>
        <p:spPr>
          <a:xfrm>
            <a:off x="100013" y="188641"/>
            <a:ext cx="7078190" cy="349250"/>
          </a:xfrm>
        </p:spPr>
        <p:txBody>
          <a:bodyPr vert="horz" wrap="square" lIns="92075" tIns="46038" rIns="92075" bIns="46038" anchor="ctr"/>
          <a:p>
            <a:r>
              <a:rPr lang="zh-CN" altLang="en-US" sz="4000" b="0" dirty="0">
                <a:latin typeface="微软雅黑" panose="020B0503020204020204" pitchFamily="34" charset="-122"/>
                <a:ea typeface="微软雅黑" panose="020B0503020204020204" pitchFamily="34" charset="-122"/>
              </a:rPr>
              <a:t>抽象类用作数据类型</a:t>
            </a:r>
            <a:endParaRPr lang="en-US" altLang="zh-CN" sz="4000" b="0" dirty="0">
              <a:latin typeface="微软雅黑" panose="020B0503020204020204" pitchFamily="34" charset="-122"/>
              <a:ea typeface="微软雅黑" panose="020B0503020204020204" pitchFamily="34" charset="-122"/>
            </a:endParaRPr>
          </a:p>
        </p:txBody>
      </p:sp>
      <p:sp>
        <p:nvSpPr>
          <p:cNvPr id="12293" name="Text Box 3"/>
          <p:cNvSpPr txBox="1"/>
          <p:nvPr/>
        </p:nvSpPr>
        <p:spPr>
          <a:xfrm>
            <a:off x="228600" y="1295400"/>
            <a:ext cx="8686800" cy="3451225"/>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lvl="0">
              <a:lnSpc>
                <a:spcPct val="120000"/>
              </a:lnSpc>
              <a:spcBef>
                <a:spcPct val="50000"/>
              </a:spcBef>
              <a:buSzTx/>
              <a:buFont typeface="Wingdings" panose="05000000000000000000" charset="0"/>
              <a:buChar char="n"/>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不能使用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new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操作符从一个抽象类创建一个实例，但是抽象类可以被用作一种数据类型。</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spcBef>
                <a:spcPct val="50000"/>
              </a:spcBef>
              <a:buSzTx/>
              <a:buFont typeface="Wingdings" panose="05000000000000000000" charset="0"/>
              <a:buChar char="l"/>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例如下面的语句创建一个元素是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GeometricObject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类型的数组，这个语句是正确的：</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a:spcBef>
                <a:spcPct val="50000"/>
              </a:spcBef>
              <a:buSzTx/>
              <a:buFont typeface="Wingdings" panose="05000000000000000000" charset="0"/>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GeometricObject[] geo = new    GeometricObject[10]</a:t>
            </a:r>
            <a:r>
              <a:rPr lang="en-US" altLang="zh-CN" sz="2400" dirty="0">
                <a:ea typeface="宋体" panose="02010600030101010101" pitchFamily="2" charset="-122"/>
              </a:rPr>
              <a:t>;</a:t>
            </a:r>
            <a:endParaRPr lang="en-US" altLang="zh-CN" sz="2400" dirty="0">
              <a:ea typeface="宋体" panose="02010600030101010101" pitchFamily="2" charset="-122"/>
            </a:endParaRPr>
          </a:p>
          <a:p>
            <a:pPr marL="0" lvl="0" indent="0">
              <a:spcBef>
                <a:spcPct val="50000"/>
              </a:spcBef>
              <a:buSzTx/>
              <a:buFont typeface="Wingdings" panose="05000000000000000000" charset="0"/>
              <a:buNone/>
            </a:pPr>
            <a:r>
              <a:rPr lang="en-US" altLang="zh-CN" sz="2400" dirty="0">
                <a:ea typeface="宋体" panose="02010600030101010101" pitchFamily="2" charset="-122"/>
              </a:rPr>
              <a:t>     geo[0]=new Circle();</a:t>
            </a:r>
            <a:endParaRPr lang="en-US" altLang="zh-CN" sz="2400" dirty="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315"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316" name="Rectangle 2"/>
          <p:cNvSpPr>
            <a:spLocks noGrp="1"/>
          </p:cNvSpPr>
          <p:nvPr>
            <p:ph type="title"/>
          </p:nvPr>
        </p:nvSpPr>
        <p:spPr>
          <a:xfrm>
            <a:off x="65405" y="196850"/>
            <a:ext cx="5755005" cy="349250"/>
          </a:xfrm>
        </p:spPr>
        <p:txBody>
          <a:bodyPr vert="horz" wrap="square" lIns="92075" tIns="46038" rIns="92075" bIns="46038" anchor="ctr"/>
          <a:p>
            <a:r>
              <a:rPr lang="zh-CN" altLang="en-US" sz="4000" b="0" dirty="0">
                <a:latin typeface="微软雅黑" panose="020B0503020204020204" pitchFamily="34" charset="-122"/>
                <a:ea typeface="微软雅黑" panose="020B0503020204020204" pitchFamily="34" charset="-122"/>
                <a:cs typeface="微软雅黑" panose="020B0503020204020204" pitchFamily="34" charset="-122"/>
              </a:rPr>
              <a:t>示例 抽象的</a:t>
            </a:r>
            <a:r>
              <a:rPr lang="en-US" altLang="zh-CN" sz="4000" b="0" dirty="0">
                <a:latin typeface="微软雅黑" panose="020B0503020204020204" pitchFamily="34" charset="-122"/>
                <a:ea typeface="微软雅黑" panose="020B0503020204020204" pitchFamily="34" charset="-122"/>
                <a:cs typeface="微软雅黑" panose="020B0503020204020204" pitchFamily="34" charset="-122"/>
              </a:rPr>
              <a:t>Number</a:t>
            </a:r>
            <a:r>
              <a:rPr lang="zh-CN" altLang="en-US" sz="4000" b="0" dirty="0">
                <a:latin typeface="微软雅黑" panose="020B0503020204020204" pitchFamily="34" charset="-122"/>
                <a:ea typeface="微软雅黑" panose="020B0503020204020204" pitchFamily="34" charset="-122"/>
                <a:cs typeface="微软雅黑" panose="020B0503020204020204" pitchFamily="34" charset="-122"/>
              </a:rPr>
              <a:t>类</a:t>
            </a:r>
            <a:endParaRPr lang="en-US" altLang="zh-CN" sz="4000" b="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323" name="Picture 12"/>
          <p:cNvPicPr>
            <a:picLocks noChangeAspect="1"/>
          </p:cNvPicPr>
          <p:nvPr>
            <p:custDataLst>
              <p:tags r:id="rId1"/>
            </p:custDataLst>
          </p:nvPr>
        </p:nvPicPr>
        <p:blipFill>
          <a:blip r:embed="rId2"/>
          <a:stretch>
            <a:fillRect/>
          </a:stretch>
        </p:blipFill>
        <p:spPr>
          <a:xfrm>
            <a:off x="-15875" y="1795463"/>
            <a:ext cx="9159875" cy="3014662"/>
          </a:xfrm>
          <a:prstGeom prst="rect">
            <a:avLst/>
          </a:prstGeom>
          <a:noFill/>
          <a:ln w="12700">
            <a:noFill/>
          </a:ln>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4339"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4340" name="Rectangle 2"/>
          <p:cNvSpPr>
            <a:spLocks noGrp="1"/>
          </p:cNvSpPr>
          <p:nvPr>
            <p:ph type="title"/>
          </p:nvPr>
        </p:nvSpPr>
        <p:spPr>
          <a:xfrm>
            <a:off x="51435" y="213995"/>
            <a:ext cx="8925560" cy="34925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抽象</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Calendar</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类和它的</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GregorianCalendar</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子类</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341" name="Rectangle 6"/>
          <p:cNvSpPr/>
          <p:nvPr/>
        </p:nvSpPr>
        <p:spPr>
          <a:xfrm>
            <a:off x="0" y="1689100"/>
            <a:ext cx="309880" cy="46037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graphicFrame>
        <p:nvGraphicFramePr>
          <p:cNvPr id="14342" name="Object 5"/>
          <p:cNvGraphicFramePr>
            <a:graphicFrameLocks noChangeAspect="1"/>
          </p:cNvGraphicFramePr>
          <p:nvPr/>
        </p:nvGraphicFramePr>
        <p:xfrm>
          <a:off x="609600" y="1447800"/>
          <a:ext cx="7918450" cy="5049838"/>
        </p:xfrm>
        <a:graphic>
          <a:graphicData uri="http://schemas.openxmlformats.org/presentationml/2006/ole">
            <mc:AlternateContent xmlns:mc="http://schemas.openxmlformats.org/markup-compatibility/2006">
              <mc:Choice xmlns:v="urn:schemas-microsoft-com:vml" Requires="v">
                <p:oleObj spid="_x0000_s3077" name="" r:id="rId1" imgW="4744085" imgH="3009900" progId="Word.Picture.8">
                  <p:embed/>
                </p:oleObj>
              </mc:Choice>
              <mc:Fallback>
                <p:oleObj name="" r:id="rId1" imgW="4744085" imgH="3009900" progId="Word.Picture.8">
                  <p:embed/>
                  <p:pic>
                    <p:nvPicPr>
                      <p:cNvPr id="0" name="图片 3076"/>
                      <p:cNvPicPr/>
                      <p:nvPr/>
                    </p:nvPicPr>
                    <p:blipFill>
                      <a:blip r:embed="rId2"/>
                      <a:stretch>
                        <a:fillRect/>
                      </a:stretch>
                    </p:blipFill>
                    <p:spPr>
                      <a:xfrm>
                        <a:off x="609600" y="1447800"/>
                        <a:ext cx="7918450" cy="50498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5363"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5365" name="Rectangle 3"/>
          <p:cNvSpPr>
            <a:spLocks noGrp="1"/>
          </p:cNvSpPr>
          <p:nvPr>
            <p:ph type="body" idx="4294967295"/>
          </p:nvPr>
        </p:nvSpPr>
        <p:spPr>
          <a:xfrm>
            <a:off x="0" y="1213485"/>
            <a:ext cx="8534400" cy="5029200"/>
          </a:xfrm>
        </p:spPr>
        <p:txBody>
          <a:bodyPr vert="horz" wrap="square" lIns="92075" tIns="46038" rIns="92075" bIns="46038" anchor="t">
            <a:noAutofit/>
          </a:bodyPr>
          <a:p>
            <a:pPr>
              <a:lnSpc>
                <a:spcPct val="120000"/>
              </a:lnSpc>
              <a:buClr>
                <a:srgbClr val="7030A0"/>
              </a:buClr>
              <a:buFont typeface="Wingdings" panose="05000000000000000000" charset="0"/>
              <a:buChar char="n"/>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java.util.Date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的实例表示以毫秒为单位的特定时刻。</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buClr>
                <a:srgbClr val="7030A0"/>
              </a:buClr>
              <a:buFont typeface="Wingdings" panose="05000000000000000000" charset="0"/>
              <a:buChar char="n"/>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Java.util.Calendar</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是一个抽象基类，可以从一个</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Date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对象中提取详细的日历信息，例如：年、月、日、小时、分钟和秒。</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buClr>
                <a:srgbClr val="7030A0"/>
              </a:buClr>
              <a:buFont typeface="Wingdings" panose="05000000000000000000" charset="0"/>
              <a:buChar char="l"/>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Calendar</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类的子类可以实现特定的日历系统，例如</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Java API</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支持公历类</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java.util.GregorianCalendar</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buClr>
                <a:srgbClr val="7030A0"/>
              </a:buClr>
              <a:buFont typeface="Wingdings" panose="05000000000000000000" charset="0"/>
              <a:buChar char="l"/>
            </a:pPr>
            <a:endParaRPr lang="en-US" altLang="zh-CN" sz="2800" dirty="0">
              <a:latin typeface="微软雅黑" panose="020B0503020204020204" pitchFamily="34" charset="-122"/>
              <a:ea typeface="宋体" panose="02010600030101010101" pitchFamily="2"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p:txBody>
          <a:bodyPr>
            <a:normAutofit fontScale="60000"/>
          </a:bodyPr>
          <a:p>
            <a:pPr marL="171450" lvl="1" indent="-457200">
              <a:buClr>
                <a:srgbClr val="7030A0"/>
              </a:buClr>
              <a:buFont typeface="Wingdings" panose="05000000000000000000" charset="0"/>
              <a:buChar char="n"/>
            </a:pP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使用</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new GregorianCalendar()</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利用当前时间构造一个默认的</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GregorianCalendar</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对象，可以使用</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new GregorianCalendar(year, month, date)</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利用指定的年</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year</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、月</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month</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和日</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date</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构造一个</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GregorianCalendar</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对象。参数</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month</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是基于</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的，即</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就是一月（</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sym typeface="+mn-ea"/>
              </a:rPr>
              <a:t>January</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lvl="1" indent="-457200">
              <a:buClr>
                <a:srgbClr val="7030A0"/>
              </a:buClr>
              <a:buFont typeface="Wingdings" panose="05000000000000000000" charset="0"/>
              <a:buChar char="n"/>
            </a:pP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Calendar类中的</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rPr>
              <a:t> getInstance()静态方法返回一个Calendar的对象</a:t>
            </a:r>
            <a:endParaRPr lang="zh-CN" altLang="en-US" sz="2665"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sym typeface="+mn-ea"/>
              </a:rPr>
              <a:t>jdk</a:t>
            </a: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rPr>
              <a:t>中源码：</a:t>
            </a: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buClr>
                <a:srgbClr val="7030A0"/>
              </a:buClr>
              <a:buNone/>
            </a:pP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rPr>
              <a:t>public static Calendar getInstance()</a:t>
            </a: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buClr>
                <a:srgbClr val="7030A0"/>
              </a:buClr>
              <a:buNone/>
            </a:pP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buClr>
                <a:srgbClr val="7030A0"/>
              </a:buClr>
              <a:buNone/>
            </a:pP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rPr>
              <a:t>        Calendar cal = createCalendar(TimeZone.getDefaultRef(), Locale.getDefault());</a:t>
            </a: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buClr>
                <a:srgbClr val="7030A0"/>
              </a:buClr>
              <a:buNone/>
            </a:pP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rPr>
              <a:t>	cal.sharedZone = true;</a:t>
            </a: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buClr>
                <a:srgbClr val="7030A0"/>
              </a:buClr>
              <a:buNone/>
            </a:pP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rPr>
              <a:t>	return cal;</a:t>
            </a: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buClr>
                <a:srgbClr val="7030A0"/>
              </a:buClr>
              <a:buNone/>
            </a:pPr>
            <a:r>
              <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15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private static Calendar createCalendar(TimeZone zone,  Locale aLocale)</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if ("th".equals(aLocale.getLanguage())</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&amp;&amp; ("TH".equals(aLocale.getCountry()))) {</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return new sun.util.BuddhistCalendar(zone, aLocale);</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 else if ("JP".equals(aLocale.getVariant())</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&amp;&amp; "JP".equals(aLocale.getCountry())</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&amp;&amp; "ja".equals(aLocale.getLanguage())) {</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return new JapaneseImperialCalendar(zone, aLocale);</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	    </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return new GregorianCalendar(zone, aLocale);	</a:t>
            </a:r>
            <a:endParaRPr lang="en-US" altLang="zh-CN" sz="15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buClr>
                <a:srgbClr val="7030A0"/>
              </a:buClr>
              <a:buNone/>
            </a:pPr>
            <a:r>
              <a:rPr lang="en-US" altLang="zh-CN" sz="15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5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7411"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7413" name="Rectangle 3"/>
          <p:cNvSpPr>
            <a:spLocks noGrp="1"/>
          </p:cNvSpPr>
          <p:nvPr>
            <p:ph type="body" idx="4294967295"/>
          </p:nvPr>
        </p:nvSpPr>
        <p:spPr>
          <a:xfrm>
            <a:off x="228600" y="838200"/>
            <a:ext cx="8915400" cy="1524000"/>
          </a:xfrm>
        </p:spPr>
        <p:txBody>
          <a:bodyPr vert="horz" wrap="square" lIns="92075" tIns="46038" rIns="92075" bIns="46038" anchor="t"/>
          <a:p>
            <a:pPr marL="0" indent="0">
              <a:lnSpc>
                <a:spcPct val="120000"/>
              </a:lnSpc>
              <a:buNone/>
            </a:pPr>
            <a:r>
              <a:rPr lang="en-US" altLang="zh-CN" sz="2400" dirty="0">
                <a:ea typeface="宋体" panose="02010600030101010101" pitchFamily="2" charset="-122"/>
              </a:rPr>
              <a:t>Calendar</a:t>
            </a:r>
            <a:r>
              <a:rPr lang="zh-CN" altLang="en-US" sz="2400" dirty="0">
                <a:ea typeface="宋体" panose="02010600030101010101" pitchFamily="2" charset="-122"/>
              </a:rPr>
              <a:t>类中定义的</a:t>
            </a:r>
            <a:r>
              <a:rPr lang="en-US" altLang="zh-CN" sz="2400" dirty="0">
                <a:ea typeface="宋体" panose="02010600030101010101" pitchFamily="2" charset="-122"/>
              </a:rPr>
              <a:t>get(int field)</a:t>
            </a:r>
            <a:r>
              <a:rPr lang="zh-CN" altLang="en-US" sz="2400" dirty="0">
                <a:ea typeface="宋体" panose="02010600030101010101" pitchFamily="2" charset="-122"/>
              </a:rPr>
              <a:t>方法对从</a:t>
            </a:r>
            <a:r>
              <a:rPr lang="en-US" altLang="zh-CN" sz="2400" dirty="0">
                <a:ea typeface="宋体" panose="02010600030101010101" pitchFamily="2" charset="-122"/>
              </a:rPr>
              <a:t>Calendar</a:t>
            </a:r>
            <a:r>
              <a:rPr lang="zh-CN" altLang="en-US" sz="2400" dirty="0">
                <a:ea typeface="宋体" panose="02010600030101010101" pitchFamily="2" charset="-122"/>
              </a:rPr>
              <a:t>对象中提取日期和时间信息是很有用的。域都被定义为常量，如下表所示。</a:t>
            </a:r>
            <a:endParaRPr lang="en-US" altLang="zh-CN" sz="2400" dirty="0">
              <a:ea typeface="宋体" panose="02010600030101010101" pitchFamily="2" charset="-122"/>
            </a:endParaRPr>
          </a:p>
        </p:txBody>
      </p:sp>
      <p:sp>
        <p:nvSpPr>
          <p:cNvPr id="17414" name="Rectangle 5"/>
          <p:cNvSpPr/>
          <p:nvPr/>
        </p:nvSpPr>
        <p:spPr>
          <a:xfrm>
            <a:off x="0" y="1816100"/>
            <a:ext cx="309880" cy="46037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graphicFrame>
        <p:nvGraphicFramePr>
          <p:cNvPr id="17415" name="Object 4"/>
          <p:cNvGraphicFramePr>
            <a:graphicFrameLocks noChangeAspect="1"/>
          </p:cNvGraphicFramePr>
          <p:nvPr/>
        </p:nvGraphicFramePr>
        <p:xfrm>
          <a:off x="685800" y="1828800"/>
          <a:ext cx="7993063" cy="4652963"/>
        </p:xfrm>
        <a:graphic>
          <a:graphicData uri="http://schemas.openxmlformats.org/presentationml/2006/ole">
            <mc:AlternateContent xmlns:mc="http://schemas.openxmlformats.org/markup-compatibility/2006">
              <mc:Choice xmlns:v="urn:schemas-microsoft-com:vml" Requires="v">
                <p:oleObj spid="_x0000_s3076" name="" r:id="rId1" imgW="4765675" imgH="2766060" progId="Word.Picture.8">
                  <p:embed/>
                </p:oleObj>
              </mc:Choice>
              <mc:Fallback>
                <p:oleObj name="" r:id="rId1" imgW="4765675" imgH="2766060" progId="Word.Picture.8">
                  <p:embed/>
                  <p:pic>
                    <p:nvPicPr>
                      <p:cNvPr id="0" name="图片 3075"/>
                      <p:cNvPicPr/>
                      <p:nvPr/>
                    </p:nvPicPr>
                    <p:blipFill>
                      <a:blip r:embed="rId2"/>
                      <a:stretch>
                        <a:fillRect/>
                      </a:stretch>
                    </p:blipFill>
                    <p:spPr>
                      <a:xfrm>
                        <a:off x="685800" y="1828800"/>
                        <a:ext cx="7993063" cy="465296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0483"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0484" name="Rectangle 2"/>
          <p:cNvSpPr>
            <a:spLocks noGrp="1"/>
          </p:cNvSpPr>
          <p:nvPr>
            <p:ph type="title"/>
          </p:nvPr>
        </p:nvSpPr>
        <p:spPr>
          <a:xfrm>
            <a:off x="296863" y="232456"/>
            <a:ext cx="7078190" cy="349250"/>
          </a:xfrm>
        </p:spPr>
        <p:txBody>
          <a:bodyPr vert="horz" wrap="square" lIns="92075" tIns="46038" rIns="92075" bIns="46038" anchor="ctr"/>
          <a:p>
            <a:pPr>
              <a:buNone/>
            </a:pPr>
            <a:r>
              <a:rPr lang="zh-CN" altLang="en-US" sz="4000" b="0" dirty="0">
                <a:latin typeface="微软雅黑" panose="020B0503020204020204" pitchFamily="34" charset="-122"/>
                <a:ea typeface="微软雅黑" panose="020B0503020204020204" pitchFamily="34" charset="-122"/>
              </a:rPr>
              <a:t>接口</a:t>
            </a:r>
            <a:endParaRPr lang="en-US" altLang="zh-CN" sz="4000" b="0" dirty="0">
              <a:latin typeface="微软雅黑" panose="020B0503020204020204" pitchFamily="34" charset="-122"/>
              <a:ea typeface="微软雅黑" panose="020B0503020204020204" pitchFamily="34" charset="-122"/>
            </a:endParaRPr>
          </a:p>
        </p:txBody>
      </p:sp>
      <p:sp>
        <p:nvSpPr>
          <p:cNvPr id="20485" name="Rectangle 3"/>
          <p:cNvSpPr>
            <a:spLocks noGrp="1"/>
          </p:cNvSpPr>
          <p:nvPr>
            <p:ph type="body" idx="4294967295"/>
          </p:nvPr>
        </p:nvSpPr>
        <p:spPr>
          <a:xfrm>
            <a:off x="533400" y="1219200"/>
            <a:ext cx="8112760" cy="4986020"/>
          </a:xfrm>
        </p:spPr>
        <p:txBody>
          <a:bodyPr vert="horz" wrap="square" lIns="92075" tIns="46038" rIns="92075" bIns="46038" anchor="t">
            <a:normAutofit fontScale="90000"/>
          </a:bodyPr>
          <a:p>
            <a:pPr algn="l" fontAlgn="auto">
              <a:lnSpc>
                <a:spcPct val="150000"/>
              </a:lnSpc>
              <a:spcBef>
                <a:spcPts val="0"/>
              </a:spcBef>
              <a:buClr>
                <a:srgbClr val="7030A0"/>
              </a:buClr>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接口（interface）是一种与类相似的结构，它只包含常量和抽象方法。</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50000"/>
              </a:lnSpc>
              <a:spcBef>
                <a:spcPts val="0"/>
              </a:spcBef>
              <a:buClr>
                <a:srgbClr val="7030A0"/>
              </a:buClr>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接口目的是指明相关或者不相关类的多个对象的共同行为。例如指明这些对象是可比较的、可食用的或可克隆的。</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50000"/>
              </a:lnSpc>
              <a:spcBef>
                <a:spcPts val="0"/>
              </a:spcBef>
              <a:buClr>
                <a:srgbClr val="7030A0"/>
              </a:buClr>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在Java中，接口被看作是一种特殊的类。就像常规类一样，每个接口都被编译为一个独立的字节码文件。</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buClr>
                <a:srgbClr val="7030A0"/>
              </a:buClr>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与抽象类相似，不能使用new操作符创建接口的实例，可以使用接口作为变量的数据类型或类型转换的结果等。</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spcBef>
                <a:spcPts val="0"/>
              </a:spcBef>
              <a:buClr>
                <a:srgbClr val="7030A0"/>
              </a:buClr>
              <a:buFont typeface="Wingdings" panose="05000000000000000000" charset="0"/>
              <a:buChar char="n"/>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1507"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1508" name="Rectangle 2"/>
          <p:cNvSpPr>
            <a:spLocks noGrp="1"/>
          </p:cNvSpPr>
          <p:nvPr>
            <p:ph type="title"/>
          </p:nvPr>
        </p:nvSpPr>
        <p:spPr/>
        <p:txBody>
          <a:bodyPr vert="horz" wrap="square" lIns="92075" tIns="46038" rIns="92075" bIns="46038" anchor="ctr"/>
          <a:p>
            <a:pPr>
              <a:buNone/>
            </a:pPr>
            <a:r>
              <a:rPr lang="zh-CN" altLang="en-US" sz="4000" b="0" dirty="0">
                <a:latin typeface="微软雅黑" panose="020B0503020204020204" pitchFamily="34" charset="-122"/>
                <a:ea typeface="微软雅黑" panose="020B0503020204020204" pitchFamily="34" charset="-122"/>
              </a:rPr>
              <a:t>定义接口</a:t>
            </a:r>
            <a:endParaRPr lang="en-US" altLang="zh-CN" sz="4000" b="0" dirty="0">
              <a:latin typeface="微软雅黑" panose="020B0503020204020204" pitchFamily="34" charset="-122"/>
              <a:ea typeface="微软雅黑" panose="020B0503020204020204" pitchFamily="34" charset="-122"/>
            </a:endParaRPr>
          </a:p>
        </p:txBody>
      </p:sp>
      <p:sp>
        <p:nvSpPr>
          <p:cNvPr id="21509" name="Rectangle 3"/>
          <p:cNvSpPr>
            <a:spLocks noGrp="1"/>
          </p:cNvSpPr>
          <p:nvPr>
            <p:ph type="body" idx="4294967295"/>
          </p:nvPr>
        </p:nvSpPr>
        <p:spPr>
          <a:xfrm>
            <a:off x="228600" y="961390"/>
            <a:ext cx="8494395" cy="775970"/>
          </a:xfrm>
        </p:spPr>
        <p:txBody>
          <a:bodyPr vert="horz" wrap="square" lIns="92075" tIns="46038" rIns="92075" bIns="46038" anchor="t"/>
          <a:p>
            <a:pPr marL="0" indent="0">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为了区分接口和类，</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采用下面的语法来定义接口：</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510" name="Rectangle 4"/>
          <p:cNvSpPr/>
          <p:nvPr/>
        </p:nvSpPr>
        <p:spPr>
          <a:xfrm>
            <a:off x="228600" y="1551305"/>
            <a:ext cx="8610600" cy="137668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342900" lvl="0" indent="-342900">
              <a:lnSpc>
                <a:spcPct val="90000"/>
              </a:lnSpc>
              <a:buNone/>
            </a:pPr>
            <a:r>
              <a:rPr lang="en-US" altLang="zh-CN" sz="2400" dirty="0">
                <a:solidFill>
                  <a:schemeClr val="tx1"/>
                </a:solidFill>
                <a:latin typeface="Courier New" panose="02070309020205020404" charset="0"/>
                <a:ea typeface="宋体" panose="02010600030101010101" pitchFamily="2" charset="-122"/>
              </a:rPr>
              <a:t>public interface InterfaceName { </a:t>
            </a:r>
            <a:endParaRPr lang="en-US" altLang="zh-CN" sz="2400" dirty="0">
              <a:solidFill>
                <a:schemeClr val="tx1"/>
              </a:solidFill>
              <a:latin typeface="Courier New" panose="02070309020205020404" charset="0"/>
              <a:ea typeface="宋体" panose="02010600030101010101" pitchFamily="2" charset="-122"/>
            </a:endParaRPr>
          </a:p>
          <a:p>
            <a:pPr marL="342900" lvl="0" indent="-342900">
              <a:lnSpc>
                <a:spcPct val="90000"/>
              </a:lnSpc>
              <a:spcBef>
                <a:spcPct val="0"/>
              </a:spcBef>
              <a:buNone/>
            </a:pPr>
            <a:r>
              <a:rPr lang="en-US" altLang="zh-CN" sz="2400" dirty="0">
                <a:solidFill>
                  <a:schemeClr val="tx1"/>
                </a:solidFill>
                <a:latin typeface="Courier New" panose="02070309020205020404" charset="0"/>
                <a:ea typeface="宋体" panose="02010600030101010101" pitchFamily="2" charset="-122"/>
              </a:rPr>
              <a:t>  constant declarations;</a:t>
            </a:r>
            <a:endParaRPr lang="en-US" altLang="zh-CN" sz="2400" dirty="0">
              <a:solidFill>
                <a:schemeClr val="tx1"/>
              </a:solidFill>
              <a:latin typeface="Courier New" panose="02070309020205020404" charset="0"/>
              <a:ea typeface="宋体" panose="02010600030101010101" pitchFamily="2" charset="-122"/>
            </a:endParaRPr>
          </a:p>
          <a:p>
            <a:pPr marL="342900" lvl="0" indent="-342900">
              <a:lnSpc>
                <a:spcPct val="90000"/>
              </a:lnSpc>
              <a:spcBef>
                <a:spcPct val="0"/>
              </a:spcBef>
              <a:buNone/>
            </a:pPr>
            <a:r>
              <a:rPr lang="en-US" altLang="zh-CN" sz="2400" dirty="0">
                <a:solidFill>
                  <a:schemeClr val="tx1"/>
                </a:solidFill>
                <a:latin typeface="Courier New" panose="02070309020205020404" charset="0"/>
                <a:ea typeface="宋体" panose="02010600030101010101" pitchFamily="2" charset="-122"/>
              </a:rPr>
              <a:t>  method signatures;</a:t>
            </a:r>
            <a:endParaRPr lang="en-US" altLang="zh-CN" sz="2400" dirty="0">
              <a:solidFill>
                <a:schemeClr val="tx1"/>
              </a:solidFill>
              <a:latin typeface="Courier New" panose="02070309020205020404" charset="0"/>
              <a:ea typeface="宋体" panose="02010600030101010101" pitchFamily="2" charset="-122"/>
            </a:endParaRPr>
          </a:p>
          <a:p>
            <a:pPr marL="342900" lvl="0" indent="-342900">
              <a:lnSpc>
                <a:spcPct val="90000"/>
              </a:lnSpc>
              <a:spcBef>
                <a:spcPct val="0"/>
              </a:spcBef>
              <a:buNone/>
            </a:pPr>
            <a:r>
              <a:rPr lang="en-US" altLang="zh-CN" sz="2400" dirty="0">
                <a:solidFill>
                  <a:schemeClr val="tx1"/>
                </a:solidFill>
                <a:latin typeface="Courier New" panose="02070309020205020404" charset="0"/>
                <a:ea typeface="宋体" panose="02010600030101010101" pitchFamily="2" charset="-122"/>
              </a:rPr>
              <a:t>}</a:t>
            </a:r>
            <a:endParaRPr lang="en-US" altLang="zh-CN" sz="2400" dirty="0">
              <a:solidFill>
                <a:schemeClr val="tx1"/>
              </a:solidFill>
              <a:latin typeface="Courier New" panose="02070309020205020404" charset="0"/>
              <a:ea typeface="宋体" panose="02010600030101010101" pitchFamily="2" charset="-122"/>
            </a:endParaRPr>
          </a:p>
        </p:txBody>
      </p:sp>
      <p:sp>
        <p:nvSpPr>
          <p:cNvPr id="21511" name="Rectangle 5"/>
          <p:cNvSpPr/>
          <p:nvPr/>
        </p:nvSpPr>
        <p:spPr>
          <a:xfrm>
            <a:off x="398780" y="2832100"/>
            <a:ext cx="1480185" cy="6096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buNone/>
            </a:pPr>
            <a:r>
              <a:rPr lang="zh-CN" altLang="en-US" sz="2400" dirty="0">
                <a:latin typeface="微软雅黑" panose="020B0503020204020204" pitchFamily="34" charset="-122"/>
                <a:ea typeface="微软雅黑" panose="020B0503020204020204" pitchFamily="34" charset="-122"/>
              </a:rPr>
              <a:t>举例：</a:t>
            </a:r>
            <a:endParaRPr lang="en-US" altLang="zh-CN" sz="2400" dirty="0">
              <a:latin typeface="微软雅黑" panose="020B0503020204020204" pitchFamily="34" charset="-122"/>
              <a:ea typeface="微软雅黑" panose="020B0503020204020204" pitchFamily="34" charset="-122"/>
            </a:endParaRPr>
          </a:p>
        </p:txBody>
      </p:sp>
      <p:sp>
        <p:nvSpPr>
          <p:cNvPr id="21512" name="Rectangle 6"/>
          <p:cNvSpPr/>
          <p:nvPr/>
        </p:nvSpPr>
        <p:spPr>
          <a:xfrm>
            <a:off x="266700" y="3247390"/>
            <a:ext cx="8610600" cy="17526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342900" lvl="0" indent="-342900">
              <a:buNone/>
            </a:pPr>
            <a:r>
              <a:rPr lang="en-US" altLang="zh-CN" sz="2400" dirty="0">
                <a:solidFill>
                  <a:schemeClr val="tx1"/>
                </a:solidFill>
                <a:latin typeface="Courier New" panose="02070309020205020404" charset="0"/>
                <a:ea typeface="宋体" panose="02010600030101010101" pitchFamily="2" charset="-122"/>
              </a:rPr>
              <a:t>public interface Edible {</a:t>
            </a:r>
            <a:endParaRPr lang="en-US" altLang="zh-CN" sz="2400" dirty="0">
              <a:solidFill>
                <a:schemeClr val="tx1"/>
              </a:solidFill>
              <a:latin typeface="Courier New" panose="02070309020205020404" charset="0"/>
              <a:ea typeface="宋体" panose="02010600030101010101" pitchFamily="2" charset="-122"/>
            </a:endParaRPr>
          </a:p>
          <a:p>
            <a:pPr marL="342900" lvl="0" indent="-342900">
              <a:buNone/>
            </a:pPr>
            <a:r>
              <a:rPr lang="en-US" altLang="zh-CN" sz="2400" dirty="0">
                <a:solidFill>
                  <a:schemeClr val="tx1"/>
                </a:solidFill>
                <a:latin typeface="Courier New" panose="02070309020205020404" charset="0"/>
                <a:ea typeface="宋体" panose="02010600030101010101" pitchFamily="2" charset="-122"/>
              </a:rPr>
              <a:t>  /** Describe how to eat */</a:t>
            </a:r>
            <a:endParaRPr lang="en-US" altLang="zh-CN" sz="2400" dirty="0">
              <a:solidFill>
                <a:schemeClr val="tx1"/>
              </a:solidFill>
              <a:latin typeface="Courier New" panose="02070309020205020404" charset="0"/>
              <a:ea typeface="宋体" panose="02010600030101010101" pitchFamily="2" charset="-122"/>
            </a:endParaRPr>
          </a:p>
          <a:p>
            <a:pPr marL="342900" lvl="0" indent="-342900">
              <a:buNone/>
            </a:pPr>
            <a:r>
              <a:rPr lang="en-US" altLang="zh-CN" sz="2400" dirty="0">
                <a:solidFill>
                  <a:schemeClr val="tx1"/>
                </a:solidFill>
                <a:latin typeface="Courier New" panose="02070309020205020404" charset="0"/>
                <a:ea typeface="宋体" panose="02010600030101010101" pitchFamily="2" charset="-122"/>
              </a:rPr>
              <a:t>  public abstract String howToEat();</a:t>
            </a:r>
            <a:endParaRPr lang="en-US" altLang="zh-CN" sz="2400" dirty="0">
              <a:solidFill>
                <a:schemeClr val="tx1"/>
              </a:solidFill>
              <a:latin typeface="Courier New" panose="02070309020205020404" charset="0"/>
              <a:ea typeface="宋体" panose="02010600030101010101" pitchFamily="2" charset="-122"/>
            </a:endParaRPr>
          </a:p>
          <a:p>
            <a:pPr marL="342900" lvl="0" indent="-342900">
              <a:buNone/>
            </a:pPr>
            <a:r>
              <a:rPr lang="en-US" altLang="zh-CN" sz="2400" dirty="0">
                <a:solidFill>
                  <a:schemeClr val="tx1"/>
                </a:solidFill>
                <a:latin typeface="Courier New" panose="02070309020205020404" charset="0"/>
                <a:ea typeface="宋体" panose="02010600030101010101" pitchFamily="2" charset="-122"/>
              </a:rPr>
              <a:t>}</a:t>
            </a:r>
            <a:endParaRPr lang="en-US" altLang="zh-CN" sz="2400" dirty="0">
              <a:solidFill>
                <a:schemeClr val="tx1"/>
              </a:solidFill>
              <a:latin typeface="Courier New" panose="02070309020205020404" charset="0"/>
              <a:ea typeface="宋体" panose="02010600030101010101" pitchFamily="2" charset="-122"/>
            </a:endParaRPr>
          </a:p>
        </p:txBody>
      </p:sp>
      <p:sp>
        <p:nvSpPr>
          <p:cNvPr id="23557" name="Rectangle 3"/>
          <p:cNvSpPr>
            <a:spLocks noGrp="1"/>
          </p:cNvSpPr>
          <p:nvPr/>
        </p:nvSpPr>
        <p:spPr>
          <a:xfrm>
            <a:off x="228600" y="4940935"/>
            <a:ext cx="8121015" cy="1134110"/>
          </a:xfrm>
          <a:prstGeom prst="rect">
            <a:avLst/>
          </a:prstGeom>
        </p:spPr>
        <p:txBody>
          <a:bodyPr vert="horz" wrap="square" lIns="92075" tIns="46038" rIns="92075" bIns="46038" rtlCol="0" anchor="t">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现在可以使用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Edible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接口来表明对象是否是可以食用的。这需要使用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implements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关键字让对象的类实现这个接口来完成。例如：</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Chicken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类和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Fruit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类实现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Edible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接口</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4579"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4580" name="Rectangle 2"/>
          <p:cNvSpPr>
            <a:spLocks noGrp="1"/>
          </p:cNvSpPr>
          <p:nvPr>
            <p:ph type="title"/>
          </p:nvPr>
        </p:nvSpPr>
        <p:spPr>
          <a:xfrm>
            <a:off x="304800" y="222885"/>
            <a:ext cx="4311650" cy="34925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接口中可以省略修饰符</a:t>
            </a:r>
            <a:endParaRPr lang="en-US" altLang="zh-CN" b="0" dirty="0">
              <a:latin typeface="微软雅黑" panose="020B0503020204020204" pitchFamily="34" charset="-122"/>
              <a:ea typeface="微软雅黑" panose="020B0503020204020204" pitchFamily="34" charset="-122"/>
            </a:endParaRPr>
          </a:p>
        </p:txBody>
      </p:sp>
      <p:sp>
        <p:nvSpPr>
          <p:cNvPr id="24581" name="Rectangle 3"/>
          <p:cNvSpPr>
            <a:spLocks noGrp="1"/>
          </p:cNvSpPr>
          <p:nvPr>
            <p:ph type="body" idx="4294967295"/>
          </p:nvPr>
        </p:nvSpPr>
        <p:spPr>
          <a:xfrm>
            <a:off x="0" y="1143000"/>
            <a:ext cx="8839200" cy="1447800"/>
          </a:xfrm>
        </p:spPr>
        <p:txBody>
          <a:bodyPr vert="horz" wrap="square" lIns="92075" tIns="46038" rIns="92075" bIns="46038" anchor="t">
            <a:normAutofit lnSpcReduction="10000"/>
          </a:bodyPr>
          <a:p>
            <a:pPr marL="114300" lvl="1" indent="0">
              <a:lnSpc>
                <a:spcPct val="120000"/>
              </a:lnSpc>
              <a:spcAft>
                <a:spcPts val="1200"/>
              </a:spcAft>
              <a:buNone/>
            </a:pP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由于接口中所有的数据域都是</a:t>
            </a:r>
            <a:r>
              <a:rPr lang="en-US" altLang="zh-CN" sz="2600" i="1" dirty="0">
                <a:latin typeface="微软雅黑" panose="020B0503020204020204" pitchFamily="34" charset="-122"/>
                <a:ea typeface="微软雅黑" panose="020B0503020204020204" pitchFamily="34" charset="-122"/>
                <a:cs typeface="微软雅黑" panose="020B0503020204020204" pitchFamily="34" charset="-122"/>
              </a:rPr>
              <a:t>public final static</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而且所有方法都是</a:t>
            </a:r>
            <a:r>
              <a:rPr lang="en-US" altLang="zh-CN" sz="2600" i="1" dirty="0">
                <a:latin typeface="微软雅黑" panose="020B0503020204020204" pitchFamily="34" charset="-122"/>
                <a:ea typeface="微软雅黑" panose="020B0503020204020204" pitchFamily="34" charset="-122"/>
                <a:cs typeface="微软雅黑" panose="020B0503020204020204" pitchFamily="34" charset="-122"/>
              </a:rPr>
              <a:t>public abstract </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，所以</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允许忽略这些修饰符。因此，下面的接口定义是等价的：</a:t>
            </a:r>
            <a:endParaRPr lang="en-US" altLang="zh-CN" sz="2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582" name="Rectangle 5"/>
          <p:cNvSpPr/>
          <p:nvPr/>
        </p:nvSpPr>
        <p:spPr>
          <a:xfrm>
            <a:off x="2528888" y="3062288"/>
            <a:ext cx="9144000" cy="460375"/>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graphicFrame>
        <p:nvGraphicFramePr>
          <p:cNvPr id="24583" name="Object 4"/>
          <p:cNvGraphicFramePr>
            <a:graphicFrameLocks noChangeAspect="1"/>
          </p:cNvGraphicFramePr>
          <p:nvPr/>
        </p:nvGraphicFramePr>
        <p:xfrm>
          <a:off x="783908" y="2988945"/>
          <a:ext cx="7397750" cy="1327150"/>
        </p:xfrm>
        <a:graphic>
          <a:graphicData uri="http://schemas.openxmlformats.org/presentationml/2006/ole">
            <mc:AlternateContent xmlns:mc="http://schemas.openxmlformats.org/markup-compatibility/2006">
              <mc:Choice xmlns:v="urn:schemas-microsoft-com:vml" Requires="v">
                <p:oleObj spid="_x0000_s3077" name="" r:id="rId1" imgW="4229100" imgH="754380" progId="Word.Picture.8">
                  <p:embed/>
                </p:oleObj>
              </mc:Choice>
              <mc:Fallback>
                <p:oleObj name="" r:id="rId1" imgW="4229100" imgH="754380" progId="Word.Picture.8">
                  <p:embed/>
                  <p:pic>
                    <p:nvPicPr>
                      <p:cNvPr id="0" name="图片 3076"/>
                      <p:cNvPicPr/>
                      <p:nvPr/>
                    </p:nvPicPr>
                    <p:blipFill>
                      <a:blip r:embed="rId2"/>
                      <a:stretch>
                        <a:fillRect/>
                      </a:stretch>
                    </p:blipFill>
                    <p:spPr>
                      <a:xfrm>
                        <a:off x="783908" y="2988945"/>
                        <a:ext cx="7397750" cy="1327150"/>
                      </a:xfrm>
                      <a:prstGeom prst="rect">
                        <a:avLst/>
                      </a:prstGeom>
                      <a:noFill/>
                      <a:ln w="38100">
                        <a:noFill/>
                        <a:miter/>
                      </a:ln>
                    </p:spPr>
                  </p:pic>
                </p:oleObj>
              </mc:Fallback>
            </mc:AlternateContent>
          </a:graphicData>
        </a:graphic>
      </p:graphicFrame>
      <p:sp>
        <p:nvSpPr>
          <p:cNvPr id="24584" name="Rectangle 6"/>
          <p:cNvSpPr/>
          <p:nvPr/>
        </p:nvSpPr>
        <p:spPr>
          <a:xfrm>
            <a:off x="304800" y="4777740"/>
            <a:ext cx="8839200" cy="11430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114300" lvl="1" indent="0">
              <a:lnSpc>
                <a:spcPct val="120000"/>
              </a:lnSpc>
              <a:spcAft>
                <a:spcPts val="1200"/>
              </a:spcAft>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接口内定义的常量可以使用语法</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接口名</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常量名”（例如：</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T1.K</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pic>
        <p:nvPicPr>
          <p:cNvPr id="23564" name="Picture 13"/>
          <p:cNvPicPr>
            <a:picLocks noChangeAspect="1"/>
          </p:cNvPicPr>
          <p:nvPr>
            <p:ph sz="quarter" idx="12"/>
          </p:nvPr>
        </p:nvPicPr>
        <p:blipFill>
          <a:blip r:embed="rId1"/>
          <a:stretch>
            <a:fillRect/>
          </a:stretch>
        </p:blipFill>
        <p:spPr>
          <a:xfrm>
            <a:off x="218440" y="2399030"/>
            <a:ext cx="8404860" cy="3369945"/>
          </a:xfrm>
          <a:prstGeom prst="rect">
            <a:avLst/>
          </a:prstGeom>
          <a:noFill/>
          <a:ln w="12700">
            <a:noFill/>
          </a:ln>
        </p:spPr>
      </p:pic>
      <p:sp>
        <p:nvSpPr>
          <p:cNvPr id="23557" name="Rectangle 3"/>
          <p:cNvSpPr>
            <a:spLocks noGrp="1"/>
          </p:cNvSpPr>
          <p:nvPr/>
        </p:nvSpPr>
        <p:spPr>
          <a:xfrm>
            <a:off x="218440" y="1424305"/>
            <a:ext cx="2715895" cy="652780"/>
          </a:xfrm>
          <a:prstGeom prst="rect">
            <a:avLst/>
          </a:prstGeom>
        </p:spPr>
        <p:txBody>
          <a:bodyPr vert="horz" wrap="square" lIns="92075" tIns="46038" rIns="92075" bIns="46038" rtlCol="0" anchor="t">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教材中示例：</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4747.4992125984254,&quot;width&quot;:14425}"/>
</p:tagLst>
</file>

<file path=ppt/theme/theme1.xml><?xml version="1.0" encoding="utf-8"?>
<a:theme xmlns:a="http://schemas.openxmlformats.org/drawingml/2006/main" name="由Nordri®（www.nordridesign.com ） 设计提供">
  <a:themeElements>
    <a:clrScheme name="自定义 56">
      <a:dk1>
        <a:sysClr val="windowText" lastClr="000000"/>
      </a:dk1>
      <a:lt1>
        <a:sysClr val="window" lastClr="FFFFFF"/>
      </a:lt1>
      <a:dk2>
        <a:srgbClr val="595959"/>
      </a:dk2>
      <a:lt2>
        <a:srgbClr val="D8D8D8"/>
      </a:lt2>
      <a:accent1>
        <a:srgbClr val="FFC000"/>
      </a:accent1>
      <a:accent2>
        <a:srgbClr val="6DAA2D"/>
      </a:accent2>
      <a:accent3>
        <a:srgbClr val="5F5F5F"/>
      </a:accent3>
      <a:accent4>
        <a:srgbClr val="777777"/>
      </a:accent4>
      <a:accent5>
        <a:srgbClr val="B2B2B2"/>
      </a:accent5>
      <a:accent6>
        <a:srgbClr val="DDDDDD"/>
      </a:accent6>
      <a:hlink>
        <a:srgbClr val="0070C0"/>
      </a:hlink>
      <a:folHlink>
        <a:srgbClr val="7030A0"/>
      </a:folHlink>
    </a:clrScheme>
    <a:fontScheme name="Nordri开发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w="9525">
          <a:noFill/>
        </a:ln>
      </a:spPr>
      <a:bodyPr lIns="92075" tIns="46038" rIns="92075" bIns="46038"/>
      <a:lstStyle>
        <a:defPPr marL="0" lvl="0" indent="0">
          <a:buNone/>
          <a:defRPr lang="en-US" altLang="zh-CN" sz="1600" dirty="0">
            <a:solidFill>
              <a:schemeClr val="bg2"/>
            </a:solidFill>
            <a:latin typeface="Courier New" panose="02070309020205020404" charset="0"/>
            <a:ea typeface="宋体" panose="02010600030101010101" pitchFamily="2" charset="-122"/>
          </a:defRPr>
        </a:defPPr>
      </a:lstStyle>
    </a:spDef>
    <a:txDef>
      <a:spPr>
        <a:noFill/>
      </a:spPr>
      <a:bodyPr wrap="none" rtlCol="0">
        <a:spAutoFit/>
      </a:bodyPr>
      <a:lstStyle>
        <a:defPPr>
          <a:lnSpc>
            <a:spcPct val="120000"/>
          </a:lnSpc>
          <a:defRPr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3194</Words>
  <Application>WPS 演示</Application>
  <PresentationFormat>全屏显示(4:3)</PresentationFormat>
  <Paragraphs>187</Paragraphs>
  <Slides>18</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18</vt:i4>
      </vt:variant>
    </vt:vector>
  </HeadingPairs>
  <TitlesOfParts>
    <vt:vector size="34" baseType="lpstr">
      <vt:lpstr>Arial</vt:lpstr>
      <vt:lpstr>宋体</vt:lpstr>
      <vt:lpstr>Wingdings</vt:lpstr>
      <vt:lpstr>Courier New</vt:lpstr>
      <vt:lpstr>微软雅黑</vt:lpstr>
      <vt:lpstr>黑体</vt:lpstr>
      <vt:lpstr>Times New Roman</vt:lpstr>
      <vt:lpstr>Calibri</vt:lpstr>
      <vt:lpstr>Monotype Sorts</vt:lpstr>
      <vt:lpstr>Wingdings</vt:lpstr>
      <vt:lpstr>Arial Unicode MS</vt:lpstr>
      <vt:lpstr>由Nordri®（www.nordridesign.com ） 设计提供</vt:lpstr>
      <vt:lpstr>Word.Picture.8</vt:lpstr>
      <vt:lpstr>Word.Picture.8</vt:lpstr>
      <vt:lpstr>Word.Picture.8</vt:lpstr>
      <vt:lpstr>Word.Picture.8</vt:lpstr>
      <vt:lpstr>面向对象程序设计</vt:lpstr>
      <vt:lpstr>抽象类和抽象方法</vt:lpstr>
      <vt:lpstr>为什么使用抽象方法</vt:lpstr>
      <vt:lpstr>抽象类中的抽象方法</vt:lpstr>
      <vt:lpstr>抽象类不能创建对象</vt:lpstr>
      <vt:lpstr>不包含抽象方法的抽象类</vt:lpstr>
      <vt:lpstr>抽象类的父类可以是具体的</vt:lpstr>
      <vt:lpstr>覆盖具体方法为抽象的</vt:lpstr>
      <vt:lpstr>抽象类用作数据类型</vt:lpstr>
      <vt:lpstr>示例 抽象的Number类</vt:lpstr>
      <vt:lpstr>抽象Calendar类和它的GregorianCalendar子类</vt:lpstr>
      <vt:lpstr>PowerPoint 演示文稿</vt:lpstr>
      <vt:lpstr>PowerPoint 演示文稿</vt:lpstr>
      <vt:lpstr>PowerPoint 演示文稿</vt:lpstr>
      <vt:lpstr>接口</vt:lpstr>
      <vt:lpstr>定义接口</vt:lpstr>
      <vt:lpstr>接口中可以省略修饰符</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Java程序设计</dc:title>
  <dc:creator>yangrl</dc:creator>
  <dc:description>Nordri® 
专注于有效的信息传递设计
www.nordridesign.com</dc:description>
  <dc:subject>PPT模板/图示</dc:subject>
  <cp:lastModifiedBy>大灰很</cp:lastModifiedBy>
  <cp:revision>691</cp:revision>
  <dcterms:created xsi:type="dcterms:W3CDTF">2017-02-24T02:44:00Z</dcterms:created>
  <dcterms:modified xsi:type="dcterms:W3CDTF">2021-05-12T16:24:19Z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280499</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KSOProductBuildVer">
    <vt:lpwstr>2052-11.1.0.10495</vt:lpwstr>
  </property>
  <property fmtid="{D5CDD505-2E9C-101B-9397-08002B2CF9AE}" pid="6" name="ICV">
    <vt:lpwstr>D09E24EF352D42B6A8EC1AEB379C4E1E</vt:lpwstr>
  </property>
</Properties>
</file>