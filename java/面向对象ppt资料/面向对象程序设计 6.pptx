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4"/>
  </p:handoutMasterIdLst>
  <p:sldIdLst>
    <p:sldId id="256" r:id="rId3"/>
    <p:sldId id="1095" r:id="rId5"/>
    <p:sldId id="1081" r:id="rId6"/>
    <p:sldId id="1084" r:id="rId7"/>
    <p:sldId id="1085" r:id="rId8"/>
    <p:sldId id="1086" r:id="rId9"/>
    <p:sldId id="1087" r:id="rId10"/>
    <p:sldId id="1088" r:id="rId11"/>
    <p:sldId id="1089" r:id="rId12"/>
    <p:sldId id="1090" r:id="rId13"/>
    <p:sldId id="1091" r:id="rId14"/>
    <p:sldId id="1092" r:id="rId15"/>
    <p:sldId id="1093" r:id="rId16"/>
    <p:sldId id="1094" r:id="rId17"/>
    <p:sldId id="963" r:id="rId18"/>
    <p:sldId id="964" r:id="rId19"/>
    <p:sldId id="970" r:id="rId20"/>
    <p:sldId id="973" r:id="rId21"/>
    <p:sldId id="974" r:id="rId22"/>
    <p:sldId id="976" r:id="rId23"/>
    <p:sldId id="984" r:id="rId24"/>
    <p:sldId id="985" r:id="rId25"/>
    <p:sldId id="987" r:id="rId26"/>
    <p:sldId id="988" r:id="rId27"/>
    <p:sldId id="989" r:id="rId28"/>
    <p:sldId id="990" r:id="rId29"/>
    <p:sldId id="991" r:id="rId30"/>
    <p:sldId id="993" r:id="rId31"/>
    <p:sldId id="1061" r:id="rId32"/>
    <p:sldId id="995" r:id="rId33"/>
    <p:sldId id="1063" r:id="rId34"/>
    <p:sldId id="1079" r:id="rId35"/>
    <p:sldId id="1064" r:id="rId36"/>
    <p:sldId id="996" r:id="rId37"/>
    <p:sldId id="998" r:id="rId38"/>
    <p:sldId id="1000" r:id="rId39"/>
    <p:sldId id="1067" r:id="rId40"/>
    <p:sldId id="1065" r:id="rId41"/>
    <p:sldId id="1003" r:id="rId42"/>
    <p:sldId id="1004" r:id="rId43"/>
  </p:sldIdLst>
  <p:sldSz cx="9144000" cy="6858000" type="screen4x3"/>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orient="horz" pos="4234" userDrawn="1">
          <p15:clr>
            <a:srgbClr val="A4A3A4"/>
          </p15:clr>
        </p15:guide>
        <p15:guide id="3" orient="horz" pos="4026" userDrawn="1">
          <p15:clr>
            <a:srgbClr val="A4A3A4"/>
          </p15:clr>
        </p15:guide>
        <p15:guide id="4" orient="horz" pos="576" userDrawn="1">
          <p15:clr>
            <a:srgbClr val="A4A3A4"/>
          </p15:clr>
        </p15:guide>
        <p15:guide id="5" orient="horz" pos="672" userDrawn="1">
          <p15:clr>
            <a:srgbClr val="A4A3A4"/>
          </p15:clr>
        </p15:guide>
        <p15:guide id="6" pos="2829" userDrawn="1">
          <p15:clr>
            <a:srgbClr val="A4A3A4"/>
          </p15:clr>
        </p15:guide>
        <p15:guide id="7" pos="5488" userDrawn="1">
          <p15:clr>
            <a:srgbClr val="A4A3A4"/>
          </p15:clr>
        </p15:guide>
        <p15:guide id="8" pos="2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howGuides="1">
      <p:cViewPr varScale="1">
        <p:scale>
          <a:sx n="89" d="100"/>
          <a:sy n="89" d="100"/>
        </p:scale>
        <p:origin x="1238" y="-106"/>
      </p:cViewPr>
      <p:guideLst>
        <p:guide orient="horz" pos="2150"/>
        <p:guide orient="horz" pos="4234"/>
        <p:guide orient="horz" pos="4026"/>
        <p:guide orient="horz" pos="576"/>
        <p:guide orient="horz" pos="672"/>
        <p:guide pos="2829"/>
        <p:guide pos="5488"/>
        <p:guide pos="295"/>
      </p:guideLst>
    </p:cSldViewPr>
  </p:slideViewPr>
  <p:notesTextViewPr>
    <p:cViewPr>
      <p:scale>
        <a:sx n="1" d="1"/>
        <a:sy n="1" d="1"/>
      </p:scale>
      <p:origin x="0" y="0"/>
    </p:cViewPr>
  </p:notesTextViewPr>
  <p:notesViewPr>
    <p:cSldViewPr>
      <p:cViewPr varScale="1">
        <p:scale>
          <a:sx n="59" d="100"/>
          <a:sy n="59" d="100"/>
        </p:scale>
        <p:origin x="2454" y="24"/>
      </p:cViewPr>
      <p:guideLst>
        <p:guide orient="horz" pos="2867"/>
        <p:guide pos="212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7.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smtClean="0"/>
              <a:t>单击此处编辑母版标题样式</a:t>
            </a:r>
            <a:endParaRPr lang="zh-CN" altLang="en-US" dirty="0"/>
          </a:p>
        </p:txBody>
      </p:sp>
      <p:sp>
        <p:nvSpPr>
          <p:cNvPr id="3" name="副标题 2"/>
          <p:cNvSpPr>
            <a:spLocks noGrp="1"/>
          </p:cNvSpPr>
          <p:nvPr userDrawn="1">
            <p:ph type="subTitle" idx="1" hasCustomPrompt="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hasCustomPrompt="1"/>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marL="742950" indent="-285750">
              <a:buFont typeface="Wingdings" panose="05000000000000000000" pitchFamily="2" charset="2"/>
              <a:buChar char="l"/>
              <a:defRPr sz="2200"/>
            </a:lvl2pPr>
            <a:lvl3pPr>
              <a:defRPr sz="1600"/>
            </a:lvl3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8575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28575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78867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8650" y="4076700"/>
            <a:ext cx="78867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image" Target="../media/image3.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11"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jpeg"/><Relationship Id="rId3" Type="http://schemas.openxmlformats.org/officeDocument/2006/relationships/tags" Target="../tags/tag3.xml"/><Relationship Id="rId2" Type="http://schemas.openxmlformats.org/officeDocument/2006/relationships/image" Target="../media/image15.jpeg"/><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9.emf"/><Relationship Id="rId3" Type="http://schemas.openxmlformats.org/officeDocument/2006/relationships/oleObject" Target="../embeddings/oleObject4.bin"/><Relationship Id="rId2" Type="http://schemas.openxmlformats.org/officeDocument/2006/relationships/image" Target="../media/image18.w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20.wmf"/><Relationship Id="rId2" Type="http://schemas.openxmlformats.org/officeDocument/2006/relationships/oleObject" Target="../embeddings/oleObject5.bin"/><Relationship Id="rId1" Type="http://schemas.openxmlformats.org/officeDocument/2006/relationships/tags" Target="../tags/tag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7.bin"/></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7.wmf"/><Relationship Id="rId3" Type="http://schemas.openxmlformats.org/officeDocument/2006/relationships/oleObject" Target="../embeddings/oleObject9.bin"/><Relationship Id="rId2" Type="http://schemas.openxmlformats.org/officeDocument/2006/relationships/image" Target="../media/image26.wmf"/><Relationship Id="rId1" Type="http://schemas.openxmlformats.org/officeDocument/2006/relationships/oleObject" Target="../embeddings/oleObject8.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8.emf"/><Relationship Id="rId1" Type="http://schemas.openxmlformats.org/officeDocument/2006/relationships/oleObject" Target="../embeddings/oleObject1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26390" y="2209165"/>
            <a:ext cx="4479925" cy="639445"/>
          </a:xfrm>
        </p:spPr>
        <p:txBody>
          <a:bodyPr>
            <a:noAutofit/>
          </a:bodyPr>
          <a:lstStyle/>
          <a:p>
            <a:pPr marL="342900" lvl="0" indent="-342900" fontAlgn="base">
              <a:lnSpc>
                <a:spcPct val="110000"/>
              </a:lnSpc>
              <a:spcAft>
                <a:spcPct val="0"/>
              </a:spcAft>
            </a:pPr>
            <a:r>
              <a:rPr lang="zh-CN" altLang="en-US" sz="4000" b="0" u="none" kern="0" dirty="0">
                <a:solidFill>
                  <a:srgbClr val="000000"/>
                </a:solidFill>
                <a:latin typeface="Arial" panose="020B0604020202020204" pitchFamily="34" charset="0"/>
                <a:ea typeface="微软雅黑" panose="020B0503020204020204" pitchFamily="34" charset="-122"/>
              </a:rPr>
              <a:t>面向对象程序设计</a:t>
            </a:r>
            <a:endParaRPr lang="zh-CN" altLang="en-US" sz="4000" b="0" u="none" kern="0" dirty="0">
              <a:solidFill>
                <a:srgbClr val="000000"/>
              </a:solidFill>
              <a:latin typeface="Arial" panose="020B0604020202020204" pitchFamily="34" charset="0"/>
              <a:ea typeface="微软雅黑" panose="020B0503020204020204" pitchFamily="34" charset="-122"/>
            </a:endParaRPr>
          </a:p>
        </p:txBody>
      </p:sp>
      <p:sp>
        <p:nvSpPr>
          <p:cNvPr id="3" name="副标题 2"/>
          <p:cNvSpPr>
            <a:spLocks noGrp="1"/>
          </p:cNvSpPr>
          <p:nvPr>
            <p:ph type="subTitle" idx="1"/>
          </p:nvPr>
        </p:nvSpPr>
        <p:spPr>
          <a:xfrm>
            <a:off x="1114425" y="3153410"/>
            <a:ext cx="1887220" cy="551180"/>
          </a:xfrm>
        </p:spPr>
        <p:txBody>
          <a:bodyPr>
            <a:noAutofit/>
          </a:bodyPr>
          <a:lstStyle/>
          <a:p>
            <a:r>
              <a:rPr lang="zh-CN" altLang="en-US" sz="2800" u="none" dirty="0" smtClean="0">
                <a:solidFill>
                  <a:srgbClr val="000000"/>
                </a:solidFill>
                <a:latin typeface="微软雅黑" panose="020B0503020204020204" pitchFamily="34" charset="-122"/>
              </a:rPr>
              <a:t>对象和类</a:t>
            </a:r>
            <a:endParaRPr lang="zh-CN" altLang="en-US" sz="2800" u="none" dirty="0" smtClean="0">
              <a:solidFill>
                <a:srgbClr val="000000"/>
              </a:solidFill>
              <a:latin typeface="微软雅黑" panose="020B0503020204020204" pitchFamily="34" charset="-122"/>
            </a:endParaRPr>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t>对象</a:t>
            </a:r>
            <a:endParaRPr lang="zh-CN" altLang="en-US" b="0"/>
          </a:p>
        </p:txBody>
      </p:sp>
      <p:sp>
        <p:nvSpPr>
          <p:cNvPr id="3" name="内容占位符 2"/>
          <p:cNvSpPr>
            <a:spLocks noGrp="1"/>
          </p:cNvSpPr>
          <p:nvPr>
            <p:ph sz="quarter" idx="12"/>
          </p:nvPr>
        </p:nvSpPr>
        <p:spPr/>
        <p:txBody>
          <a:bodyPr>
            <a:noAutofit/>
          </a:bodyPr>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万物皆对象</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对象是现实世界中的一个实际存在的事物，可以是有形的，如车辆、房屋等，也可以是无形的，如国家、生产计划等。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2" indent="-342900">
              <a:lnSpc>
                <a:spcPct val="150000"/>
              </a:lnSpc>
              <a:spcBef>
                <a:spcPts val="0"/>
              </a:spcBef>
              <a:buClr>
                <a:srgbClr val="7030A0"/>
              </a:buClr>
              <a:buSzTx/>
              <a:buFont typeface="Wingdings" panose="05000000000000000000" charset="0"/>
              <a:buChar char="n"/>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而人们在开发一个系统时，则在一定的范围（也称问题域）内考虑和认识与系统目标有关的事物，并用系统中的对象来</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抽象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地表示它们</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3" indent="-342900">
              <a:lnSpc>
                <a:spcPct val="150000"/>
              </a:lnSpc>
              <a:spcBef>
                <a:spcPts val="0"/>
              </a:spcBef>
              <a:buClr>
                <a:srgbClr val="7030A0"/>
              </a:buClr>
              <a:buSzTx/>
              <a:buFont typeface="Wingdings" panose="05000000000000000000" charset="0"/>
              <a:buChar char="l"/>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对象只描述客观事物本质的、与系统目标有关的特征，而不考虑那些非本质的、与系统目标无关的特征，是现实中实体的抽象表示。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3" indent="-342900">
              <a:lnSpc>
                <a:spcPct val="150000"/>
              </a:lnSpc>
              <a:spcBef>
                <a:spcPts val="0"/>
              </a:spcBef>
              <a:buClr>
                <a:srgbClr val="7030A0"/>
              </a:buClr>
              <a:buSzTx/>
              <a:buFont typeface="Wingdings" panose="05000000000000000000" charset="0"/>
              <a:buChar char="n"/>
            </a:pPr>
            <a:endParaRPr lang="zh-CN" altLang="en-US" sz="186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文本占位符 45058"/>
          <p:cNvSpPr>
            <a:spLocks noGrp="1" noRot="1"/>
          </p:cNvSpPr>
          <p:nvPr>
            <p:ph type="body" idx="1"/>
          </p:nvPr>
        </p:nvSpPr>
        <p:spPr>
          <a:xfrm>
            <a:off x="228600" y="4152900"/>
            <a:ext cx="8616950" cy="2476500"/>
          </a:xfrm>
        </p:spPr>
        <p:txBody>
          <a:bodyPr/>
          <a:p>
            <a:pPr>
              <a:buNone/>
            </a:pPr>
            <a:endParaRPr lang="zh-CN" altLang="en-US" dirty="0"/>
          </a:p>
          <a:p>
            <a:pPr>
              <a:buNone/>
            </a:pPr>
            <a:endParaRPr lang="zh-CN" altLang="en-US" dirty="0"/>
          </a:p>
        </p:txBody>
      </p:sp>
      <p:pic>
        <p:nvPicPr>
          <p:cNvPr id="45061" name="图片 45060" descr="4"/>
          <p:cNvPicPr>
            <a:picLocks noChangeAspect="1"/>
          </p:cNvPicPr>
          <p:nvPr/>
        </p:nvPicPr>
        <p:blipFill>
          <a:blip r:embed="rId1"/>
          <a:srcRect b="40578"/>
          <a:stretch>
            <a:fillRect/>
          </a:stretch>
        </p:blipFill>
        <p:spPr>
          <a:xfrm>
            <a:off x="6089650" y="4105910"/>
            <a:ext cx="2000250" cy="979170"/>
          </a:xfrm>
          <a:prstGeom prst="rect">
            <a:avLst/>
          </a:prstGeom>
          <a:noFill/>
          <a:ln w="9525">
            <a:noFill/>
          </a:ln>
        </p:spPr>
      </p:pic>
      <p:pic>
        <p:nvPicPr>
          <p:cNvPr id="45062" name="图片 45061" descr="2"/>
          <p:cNvPicPr>
            <a:picLocks noChangeAspect="1"/>
          </p:cNvPicPr>
          <p:nvPr/>
        </p:nvPicPr>
        <p:blipFill>
          <a:blip r:embed="rId2"/>
          <a:srcRect b="53106"/>
          <a:stretch>
            <a:fillRect/>
          </a:stretch>
        </p:blipFill>
        <p:spPr>
          <a:xfrm>
            <a:off x="683895" y="4004945"/>
            <a:ext cx="2181225" cy="915670"/>
          </a:xfrm>
          <a:prstGeom prst="rect">
            <a:avLst/>
          </a:prstGeom>
          <a:noFill/>
          <a:ln w="9525">
            <a:noFill/>
          </a:ln>
        </p:spPr>
      </p:pic>
      <p:pic>
        <p:nvPicPr>
          <p:cNvPr id="45063" name="图片 45062" descr="3"/>
          <p:cNvPicPr>
            <a:picLocks noChangeAspect="1"/>
          </p:cNvPicPr>
          <p:nvPr/>
        </p:nvPicPr>
        <p:blipFill>
          <a:blip r:embed="rId3"/>
          <a:srcRect b="35684"/>
          <a:stretch>
            <a:fillRect/>
          </a:stretch>
        </p:blipFill>
        <p:spPr>
          <a:xfrm>
            <a:off x="3355340" y="4025265"/>
            <a:ext cx="2000250" cy="1059815"/>
          </a:xfrm>
          <a:prstGeom prst="rect">
            <a:avLst/>
          </a:prstGeom>
          <a:noFill/>
          <a:ln w="9525">
            <a:noFill/>
          </a:ln>
        </p:spPr>
      </p:pic>
      <p:sp>
        <p:nvSpPr>
          <p:cNvPr id="2" name="文本框 1"/>
          <p:cNvSpPr txBox="1"/>
          <p:nvPr/>
        </p:nvSpPr>
        <p:spPr>
          <a:xfrm>
            <a:off x="1050290" y="5120005"/>
            <a:ext cx="1605280" cy="1271270"/>
          </a:xfrm>
          <a:prstGeom prst="rect">
            <a:avLst/>
          </a:prstGeom>
          <a:noFill/>
        </p:spPr>
        <p:txBody>
          <a:bodyPr wrap="none" rtlCol="0">
            <a:spAutoFit/>
          </a:bodyPr>
          <a:p>
            <a:pPr>
              <a:lnSpc>
                <a:spcPct val="120000"/>
              </a:lnSpc>
            </a:pPr>
            <a:r>
              <a:rPr lang="zh-CN" altLang="en-US" sz="16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状态（属性）：</a:t>
            </a:r>
            <a:endParaRPr lang="zh-CN" altLang="en-US" sz="16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名字：</a:t>
            </a:r>
            <a:r>
              <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Jane</a:t>
            </a:r>
            <a:endPar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颜色：</a:t>
            </a:r>
            <a:r>
              <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斑点</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框 2"/>
          <p:cNvSpPr txBox="1"/>
          <p:nvPr/>
        </p:nvSpPr>
        <p:spPr>
          <a:xfrm>
            <a:off x="3851910" y="5156835"/>
            <a:ext cx="1052195" cy="681355"/>
          </a:xfrm>
          <a:prstGeom prst="rect">
            <a:avLst/>
          </a:prstGeom>
          <a:noFill/>
        </p:spPr>
        <p:txBody>
          <a:bodyPr wrap="none" rtlCol="0">
            <a:spAutoFit/>
          </a:bodyPr>
          <a:p>
            <a:pPr>
              <a:lnSpc>
                <a:spcPct val="120000"/>
              </a:lnSpc>
            </a:pPr>
            <a:r>
              <a:rPr lang="zh-CN" altLang="en-US" sz="16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行为：</a:t>
            </a:r>
            <a:r>
              <a:rPr lang="en-US" altLang="zh-CN" sz="16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跑</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4" name="文本框 3"/>
          <p:cNvSpPr txBox="1"/>
          <p:nvPr/>
        </p:nvSpPr>
        <p:spPr>
          <a:xfrm>
            <a:off x="6443980" y="5229225"/>
            <a:ext cx="1052195" cy="386080"/>
          </a:xfrm>
          <a:prstGeom prst="rect">
            <a:avLst/>
          </a:prstGeom>
          <a:noFill/>
        </p:spPr>
        <p:txBody>
          <a:bodyPr wrap="none" rtlCol="0">
            <a:spAutoFit/>
          </a:bodyPr>
          <a:p>
            <a:pPr>
              <a:lnSpc>
                <a:spcPct val="120000"/>
              </a:lnSpc>
            </a:pPr>
            <a:r>
              <a:rPr lang="zh-CN" altLang="en-US" sz="16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行为：</a:t>
            </a:r>
            <a:r>
              <a:rPr lang="en-US" altLang="zh-CN" sz="16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叫</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5" name="文本框 4"/>
          <p:cNvSpPr txBox="1"/>
          <p:nvPr/>
        </p:nvSpPr>
        <p:spPr>
          <a:xfrm>
            <a:off x="203200" y="1340485"/>
            <a:ext cx="8349615" cy="2399665"/>
          </a:xfrm>
          <a:prstGeom prst="rect">
            <a:avLst/>
          </a:prstGeom>
          <a:noFill/>
        </p:spPr>
        <p:txBody>
          <a:bodyPr wrap="square" rtlCol="0" anchor="t">
            <a:spAutoFit/>
          </a:bodyPr>
          <a:p>
            <a:pPr marL="800100" lvl="3" indent="-342900">
              <a:lnSpc>
                <a:spcPct val="150000"/>
              </a:lnSpc>
              <a:spcBef>
                <a:spcPts val="0"/>
              </a:spcBef>
              <a:buSzTx/>
              <a:buFont typeface="Wingdings" panose="05000000000000000000" charset="0"/>
              <a:buChar char="n"/>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一个对象的</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状态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也称为特征、属性</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描述对象静态特征</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4" indent="-342900">
              <a:lnSpc>
                <a:spcPct val="150000"/>
              </a:lnSpc>
              <a:spcBef>
                <a:spcPts val="0"/>
              </a:spcBef>
              <a:buSzTx/>
              <a:buFont typeface="Wingdings" panose="05000000000000000000" charset="0"/>
              <a:buChar char="l"/>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是指那些具有当前值的数据域的集合。</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4" indent="-342900">
              <a:lnSpc>
                <a:spcPct val="150000"/>
              </a:lnSpc>
              <a:spcBef>
                <a:spcPts val="0"/>
              </a:spcBef>
              <a:buSzTx/>
              <a:buFont typeface="Wingdings" panose="05000000000000000000" charset="0"/>
              <a:buChar char="l"/>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3" indent="-342900">
              <a:lnSpc>
                <a:spcPct val="150000"/>
              </a:lnSpc>
              <a:spcBef>
                <a:spcPts val="0"/>
              </a:spcBef>
              <a:buSzTx/>
              <a:buFont typeface="Wingdings" panose="05000000000000000000" charset="0"/>
              <a:buChar char="n"/>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一个对象的</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（也称为动作）</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描述对象动态特征</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4" indent="-342900">
              <a:lnSpc>
                <a:spcPct val="150000"/>
              </a:lnSpc>
              <a:spcBef>
                <a:spcPts val="0"/>
              </a:spcBef>
              <a:buSzTx/>
              <a:buFont typeface="Wingdings" panose="05000000000000000000" charset="0"/>
              <a:buChar char="l"/>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由一个方法的集合定义。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50177"/>
          <p:cNvSpPr>
            <a:spLocks noGrp="1" noRot="1"/>
          </p:cNvSpPr>
          <p:nvPr>
            <p:ph type="title"/>
          </p:nvPr>
        </p:nvSpPr>
        <p:spPr/>
        <p:txBody>
          <a:bodyPr anchor="ctr"/>
          <a:p>
            <a:r>
              <a:rPr lang="zh-CN" altLang="en-US" b="0" dirty="0">
                <a:solidFill>
                  <a:schemeClr val="tx1"/>
                </a:solidFill>
              </a:rPr>
              <a:t>类</a:t>
            </a:r>
            <a:endParaRPr lang="zh-CN" altLang="en-US" b="0" dirty="0">
              <a:solidFill>
                <a:schemeClr val="tx1"/>
              </a:solidFill>
            </a:endParaRPr>
          </a:p>
        </p:txBody>
      </p:sp>
      <p:sp>
        <p:nvSpPr>
          <p:cNvPr id="50179" name="文本占位符 50178"/>
          <p:cNvSpPr>
            <a:spLocks noGrp="1" noRot="1"/>
          </p:cNvSpPr>
          <p:nvPr>
            <p:ph type="body" idx="1"/>
          </p:nvPr>
        </p:nvSpPr>
        <p:spPr>
          <a:xfrm>
            <a:off x="263525" y="1028700"/>
            <a:ext cx="8616950" cy="4800600"/>
          </a:xfrm>
        </p:spPr>
        <p:txBody>
          <a:bodyPr/>
          <a:p>
            <a:pPr>
              <a:buClr>
                <a:srgbClr val="7030A0"/>
              </a:buClr>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Class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）是具有相同属性和行为的一组对象的集合，它为属于该类的全部对象提供了统一的抽象描述。</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类好比是一个对象模板，用它可以产生多个对象。类所代表的是一个抽象的概念或事物，在客观世界中实际存在的是类的实例，即对象</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196" name="图片 8195"/>
          <p:cNvPicPr>
            <a:picLocks noChangeAspect="1"/>
          </p:cNvPicPr>
          <p:nvPr>
            <p:custDataLst>
              <p:tags r:id="rId1"/>
            </p:custDataLst>
          </p:nvPr>
        </p:nvPicPr>
        <p:blipFill>
          <a:blip r:embed="rId2"/>
          <a:stretch>
            <a:fillRect/>
          </a:stretch>
        </p:blipFill>
        <p:spPr>
          <a:xfrm>
            <a:off x="3289300" y="3500120"/>
            <a:ext cx="3742690" cy="2781300"/>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文本占位符 52226"/>
          <p:cNvSpPr>
            <a:spLocks noGrp="1" noRot="1"/>
          </p:cNvSpPr>
          <p:nvPr>
            <p:ph type="body" idx="1"/>
          </p:nvPr>
        </p:nvSpPr>
        <p:spPr>
          <a:xfrm>
            <a:off x="263525" y="1184275"/>
            <a:ext cx="8616950" cy="4800600"/>
          </a:xfrm>
        </p:spPr>
        <p:txBody>
          <a:bodyPr>
            <a:normAutofit fontScale="90000"/>
          </a:bodyPr>
          <a:p>
            <a:pPr marL="0" fontAlgn="auto">
              <a:spcBef>
                <a:spcPts val="0"/>
              </a:spcBef>
              <a:buClr>
                <a:srgbClr val="7030A0"/>
              </a:buClr>
              <a:buFont typeface="Wingdings" panose="05000000000000000000" charset="0"/>
              <a:buChar char="n"/>
            </a:pPr>
            <a:r>
              <a:rPr lang="zh-CN" altLang="en-US" sz="2800" dirty="0"/>
              <a:t>把众多的事物归纳并划分成一些类是人类在认识客观世界时经常采用的思维方法，从那些与当前目标有关的本质特征中找出事物的共性，并将具有共同性质的事物划分成一类，得出一个概念。例如：人、房屋、树木等都是一些概念，它们是一些具有共同特征的事物的集合，称为类。</a:t>
            </a:r>
            <a:endParaRPr lang="zh-CN" altLang="en-US" sz="2800" dirty="0"/>
          </a:p>
          <a:p>
            <a:pPr marL="0" fontAlgn="auto">
              <a:spcBef>
                <a:spcPts val="0"/>
              </a:spcBef>
              <a:buClr>
                <a:srgbClr val="7030A0"/>
              </a:buClr>
              <a:buFont typeface="Wingdings" panose="05000000000000000000" charset="0"/>
              <a:buChar char="n"/>
            </a:pPr>
            <a:endParaRPr lang="zh-CN" altLang="en-US" sz="2800" dirty="0"/>
          </a:p>
          <a:p>
            <a:pPr marL="0" fontAlgn="auto">
              <a:buClr>
                <a:srgbClr val="7030A0"/>
              </a:buClr>
              <a:buFont typeface="Wingdings" panose="05000000000000000000" charset="0"/>
              <a:buChar char="n"/>
            </a:pPr>
            <a:r>
              <a:rPr lang="zh-CN" altLang="en-US" sz="2800" dirty="0"/>
              <a:t>类的概念使我们能对属于该类的全部个体事物进行统一的描述，</a:t>
            </a:r>
            <a:r>
              <a:rPr lang="en-US" altLang="zh-CN" sz="2800" dirty="0"/>
              <a:t>"</a:t>
            </a:r>
            <a:r>
              <a:rPr lang="zh-CN" altLang="en-US" sz="2800" dirty="0"/>
              <a:t>树具有树根、树干、树枝和树叶，它能进行光合作用</a:t>
            </a:r>
            <a:r>
              <a:rPr lang="en-US" altLang="zh-CN" sz="2800" dirty="0"/>
              <a:t>"</a:t>
            </a:r>
            <a:r>
              <a:rPr lang="zh-CN" altLang="en-US" sz="2800" dirty="0"/>
              <a:t>，这个描述适合所有树，而不必对每一棵具体的树进行描述。 </a:t>
            </a:r>
            <a:endParaRPr lang="zh-CN" altLang="en-US" sz="2800" dirty="0"/>
          </a:p>
        </p:txBody>
      </p:sp>
      <p:sp>
        <p:nvSpPr>
          <p:cNvPr id="2" name="标题 1"/>
          <p:cNvSpPr/>
          <p:nvPr>
            <p:ph type="title"/>
          </p:nvPr>
        </p:nvSpPr>
        <p:spPr/>
        <p:txBody>
          <a:bodyPr/>
          <a:p>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3" name="文本占位符 51202"/>
          <p:cNvSpPr>
            <a:spLocks noGrp="1" noRot="1"/>
          </p:cNvSpPr>
          <p:nvPr>
            <p:ph type="body" sz="half" idx="1"/>
          </p:nvPr>
        </p:nvSpPr>
        <p:spPr>
          <a:xfrm>
            <a:off x="256540" y="1254125"/>
            <a:ext cx="8540750" cy="2368550"/>
          </a:xfrm>
        </p:spPr>
        <p:txBody>
          <a:bodyPr/>
          <a:p>
            <a:pPr>
              <a:buClr>
                <a:schemeClr val="hlink"/>
              </a:buClr>
              <a:buSzPct val="70000"/>
              <a:buFont typeface="Wingdings" panose="05000000000000000000" pitchFamily="2" charset="2"/>
              <a:buNone/>
            </a:pPr>
            <a:r>
              <a:rPr lang="zh-CN" altLang="en-US" sz="2800" dirty="0"/>
              <a:t>举例：在学校教学管理系统中，“学生”是一个类，其属性具有姓名、性别、年龄等，可以定义“入学注册”、“选课”等行为。一个具体的学生“王平”是一个对象，也是“学生”类的一个实例。</a:t>
            </a:r>
            <a:endParaRPr lang="zh-CN" altLang="en-US" sz="2800" dirty="0"/>
          </a:p>
          <a:p>
            <a:pPr>
              <a:buClr>
                <a:schemeClr val="hlink"/>
              </a:buClr>
              <a:buSzPct val="70000"/>
              <a:buFont typeface="Wingdings" panose="05000000000000000000" pitchFamily="2" charset="2"/>
              <a:buNone/>
            </a:pPr>
            <a:endParaRPr lang="zh-CN" altLang="en-US" sz="2800" dirty="0"/>
          </a:p>
        </p:txBody>
      </p:sp>
      <p:sp>
        <p:nvSpPr>
          <p:cNvPr id="51248" name="右箭头 51247"/>
          <p:cNvSpPr/>
          <p:nvPr/>
        </p:nvSpPr>
        <p:spPr>
          <a:xfrm>
            <a:off x="2555875" y="4529455"/>
            <a:ext cx="976313" cy="485775"/>
          </a:xfrm>
          <a:prstGeom prst="rightArrow">
            <a:avLst>
              <a:gd name="adj1" fmla="val 50000"/>
              <a:gd name="adj2" fmla="val 50245"/>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pic>
        <p:nvPicPr>
          <p:cNvPr id="3" name="图片 2"/>
          <p:cNvPicPr>
            <a:picLocks noChangeAspect="1"/>
          </p:cNvPicPr>
          <p:nvPr/>
        </p:nvPicPr>
        <p:blipFill>
          <a:blip r:embed="rId1"/>
          <a:stretch>
            <a:fillRect/>
          </a:stretch>
        </p:blipFill>
        <p:spPr>
          <a:xfrm>
            <a:off x="323850" y="3716655"/>
            <a:ext cx="2195830" cy="2111375"/>
          </a:xfrm>
          <a:prstGeom prst="rect">
            <a:avLst/>
          </a:prstGeom>
        </p:spPr>
      </p:pic>
      <p:pic>
        <p:nvPicPr>
          <p:cNvPr id="4" name="图片 3"/>
          <p:cNvPicPr>
            <a:picLocks noChangeAspect="1"/>
          </p:cNvPicPr>
          <p:nvPr/>
        </p:nvPicPr>
        <p:blipFill>
          <a:blip r:embed="rId2"/>
          <a:stretch>
            <a:fillRect/>
          </a:stretch>
        </p:blipFill>
        <p:spPr>
          <a:xfrm>
            <a:off x="3564255" y="3932555"/>
            <a:ext cx="2578100" cy="1732915"/>
          </a:xfrm>
          <a:prstGeom prst="rect">
            <a:avLst/>
          </a:prstGeom>
        </p:spPr>
      </p:pic>
      <p:pic>
        <p:nvPicPr>
          <p:cNvPr id="5" name="图片 4"/>
          <p:cNvPicPr>
            <a:picLocks noChangeAspect="1"/>
          </p:cNvPicPr>
          <p:nvPr/>
        </p:nvPicPr>
        <p:blipFill>
          <a:blip r:embed="rId3"/>
          <a:stretch>
            <a:fillRect/>
          </a:stretch>
        </p:blipFill>
        <p:spPr>
          <a:xfrm>
            <a:off x="6174105" y="3932555"/>
            <a:ext cx="2639695" cy="181102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53249"/>
          <p:cNvSpPr>
            <a:spLocks noGrp="1" noRot="1"/>
          </p:cNvSpPr>
          <p:nvPr>
            <p:ph type="title"/>
          </p:nvPr>
        </p:nvSpPr>
        <p:spPr/>
        <p:txBody>
          <a:bodyPr anchor="ctr"/>
          <a:p>
            <a:r>
              <a:rPr lang="zh-CN" altLang="en-US" b="0" dirty="0">
                <a:solidFill>
                  <a:schemeClr val="tx1"/>
                </a:solidFill>
              </a:rPr>
              <a:t>封装</a:t>
            </a:r>
            <a:endParaRPr lang="zh-CN" altLang="en-US" b="0" dirty="0">
              <a:solidFill>
                <a:schemeClr val="tx1"/>
              </a:solidFill>
            </a:endParaRPr>
          </a:p>
        </p:txBody>
      </p:sp>
      <p:sp>
        <p:nvSpPr>
          <p:cNvPr id="53251" name="文本占位符 53250"/>
          <p:cNvSpPr>
            <a:spLocks noGrp="1" noRot="1"/>
          </p:cNvSpPr>
          <p:nvPr>
            <p:ph type="body" idx="1"/>
          </p:nvPr>
        </p:nvSpPr>
        <p:spPr>
          <a:xfrm>
            <a:off x="263525" y="1347470"/>
            <a:ext cx="8616950" cy="4800600"/>
          </a:xfrm>
        </p:spPr>
        <p:txBody>
          <a:bodyPr>
            <a:normAutofit fontScale="90000"/>
          </a:bodyPr>
          <a:p>
            <a:pPr>
              <a:buClr>
                <a:srgbClr val="7030A0"/>
              </a:buClr>
              <a:buFont typeface="Wingdings" panose="05000000000000000000" charset="0"/>
              <a:buChar char="n"/>
            </a:pPr>
            <a:r>
              <a:rPr lang="zh-CN" altLang="en-US" sz="2800" dirty="0"/>
              <a:t>封装（</a:t>
            </a:r>
            <a:r>
              <a:rPr lang="en-US" altLang="zh-CN" sz="2800" dirty="0"/>
              <a:t>Encapsulation</a:t>
            </a:r>
            <a:r>
              <a:rPr lang="zh-CN" altLang="en-US" sz="2800" dirty="0"/>
              <a:t>）是把对象的属性和服务结合成一个独立的系统单位，并尽可能隐藏对象的内部细节。</a:t>
            </a:r>
            <a:endParaRPr lang="zh-CN" altLang="en-US" sz="2800" dirty="0"/>
          </a:p>
          <a:p>
            <a:pPr>
              <a:buClr>
                <a:srgbClr val="7030A0"/>
              </a:buClr>
              <a:buFont typeface="Wingdings" panose="05000000000000000000" charset="0"/>
              <a:buChar char="n"/>
            </a:pPr>
            <a:r>
              <a:rPr lang="zh-CN" altLang="en-US" sz="2800" dirty="0"/>
              <a:t>封装是面向对象方法的一个重要原则，系统中把对象看成是属性和对象的结合体，使对象能够集中而完整地描述一个具体事物。封装的信息隐蔽作用反映了事物的相对独立性，当我们从外部观察对象时，只需要了解对象所呈现的外部行为（即做什么），而不必关心它的内部细节（即怎么做）。</a:t>
            </a:r>
            <a:br>
              <a:rPr lang="zh-CN" altLang="en-US" sz="2800" dirty="0"/>
            </a:br>
            <a:r>
              <a:rPr lang="zh-CN" altLang="en-US" sz="2800" dirty="0"/>
              <a:t>　　</a:t>
            </a:r>
            <a:endParaRPr lang="zh-CN"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文本占位符 55298"/>
          <p:cNvSpPr>
            <a:spLocks noGrp="1" noRot="1"/>
          </p:cNvSpPr>
          <p:nvPr>
            <p:ph type="body" idx="1"/>
          </p:nvPr>
        </p:nvSpPr>
        <p:spPr>
          <a:xfrm>
            <a:off x="263525" y="1390650"/>
            <a:ext cx="8616950" cy="4800600"/>
          </a:xfrm>
        </p:spPr>
        <p:txBody>
          <a:bodyPr/>
          <a:p>
            <a:pPr>
              <a:buNone/>
            </a:pPr>
            <a:r>
              <a:rPr lang="zh-CN" altLang="en-US" sz="2400" dirty="0"/>
              <a:t>举例：电视机包括外形尺寸、分辨率、电压、电流等属性，具有打开、关闭、调谐频道、转换频道、设置图象等服务，封装意味着将这些属性和行为结合成一个不可分的整体，它对外有一个显示屏、插头和一些按钮等接口，用户通过这些接口使用电视机，而不关心其内部的实现细节。</a:t>
            </a:r>
            <a:endParaRPr lang="zh-CN" altLang="en-US" sz="2400" dirty="0"/>
          </a:p>
          <a:p>
            <a:pPr>
              <a:buNone/>
            </a:pPr>
            <a:endParaRPr lang="zh-CN" altLang="en-US" dirty="0"/>
          </a:p>
        </p:txBody>
      </p:sp>
      <p:pic>
        <p:nvPicPr>
          <p:cNvPr id="55300" name="图片 55299" descr="7"/>
          <p:cNvPicPr>
            <a:picLocks noChangeAspect="1"/>
          </p:cNvPicPr>
          <p:nvPr/>
        </p:nvPicPr>
        <p:blipFill>
          <a:blip r:embed="rId1"/>
          <a:stretch>
            <a:fillRect/>
          </a:stretch>
        </p:blipFill>
        <p:spPr>
          <a:xfrm>
            <a:off x="1564640" y="3941445"/>
            <a:ext cx="2333625" cy="1895475"/>
          </a:xfrm>
          <a:prstGeom prst="rect">
            <a:avLst/>
          </a:prstGeom>
          <a:noFill/>
          <a:ln w="9525">
            <a:noFill/>
          </a:ln>
        </p:spPr>
      </p:pic>
      <p:pic>
        <p:nvPicPr>
          <p:cNvPr id="55301" name="图片 55300" descr="8"/>
          <p:cNvPicPr>
            <a:picLocks noChangeAspect="1"/>
          </p:cNvPicPr>
          <p:nvPr/>
        </p:nvPicPr>
        <p:blipFill>
          <a:blip r:embed="rId2"/>
          <a:stretch>
            <a:fillRect/>
          </a:stretch>
        </p:blipFill>
        <p:spPr>
          <a:xfrm>
            <a:off x="5614670" y="4113530"/>
            <a:ext cx="1857375" cy="1695450"/>
          </a:xfrm>
          <a:prstGeom prst="rect">
            <a:avLst/>
          </a:prstGeom>
          <a:noFill/>
          <a:ln w="9525">
            <a:noFill/>
          </a:ln>
        </p:spPr>
      </p:pic>
      <p:sp>
        <p:nvSpPr>
          <p:cNvPr id="55315" name="右箭头 55314"/>
          <p:cNvSpPr/>
          <p:nvPr/>
        </p:nvSpPr>
        <p:spPr>
          <a:xfrm>
            <a:off x="4234180" y="4718685"/>
            <a:ext cx="976313" cy="485775"/>
          </a:xfrm>
          <a:prstGeom prst="rightArrow">
            <a:avLst>
              <a:gd name="adj1" fmla="val 50000"/>
              <a:gd name="adj2" fmla="val 50245"/>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66561"/>
          <p:cNvSpPr>
            <a:spLocks noGrp="1" noRot="1"/>
          </p:cNvSpPr>
          <p:nvPr>
            <p:ph type="title"/>
          </p:nvPr>
        </p:nvSpPr>
        <p:spPr/>
        <p:txBody>
          <a:bodyPr anchor="ctr"/>
          <a:p>
            <a:r>
              <a:rPr lang="zh-CN" altLang="en-US" b="1" dirty="0">
                <a:solidFill>
                  <a:schemeClr val="tx1"/>
                </a:solidFill>
              </a:rPr>
              <a:t>继承</a:t>
            </a:r>
            <a:endParaRPr lang="zh-CN" altLang="en-US" b="1" dirty="0">
              <a:solidFill>
                <a:schemeClr val="tx1"/>
              </a:solidFill>
            </a:endParaRPr>
          </a:p>
        </p:txBody>
      </p:sp>
      <p:sp>
        <p:nvSpPr>
          <p:cNvPr id="66563" name="文本占位符 66562"/>
          <p:cNvSpPr>
            <a:spLocks noGrp="1" noRot="1"/>
          </p:cNvSpPr>
          <p:nvPr>
            <p:ph type="body" idx="1"/>
          </p:nvPr>
        </p:nvSpPr>
        <p:spPr>
          <a:xfrm>
            <a:off x="263525" y="1253490"/>
            <a:ext cx="8616950" cy="4800600"/>
          </a:xfrm>
        </p:spPr>
        <p:txBody>
          <a:bodyPr>
            <a:normAutofit fontScale="25000"/>
          </a:bodyPr>
          <a:p>
            <a:pPr>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继承（</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Inheritance</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）是指子类可以自动拥有父类的全部属性和服务。</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继承简化了人们对现实世界的认识和描述，在定义子类时不必重复定义那些已在父类中定义过的属性和服务，只要说明它是某个父类的子类，并定义自己特有的属性和服务即可。 </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举例：考虑轮船和客轮两个类，轮船具有吨位、时速、吃水线等属性和行驶、停泊等服务，客轮具有轮船的全部属性和服务，又有自己的特殊属性（如载客量）和服务（如供餐），因此客轮是轮船的子类，轮船是客轮的父类。</a:t>
            </a:r>
            <a:b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　　与父类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子类等价的其他术语有一般类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特殊类、超类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子类、基类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派生类等</a:t>
            </a:r>
            <a:b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65537"/>
          <p:cNvSpPr>
            <a:spLocks noGrp="1" noRot="1"/>
          </p:cNvSpPr>
          <p:nvPr>
            <p:ph type="title"/>
          </p:nvPr>
        </p:nvSpPr>
        <p:spPr/>
        <p:txBody>
          <a:bodyPr anchor="ctr"/>
          <a:p>
            <a:r>
              <a:rPr lang="zh-CN" altLang="en-US" b="0" dirty="0">
                <a:solidFill>
                  <a:schemeClr val="tx1"/>
                </a:solidFill>
              </a:rPr>
              <a:t>消息</a:t>
            </a:r>
            <a:r>
              <a:rPr lang="zh-CN" altLang="en-US" dirty="0">
                <a:solidFill>
                  <a:schemeClr val="tx1"/>
                </a:solidFill>
              </a:rPr>
              <a:t> </a:t>
            </a:r>
            <a:endParaRPr lang="zh-CN" altLang="en-US" dirty="0">
              <a:solidFill>
                <a:schemeClr val="tx1"/>
              </a:solidFill>
            </a:endParaRPr>
          </a:p>
        </p:txBody>
      </p:sp>
      <p:sp>
        <p:nvSpPr>
          <p:cNvPr id="65539" name="文本占位符 65538"/>
          <p:cNvSpPr>
            <a:spLocks noGrp="1" noRot="1"/>
          </p:cNvSpPr>
          <p:nvPr>
            <p:ph type="body" idx="1"/>
          </p:nvPr>
        </p:nvSpPr>
        <p:spPr>
          <a:xfrm>
            <a:off x="228600" y="1132840"/>
            <a:ext cx="8385175" cy="5392420"/>
          </a:xfrm>
        </p:spPr>
        <p:txBody>
          <a:bodyPr>
            <a:normAutofit fontScale="70000"/>
          </a:bodyPr>
          <a:p>
            <a:pPr>
              <a:buClr>
                <a:srgbClr val="7030A0"/>
              </a:buClr>
              <a:buFont typeface="Wingdings" panose="05000000000000000000" charset="0"/>
              <a:buChar char="n"/>
            </a:pP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消息（</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rPr>
              <a:t>Message</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）是对象发出的服务请求，一般包含提供服务的对象标识、服务标识、输入信息和应答信息等信息。</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通常，一个对象向另一个对象发出消息请求某项服务，接收消息的对象响应该消息，激发所要求的服务操作，并将操作结果返回给请求服务的对象。</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举例：使用电视机时，用户通过按钮或遥控器发出转换频道的消息，电视机变换对电视台的接收信号频率，并将结果显示给用户。</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文本占位符 68610"/>
          <p:cNvSpPr>
            <a:spLocks noGrp="1" noRot="1"/>
          </p:cNvSpPr>
          <p:nvPr>
            <p:ph type="body" idx="1"/>
          </p:nvPr>
        </p:nvSpPr>
        <p:spPr>
          <a:xfrm>
            <a:off x="35560" y="2132330"/>
            <a:ext cx="8616950" cy="2670810"/>
          </a:xfrm>
        </p:spPr>
        <p:txBody>
          <a:bodyPr/>
          <a:p>
            <a:pPr>
              <a:buNone/>
            </a:pPr>
            <a:r>
              <a:rPr lang="en-US" altLang="zh-CN" sz="2800" dirty="0"/>
              <a:t>		</a:t>
            </a:r>
            <a:r>
              <a:rPr lang="zh-CN" altLang="en-US" sz="2800" dirty="0"/>
              <a:t>面向对象技术的封装机制使对象各自独立，各司其职，消息通信则为它们提供了唯一合法的动态联系途径，使它们的行为能够相互配合，构成一个有机的运动的系统。</a:t>
            </a:r>
            <a:br>
              <a:rPr lang="zh-CN" altLang="en-US" dirty="0"/>
            </a:b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70657"/>
          <p:cNvSpPr>
            <a:spLocks noGrp="1" noRot="1"/>
          </p:cNvSpPr>
          <p:nvPr>
            <p:ph type="title"/>
          </p:nvPr>
        </p:nvSpPr>
        <p:spPr/>
        <p:txBody>
          <a:bodyPr anchor="ctr"/>
          <a:p>
            <a:r>
              <a:rPr lang="zh-CN" altLang="en-US" sz="4000" b="0" dirty="0">
                <a:solidFill>
                  <a:schemeClr val="tx1"/>
                </a:solidFill>
              </a:rPr>
              <a:t>结构与连接</a:t>
            </a:r>
            <a:r>
              <a:rPr lang="zh-CN" altLang="en-US" sz="4000" dirty="0"/>
              <a:t> </a:t>
            </a:r>
            <a:endParaRPr lang="zh-CN" altLang="en-US" sz="4000" dirty="0"/>
          </a:p>
        </p:txBody>
      </p:sp>
      <p:sp>
        <p:nvSpPr>
          <p:cNvPr id="70659" name="文本占位符 70658"/>
          <p:cNvSpPr>
            <a:spLocks noGrp="1" noRot="1"/>
          </p:cNvSpPr>
          <p:nvPr>
            <p:ph type="body" idx="1"/>
          </p:nvPr>
        </p:nvSpPr>
        <p:spPr>
          <a:xfrm>
            <a:off x="263525" y="1321435"/>
            <a:ext cx="8616950" cy="4495800"/>
          </a:xfrm>
        </p:spPr>
        <p:txBody>
          <a:bodyPr>
            <a:noAutofit/>
          </a:bodyPr>
          <a:p>
            <a:pPr>
              <a:buClr>
                <a:srgbClr val="7030A0"/>
              </a:buClr>
              <a:buFont typeface="Wingdings" panose="05000000000000000000" charset="0"/>
              <a:buChar char="n"/>
            </a:pPr>
            <a:r>
              <a:rPr lang="zh-CN" altLang="en-US" sz="2800" dirty="0"/>
              <a:t>任何事物之间都不是互相孤立，而是彼此联系的，并因此构成一个有机的整体。对象之间常见的联系包括：</a:t>
            </a:r>
            <a:endParaRPr lang="zh-CN" altLang="en-US" sz="2800" dirty="0"/>
          </a:p>
          <a:p>
            <a:pPr lvl="1">
              <a:buClr>
                <a:srgbClr val="7030A0"/>
              </a:buClr>
              <a:buFont typeface="Wingdings" panose="05000000000000000000" charset="0"/>
              <a:buChar char="n"/>
            </a:pPr>
            <a:r>
              <a:rPr lang="zh-CN" altLang="en-US" sz="2800" dirty="0"/>
              <a:t>分类关系，即一般与特殊结构；</a:t>
            </a:r>
            <a:endParaRPr lang="zh-CN" altLang="en-US" sz="2800" dirty="0"/>
          </a:p>
          <a:p>
            <a:pPr lvl="1">
              <a:buClr>
                <a:srgbClr val="7030A0"/>
              </a:buClr>
              <a:buFont typeface="Wingdings" panose="05000000000000000000" charset="0"/>
              <a:buChar char="n"/>
            </a:pPr>
            <a:r>
              <a:rPr lang="zh-CN" altLang="en-US" sz="2800" dirty="0"/>
              <a:t>组成关系，即整体与部分结构；</a:t>
            </a:r>
            <a:endParaRPr lang="zh-CN" altLang="en-US" sz="2800" dirty="0"/>
          </a:p>
          <a:p>
            <a:pPr lvl="1">
              <a:buClr>
                <a:srgbClr val="7030A0"/>
              </a:buClr>
              <a:buFont typeface="Wingdings" panose="05000000000000000000" charset="0"/>
              <a:buChar char="n"/>
            </a:pPr>
            <a:r>
              <a:rPr lang="zh-CN" altLang="en-US" sz="2800" dirty="0"/>
              <a:t>对象属性之间的静态联系，即实例连接；</a:t>
            </a:r>
            <a:endParaRPr lang="zh-CN" altLang="en-US" sz="2800" dirty="0"/>
          </a:p>
          <a:p>
            <a:pPr lvl="2">
              <a:buClr>
                <a:srgbClr val="7030A0"/>
              </a:buClr>
              <a:buFont typeface="Wingdings" panose="05000000000000000000" charset="0"/>
              <a:buChar char="l"/>
            </a:pPr>
            <a:r>
              <a:rPr lang="zh-CN" altLang="en-US" sz="2800" dirty="0"/>
              <a:t>关联关系</a:t>
            </a:r>
            <a:endParaRPr lang="zh-CN" altLang="en-US" sz="2800" dirty="0"/>
          </a:p>
          <a:p>
            <a:pPr lvl="1">
              <a:buClr>
                <a:srgbClr val="7030A0"/>
              </a:buClr>
              <a:buFont typeface="Wingdings" panose="05000000000000000000" charset="0"/>
              <a:buChar char="n"/>
            </a:pPr>
            <a:r>
              <a:rPr lang="zh-CN" altLang="en-US" sz="2800" dirty="0"/>
              <a:t>对象行为之间的动态联系，即消息连接。 		</a:t>
            </a:r>
            <a:br>
              <a:rPr lang="zh-CN" altLang="en-US" sz="2800" dirty="0"/>
            </a:br>
            <a:endParaRPr lang="zh-CN"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78849"/>
          <p:cNvSpPr>
            <a:spLocks noGrp="1" noRot="1"/>
          </p:cNvSpPr>
          <p:nvPr>
            <p:ph type="title"/>
          </p:nvPr>
        </p:nvSpPr>
        <p:spPr/>
        <p:txBody>
          <a:bodyPr anchor="ctr"/>
          <a:p>
            <a:r>
              <a:rPr lang="zh-CN" altLang="en-US" b="0" dirty="0">
                <a:solidFill>
                  <a:schemeClr val="tx1"/>
                </a:solidFill>
              </a:rPr>
              <a:t>多态性</a:t>
            </a:r>
            <a:r>
              <a:rPr lang="zh-CN" altLang="en-US" dirty="0"/>
              <a:t> </a:t>
            </a:r>
            <a:endParaRPr lang="zh-CN" altLang="en-US" dirty="0"/>
          </a:p>
        </p:txBody>
      </p:sp>
      <p:sp>
        <p:nvSpPr>
          <p:cNvPr id="78851" name="文本占位符 78850"/>
          <p:cNvSpPr>
            <a:spLocks noGrp="1" noRot="1"/>
          </p:cNvSpPr>
          <p:nvPr>
            <p:ph type="body" idx="1"/>
          </p:nvPr>
        </p:nvSpPr>
        <p:spPr>
          <a:xfrm>
            <a:off x="228600" y="1029970"/>
            <a:ext cx="8248015" cy="5358130"/>
          </a:xfrm>
        </p:spPr>
        <p:txBody>
          <a:bodyPr>
            <a:normAutofit fontScale="25000"/>
          </a:bodyPr>
          <a:p>
            <a:pPr lvl="0">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多态：子类是父类的一个特例，所以父类对象可以出现的地方，也允许其子类对象出现。因此在运行过程中，当一个对象发送消息请求服务时，</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可以根据对象的不同而采用多种不同的行为方式。</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lvl="0">
              <a:buClr>
                <a:srgbClr val="7030A0"/>
              </a:buClr>
              <a:buFont typeface="Wingdings" panose="05000000000000000000" charset="0"/>
              <a:buChar char="n"/>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lvl="0">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实现多态的技术称为动态绑定（dynamic binding），是指在执行期间判断所引用对象的实际类型，根据其实际的类型调用其相应的方法。	</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lvl="0">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举例：在父类"几何图形"中定义了一个服务"绘图"，但并不确定执行时绘制一个什么图形。子类"椭圆"和"多边形"都继承了几何图形类的绘图服务，但其功能却不相同：一个是画椭圆，一个是画多边形。当系统的其他部分请求绘制一个几何图形（不用关心具体是椭圆还是多边形）时，消息中的服务都是"绘图"，但椭圆和多边形接收到该消息时却各自执行不同的绘图算法。</a:t>
            </a:r>
            <a:r>
              <a:rPr lang="zh-CN" altLang="en-US" sz="90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9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41985"/>
          <p:cNvSpPr>
            <a:spLocks noGrp="1"/>
          </p:cNvSpPr>
          <p:nvPr>
            <p:ph type="title"/>
          </p:nvPr>
        </p:nvSpPr>
        <p:spPr>
          <a:xfrm>
            <a:off x="263208" y="257221"/>
            <a:ext cx="7078190" cy="349250"/>
          </a:xfrm>
        </p:spPr>
        <p:txBody>
          <a:bodyPr anchor="b"/>
          <a:p>
            <a:r>
              <a:rPr lang="zh-CN" altLang="en-US" sz="3200" dirty="0"/>
              <a:t>面向对象与结构化方法的对比</a:t>
            </a:r>
            <a:endParaRPr lang="zh-CN" altLang="en-US" sz="3200" dirty="0"/>
          </a:p>
        </p:txBody>
      </p:sp>
      <p:sp>
        <p:nvSpPr>
          <p:cNvPr id="41987" name="文本占位符 41986"/>
          <p:cNvSpPr>
            <a:spLocks noGrp="1"/>
          </p:cNvSpPr>
          <p:nvPr>
            <p:ph type="body" idx="1"/>
          </p:nvPr>
        </p:nvSpPr>
        <p:spPr>
          <a:xfrm>
            <a:off x="0" y="6021388"/>
            <a:ext cx="9144000" cy="836612"/>
          </a:xfrm>
        </p:spPr>
        <p:txBody>
          <a:bodyPr/>
          <a:p>
            <a:endParaRPr lang="zh-CN" altLang="en-US" dirty="0"/>
          </a:p>
        </p:txBody>
      </p:sp>
      <p:pic>
        <p:nvPicPr>
          <p:cNvPr id="41988" name="图片 41987" descr="10-4"/>
          <p:cNvPicPr>
            <a:picLocks noChangeAspect="1"/>
          </p:cNvPicPr>
          <p:nvPr/>
        </p:nvPicPr>
        <p:blipFill>
          <a:blip r:embed="rId1"/>
          <a:stretch>
            <a:fillRect/>
          </a:stretch>
        </p:blipFill>
        <p:spPr>
          <a:xfrm>
            <a:off x="0" y="713740"/>
            <a:ext cx="9144000" cy="5688013"/>
          </a:xfrm>
          <a:prstGeom prst="rect">
            <a:avLst/>
          </a:prstGeom>
          <a:noFill/>
          <a:ln w="9525">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6147" name="Rectangle 2"/>
          <p:cNvSpPr>
            <a:spLocks noGrp="1"/>
          </p:cNvSpPr>
          <p:nvPr>
            <p:ph type="title"/>
          </p:nvPr>
        </p:nvSpPr>
        <p:spPr>
          <a:xfrm>
            <a:off x="107633" y="99060"/>
            <a:ext cx="7772400" cy="609600"/>
          </a:xfrm>
        </p:spPr>
        <p:txBody>
          <a:bodyPr vert="horz" wrap="square" lIns="92075" tIns="46038" rIns="92075" bIns="46038" anchor="ctr"/>
          <a:p>
            <a:r>
              <a:rPr lang="en-US" altLang="zh-CN" sz="4000" b="0" u="none" dirty="0">
                <a:latin typeface="Arial" panose="020B0604020202020204" pitchFamily="34" charset="0"/>
                <a:ea typeface="微软雅黑" panose="020B0503020204020204" pitchFamily="34" charset="-122"/>
              </a:rPr>
              <a:t>Java</a:t>
            </a:r>
            <a:r>
              <a:rPr lang="zh-CN" altLang="en-US" sz="4000" b="0" u="none" dirty="0">
                <a:latin typeface="Arial" panose="020B0604020202020204" pitchFamily="34" charset="0"/>
                <a:ea typeface="微软雅黑" panose="020B0503020204020204" pitchFamily="34" charset="-122"/>
              </a:rPr>
              <a:t>类</a:t>
            </a:r>
            <a:endParaRPr lang="zh-CN" altLang="en-US" sz="4000" b="0" u="none" dirty="0">
              <a:latin typeface="Arial" panose="020B0604020202020204" pitchFamily="34" charset="0"/>
              <a:ea typeface="微软雅黑" panose="020B0503020204020204" pitchFamily="34" charset="-122"/>
            </a:endParaRPr>
          </a:p>
        </p:txBody>
      </p:sp>
      <p:sp>
        <p:nvSpPr>
          <p:cNvPr id="6148" name="Rectangle 3"/>
          <p:cNvSpPr/>
          <p:nvPr/>
        </p:nvSpPr>
        <p:spPr>
          <a:xfrm>
            <a:off x="2686050" y="234315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149" name="Text Box 4"/>
          <p:cNvSpPr txBox="1"/>
          <p:nvPr/>
        </p:nvSpPr>
        <p:spPr>
          <a:xfrm>
            <a:off x="395605" y="836295"/>
            <a:ext cx="8332470" cy="1867535"/>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lvl="0">
              <a:lnSpc>
                <a:spcPct val="150000"/>
              </a:lnSpc>
              <a:spcBef>
                <a:spcPct val="50000"/>
              </a:spcBef>
              <a:buSzTx/>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Java类</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是定义同一类型的对象，是一个模板、蓝本或者合约。使用变量来定义数据域，而用方法来定义行为。此外,类还提供了一种特殊类型的方法，这种方法被称为构造方法，当你用类来构建对象时会调用构造方法。</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spcBef>
                <a:spcPct val="50000"/>
              </a:spcBef>
              <a:buSzTx/>
              <a:buFont typeface="Wingdings" panose="05000000000000000000" charset="0"/>
              <a:buChar char="n"/>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9222" name="Object 5"/>
          <p:cNvGraphicFramePr>
            <a:graphicFrameLocks noChangeAspect="1"/>
          </p:cNvGraphicFramePr>
          <p:nvPr/>
        </p:nvGraphicFramePr>
        <p:xfrm>
          <a:off x="1259840" y="2060575"/>
          <a:ext cx="7075170" cy="3916045"/>
        </p:xfrm>
        <a:graphic>
          <a:graphicData uri="http://schemas.openxmlformats.org/presentationml/2006/ole">
            <mc:AlternateContent xmlns:mc="http://schemas.openxmlformats.org/markup-compatibility/2006">
              <mc:Choice xmlns:v="urn:schemas-microsoft-com:vml" Requires="v">
                <p:oleObj spid="_x0000_s3077" name="" r:id="rId1" imgW="3562350" imgH="2219325" progId="Word.Picture.8">
                  <p:embed/>
                </p:oleObj>
              </mc:Choice>
              <mc:Fallback>
                <p:oleObj name="" r:id="rId1" imgW="3562350" imgH="2219325" progId="Word.Picture.8">
                  <p:embed/>
                  <p:pic>
                    <p:nvPicPr>
                      <p:cNvPr id="0" name="图片 3076"/>
                      <p:cNvPicPr/>
                      <p:nvPr/>
                    </p:nvPicPr>
                    <p:blipFill>
                      <a:blip r:embed="rId2"/>
                      <a:stretch>
                        <a:fillRect/>
                      </a:stretch>
                    </p:blipFill>
                    <p:spPr>
                      <a:xfrm>
                        <a:off x="1259840" y="2060575"/>
                        <a:ext cx="7075170" cy="3916045"/>
                      </a:xfrm>
                      <a:prstGeom prst="rect">
                        <a:avLst/>
                      </a:prstGeom>
                      <a:noFill/>
                      <a:ln w="38100">
                        <a:noFill/>
                        <a:miter/>
                      </a:ln>
                    </p:spPr>
                  </p:pic>
                </p:oleObj>
              </mc:Fallback>
            </mc:AlternateContent>
          </a:graphicData>
        </a:graphic>
      </p:graphicFrame>
      <p:sp>
        <p:nvSpPr>
          <p:cNvPr id="2" name="文本框 1"/>
          <p:cNvSpPr txBox="1"/>
          <p:nvPr/>
        </p:nvSpPr>
        <p:spPr>
          <a:xfrm>
            <a:off x="1764030" y="5948680"/>
            <a:ext cx="3201035" cy="423545"/>
          </a:xfrm>
          <a:prstGeom prst="rect">
            <a:avLst/>
          </a:prstGeom>
          <a:noFill/>
        </p:spPr>
        <p:txBody>
          <a:bodyPr wrap="square" rtlCol="0" anchor="t">
            <a:spAutoFit/>
          </a:bodyPr>
          <a:p>
            <a:pPr>
              <a:lnSpc>
                <a:spcPct val="120000"/>
              </a:lnSpc>
            </a:pPr>
            <a:r>
              <a:rPr lang="zh-CN" altLang="en-US"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包含</a:t>
            </a:r>
            <a:r>
              <a:rPr lang="en-US" altLang="zh-CN"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main</a:t>
            </a:r>
            <a:r>
              <a:rPr lang="zh-CN" altLang="zh-CN"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方法的类称为主类</a:t>
            </a:r>
            <a:endParaRPr lang="zh-CN" altLang="zh-CN"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7171" name="Rectangle 2"/>
          <p:cNvSpPr>
            <a:spLocks noGrp="1"/>
          </p:cNvSpPr>
          <p:nvPr>
            <p:ph type="title"/>
          </p:nvPr>
        </p:nvSpPr>
        <p:spPr>
          <a:xfrm>
            <a:off x="423863" y="86043"/>
            <a:ext cx="7772400" cy="6096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类和对象的</a:t>
            </a:r>
            <a:r>
              <a:rPr lang="en-US" altLang="zh-CN" sz="4000" b="0" u="none" dirty="0">
                <a:latin typeface="Arial" panose="020B0604020202020204" pitchFamily="34" charset="0"/>
                <a:ea typeface="微软雅黑" panose="020B0503020204020204" pitchFamily="34" charset="-122"/>
              </a:rPr>
              <a:t>UML</a:t>
            </a:r>
            <a:r>
              <a:rPr lang="zh-CN" altLang="en-US" sz="4000" b="0" u="none" dirty="0">
                <a:latin typeface="Arial" panose="020B0604020202020204" pitchFamily="34" charset="0"/>
                <a:ea typeface="微软雅黑" panose="020B0503020204020204" pitchFamily="34" charset="-122"/>
              </a:rPr>
              <a:t>表示</a:t>
            </a:r>
            <a:endParaRPr lang="zh-CN" altLang="en-US" sz="4000" b="0" u="none" dirty="0">
              <a:latin typeface="Arial" panose="020B0604020202020204" pitchFamily="34" charset="0"/>
              <a:ea typeface="微软雅黑" panose="020B0503020204020204" pitchFamily="34" charset="-122"/>
            </a:endParaRPr>
          </a:p>
        </p:txBody>
      </p:sp>
      <p:sp>
        <p:nvSpPr>
          <p:cNvPr id="7172" name="Rectangle 3"/>
          <p:cNvSpPr/>
          <p:nvPr/>
        </p:nvSpPr>
        <p:spPr>
          <a:xfrm>
            <a:off x="2686050" y="234315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7174" name="Rectangle 5"/>
          <p:cNvSpPr/>
          <p:nvPr/>
        </p:nvSpPr>
        <p:spPr>
          <a:xfrm>
            <a:off x="0" y="255270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pic>
        <p:nvPicPr>
          <p:cNvPr id="5" name="图片 4" descr="ObjectDiagram1"/>
          <p:cNvPicPr>
            <a:picLocks noChangeAspect="1"/>
          </p:cNvPicPr>
          <p:nvPr>
            <p:custDataLst>
              <p:tags r:id="rId1"/>
            </p:custDataLst>
          </p:nvPr>
        </p:nvPicPr>
        <p:blipFill>
          <a:blip r:embed="rId2"/>
          <a:stretch>
            <a:fillRect/>
          </a:stretch>
        </p:blipFill>
        <p:spPr>
          <a:xfrm>
            <a:off x="1684020" y="4473575"/>
            <a:ext cx="5922645" cy="1465580"/>
          </a:xfrm>
          <a:prstGeom prst="rect">
            <a:avLst/>
          </a:prstGeom>
        </p:spPr>
      </p:pic>
      <p:pic>
        <p:nvPicPr>
          <p:cNvPr id="6" name="图片 5" descr="Main"/>
          <p:cNvPicPr>
            <a:picLocks noChangeAspect="1"/>
          </p:cNvPicPr>
          <p:nvPr>
            <p:custDataLst>
              <p:tags r:id="rId3"/>
            </p:custDataLst>
          </p:nvPr>
        </p:nvPicPr>
        <p:blipFill>
          <a:blip r:embed="rId4"/>
          <a:stretch>
            <a:fillRect/>
          </a:stretch>
        </p:blipFill>
        <p:spPr>
          <a:xfrm>
            <a:off x="2094865" y="1825625"/>
            <a:ext cx="4806950" cy="272097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3315" name="Rectangle 2"/>
          <p:cNvSpPr>
            <a:spLocks noGrp="1"/>
          </p:cNvSpPr>
          <p:nvPr>
            <p:ph type="title"/>
          </p:nvPr>
        </p:nvSpPr>
        <p:spPr>
          <a:xfrm>
            <a:off x="151130" y="-200025"/>
            <a:ext cx="7772400" cy="1146175"/>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构造方法</a:t>
            </a:r>
            <a:endParaRPr lang="zh-CN" altLang="en-US" sz="4000" b="0" u="none" dirty="0">
              <a:latin typeface="Arial" panose="020B0604020202020204" pitchFamily="34" charset="0"/>
              <a:ea typeface="微软雅黑" panose="020B0503020204020204" pitchFamily="34" charset="-122"/>
            </a:endParaRPr>
          </a:p>
        </p:txBody>
      </p:sp>
      <p:sp>
        <p:nvSpPr>
          <p:cNvPr id="13316" name="Rectangle 3"/>
          <p:cNvSpPr>
            <a:spLocks noGrp="1"/>
          </p:cNvSpPr>
          <p:nvPr>
            <p:ph idx="1"/>
          </p:nvPr>
        </p:nvSpPr>
        <p:spPr>
          <a:xfrm>
            <a:off x="606425" y="2304098"/>
            <a:ext cx="7772400" cy="3867150"/>
          </a:xfrm>
        </p:spPr>
        <p:txBody>
          <a:bodyPr vert="horz" wrap="square" lIns="92075" tIns="46038" rIns="92075" bIns="46038" anchor="t"/>
          <a:p>
            <a:pPr>
              <a:spcBef>
                <a:spcPct val="0"/>
              </a:spcBef>
              <a:buNone/>
            </a:pPr>
            <a:r>
              <a:rPr lang="en-US" altLang="zh-CN" dirty="0">
                <a:latin typeface="Courier New" panose="02070309020205020404" charset="0"/>
                <a:ea typeface="宋体" panose="02010600030101010101" pitchFamily="2" charset="-122"/>
              </a:rPr>
              <a:t>Circle() {</a:t>
            </a:r>
            <a:endParaRPr lang="en-US" altLang="zh-CN" dirty="0">
              <a:latin typeface="Courier New" panose="02070309020205020404" charset="0"/>
              <a:ea typeface="宋体" panose="02010600030101010101" pitchFamily="2" charset="-122"/>
            </a:endParaRPr>
          </a:p>
          <a:p>
            <a:pPr>
              <a:spcBef>
                <a:spcPct val="0"/>
              </a:spcBef>
              <a:buNone/>
            </a:pPr>
            <a:r>
              <a:rPr lang="en-US" altLang="zh-CN" dirty="0">
                <a:latin typeface="Courier New" panose="02070309020205020404" charset="0"/>
                <a:ea typeface="宋体" panose="02010600030101010101" pitchFamily="2" charset="-122"/>
              </a:rPr>
              <a:t>}</a:t>
            </a:r>
            <a:endParaRPr lang="en-US" altLang="zh-CN" dirty="0">
              <a:latin typeface="Courier New" panose="02070309020205020404" charset="0"/>
              <a:ea typeface="宋体" panose="02010600030101010101" pitchFamily="2" charset="-122"/>
            </a:endParaRPr>
          </a:p>
          <a:p>
            <a:pPr>
              <a:spcBef>
                <a:spcPct val="0"/>
              </a:spcBef>
              <a:buNone/>
            </a:pPr>
            <a:r>
              <a:rPr lang="en-US" altLang="zh-CN" dirty="0">
                <a:latin typeface="Courier New" panose="02070309020205020404" charset="0"/>
                <a:ea typeface="宋体" panose="02010600030101010101" pitchFamily="2" charset="-122"/>
              </a:rPr>
              <a:t>Circle(double newRadius) {  </a:t>
            </a:r>
            <a:endParaRPr lang="en-US" altLang="zh-CN" dirty="0">
              <a:latin typeface="Courier New" panose="02070309020205020404" charset="0"/>
              <a:ea typeface="宋体" panose="02010600030101010101" pitchFamily="2" charset="-122"/>
            </a:endParaRPr>
          </a:p>
          <a:p>
            <a:pPr>
              <a:spcBef>
                <a:spcPct val="0"/>
              </a:spcBef>
              <a:buNone/>
            </a:pPr>
            <a:r>
              <a:rPr lang="en-US" altLang="zh-CN" dirty="0">
                <a:latin typeface="Courier New" panose="02070309020205020404" charset="0"/>
                <a:ea typeface="宋体" panose="02010600030101010101" pitchFamily="2" charset="-122"/>
              </a:rPr>
              <a:t>  radius = newRadius;</a:t>
            </a:r>
            <a:endParaRPr lang="en-US" altLang="zh-CN" dirty="0">
              <a:latin typeface="Courier New" panose="02070309020205020404" charset="0"/>
              <a:ea typeface="宋体" panose="02010600030101010101" pitchFamily="2" charset="-122"/>
            </a:endParaRPr>
          </a:p>
          <a:p>
            <a:pPr>
              <a:spcBef>
                <a:spcPct val="0"/>
              </a:spcBef>
              <a:buNone/>
            </a:pPr>
            <a:r>
              <a:rPr lang="en-US" altLang="zh-CN" dirty="0">
                <a:latin typeface="Courier New" panose="02070309020205020404" charset="0"/>
                <a:ea typeface="宋体" panose="02010600030101010101" pitchFamily="2" charset="-122"/>
              </a:rPr>
              <a:t>}</a:t>
            </a:r>
            <a:endParaRPr lang="en-US" altLang="zh-CN" dirty="0">
              <a:latin typeface="Courier New" panose="02070309020205020404" charset="0"/>
              <a:ea typeface="宋体" panose="02010600030101010101" pitchFamily="2" charset="-122"/>
            </a:endParaRPr>
          </a:p>
        </p:txBody>
      </p:sp>
      <p:sp>
        <p:nvSpPr>
          <p:cNvPr id="13317" name="Text Box 4"/>
          <p:cNvSpPr txBox="1"/>
          <p:nvPr/>
        </p:nvSpPr>
        <p:spPr>
          <a:xfrm>
            <a:off x="314325" y="946150"/>
            <a:ext cx="8191500" cy="10763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lvl="0">
              <a:spcBef>
                <a:spcPct val="50000"/>
              </a:spcBef>
              <a:buSzTx/>
              <a:buFont typeface="Wingdings" panose="05000000000000000000" charset="0"/>
              <a:buChar char="n"/>
            </a:pPr>
            <a:r>
              <a:rPr lang="zh-CN" altLang="en-US" dirty="0">
                <a:latin typeface="微软雅黑" panose="020B0503020204020204" pitchFamily="34" charset="-122"/>
                <a:ea typeface="微软雅黑" panose="020B0503020204020204" pitchFamily="34" charset="-122"/>
              </a:rPr>
              <a:t>构造方法是一种特殊的方法，调用它来构造对象。</a:t>
            </a:r>
            <a:endParaRPr lang="zh-CN" altLang="en-US" dirty="0">
              <a:latin typeface="微软雅黑" panose="020B0503020204020204" pitchFamily="34" charset="-122"/>
              <a:ea typeface="微软雅黑" panose="020B0503020204020204" pitchFamily="34" charset="-122"/>
            </a:endParaRPr>
          </a:p>
        </p:txBody>
      </p:sp>
      <p:sp>
        <p:nvSpPr>
          <p:cNvPr id="14340" name="Text Box 3"/>
          <p:cNvSpPr txBox="1"/>
          <p:nvPr/>
        </p:nvSpPr>
        <p:spPr>
          <a:xfrm>
            <a:off x="123508" y="4089400"/>
            <a:ext cx="8572500" cy="21672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lvl="0">
              <a:lnSpc>
                <a:spcPct val="120000"/>
              </a:lnSpc>
              <a:spcBef>
                <a:spcPct val="50000"/>
              </a:spcBef>
              <a:buSzTx/>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没有参数的构造方法被称为无参构造方法</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20000"/>
              </a:lnSpc>
              <a:spcBef>
                <a:spcPct val="50000"/>
              </a:spcBef>
              <a:buSzTx/>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构造方法必须具备和它所属类相同的名字</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20000"/>
              </a:lnSpc>
              <a:spcBef>
                <a:spcPct val="50000"/>
              </a:spcBef>
              <a:buSzTx/>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构造方法没有返回类型，甚至没有</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void     </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20000"/>
              </a:lnSpc>
              <a:spcBef>
                <a:spcPct val="50000"/>
              </a:spcBef>
              <a:buSzTx/>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构造方法是在使用new操作符创建一个对象时调用的。构造方法的作用就是初始化对象</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6387" name="Rectangle 2"/>
          <p:cNvSpPr>
            <a:spLocks noGrp="1"/>
          </p:cNvSpPr>
          <p:nvPr>
            <p:ph type="title"/>
          </p:nvPr>
        </p:nvSpPr>
        <p:spPr>
          <a:xfrm>
            <a:off x="468313" y="-317"/>
            <a:ext cx="7772400" cy="8382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默认构造方法 </a:t>
            </a:r>
            <a:endParaRPr lang="zh-CN" altLang="en-US" sz="4000" b="0" u="none" dirty="0">
              <a:latin typeface="Arial" panose="020B0604020202020204" pitchFamily="34" charset="0"/>
              <a:ea typeface="微软雅黑" panose="020B0503020204020204" pitchFamily="34" charset="-122"/>
            </a:endParaRPr>
          </a:p>
        </p:txBody>
      </p:sp>
      <p:sp>
        <p:nvSpPr>
          <p:cNvPr id="16388" name="Text Box 3"/>
          <p:cNvSpPr txBox="1"/>
          <p:nvPr/>
        </p:nvSpPr>
        <p:spPr>
          <a:xfrm>
            <a:off x="242888" y="1501775"/>
            <a:ext cx="8534400" cy="3784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lvl="0">
              <a:lnSpc>
                <a:spcPct val="150000"/>
              </a:lnSpc>
              <a:spcBef>
                <a:spcPts val="0"/>
              </a:spcBef>
              <a:buSzTx/>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一个类也可以被声明为没有构造方法。在这种情况下，类中隐式地定义了一个方法体为空的无参构造方法。 这个构造构造方法被称为默认构造方法，当且仅当类中没有明确定义任何构造方法时系统才会自动提供它</a:t>
            </a:r>
            <a:r>
              <a:rPr lang="zh-CN" altLang="en-US" dirty="0">
                <a:ea typeface="宋体" panose="02010600030101010101" pitchFamily="2" charset="-122"/>
              </a:rPr>
              <a:t>。</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7411" name="Rectangle 2"/>
          <p:cNvSpPr>
            <a:spLocks noGrp="1"/>
          </p:cNvSpPr>
          <p:nvPr>
            <p:ph type="title"/>
          </p:nvPr>
        </p:nvSpPr>
        <p:spPr>
          <a:xfrm>
            <a:off x="304800" y="0"/>
            <a:ext cx="8153400" cy="8382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声明对象引用变量</a:t>
            </a:r>
            <a:endParaRPr lang="zh-CN" altLang="en-US" sz="4000" b="0" u="none" dirty="0">
              <a:latin typeface="Arial" panose="020B0604020202020204" pitchFamily="34" charset="0"/>
              <a:ea typeface="微软雅黑" panose="020B0503020204020204" pitchFamily="34" charset="-122"/>
            </a:endParaRPr>
          </a:p>
        </p:txBody>
      </p:sp>
      <p:sp>
        <p:nvSpPr>
          <p:cNvPr id="17412" name="Rectangle 3"/>
          <p:cNvSpPr>
            <a:spLocks noGrp="1"/>
          </p:cNvSpPr>
          <p:nvPr>
            <p:ph idx="1"/>
          </p:nvPr>
        </p:nvSpPr>
        <p:spPr>
          <a:xfrm>
            <a:off x="304800" y="1371600"/>
            <a:ext cx="8534400" cy="4724400"/>
          </a:xfrm>
        </p:spPr>
        <p:txBody>
          <a:bodyPr vert="horz" wrap="square" lIns="92075" tIns="46038" rIns="92075" bIns="46038" anchor="t">
            <a:normAutofit fontScale="90000" lnSpcReduction="10000"/>
          </a:bodyPr>
          <a:p>
            <a:pPr marL="0" indent="0">
              <a:lnSpc>
                <a:spcPct val="90000"/>
              </a:lnSpc>
              <a:buNone/>
            </a:pPr>
            <a:r>
              <a:rPr lang="zh-CN" altLang="en-US" sz="2800" dirty="0">
                <a:latin typeface="微软雅黑" panose="020B0503020204020204" pitchFamily="34" charset="-122"/>
                <a:ea typeface="微软雅黑" panose="020B0503020204020204" pitchFamily="34" charset="-122"/>
              </a:rPr>
              <a:t>为了引用对象，给对象赋一个引用变量值。</a:t>
            </a:r>
            <a:endParaRPr lang="zh-CN" altLang="en-US" sz="2800" dirty="0">
              <a:latin typeface="微软雅黑" panose="020B0503020204020204" pitchFamily="34" charset="-122"/>
              <a:ea typeface="微软雅黑" panose="020B0503020204020204" pitchFamily="34" charset="-122"/>
            </a:endParaRPr>
          </a:p>
          <a:p>
            <a:pPr marL="0" indent="0">
              <a:lnSpc>
                <a:spcPct val="90000"/>
              </a:lnSpc>
              <a:buNone/>
            </a:pPr>
            <a:endParaRPr lang="zh-CN" altLang="en-US" sz="2800" dirty="0">
              <a:ea typeface="宋体" panose="02010600030101010101" pitchFamily="2" charset="-122"/>
            </a:endParaRPr>
          </a:p>
          <a:p>
            <a:pPr marL="0" indent="0">
              <a:lnSpc>
                <a:spcPct val="90000"/>
              </a:lnSpc>
              <a:buNone/>
            </a:pPr>
            <a:r>
              <a:rPr lang="zh-CN" altLang="en-US" sz="2800" dirty="0">
                <a:latin typeface="微软雅黑" panose="020B0503020204020204" pitchFamily="34" charset="-122"/>
                <a:ea typeface="微软雅黑" panose="020B0503020204020204" pitchFamily="34" charset="-122"/>
              </a:rPr>
              <a:t>使用下面的语法声明一个引用变量：</a:t>
            </a:r>
            <a:endParaRPr lang="zh-CN" altLang="en-US" sz="2800" dirty="0">
              <a:latin typeface="微软雅黑" panose="020B0503020204020204" pitchFamily="34" charset="-122"/>
              <a:ea typeface="微软雅黑" panose="020B0503020204020204" pitchFamily="34" charset="-122"/>
            </a:endParaRPr>
          </a:p>
          <a:p>
            <a:pPr marL="0" indent="0">
              <a:lnSpc>
                <a:spcPct val="90000"/>
              </a:lnSpc>
              <a:buNone/>
            </a:pPr>
            <a:endParaRPr lang="en-US" altLang="zh-CN" sz="2800" dirty="0">
              <a:ea typeface="宋体" panose="02010600030101010101" pitchFamily="2" charset="-122"/>
            </a:endParaRPr>
          </a:p>
          <a:p>
            <a:pPr marL="0" indent="0">
              <a:lnSpc>
                <a:spcPct val="90000"/>
              </a:lnSpc>
              <a:buNone/>
            </a:pPr>
            <a:r>
              <a:rPr lang="en-US" altLang="zh-CN" sz="2800" dirty="0">
                <a:latin typeface="Courier New" panose="02070309020205020404" charset="0"/>
                <a:ea typeface="宋体" panose="02010600030101010101" pitchFamily="2" charset="-122"/>
              </a:rPr>
              <a:t>ClassName objectRefVar;</a:t>
            </a:r>
            <a:r>
              <a:rPr lang="zh-CN" altLang="en-US" sz="2800" dirty="0">
                <a:latin typeface="Courier New" panose="02070309020205020404" charset="0"/>
                <a:ea typeface="宋体" panose="02010600030101010101" pitchFamily="2" charset="-122"/>
              </a:rPr>
              <a:t> </a:t>
            </a:r>
            <a:endParaRPr lang="zh-CN" altLang="en-US" sz="2800" dirty="0">
              <a:latin typeface="Courier New" panose="02070309020205020404" charset="0"/>
              <a:ea typeface="宋体" panose="02010600030101010101" pitchFamily="2" charset="-122"/>
            </a:endParaRPr>
          </a:p>
          <a:p>
            <a:pPr marL="0" indent="0">
              <a:lnSpc>
                <a:spcPct val="90000"/>
              </a:lnSpc>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（类名          对象引用变量；）</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lnSpc>
                <a:spcPct val="90000"/>
              </a:lnSpc>
              <a:buNone/>
            </a:pPr>
            <a:endParaRPr lang="zh-CN" altLang="en-US" sz="2800" dirty="0">
              <a:latin typeface="Book Antiqua" panose="02040602050305030304" pitchFamily="18" charset="0"/>
              <a:ea typeface="宋体" panose="02010600030101010101" pitchFamily="2" charset="-122"/>
            </a:endParaRPr>
          </a:p>
          <a:p>
            <a:pPr marL="0" indent="0" algn="just">
              <a:lnSpc>
                <a:spcPct val="90000"/>
              </a:lnSpc>
              <a:buNone/>
            </a:pPr>
            <a:r>
              <a:rPr lang="zh-CN" altLang="en-US" sz="2800" dirty="0">
                <a:latin typeface="微软雅黑" panose="020B0503020204020204" pitchFamily="34" charset="-122"/>
                <a:ea typeface="微软雅黑" panose="020B0503020204020204" pitchFamily="34" charset="-122"/>
              </a:rPr>
              <a:t>举例：</a:t>
            </a:r>
            <a:endParaRPr lang="en-US" altLang="zh-CN" sz="2800" dirty="0">
              <a:latin typeface="微软雅黑" panose="020B0503020204020204" pitchFamily="34" charset="-122"/>
              <a:ea typeface="微软雅黑" panose="020B0503020204020204" pitchFamily="34" charset="-122"/>
            </a:endParaRPr>
          </a:p>
          <a:p>
            <a:pPr marL="0" indent="0">
              <a:lnSpc>
                <a:spcPct val="90000"/>
              </a:lnSpc>
              <a:buNone/>
            </a:pPr>
            <a:r>
              <a:rPr lang="en-US" altLang="zh-CN" sz="2800" dirty="0">
                <a:latin typeface="Courier New" panose="02070309020205020404" charset="0"/>
                <a:ea typeface="宋体" panose="02010600030101010101" pitchFamily="2" charset="-122"/>
              </a:rPr>
              <a:t>Circle myCircle;</a:t>
            </a:r>
            <a:endParaRPr lang="en-US" altLang="zh-CN" sz="2800" dirty="0">
              <a:latin typeface="Courier New" panose="02070309020205020404" charset="0"/>
              <a:ea typeface="宋体" panose="02010600030101010101" pitchFamily="2" charset="-122"/>
            </a:endParaRPr>
          </a:p>
          <a:p>
            <a:pPr marL="0" indent="0">
              <a:lnSpc>
                <a:spcPct val="90000"/>
              </a:lnSpc>
              <a:buNone/>
            </a:pPr>
            <a:r>
              <a:rPr lang="en-US" altLang="zh-CN" sz="2800" dirty="0">
                <a:latin typeface="Courier New" panose="02070309020205020404" charset="0"/>
                <a:ea typeface="宋体" panose="02010600030101010101" pitchFamily="2" charset="-122"/>
              </a:rPr>
              <a:t>myCircle=new </a:t>
            </a:r>
            <a:r>
              <a:rPr lang="en-US" altLang="zh-CN" sz="2800" dirty="0">
                <a:latin typeface="Courier New" panose="02070309020205020404" charset="0"/>
                <a:ea typeface="宋体" panose="02010600030101010101" pitchFamily="2" charset="-122"/>
                <a:sym typeface="+mn-ea"/>
              </a:rPr>
              <a:t>Circle();</a:t>
            </a:r>
            <a:endParaRPr lang="en-US" altLang="zh-CN" sz="2800" dirty="0">
              <a:latin typeface="Courier New" panose="02070309020205020404" charset="0"/>
              <a:ea typeface="宋体" panose="02010600030101010101" pitchFamily="2" charset="-122"/>
              <a:sym typeface="+mn-ea"/>
            </a:endParaRPr>
          </a:p>
          <a:p>
            <a:pPr marL="0" indent="0">
              <a:lnSpc>
                <a:spcPct val="90000"/>
              </a:lnSpc>
              <a:buNone/>
            </a:pPr>
            <a:r>
              <a:rPr lang="zh-CN" altLang="en-US" sz="2800" dirty="0">
                <a:latin typeface="Arial" panose="020B0604020202020204" pitchFamily="34" charset="0"/>
                <a:ea typeface="微软雅黑" panose="020B0503020204020204" pitchFamily="34" charset="-122"/>
                <a:sym typeface="+mn-ea"/>
              </a:rPr>
              <a:t>一步完成对象的声明</a:t>
            </a:r>
            <a:r>
              <a:rPr lang="en-US" altLang="zh-CN" sz="2800" dirty="0">
                <a:latin typeface="Arial" panose="020B0604020202020204" pitchFamily="34" charset="0"/>
                <a:ea typeface="微软雅黑" panose="020B0503020204020204" pitchFamily="34" charset="-122"/>
                <a:sym typeface="+mn-ea"/>
              </a:rPr>
              <a:t>/</a:t>
            </a:r>
            <a:r>
              <a:rPr lang="zh-CN" altLang="en-US" sz="2800" dirty="0">
                <a:latin typeface="Arial" panose="020B0604020202020204" pitchFamily="34" charset="0"/>
                <a:ea typeface="微软雅黑" panose="020B0503020204020204" pitchFamily="34" charset="-122"/>
                <a:sym typeface="+mn-ea"/>
              </a:rPr>
              <a:t>创建</a:t>
            </a:r>
            <a:endParaRPr lang="zh-CN" altLang="en-US" sz="2800" b="0" u="none" dirty="0">
              <a:latin typeface="Arial" panose="020B0604020202020204" pitchFamily="34" charset="0"/>
              <a:ea typeface="微软雅黑" panose="020B0503020204020204" pitchFamily="34" charset="-122"/>
            </a:endParaRPr>
          </a:p>
          <a:p>
            <a:pPr marL="0" indent="0">
              <a:lnSpc>
                <a:spcPct val="90000"/>
              </a:lnSpc>
              <a:buNone/>
            </a:pPr>
            <a:r>
              <a:rPr lang="en-US" altLang="zh-CN" sz="2800" dirty="0">
                <a:latin typeface="Courier New" panose="02070309020205020404" charset="0"/>
                <a:ea typeface="宋体" panose="02010600030101010101" pitchFamily="2" charset="-122"/>
                <a:sym typeface="+mn-ea"/>
              </a:rPr>
              <a:t>Circle </a:t>
            </a:r>
            <a:r>
              <a:rPr lang="zh-CN" altLang="en-US" sz="2800" dirty="0">
                <a:latin typeface="Courier New" panose="02070309020205020404" charset="0"/>
                <a:ea typeface="宋体" panose="02010600030101010101" pitchFamily="2" charset="-122"/>
                <a:sym typeface="+mn-ea"/>
              </a:rPr>
              <a:t> </a:t>
            </a:r>
            <a:r>
              <a:rPr lang="en-US" altLang="zh-CN" sz="2800" dirty="0">
                <a:latin typeface="Courier New" panose="02070309020205020404" charset="0"/>
                <a:ea typeface="宋体" panose="02010600030101010101" pitchFamily="2" charset="-122"/>
                <a:sym typeface="+mn-ea"/>
              </a:rPr>
              <a:t>myCircle=new </a:t>
            </a:r>
            <a:r>
              <a:rPr lang="en-US" altLang="zh-CN" sz="2800" dirty="0">
                <a:latin typeface="Courier New" panose="02070309020205020404" charset="0"/>
                <a:ea typeface="宋体" panose="02010600030101010101" pitchFamily="2" charset="-122"/>
                <a:sym typeface="+mn-ea"/>
              </a:rPr>
              <a:t>Circle();</a:t>
            </a:r>
            <a:endParaRPr lang="en-US" altLang="zh-CN" sz="2800" dirty="0">
              <a:latin typeface="Courier New" panose="02070309020205020404" charset="0"/>
              <a:ea typeface="宋体" panose="02010600030101010101" pitchFamily="2" charset="-122"/>
              <a:sym typeface="+mn-ea"/>
            </a:endParaRPr>
          </a:p>
          <a:p>
            <a:pPr marL="0" indent="0">
              <a:lnSpc>
                <a:spcPct val="90000"/>
              </a:lnSpc>
              <a:buNone/>
            </a:pPr>
            <a:endParaRPr lang="en-US" altLang="zh-CN" sz="2800" dirty="0">
              <a:latin typeface="Courier New" panose="020703090202050204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9459" name="Rectangle 2"/>
          <p:cNvSpPr>
            <a:spLocks noGrp="1"/>
          </p:cNvSpPr>
          <p:nvPr>
            <p:ph type="title"/>
          </p:nvPr>
        </p:nvSpPr>
        <p:spPr>
          <a:xfrm>
            <a:off x="295275" y="-295275"/>
            <a:ext cx="7772400" cy="142875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访问对象</a:t>
            </a:r>
            <a:endParaRPr lang="zh-CN" altLang="en-US" sz="4000" b="0" u="none" dirty="0">
              <a:latin typeface="Arial" panose="020B0604020202020204" pitchFamily="34" charset="0"/>
              <a:ea typeface="微软雅黑" panose="020B0503020204020204" pitchFamily="34" charset="-122"/>
            </a:endParaRPr>
          </a:p>
        </p:txBody>
      </p:sp>
      <p:sp>
        <p:nvSpPr>
          <p:cNvPr id="19460" name="Rectangle 3"/>
          <p:cNvSpPr>
            <a:spLocks noGrp="1"/>
          </p:cNvSpPr>
          <p:nvPr>
            <p:ph idx="1"/>
          </p:nvPr>
        </p:nvSpPr>
        <p:spPr>
          <a:xfrm>
            <a:off x="685800" y="1371600"/>
            <a:ext cx="7772400" cy="4114800"/>
          </a:xfrm>
        </p:spPr>
        <p:txBody>
          <a:bodyPr vert="horz" wrap="square" lIns="92075" tIns="46038" rIns="92075" bIns="46038" anchor="t">
            <a:normAutofit lnSpcReduction="10000"/>
          </a:bodyPr>
          <a:p>
            <a:pPr>
              <a:buClr>
                <a:srgbClr val="7030A0"/>
              </a:buClr>
              <a:buFont typeface="Wingdings" panose="05000000000000000000" charset="0"/>
              <a:buChar char="n"/>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引用对象的数据：</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objectRefVar.data</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r>
              <a:rPr lang="en-US" altLang="zh-CN" sz="2800"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i="1" dirty="0">
                <a:latin typeface="微软雅黑" panose="020B0503020204020204" pitchFamily="34" charset="-122"/>
                <a:ea typeface="微软雅黑" panose="020B0503020204020204" pitchFamily="34" charset="-122"/>
                <a:cs typeface="微软雅黑" panose="020B0503020204020204" pitchFamily="34" charset="-122"/>
              </a:rPr>
              <a:t>举例：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myCircle.radius</a:t>
            </a:r>
            <a:endParaRPr lang="en-US" altLang="zh-CN" sz="2800" i="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调用对象的方法：</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objectRefVar.methodName(arguments)</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r>
              <a:rPr lang="en-US" altLang="zh-CN" sz="2800"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i="1" dirty="0">
                <a:latin typeface="微软雅黑" panose="020B0503020204020204" pitchFamily="34" charset="-122"/>
                <a:ea typeface="微软雅黑" panose="020B0503020204020204" pitchFamily="34" charset="-122"/>
                <a:cs typeface="微软雅黑" panose="020B0503020204020204" pitchFamily="34" charset="-122"/>
              </a:rPr>
              <a:t>举例：</a:t>
            </a:r>
            <a:r>
              <a:rPr lang="en-US" altLang="zh-CN" sz="28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myCircle.getArea()</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27651" name="Rectangle 2"/>
          <p:cNvSpPr>
            <a:spLocks noGrp="1"/>
          </p:cNvSpPr>
          <p:nvPr>
            <p:ph type="title"/>
          </p:nvPr>
        </p:nvSpPr>
        <p:spPr>
          <a:xfrm>
            <a:off x="152400" y="76200"/>
            <a:ext cx="8991600" cy="5334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注意</a:t>
            </a:r>
            <a:endParaRPr lang="zh-CN" altLang="en-US" sz="4000" b="0" u="none" dirty="0">
              <a:solidFill>
                <a:schemeClr val="tx1"/>
              </a:solidFill>
              <a:latin typeface="Arial" panose="020B0604020202020204" pitchFamily="34" charset="0"/>
              <a:ea typeface="微软雅黑" panose="020B0503020204020204" pitchFamily="34" charset="-122"/>
            </a:endParaRPr>
          </a:p>
        </p:txBody>
      </p:sp>
      <p:sp>
        <p:nvSpPr>
          <p:cNvPr id="27652" name="Rectangle 3"/>
          <p:cNvSpPr>
            <a:spLocks noGrp="1"/>
          </p:cNvSpPr>
          <p:nvPr>
            <p:ph idx="1"/>
          </p:nvPr>
        </p:nvSpPr>
        <p:spPr>
          <a:xfrm>
            <a:off x="152400" y="1219200"/>
            <a:ext cx="8392160" cy="5029200"/>
          </a:xfrm>
        </p:spPr>
        <p:txBody>
          <a:bodyPr vert="horz" wrap="square" lIns="92075" tIns="46038" rIns="92075" bIns="46038" anchor="t">
            <a:normAutofit fontScale="80000"/>
          </a:bodyPr>
          <a:p>
            <a:pPr marL="0" indent="0" defTabSz="914400">
              <a:lnSpc>
                <a:spcPct val="120000"/>
              </a:lnSpc>
              <a:buNone/>
              <a:tabLst>
                <a:tab pos="0" algn="l"/>
              </a:tabLs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回想一下，我们曾使用过</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979805" lvl="1" defTabSz="914400">
              <a:lnSpc>
                <a:spcPct val="120000"/>
              </a:lnSpc>
              <a:buNone/>
              <a:tabLst>
                <a:tab pos="0" algn="l"/>
              </a:tabLst>
            </a:pPr>
            <a:endParaRPr lang="en-US" altLang="zh-CN" sz="2400" u="sng" dirty="0">
              <a:latin typeface="微软雅黑" panose="020B0503020204020204" pitchFamily="34" charset="-122"/>
              <a:ea typeface="微软雅黑" panose="020B0503020204020204" pitchFamily="34" charset="-122"/>
              <a:cs typeface="微软雅黑" panose="020B0503020204020204" pitchFamily="34" charset="-122"/>
            </a:endParaRPr>
          </a:p>
          <a:p>
            <a:pPr marL="979805" lvl="1" defTabSz="914400">
              <a:lnSpc>
                <a:spcPct val="120000"/>
              </a:lnSpc>
              <a:buNone/>
              <a:tabLst>
                <a:tab pos="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Math.methodName(arguments)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（例如：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Math.pow(3, 2.5)</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120000"/>
              </a:lnSpc>
              <a:buNone/>
              <a:tabLst>
                <a:tab pos="0" algn="l"/>
              </a:tabLst>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120000"/>
              </a:lnSpc>
              <a:buNone/>
              <a:tabLst>
                <a:tab pos="0" algn="l"/>
              </a:tabLs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从M</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ath</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库中调用方法。你能使用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Circle1.getArea()</a:t>
            </a:r>
            <a:r>
              <a:rPr lang="en-US" altLang="zh-CN" sz="2400" u="sng"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来调用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getArea()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么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答案是不行。 这章之前使用的方法都是用关键字</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static</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来定义的。但是，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getArea()</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是不是静态的。从对象中调用该方法必须使用：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120000"/>
              </a:lnSpc>
              <a:buNone/>
              <a:tabLst>
                <a:tab pos="0" algn="l"/>
              </a:tabLst>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979805" lvl="1" defTabSz="914400">
              <a:lnSpc>
                <a:spcPct val="120000"/>
              </a:lnSpc>
              <a:buNone/>
              <a:tabLst>
                <a:tab pos="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objectRefVar.methodName(arguments) (e.g., myCircle.getArea()).</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120000"/>
              </a:lnSpc>
              <a:buNone/>
              <a:tabLst>
                <a:tab pos="0" algn="l"/>
              </a:tabLst>
            </a:pPr>
            <a:endParaRPr lang="en-US" altLang="zh-CN" sz="2000" dirty="0">
              <a:ea typeface="宋体" panose="02010600030101010101" pitchFamily="2" charset="-122"/>
            </a:endParaRPr>
          </a:p>
          <a:p>
            <a:pPr marL="0" indent="0" defTabSz="914400">
              <a:lnSpc>
                <a:spcPct val="120000"/>
              </a:lnSpc>
              <a:buNone/>
              <a:tabLst>
                <a:tab pos="0" algn="l"/>
              </a:tabLst>
            </a:pPr>
            <a:r>
              <a:rPr lang="zh-CN" altLang="en-US" sz="2400" dirty="0">
                <a:ea typeface="宋体" panose="02010600030101010101" pitchFamily="2" charset="-122"/>
              </a:rPr>
              <a:t>。</a:t>
            </a: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28675" name="Rectangle 2"/>
          <p:cNvSpPr>
            <a:spLocks noGrp="1"/>
          </p:cNvSpPr>
          <p:nvPr>
            <p:ph type="title"/>
          </p:nvPr>
        </p:nvSpPr>
        <p:spPr>
          <a:xfrm>
            <a:off x="468630" y="66675"/>
            <a:ext cx="7772400" cy="66675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引用数据域和</a:t>
            </a:r>
            <a:r>
              <a:rPr lang="en-US" altLang="zh-CN" sz="4000" b="0" u="none" dirty="0">
                <a:latin typeface="Arial" panose="020B0604020202020204" pitchFamily="34" charset="0"/>
                <a:ea typeface="微软雅黑" panose="020B0503020204020204" pitchFamily="34" charset="-122"/>
              </a:rPr>
              <a:t>null</a:t>
            </a:r>
            <a:r>
              <a:rPr lang="zh-CN" altLang="en-US" sz="4000" b="0" u="none" dirty="0">
                <a:latin typeface="Arial" panose="020B0604020202020204" pitchFamily="34" charset="0"/>
                <a:ea typeface="微软雅黑" panose="020B0503020204020204" pitchFamily="34" charset="-122"/>
              </a:rPr>
              <a:t>值</a:t>
            </a:r>
            <a:endParaRPr lang="zh-CN" altLang="en-US" sz="4000" b="0" u="none" dirty="0">
              <a:latin typeface="Arial" panose="020B0604020202020204" pitchFamily="34" charset="0"/>
              <a:ea typeface="微软雅黑" panose="020B0503020204020204" pitchFamily="34" charset="-122"/>
            </a:endParaRPr>
          </a:p>
        </p:txBody>
      </p:sp>
      <p:sp>
        <p:nvSpPr>
          <p:cNvPr id="28676" name="Rectangle 3"/>
          <p:cNvSpPr>
            <a:spLocks noGrp="1"/>
          </p:cNvSpPr>
          <p:nvPr>
            <p:ph idx="1"/>
          </p:nvPr>
        </p:nvSpPr>
        <p:spPr>
          <a:xfrm>
            <a:off x="309563" y="1049338"/>
            <a:ext cx="8458200" cy="1574800"/>
          </a:xfrm>
        </p:spPr>
        <p:txBody>
          <a:bodyPr vert="horz" wrap="square" lIns="92075" tIns="46038" rIns="92075" bIns="46038" anchor="t"/>
          <a:p>
            <a:pPr marL="0" indent="0">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数据域也有可能是引用型的。 例如：下面的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Student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类中包括一个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String</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类型的</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name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数据域。</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677" name="Rectangle 4"/>
          <p:cNvSpPr/>
          <p:nvPr>
            <p:custDataLst>
              <p:tags r:id="rId1"/>
            </p:custDataLst>
          </p:nvPr>
        </p:nvSpPr>
        <p:spPr>
          <a:xfrm>
            <a:off x="309880" y="2281555"/>
            <a:ext cx="8610600" cy="229552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buNone/>
            </a:pPr>
            <a:r>
              <a:rPr lang="en-US" altLang="zh-CN" sz="1800" dirty="0">
                <a:solidFill>
                  <a:schemeClr val="tx1"/>
                </a:solidFill>
                <a:latin typeface="Courier New" panose="02070309020205020404" charset="0"/>
                <a:ea typeface="宋体" panose="02010600030101010101" pitchFamily="2" charset="-122"/>
              </a:rPr>
              <a:t>public class Student {</a:t>
            </a:r>
            <a:endParaRPr lang="en-US" altLang="zh-CN" sz="1800" dirty="0">
              <a:solidFill>
                <a:schemeClr val="tx1"/>
              </a:solidFill>
              <a:latin typeface="Courier" charset="0"/>
              <a:ea typeface="宋体" panose="02010600030101010101" pitchFamily="2" charset="-122"/>
            </a:endParaRPr>
          </a:p>
          <a:p>
            <a:pPr marL="0" lvl="0" indent="0">
              <a:buNone/>
            </a:pPr>
            <a:r>
              <a:rPr lang="en-US" altLang="zh-CN" sz="1800" dirty="0">
                <a:solidFill>
                  <a:schemeClr val="tx1"/>
                </a:solidFill>
                <a:latin typeface="Courier New" panose="02070309020205020404" charset="0"/>
                <a:ea typeface="宋体" panose="02010600030101010101" pitchFamily="2" charset="-122"/>
              </a:rPr>
              <a:t>  String name; // name has default value null</a:t>
            </a:r>
            <a:endParaRPr lang="en-US" altLang="zh-CN" sz="1800" dirty="0">
              <a:solidFill>
                <a:schemeClr val="tx1"/>
              </a:solidFill>
              <a:latin typeface="Courier" charset="0"/>
              <a:ea typeface="宋体" panose="02010600030101010101" pitchFamily="2" charset="-122"/>
            </a:endParaRPr>
          </a:p>
          <a:p>
            <a:pPr marL="0" lvl="0" indent="0">
              <a:buNone/>
            </a:pPr>
            <a:r>
              <a:rPr lang="en-US" altLang="zh-CN" sz="1800" dirty="0">
                <a:solidFill>
                  <a:schemeClr val="tx1"/>
                </a:solidFill>
                <a:latin typeface="Courier New" panose="02070309020205020404" charset="0"/>
                <a:ea typeface="宋体" panose="02010600030101010101" pitchFamily="2" charset="-122"/>
              </a:rPr>
              <a:t>  int age; // age has default value 0</a:t>
            </a:r>
            <a:endParaRPr lang="en-US" altLang="zh-CN" sz="1800" dirty="0">
              <a:solidFill>
                <a:schemeClr val="tx1"/>
              </a:solidFill>
              <a:latin typeface="Courier" charset="0"/>
              <a:ea typeface="宋体" panose="02010600030101010101" pitchFamily="2" charset="-122"/>
            </a:endParaRPr>
          </a:p>
          <a:p>
            <a:pPr marL="0" lvl="0" indent="0">
              <a:buNone/>
            </a:pPr>
            <a:r>
              <a:rPr lang="en-US" altLang="zh-CN" sz="1800" dirty="0">
                <a:solidFill>
                  <a:schemeClr val="tx1"/>
                </a:solidFill>
                <a:latin typeface="Courier New" panose="02070309020205020404" charset="0"/>
                <a:ea typeface="宋体" panose="02010600030101010101" pitchFamily="2" charset="-122"/>
              </a:rPr>
              <a:t>  boolean isScienceMajor; </a:t>
            </a:r>
            <a:endParaRPr lang="en-US" altLang="zh-CN" sz="1800" dirty="0">
              <a:solidFill>
                <a:schemeClr val="tx1"/>
              </a:solidFill>
              <a:latin typeface="Courier New" panose="02070309020205020404" charset="0"/>
              <a:ea typeface="宋体" panose="02010600030101010101" pitchFamily="2" charset="-122"/>
            </a:endParaRPr>
          </a:p>
          <a:p>
            <a:pPr marL="0" lvl="0" indent="0">
              <a:buNone/>
            </a:pPr>
            <a:r>
              <a:rPr lang="en-US" altLang="zh-CN" sz="1800" dirty="0">
                <a:solidFill>
                  <a:schemeClr val="tx1"/>
                </a:solidFill>
                <a:latin typeface="Courier New" panose="02070309020205020404" charset="0"/>
                <a:ea typeface="宋体" panose="02010600030101010101" pitchFamily="2" charset="-122"/>
              </a:rPr>
              <a:t>         // isScienceMajor has default value false</a:t>
            </a:r>
            <a:endParaRPr lang="en-US" altLang="zh-CN" sz="1800" dirty="0">
              <a:solidFill>
                <a:schemeClr val="tx1"/>
              </a:solidFill>
              <a:latin typeface="Courier" charset="0"/>
              <a:ea typeface="宋体" panose="02010600030101010101" pitchFamily="2" charset="-122"/>
            </a:endParaRPr>
          </a:p>
          <a:p>
            <a:pPr marL="0" lvl="0" indent="0">
              <a:buNone/>
            </a:pPr>
            <a:r>
              <a:rPr lang="en-US" altLang="zh-CN" sz="1800" dirty="0">
                <a:solidFill>
                  <a:schemeClr val="tx1"/>
                </a:solidFill>
                <a:latin typeface="Courier New" panose="02070309020205020404" charset="0"/>
                <a:ea typeface="宋体" panose="02010600030101010101" pitchFamily="2" charset="-122"/>
              </a:rPr>
              <a:t>  char gender; // c has default value '\u0000'</a:t>
            </a:r>
            <a:endParaRPr lang="en-US" altLang="zh-CN" sz="1800" dirty="0">
              <a:solidFill>
                <a:schemeClr val="tx1"/>
              </a:solidFill>
              <a:latin typeface="Courier" charset="0"/>
              <a:ea typeface="宋体" panose="02010600030101010101" pitchFamily="2" charset="-122"/>
            </a:endParaRPr>
          </a:p>
          <a:p>
            <a:pPr marL="0" lvl="0" indent="0">
              <a:buNone/>
            </a:pPr>
            <a:r>
              <a:rPr lang="en-US" altLang="zh-CN" sz="1800" dirty="0">
                <a:solidFill>
                  <a:schemeClr val="tx1"/>
                </a:solidFill>
                <a:latin typeface="Courier New" panose="02070309020205020404" charset="0"/>
                <a:ea typeface="宋体" panose="02010600030101010101" pitchFamily="2" charset="-122"/>
              </a:rPr>
              <a:t>}</a:t>
            </a:r>
            <a:endParaRPr lang="en-US" altLang="zh-CN" sz="1800" dirty="0">
              <a:solidFill>
                <a:schemeClr val="tx1"/>
              </a:solidFill>
              <a:latin typeface="Courier New" panose="02070309020205020404" charset="0"/>
              <a:ea typeface="宋体" panose="02010600030101010101" pitchFamily="2" charset="-122"/>
            </a:endParaRPr>
          </a:p>
        </p:txBody>
      </p:sp>
      <p:sp>
        <p:nvSpPr>
          <p:cNvPr id="3" name="文本框 2"/>
          <p:cNvSpPr txBox="1"/>
          <p:nvPr/>
        </p:nvSpPr>
        <p:spPr>
          <a:xfrm>
            <a:off x="348615" y="4860290"/>
            <a:ext cx="8446770" cy="521970"/>
          </a:xfrm>
          <a:prstGeom prst="rect">
            <a:avLst/>
          </a:prstGeom>
          <a:noFill/>
        </p:spPr>
        <p:txBody>
          <a:bodyPr wrap="square" rtlCol="0" anchor="t">
            <a:spAutoFit/>
          </a:bodyPr>
          <a:p>
            <a:pPr marL="0" indent="0">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如果一个引用类型数据域没有引用任何对象，那么这个数据域就有一个特殊的Java值：null</a:t>
            </a:r>
            <a:r>
              <a:rPr lang="zh-CN" altLang="en-US" sz="1600" dirty="0">
                <a:ea typeface="宋体" panose="02010600030101010101" pitchFamily="2" charset="-122"/>
                <a:sym typeface="+mn-ea"/>
              </a:rPr>
              <a:t>。 </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0723" name="Rectangle 2"/>
          <p:cNvSpPr>
            <a:spLocks noGrp="1"/>
          </p:cNvSpPr>
          <p:nvPr>
            <p:ph type="title"/>
          </p:nvPr>
        </p:nvSpPr>
        <p:spPr>
          <a:xfrm>
            <a:off x="304800" y="95250"/>
            <a:ext cx="7772400" cy="66675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数据域的默认值</a:t>
            </a:r>
            <a:endParaRPr lang="zh-CN" altLang="en-US" sz="4000" b="0" u="none" dirty="0">
              <a:latin typeface="Arial" panose="020B0604020202020204" pitchFamily="34" charset="0"/>
              <a:ea typeface="微软雅黑" panose="020B0503020204020204" pitchFamily="34" charset="-122"/>
            </a:endParaRPr>
          </a:p>
        </p:txBody>
      </p:sp>
      <p:sp>
        <p:nvSpPr>
          <p:cNvPr id="30724" name="Rectangle 3"/>
          <p:cNvSpPr>
            <a:spLocks noGrp="1"/>
          </p:cNvSpPr>
          <p:nvPr>
            <p:ph idx="1"/>
          </p:nvPr>
        </p:nvSpPr>
        <p:spPr>
          <a:xfrm>
            <a:off x="577850" y="1047750"/>
            <a:ext cx="8107363" cy="2057400"/>
          </a:xfrm>
        </p:spPr>
        <p:txBody>
          <a:bodyPr vert="horz" wrap="square" lIns="92075" tIns="46038" rIns="92075" bIns="46038" anchor="t"/>
          <a:p>
            <a:pPr marL="0" indent="0">
              <a:lnSpc>
                <a:spcPct val="120000"/>
              </a:lnSpc>
              <a:buNone/>
            </a:pPr>
            <a:r>
              <a:rPr lang="zh-CN" altLang="en-US" sz="2800" dirty="0">
                <a:ea typeface="宋体" panose="02010600030101010101" pitchFamily="2" charset="-122"/>
              </a:rPr>
              <a:t>引用类型数据域的默认值为 </a:t>
            </a:r>
            <a:r>
              <a:rPr lang="en-US" altLang="zh-CN" sz="2800" dirty="0">
                <a:ea typeface="宋体" panose="02010600030101010101" pitchFamily="2" charset="-122"/>
              </a:rPr>
              <a:t>null </a:t>
            </a:r>
            <a:r>
              <a:rPr lang="zh-CN" altLang="en-US" sz="2800" dirty="0">
                <a:ea typeface="宋体" panose="02010600030101010101" pitchFamily="2" charset="-122"/>
              </a:rPr>
              <a:t>，数值类型数据域的默认值为0，</a:t>
            </a:r>
            <a:r>
              <a:rPr lang="en-US" altLang="zh-CN" sz="2800" dirty="0">
                <a:ea typeface="宋体" panose="02010600030101010101" pitchFamily="2" charset="-122"/>
              </a:rPr>
              <a:t>boolean </a:t>
            </a:r>
            <a:r>
              <a:rPr lang="zh-CN" altLang="en-US" sz="2800" dirty="0">
                <a:ea typeface="宋体" panose="02010600030101010101" pitchFamily="2" charset="-122"/>
              </a:rPr>
              <a:t>类型的默认值为false，而</a:t>
            </a:r>
            <a:r>
              <a:rPr lang="en-US" altLang="zh-CN" sz="2800" dirty="0">
                <a:ea typeface="宋体" panose="02010600030101010101" pitchFamily="2" charset="-122"/>
              </a:rPr>
              <a:t>char</a:t>
            </a:r>
            <a:r>
              <a:rPr lang="zh-CN" altLang="en-US" sz="2800" dirty="0">
                <a:ea typeface="宋体" panose="02010600030101010101" pitchFamily="2" charset="-122"/>
              </a:rPr>
              <a:t>类型的默认值为</a:t>
            </a:r>
            <a:r>
              <a:rPr lang="en-US" altLang="zh-CN" sz="2800" dirty="0">
                <a:ea typeface="宋体" panose="02010600030101010101" pitchFamily="2" charset="-122"/>
              </a:rPr>
              <a:t>‘\u0000’  </a:t>
            </a:r>
            <a:r>
              <a:rPr lang="zh-CN" altLang="en-US" sz="2800" dirty="0">
                <a:ea typeface="宋体" panose="02010600030101010101" pitchFamily="2" charset="-122"/>
              </a:rPr>
              <a:t>。然而，</a:t>
            </a:r>
            <a:r>
              <a:rPr lang="en-US" altLang="zh-CN" sz="2800" dirty="0">
                <a:ea typeface="宋体" panose="02010600030101010101" pitchFamily="2" charset="-122"/>
              </a:rPr>
              <a:t>Java</a:t>
            </a:r>
            <a:r>
              <a:rPr lang="zh-CN" altLang="en-US" sz="2800" dirty="0">
                <a:ea typeface="宋体" panose="02010600030101010101" pitchFamily="2" charset="-122"/>
              </a:rPr>
              <a:t>并没有给方法中局部变量赋默认值。</a:t>
            </a:r>
            <a:endParaRPr lang="zh-CN" altLang="en-US" sz="2800" dirty="0">
              <a:ea typeface="宋体" panose="02010600030101010101" pitchFamily="2" charset="-122"/>
            </a:endParaRPr>
          </a:p>
        </p:txBody>
      </p:sp>
      <p:sp>
        <p:nvSpPr>
          <p:cNvPr id="30725" name="Rectangle 4"/>
          <p:cNvSpPr/>
          <p:nvPr/>
        </p:nvSpPr>
        <p:spPr>
          <a:xfrm>
            <a:off x="250190" y="3438525"/>
            <a:ext cx="8763000" cy="27432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buNone/>
            </a:pPr>
            <a:r>
              <a:rPr lang="en-US" altLang="zh-CN" sz="1600" dirty="0">
                <a:solidFill>
                  <a:schemeClr val="tx1"/>
                </a:solidFill>
                <a:latin typeface="Courier New" panose="02070309020205020404" charset="0"/>
                <a:ea typeface="宋体" panose="02010600030101010101" pitchFamily="2" charset="-122"/>
              </a:rPr>
              <a:t>public class Test {</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  public static void main(String[] args) {</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    Student student = new Student();</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    System.out.println("name? " + student.name); </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    System.out.println("age? " + student.age); </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    System.out.println("isScienceMajor? " + student.isScienceMajor); </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    System.out.println("gender? " + student.gender); </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  }</a:t>
            </a:r>
            <a:endParaRPr lang="en-US" altLang="zh-CN" sz="1600" dirty="0">
              <a:solidFill>
                <a:schemeClr val="tx1"/>
              </a:solidFill>
              <a:latin typeface="Courier New" panose="02070309020205020404" charset="0"/>
              <a:ea typeface="宋体" panose="02010600030101010101" pitchFamily="2" charset="-122"/>
            </a:endParaRPr>
          </a:p>
          <a:p>
            <a:pPr marL="0" lvl="0" indent="0">
              <a:buNone/>
            </a:pPr>
            <a:r>
              <a:rPr lang="en-US" altLang="zh-CN" sz="1600" dirty="0">
                <a:solidFill>
                  <a:schemeClr val="tx1"/>
                </a:solidFill>
                <a:latin typeface="Courier New" panose="02070309020205020404" charset="0"/>
                <a:ea typeface="宋体" panose="02010600030101010101" pitchFamily="2" charset="-122"/>
              </a:rPr>
              <a:t>}</a:t>
            </a:r>
            <a:endParaRPr lang="en-US" altLang="zh-CN" sz="1600" dirty="0">
              <a:solidFill>
                <a:schemeClr val="tx1"/>
              </a:solidFill>
              <a:latin typeface="Courier New" panose="020703090202050204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1747" name="Rectangle 2"/>
          <p:cNvSpPr>
            <a:spLocks noGrp="1"/>
          </p:cNvSpPr>
          <p:nvPr>
            <p:ph type="title"/>
          </p:nvPr>
        </p:nvSpPr>
        <p:spPr>
          <a:xfrm>
            <a:off x="380683" y="69850"/>
            <a:ext cx="7772400" cy="66675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注意</a:t>
            </a:r>
            <a:endParaRPr lang="zh-CN" altLang="en-US" sz="4000" b="0" u="none" dirty="0">
              <a:latin typeface="Arial" panose="020B0604020202020204" pitchFamily="34" charset="0"/>
              <a:ea typeface="微软雅黑" panose="020B0503020204020204" pitchFamily="34" charset="-122"/>
            </a:endParaRPr>
          </a:p>
        </p:txBody>
      </p:sp>
      <p:sp>
        <p:nvSpPr>
          <p:cNvPr id="31748" name="Rectangle 3"/>
          <p:cNvSpPr>
            <a:spLocks noGrp="1"/>
          </p:cNvSpPr>
          <p:nvPr>
            <p:ph idx="1"/>
          </p:nvPr>
        </p:nvSpPr>
        <p:spPr>
          <a:xfrm>
            <a:off x="381000" y="2438400"/>
            <a:ext cx="8610600" cy="2667000"/>
          </a:xfrm>
          <a:noFill/>
        </p:spPr>
        <p:txBody>
          <a:bodyPr vert="horz" wrap="square" lIns="92075" tIns="46038" rIns="92075" bIns="46038" anchor="t"/>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public class Test {</a:t>
            </a:r>
            <a:endParaRPr lang="en-US" altLang="zh-CN" dirty="0">
              <a:solidFill>
                <a:schemeClr val="tx1"/>
              </a:solidFill>
              <a:latin typeface="Courier" charset="0"/>
              <a:ea typeface="宋体" panose="02010600030101010101" pitchFamily="2" charset="-122"/>
            </a:endParaRPr>
          </a:p>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  public static void main(String[] args) {</a:t>
            </a:r>
            <a:endParaRPr lang="en-US" altLang="zh-CN" dirty="0">
              <a:solidFill>
                <a:schemeClr val="tx1"/>
              </a:solidFill>
              <a:latin typeface="Courier" charset="0"/>
              <a:ea typeface="宋体" panose="02010600030101010101" pitchFamily="2" charset="-122"/>
            </a:endParaRPr>
          </a:p>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    int x; // x has no default value</a:t>
            </a:r>
            <a:endParaRPr lang="en-US" altLang="zh-CN" dirty="0">
              <a:solidFill>
                <a:schemeClr val="tx1"/>
              </a:solidFill>
              <a:latin typeface="Courier" charset="0"/>
              <a:ea typeface="宋体" panose="02010600030101010101" pitchFamily="2" charset="-122"/>
            </a:endParaRPr>
          </a:p>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    String y; // y has no default value</a:t>
            </a:r>
            <a:endParaRPr lang="en-US" altLang="zh-CN" dirty="0">
              <a:solidFill>
                <a:schemeClr val="tx1"/>
              </a:solidFill>
              <a:latin typeface="Courier" charset="0"/>
              <a:ea typeface="宋体" panose="02010600030101010101" pitchFamily="2" charset="-122"/>
            </a:endParaRPr>
          </a:p>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    System.out.println("x is " + x); </a:t>
            </a:r>
            <a:endParaRPr lang="en-US" altLang="zh-CN" dirty="0">
              <a:solidFill>
                <a:schemeClr val="tx1"/>
              </a:solidFill>
              <a:latin typeface="Courier" charset="0"/>
              <a:ea typeface="宋体" panose="02010600030101010101" pitchFamily="2" charset="-122"/>
            </a:endParaRPr>
          </a:p>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    System.out.println("y is " + y); </a:t>
            </a:r>
            <a:endParaRPr lang="en-US" altLang="zh-CN" dirty="0">
              <a:solidFill>
                <a:schemeClr val="tx1"/>
              </a:solidFill>
              <a:latin typeface="Courier" charset="0"/>
              <a:ea typeface="宋体" panose="02010600030101010101" pitchFamily="2" charset="-122"/>
            </a:endParaRPr>
          </a:p>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  }</a:t>
            </a:r>
            <a:endParaRPr lang="en-US" altLang="zh-CN" dirty="0">
              <a:solidFill>
                <a:schemeClr val="tx1"/>
              </a:solidFill>
              <a:latin typeface="Courier" charset="0"/>
              <a:ea typeface="宋体" panose="02010600030101010101" pitchFamily="2" charset="-122"/>
            </a:endParaRPr>
          </a:p>
          <a:p>
            <a:pPr marL="0" indent="0">
              <a:lnSpc>
                <a:spcPct val="90000"/>
              </a:lnSpc>
              <a:buNone/>
            </a:pPr>
            <a:r>
              <a:rPr lang="en-US" altLang="zh-CN" dirty="0">
                <a:solidFill>
                  <a:schemeClr val="tx1"/>
                </a:solidFill>
                <a:latin typeface="Courier New" panose="02070309020205020404" charset="0"/>
                <a:ea typeface="宋体" panose="02010600030101010101" pitchFamily="2" charset="-122"/>
              </a:rPr>
              <a:t>}</a:t>
            </a:r>
            <a:endParaRPr lang="en-US" altLang="zh-CN" dirty="0">
              <a:solidFill>
                <a:schemeClr val="tx1"/>
              </a:solidFill>
              <a:latin typeface="Courier New" panose="02070309020205020404" charset="0"/>
              <a:ea typeface="宋体" panose="02010600030101010101" pitchFamily="2" charset="-122"/>
            </a:endParaRPr>
          </a:p>
        </p:txBody>
      </p:sp>
      <p:sp>
        <p:nvSpPr>
          <p:cNvPr id="31749" name="Line 4"/>
          <p:cNvSpPr/>
          <p:nvPr/>
        </p:nvSpPr>
        <p:spPr>
          <a:xfrm flipH="1">
            <a:off x="2891155" y="3814445"/>
            <a:ext cx="2133600" cy="1676400"/>
          </a:xfrm>
          <a:prstGeom prst="line">
            <a:avLst/>
          </a:prstGeom>
          <a:ln w="12700" cap="flat" cmpd="sng">
            <a:solidFill>
              <a:srgbClr val="FF0000"/>
            </a:solidFill>
            <a:prstDash val="solid"/>
            <a:headEnd type="stealth" w="sm" len="sm"/>
            <a:tailEnd type="none" w="med" len="med"/>
          </a:ln>
        </p:spPr>
      </p:sp>
      <p:sp>
        <p:nvSpPr>
          <p:cNvPr id="31750" name="Line 5"/>
          <p:cNvSpPr/>
          <p:nvPr/>
        </p:nvSpPr>
        <p:spPr>
          <a:xfrm flipH="1">
            <a:off x="3119755" y="4195445"/>
            <a:ext cx="1905000" cy="1295400"/>
          </a:xfrm>
          <a:prstGeom prst="line">
            <a:avLst/>
          </a:prstGeom>
          <a:ln w="12700" cap="flat" cmpd="sng">
            <a:solidFill>
              <a:srgbClr val="FF0000"/>
            </a:solidFill>
            <a:prstDash val="solid"/>
            <a:headEnd type="stealth" w="sm" len="sm"/>
            <a:tailEnd type="none" w="med" len="med"/>
          </a:ln>
        </p:spPr>
      </p:sp>
      <p:sp>
        <p:nvSpPr>
          <p:cNvPr id="31751" name="Text Box 6"/>
          <p:cNvSpPr txBox="1"/>
          <p:nvPr/>
        </p:nvSpPr>
        <p:spPr>
          <a:xfrm>
            <a:off x="1720850" y="5495290"/>
            <a:ext cx="34290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50000"/>
              </a:spcBef>
              <a:buClrTx/>
              <a:buSzTx/>
              <a:buFontTx/>
              <a:buNone/>
            </a:pPr>
            <a:r>
              <a:rPr lang="zh-CN" altLang="en-US" sz="1800" dirty="0">
                <a:latin typeface="微软雅黑" panose="020B0503020204020204" pitchFamily="34" charset="-122"/>
                <a:ea typeface="微软雅黑" panose="020B0503020204020204" pitchFamily="34" charset="-122"/>
              </a:rPr>
              <a:t>编译错误：变量没有被初始化</a:t>
            </a:r>
            <a:endParaRPr lang="zh-CN" altLang="en-US" sz="1800" dirty="0">
              <a:latin typeface="微软雅黑" panose="020B0503020204020204" pitchFamily="34" charset="-122"/>
              <a:ea typeface="微软雅黑" panose="020B0503020204020204" pitchFamily="34" charset="-122"/>
            </a:endParaRPr>
          </a:p>
        </p:txBody>
      </p:sp>
      <p:sp>
        <p:nvSpPr>
          <p:cNvPr id="31752" name="Rectangle 7"/>
          <p:cNvSpPr/>
          <p:nvPr/>
        </p:nvSpPr>
        <p:spPr>
          <a:xfrm>
            <a:off x="381000" y="1219200"/>
            <a:ext cx="8610600" cy="6858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Java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没有给方法中局部变量赋默认值。</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lnSpc>
                <a:spcPct val="80000"/>
              </a:lnSpc>
              <a:buNone/>
            </a:pPr>
            <a:r>
              <a:rPr lang="zh-CN" altLang="en-US"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2771" name="Rectangle 2"/>
          <p:cNvSpPr>
            <a:spLocks noGrp="1"/>
          </p:cNvSpPr>
          <p:nvPr>
            <p:ph type="title"/>
          </p:nvPr>
        </p:nvSpPr>
        <p:spPr>
          <a:xfrm>
            <a:off x="0" y="509905"/>
            <a:ext cx="9144000" cy="391160"/>
          </a:xfrm>
        </p:spPr>
        <p:txBody>
          <a:bodyPr vert="horz" wrap="square" lIns="92075" tIns="46038" rIns="92075" bIns="46038" anchor="ctr"/>
          <a:p>
            <a:r>
              <a:rPr lang="zh-CN" altLang="en-US" b="0" u="none" dirty="0">
                <a:latin typeface="Arial" panose="020B0604020202020204" pitchFamily="34" charset="0"/>
                <a:ea typeface="微软雅黑" panose="020B0503020204020204" pitchFamily="34" charset="-122"/>
              </a:rPr>
              <a:t>基本类型变量和引用类型变量的区别</a:t>
            </a:r>
            <a:br>
              <a:rPr lang="zh-CN" altLang="en-US" sz="4000" b="0" u="none" dirty="0">
                <a:latin typeface="Arial" panose="020B0604020202020204" pitchFamily="34" charset="0"/>
                <a:ea typeface="微软雅黑" panose="020B0503020204020204" pitchFamily="34" charset="-122"/>
              </a:rPr>
            </a:br>
            <a:endParaRPr lang="zh-CN" altLang="en-US" sz="4000" b="0" u="none" dirty="0">
              <a:latin typeface="Arial" panose="020B0604020202020204" pitchFamily="34" charset="0"/>
              <a:ea typeface="微软雅黑" panose="020B0503020204020204" pitchFamily="34" charset="-122"/>
            </a:endParaRPr>
          </a:p>
        </p:txBody>
      </p:sp>
      <p:sp>
        <p:nvSpPr>
          <p:cNvPr id="32772" name="Rectangle 3"/>
          <p:cNvSpPr/>
          <p:nvPr/>
        </p:nvSpPr>
        <p:spPr>
          <a:xfrm>
            <a:off x="3113088" y="2427288"/>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2773" name="Rectangle 4"/>
          <p:cNvSpPr/>
          <p:nvPr/>
        </p:nvSpPr>
        <p:spPr>
          <a:xfrm>
            <a:off x="2371725" y="2886075"/>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32774" name="Object 5"/>
          <p:cNvGraphicFramePr>
            <a:graphicFrameLocks noChangeAspect="1"/>
          </p:cNvGraphicFramePr>
          <p:nvPr/>
        </p:nvGraphicFramePr>
        <p:xfrm>
          <a:off x="304800" y="1752600"/>
          <a:ext cx="8610600" cy="2124075"/>
        </p:xfrm>
        <a:graphic>
          <a:graphicData uri="http://schemas.openxmlformats.org/presentationml/2006/ole">
            <mc:AlternateContent xmlns:mc="http://schemas.openxmlformats.org/markup-compatibility/2006">
              <mc:Choice xmlns:v="urn:schemas-microsoft-com:vml" Requires="v">
                <p:oleObj spid="_x0000_s3085" name="" r:id="rId1" imgW="4413885" imgH="1094740" progId="Word.Picture.8">
                  <p:embed/>
                </p:oleObj>
              </mc:Choice>
              <mc:Fallback>
                <p:oleObj name="" r:id="rId1" imgW="4413885" imgH="1094740" progId="Word.Picture.8">
                  <p:embed/>
                  <p:pic>
                    <p:nvPicPr>
                      <p:cNvPr id="0" name="图片 3084"/>
                      <p:cNvPicPr/>
                      <p:nvPr/>
                    </p:nvPicPr>
                    <p:blipFill>
                      <a:blip r:embed="rId2"/>
                      <a:stretch>
                        <a:fillRect/>
                      </a:stretch>
                    </p:blipFill>
                    <p:spPr>
                      <a:xfrm>
                        <a:off x="304800" y="1752600"/>
                        <a:ext cx="8610600" cy="21240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3795" name="Rectangle 2"/>
          <p:cNvSpPr>
            <a:spLocks noGrp="1"/>
          </p:cNvSpPr>
          <p:nvPr>
            <p:ph type="title"/>
          </p:nvPr>
        </p:nvSpPr>
        <p:spPr>
          <a:xfrm>
            <a:off x="0" y="0"/>
            <a:ext cx="8110220" cy="92456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复制基本类型变量和对象类型变量</a:t>
            </a:r>
            <a:endParaRPr lang="zh-CN" altLang="en-US" sz="4000" b="0" u="none" dirty="0">
              <a:latin typeface="Arial" panose="020B0604020202020204" pitchFamily="34" charset="0"/>
              <a:ea typeface="微软雅黑" panose="020B0503020204020204" pitchFamily="34" charset="-122"/>
            </a:endParaRPr>
          </a:p>
        </p:txBody>
      </p:sp>
      <p:sp>
        <p:nvSpPr>
          <p:cNvPr id="33796" name="Rectangle 3"/>
          <p:cNvSpPr/>
          <p:nvPr/>
        </p:nvSpPr>
        <p:spPr>
          <a:xfrm>
            <a:off x="0" y="255746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3797" name="Rectangle 4"/>
          <p:cNvSpPr/>
          <p:nvPr/>
        </p:nvSpPr>
        <p:spPr>
          <a:xfrm>
            <a:off x="0" y="28305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33798" name="Object 5"/>
          <p:cNvGraphicFramePr>
            <a:graphicFrameLocks noChangeAspect="1"/>
          </p:cNvGraphicFramePr>
          <p:nvPr/>
        </p:nvGraphicFramePr>
        <p:xfrm>
          <a:off x="2025333" y="924243"/>
          <a:ext cx="3760787" cy="2090737"/>
        </p:xfrm>
        <a:graphic>
          <a:graphicData uri="http://schemas.openxmlformats.org/presentationml/2006/ole">
            <mc:AlternateContent xmlns:mc="http://schemas.openxmlformats.org/markup-compatibility/2006">
              <mc:Choice xmlns:v="urn:schemas-microsoft-com:vml" Requires="v">
                <p:oleObj spid="_x0000_s3086" name="" r:id="rId1" imgW="2156460" imgH="1207770" progId="Word.Picture.8">
                  <p:embed/>
                </p:oleObj>
              </mc:Choice>
              <mc:Fallback>
                <p:oleObj name="" r:id="rId1" imgW="2156460" imgH="1207770" progId="Word.Picture.8">
                  <p:embed/>
                  <p:pic>
                    <p:nvPicPr>
                      <p:cNvPr id="0" name="图片 3085"/>
                      <p:cNvPicPr/>
                      <p:nvPr/>
                    </p:nvPicPr>
                    <p:blipFill>
                      <a:blip r:embed="rId2"/>
                      <a:stretch>
                        <a:fillRect/>
                      </a:stretch>
                    </p:blipFill>
                    <p:spPr>
                      <a:xfrm>
                        <a:off x="2025333" y="924243"/>
                        <a:ext cx="3760787" cy="2090737"/>
                      </a:xfrm>
                      <a:prstGeom prst="rect">
                        <a:avLst/>
                      </a:prstGeom>
                      <a:noFill/>
                      <a:ln w="38100">
                        <a:noFill/>
                        <a:miter/>
                      </a:ln>
                    </p:spPr>
                  </p:pic>
                </p:oleObj>
              </mc:Fallback>
            </mc:AlternateContent>
          </a:graphicData>
        </a:graphic>
      </p:graphicFrame>
      <p:sp>
        <p:nvSpPr>
          <p:cNvPr id="33799" name="Rectangle 6"/>
          <p:cNvSpPr/>
          <p:nvPr/>
        </p:nvSpPr>
        <p:spPr>
          <a:xfrm>
            <a:off x="0" y="255746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33800" name="Object 7"/>
          <p:cNvGraphicFramePr>
            <a:graphicFrameLocks noChangeAspect="1"/>
          </p:cNvGraphicFramePr>
          <p:nvPr/>
        </p:nvGraphicFramePr>
        <p:xfrm>
          <a:off x="1024255" y="3220720"/>
          <a:ext cx="6769735" cy="2948940"/>
        </p:xfrm>
        <a:graphic>
          <a:graphicData uri="http://schemas.openxmlformats.org/presentationml/2006/ole">
            <mc:AlternateContent xmlns:mc="http://schemas.openxmlformats.org/markup-compatibility/2006">
              <mc:Choice xmlns:v="urn:schemas-microsoft-com:vml" Requires="v">
                <p:oleObj spid="_x0000_s3087" name="" r:id="rId3" imgW="3457575" imgH="1714500" progId="Word.Picture.8">
                  <p:embed/>
                </p:oleObj>
              </mc:Choice>
              <mc:Fallback>
                <p:oleObj name="" r:id="rId3" imgW="3457575" imgH="1714500" progId="Word.Picture.8">
                  <p:embed/>
                  <p:pic>
                    <p:nvPicPr>
                      <p:cNvPr id="0" name="图片 3086"/>
                      <p:cNvPicPr/>
                      <p:nvPr/>
                    </p:nvPicPr>
                    <p:blipFill>
                      <a:blip r:embed="rId4"/>
                      <a:stretch>
                        <a:fillRect/>
                      </a:stretch>
                    </p:blipFill>
                    <p:spPr>
                      <a:xfrm>
                        <a:off x="1024255" y="3220720"/>
                        <a:ext cx="6769735" cy="29489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4819" name="Rectangle 2"/>
          <p:cNvSpPr>
            <a:spLocks noGrp="1"/>
          </p:cNvSpPr>
          <p:nvPr>
            <p:ph type="title"/>
          </p:nvPr>
        </p:nvSpPr>
        <p:spPr>
          <a:xfrm>
            <a:off x="161925" y="0"/>
            <a:ext cx="7772400" cy="733425"/>
          </a:xfrm>
        </p:spPr>
        <p:txBody>
          <a:bodyPr vert="horz" wrap="square" lIns="92075" tIns="46038" rIns="92075" bIns="46038" anchor="ctr"/>
          <a:p>
            <a:r>
              <a:rPr lang="zh-CN" altLang="en-US" sz="3200" b="0" u="none" dirty="0">
                <a:latin typeface="Arial" panose="020B0604020202020204" pitchFamily="34" charset="0"/>
                <a:ea typeface="微软雅黑" panose="020B0503020204020204" pitchFamily="34" charset="-122"/>
              </a:rPr>
              <a:t>垃圾回收</a:t>
            </a:r>
            <a:r>
              <a:rPr lang="zh-CN" altLang="en-US" sz="4000" b="0" u="none" dirty="0">
                <a:latin typeface="Arial" panose="020B0604020202020204" pitchFamily="34" charset="0"/>
                <a:ea typeface="微软雅黑" panose="020B0503020204020204" pitchFamily="34" charset="-122"/>
              </a:rPr>
              <a:t> </a:t>
            </a:r>
            <a:endParaRPr lang="zh-CN" altLang="en-US" sz="4000" b="0" u="none" dirty="0">
              <a:latin typeface="Arial" panose="020B0604020202020204" pitchFamily="34" charset="0"/>
              <a:ea typeface="微软雅黑" panose="020B0503020204020204" pitchFamily="34" charset="-122"/>
            </a:endParaRPr>
          </a:p>
        </p:txBody>
      </p:sp>
      <p:sp>
        <p:nvSpPr>
          <p:cNvPr id="34820" name="Rectangle 3"/>
          <p:cNvSpPr>
            <a:spLocks noGrp="1"/>
          </p:cNvSpPr>
          <p:nvPr>
            <p:ph idx="1"/>
          </p:nvPr>
        </p:nvSpPr>
        <p:spPr>
          <a:xfrm>
            <a:off x="325755" y="952500"/>
            <a:ext cx="7940675" cy="4953000"/>
          </a:xfrm>
        </p:spPr>
        <p:txBody>
          <a:bodyPr vert="horz" wrap="square" lIns="92075" tIns="46038" rIns="92075" bIns="46038" anchor="t"/>
          <a:p>
            <a:pPr>
              <a:lnSpc>
                <a:spcPct val="120000"/>
              </a:lnSpc>
              <a:buClr>
                <a:srgbClr val="7030A0"/>
              </a:buClr>
              <a:buFont typeface="Wingdings" panose="05000000000000000000" charset="0"/>
              <a:buChar char="n"/>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如上页的图中所示，执行赋值语句</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c1 = c2</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后，</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c1</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指向</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c2</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所指的同一个对象。先前</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c1</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所引用的对象就不再被引用。这个对象被称之为垃圾。</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JVM</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会自动回收垃圾。</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buClr>
                <a:srgbClr val="7030A0"/>
              </a:buClr>
              <a:buFont typeface="Wingdings" panose="05000000000000000000" charset="0"/>
              <a:buChar char="n"/>
            </a:pP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buClr>
                <a:srgbClr val="7030A0"/>
              </a:buClr>
              <a:buFont typeface="Wingdings" panose="05000000000000000000" charset="0"/>
              <a:buChar char="n"/>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如果你认为不再需要某个对象时，可以显式地给该对象的引用变量赋</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null</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值。</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JVM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会自动回收没有被任何引用变量所引用的对象占用的空间</a:t>
            </a:r>
            <a:r>
              <a:rPr lang="zh-CN" altLang="en-US" sz="2800" dirty="0">
                <a:latin typeface="Courier" charset="0"/>
                <a:ea typeface="宋体" panose="02010600030101010101" pitchFamily="2" charset="-122"/>
                <a:sym typeface="+mn-ea"/>
              </a:rPr>
              <a:t>。</a:t>
            </a:r>
            <a:endParaRPr lang="en-US" altLang="zh-CN" sz="2800" dirty="0">
              <a:latin typeface="Courier" charset="0"/>
              <a:ea typeface="宋体" panose="02010600030101010101" pitchFamily="2" charset="-122"/>
            </a:endParaRPr>
          </a:p>
          <a:p>
            <a:pPr>
              <a:lnSpc>
                <a:spcPct val="120000"/>
              </a:lnSpc>
              <a:buNone/>
            </a:pP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844" name="Rectangle 3"/>
          <p:cNvSpPr>
            <a:spLocks noGrp="1"/>
          </p:cNvSpPr>
          <p:nvPr/>
        </p:nvSpPr>
        <p:spPr>
          <a:xfrm>
            <a:off x="207645" y="3301365"/>
            <a:ext cx="7726680" cy="3420110"/>
          </a:xfrm>
          <a:prstGeom prst="rect">
            <a:avLst/>
          </a:prstGeom>
        </p:spPr>
        <p:txBody>
          <a:bodyPr vert="horz" wrap="square" lIns="92075" tIns="46038" rIns="92075" bIns="46038" rtlCol="0" anchor="t">
            <a:norm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20000"/>
              </a:lnSpc>
              <a:buNone/>
            </a:pPr>
            <a:endParaRPr lang="en-US" altLang="zh-CN" sz="3600" dirty="0">
              <a:latin typeface="Courier"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6867" name="Rectangle 2"/>
          <p:cNvSpPr>
            <a:spLocks noGrp="1"/>
          </p:cNvSpPr>
          <p:nvPr>
            <p:ph type="title"/>
          </p:nvPr>
        </p:nvSpPr>
        <p:spPr>
          <a:xfrm>
            <a:off x="267335" y="123825"/>
            <a:ext cx="8686800" cy="5334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 </a:t>
            </a:r>
            <a:r>
              <a:rPr lang="en-US" altLang="zh-CN" sz="4000" b="0" u="none" dirty="0">
                <a:latin typeface="Arial" panose="020B0604020202020204" pitchFamily="34" charset="0"/>
                <a:ea typeface="微软雅黑" panose="020B0503020204020204" pitchFamily="34" charset="-122"/>
              </a:rPr>
              <a:t>Date </a:t>
            </a:r>
            <a:r>
              <a:rPr lang="zh-CN" altLang="en-US" sz="4000" b="0" u="none" dirty="0">
                <a:latin typeface="Arial" panose="020B0604020202020204" pitchFamily="34" charset="0"/>
                <a:ea typeface="微软雅黑" panose="020B0503020204020204" pitchFamily="34" charset="-122"/>
              </a:rPr>
              <a:t>类</a:t>
            </a:r>
            <a:endParaRPr lang="zh-CN" altLang="en-US" sz="4000" b="0" u="none" dirty="0">
              <a:solidFill>
                <a:schemeClr val="tx1"/>
              </a:solidFill>
              <a:latin typeface="Arial" panose="020B0604020202020204" pitchFamily="34" charset="0"/>
              <a:ea typeface="微软雅黑" panose="020B0503020204020204" pitchFamily="34" charset="-122"/>
            </a:endParaRPr>
          </a:p>
        </p:txBody>
      </p:sp>
      <p:sp>
        <p:nvSpPr>
          <p:cNvPr id="36868" name="Rectangle 3"/>
          <p:cNvSpPr>
            <a:spLocks noGrp="1"/>
          </p:cNvSpPr>
          <p:nvPr>
            <p:ph idx="1"/>
            <p:custDataLst>
              <p:tags r:id="rId1"/>
            </p:custDataLst>
          </p:nvPr>
        </p:nvSpPr>
        <p:spPr>
          <a:xfrm>
            <a:off x="152400" y="1066800"/>
            <a:ext cx="8991600" cy="1747838"/>
          </a:xfrm>
        </p:spPr>
        <p:txBody>
          <a:bodyPr vert="horz" wrap="square" lIns="92075" tIns="46038" rIns="92075" bIns="46038" anchor="t"/>
          <a:p>
            <a:pPr marL="0" indent="0" defTabSz="914400" fontAlgn="auto">
              <a:lnSpc>
                <a:spcPct val="150000"/>
              </a:lnSpc>
              <a:spcBef>
                <a:spcPts val="0"/>
              </a:spcBef>
              <a:buNone/>
              <a:tabLst>
                <a:tab pos="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Java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java.util.Date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类中提供了一个与系统无关对日期和时间的封装。你可以使用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类为当前日期和时间创建一个实例，并使用它的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toString</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方法返回字符串形式的日期和时间。</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869" name="Rectangle 4"/>
          <p:cNvSpPr/>
          <p:nvPr/>
        </p:nvSpPr>
        <p:spPr>
          <a:xfrm>
            <a:off x="0" y="27543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36870" name="Object 5"/>
          <p:cNvGraphicFramePr>
            <a:graphicFrameLocks noChangeAspect="1"/>
          </p:cNvGraphicFramePr>
          <p:nvPr/>
        </p:nvGraphicFramePr>
        <p:xfrm>
          <a:off x="77788" y="2968625"/>
          <a:ext cx="9066212" cy="2473325"/>
        </p:xfrm>
        <a:graphic>
          <a:graphicData uri="http://schemas.openxmlformats.org/presentationml/2006/ole">
            <mc:AlternateContent xmlns:mc="http://schemas.openxmlformats.org/markup-compatibility/2006">
              <mc:Choice xmlns:v="urn:schemas-microsoft-com:vml" Requires="v">
                <p:oleObj spid="_x0000_s3088" name="" r:id="rId2" imgW="4953000" imgH="1350010" progId="Word.Picture.8">
                  <p:embed/>
                </p:oleObj>
              </mc:Choice>
              <mc:Fallback>
                <p:oleObj name="" r:id="rId2" imgW="4953000" imgH="1350010" progId="Word.Picture.8">
                  <p:embed/>
                  <p:pic>
                    <p:nvPicPr>
                      <p:cNvPr id="0" name="图片 3087"/>
                      <p:cNvPicPr/>
                      <p:nvPr/>
                    </p:nvPicPr>
                    <p:blipFill>
                      <a:blip r:embed="rId3"/>
                      <a:stretch>
                        <a:fillRect/>
                      </a:stretch>
                    </p:blipFill>
                    <p:spPr>
                      <a:xfrm>
                        <a:off x="77788" y="2968625"/>
                        <a:ext cx="9066212" cy="2473325"/>
                      </a:xfrm>
                      <a:prstGeom prst="rect">
                        <a:avLst/>
                      </a:prstGeom>
                      <a:noFill/>
                      <a:ln w="38100">
                        <a:noFill/>
                        <a:miter/>
                      </a:ln>
                    </p:spPr>
                  </p:pic>
                </p:oleObj>
              </mc:Fallback>
            </mc:AlternateContent>
          </a:graphicData>
        </a:graphic>
      </p:graphicFrame>
      <p:sp>
        <p:nvSpPr>
          <p:cNvPr id="2" name="文本框 1"/>
          <p:cNvSpPr txBox="1"/>
          <p:nvPr/>
        </p:nvSpPr>
        <p:spPr>
          <a:xfrm>
            <a:off x="332740" y="5728970"/>
            <a:ext cx="8288020" cy="534035"/>
          </a:xfrm>
          <a:prstGeom prst="rect">
            <a:avLst/>
          </a:prstGeom>
          <a:noFill/>
        </p:spPr>
        <p:txBody>
          <a:bodyPr wrap="square" rtlCol="0" anchor="t">
            <a:spAutoFit/>
          </a:bodyPr>
          <a:p>
            <a:pPr>
              <a:lnSpc>
                <a:spcPct val="120000"/>
              </a:lnSpc>
            </a:pPr>
            <a:r>
              <a:rPr lang="zh-CN" altLang="en-US" sz="24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Date 类的默认无参构造方法创建出的对象就代表当前时间</a:t>
            </a:r>
            <a:endParaRPr lang="zh-CN" altLang="en-US" sz="24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6867" name="Rectangle 2"/>
          <p:cNvSpPr>
            <a:spLocks noGrp="1"/>
          </p:cNvSpPr>
          <p:nvPr>
            <p:ph type="title"/>
          </p:nvPr>
        </p:nvSpPr>
        <p:spPr>
          <a:xfrm>
            <a:off x="267335" y="123825"/>
            <a:ext cx="8686800" cy="5334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 补充</a:t>
            </a:r>
            <a:r>
              <a:rPr lang="en-US" altLang="zh-CN" sz="4000" b="0" u="none" dirty="0">
                <a:latin typeface="Arial" panose="020B0604020202020204" pitchFamily="34" charset="0"/>
                <a:ea typeface="微软雅黑" panose="020B0503020204020204" pitchFamily="34" charset="-122"/>
              </a:rPr>
              <a:t>:</a:t>
            </a:r>
            <a:r>
              <a:rPr sz="4000" b="0" u="none" dirty="0">
                <a:latin typeface="Arial" panose="020B0604020202020204" pitchFamily="34" charset="0"/>
                <a:ea typeface="微软雅黑" panose="020B0503020204020204" pitchFamily="34" charset="-122"/>
              </a:rPr>
              <a:t>SimpleDateFormat </a:t>
            </a:r>
            <a:r>
              <a:rPr lang="zh-CN" sz="4000" b="0" u="none" dirty="0">
                <a:latin typeface="Arial" panose="020B0604020202020204" pitchFamily="34" charset="0"/>
                <a:ea typeface="微软雅黑" panose="020B0503020204020204" pitchFamily="34" charset="-122"/>
              </a:rPr>
              <a:t>类</a:t>
            </a:r>
            <a:endParaRPr lang="zh-CN" sz="4000" b="0" u="none" dirty="0">
              <a:latin typeface="Arial" panose="020B0604020202020204" pitchFamily="34" charset="0"/>
              <a:ea typeface="微软雅黑" panose="020B0503020204020204" pitchFamily="34" charset="-122"/>
            </a:endParaRPr>
          </a:p>
        </p:txBody>
      </p:sp>
      <p:sp>
        <p:nvSpPr>
          <p:cNvPr id="36868" name="Rectangle 3"/>
          <p:cNvSpPr>
            <a:spLocks noGrp="1"/>
          </p:cNvSpPr>
          <p:nvPr>
            <p:ph idx="1"/>
          </p:nvPr>
        </p:nvSpPr>
        <p:spPr>
          <a:xfrm>
            <a:off x="152400" y="1066800"/>
            <a:ext cx="8502650" cy="1224280"/>
          </a:xfrm>
        </p:spPr>
        <p:txBody>
          <a:bodyPr vert="horz" wrap="square" lIns="92075" tIns="46038" rIns="92075" bIns="46038" anchor="t"/>
          <a:p>
            <a:pPr marL="0" indent="0" defTabSz="914400" fontAlgn="auto">
              <a:lnSpc>
                <a:spcPct val="150000"/>
              </a:lnSpc>
              <a:spcBef>
                <a:spcPts val="0"/>
              </a:spcBef>
              <a:buNone/>
              <a:tabLst>
                <a:tab pos="0" algn="l"/>
              </a:tabLst>
            </a:pPr>
            <a:r>
              <a:rPr sz="2400" dirty="0">
                <a:latin typeface="Arial" panose="020B0604020202020204" pitchFamily="34" charset="0"/>
                <a:ea typeface="微软雅黑" panose="020B0503020204020204" pitchFamily="34" charset="-122"/>
                <a:sym typeface="+mn-ea"/>
              </a:rPr>
              <a:t>SimpleDateFormat </a:t>
            </a:r>
            <a:r>
              <a:rPr lang="zh-CN" sz="2400" dirty="0">
                <a:latin typeface="Arial" panose="020B0604020202020204" pitchFamily="34" charset="0"/>
                <a:ea typeface="微软雅黑" panose="020B0503020204020204" pitchFamily="34" charset="-122"/>
                <a:sym typeface="+mn-ea"/>
              </a:rPr>
              <a:t>实现将</a:t>
            </a:r>
            <a:r>
              <a:rPr lang="en-US" altLang="zh-CN" sz="2400" dirty="0">
                <a:latin typeface="Arial" panose="020B0604020202020204" pitchFamily="34" charset="0"/>
                <a:ea typeface="微软雅黑" panose="020B0503020204020204" pitchFamily="34" charset="-122"/>
                <a:sym typeface="+mn-ea"/>
              </a:rPr>
              <a:t>Date</a:t>
            </a:r>
            <a:r>
              <a:rPr lang="zh-CN" sz="2400" dirty="0">
                <a:latin typeface="Arial" panose="020B0604020202020204" pitchFamily="34" charset="0"/>
                <a:ea typeface="微软雅黑" panose="020B0503020204020204" pitchFamily="34" charset="-122"/>
                <a:sym typeface="+mn-ea"/>
              </a:rPr>
              <a:t>转为字符串或者将字符串转换为日期</a:t>
            </a:r>
            <a:endParaRPr lang="zh-CN" altLang="zh-CN" sz="2400" dirty="0">
              <a:latin typeface="Arial" panose="020B0604020202020204" pitchFamily="34" charset="0"/>
              <a:ea typeface="微软雅黑" panose="020B0503020204020204" pitchFamily="34" charset="-122"/>
              <a:cs typeface="微软雅黑" panose="020B0503020204020204" pitchFamily="34" charset="-122"/>
              <a:sym typeface="+mn-ea"/>
            </a:endParaRPr>
          </a:p>
        </p:txBody>
      </p:sp>
      <p:sp>
        <p:nvSpPr>
          <p:cNvPr id="36869" name="Rectangle 4"/>
          <p:cNvSpPr/>
          <p:nvPr/>
        </p:nvSpPr>
        <p:spPr>
          <a:xfrm>
            <a:off x="0" y="27543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 name="文本框 1"/>
          <p:cNvSpPr txBox="1"/>
          <p:nvPr/>
        </p:nvSpPr>
        <p:spPr>
          <a:xfrm>
            <a:off x="468630" y="3707765"/>
            <a:ext cx="7953375" cy="2745740"/>
          </a:xfrm>
          <a:prstGeom prst="rect">
            <a:avLst/>
          </a:prstGeom>
          <a:noFill/>
        </p:spPr>
        <p:txBody>
          <a:bodyPr wrap="square" rtlCol="0" anchor="t">
            <a:spAutoFit/>
          </a:bodyPr>
          <a:p>
            <a:pPr>
              <a:lnSpc>
                <a:spcPct val="120000"/>
              </a:lnSpc>
            </a:pPr>
            <a:r>
              <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zh-CN"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将字符串转换为日期</a:t>
            </a:r>
            <a:endPar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String s = "2017-05-25";</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SimpleDateFormat format = new SimpleDateFormat("yyyy-MM-dd");</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Date date = null;</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try {</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date = format.parse(s);</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 catch (ParseException e) {</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System.out.println(e.getMessage());</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框 2"/>
          <p:cNvSpPr txBox="1"/>
          <p:nvPr/>
        </p:nvSpPr>
        <p:spPr>
          <a:xfrm>
            <a:off x="525780" y="2277110"/>
            <a:ext cx="7896225" cy="1271270"/>
          </a:xfrm>
          <a:prstGeom prst="rect">
            <a:avLst/>
          </a:prstGeom>
          <a:noFill/>
        </p:spPr>
        <p:txBody>
          <a:bodyPr wrap="square" rtlCol="0" anchor="t">
            <a:spAutoFit/>
          </a:bodyPr>
          <a:p>
            <a:pPr>
              <a:lnSpc>
                <a:spcPct val="120000"/>
              </a:lnSpc>
            </a:pPr>
            <a:r>
              <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a:t>
            </a:r>
            <a:r>
              <a:rPr lang="zh-CN"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将当前日期转换为字符串</a:t>
            </a: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Date </a:t>
            </a:r>
            <a:r>
              <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now</a:t>
            </a: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new Date();</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SimpleDateFormat format = new SimpleDateFormat("yyyy-MM-dd HH:mm:ss");</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String time = format.format(</a:t>
            </a:r>
            <a:r>
              <a:rPr lang="en-US" altLang="zh-CN"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now</a:t>
            </a: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8915" name="Rectangle 2"/>
          <p:cNvSpPr>
            <a:spLocks noGrp="1"/>
          </p:cNvSpPr>
          <p:nvPr>
            <p:ph type="title"/>
          </p:nvPr>
        </p:nvSpPr>
        <p:spPr>
          <a:xfrm>
            <a:off x="152400" y="76200"/>
            <a:ext cx="8686800" cy="5334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 </a:t>
            </a:r>
            <a:r>
              <a:rPr lang="en-US" altLang="zh-CN" sz="4000" b="0" u="none" dirty="0">
                <a:latin typeface="Arial" panose="020B0604020202020204" pitchFamily="34" charset="0"/>
                <a:ea typeface="微软雅黑" panose="020B0503020204020204" pitchFamily="34" charset="-122"/>
              </a:rPr>
              <a:t>Calendar</a:t>
            </a:r>
            <a:r>
              <a:rPr lang="zh-CN" altLang="en-US" sz="4000" b="0" u="none" dirty="0">
                <a:latin typeface="Arial" panose="020B0604020202020204" pitchFamily="34" charset="0"/>
                <a:ea typeface="微软雅黑" panose="020B0503020204020204" pitchFamily="34" charset="-122"/>
              </a:rPr>
              <a:t>类</a:t>
            </a:r>
            <a:endParaRPr lang="zh-CN" altLang="en-US" sz="4000" b="0" u="none" dirty="0">
              <a:solidFill>
                <a:schemeClr val="tx1"/>
              </a:solidFill>
              <a:latin typeface="Arial" panose="020B0604020202020204" pitchFamily="34" charset="0"/>
              <a:ea typeface="微软雅黑" panose="020B0503020204020204" pitchFamily="34" charset="-122"/>
            </a:endParaRPr>
          </a:p>
        </p:txBody>
      </p:sp>
      <p:sp>
        <p:nvSpPr>
          <p:cNvPr id="38916" name="Rectangle 3"/>
          <p:cNvSpPr>
            <a:spLocks noGrp="1"/>
          </p:cNvSpPr>
          <p:nvPr>
            <p:ph idx="1"/>
          </p:nvPr>
        </p:nvSpPr>
        <p:spPr>
          <a:xfrm>
            <a:off x="152400" y="1066800"/>
            <a:ext cx="8991600" cy="596900"/>
          </a:xfrm>
        </p:spPr>
        <p:txBody>
          <a:bodyPr vert="horz" wrap="square" lIns="92075" tIns="46038" rIns="92075" bIns="46038" anchor="t"/>
          <a:p>
            <a:pPr marL="0" indent="0" defTabSz="914400">
              <a:buNone/>
              <a:tabLst>
                <a:tab pos="0" algn="l"/>
              </a:tabLst>
            </a:pPr>
            <a:r>
              <a:rPr lang="en-US" sz="2400" dirty="0">
                <a:latin typeface="微软雅黑" panose="020B0503020204020204" pitchFamily="34" charset="-122"/>
                <a:ea typeface="微软雅黑" panose="020B0503020204020204" pitchFamily="34" charset="-122"/>
                <a:cs typeface="微软雅黑" panose="020B0503020204020204" pitchFamily="34" charset="-122"/>
              </a:rPr>
              <a:t>Date</a:t>
            </a:r>
            <a:r>
              <a:rPr lang="zh-CN" sz="2400" dirty="0">
                <a:latin typeface="微软雅黑" panose="020B0503020204020204" pitchFamily="34" charset="-122"/>
                <a:ea typeface="微软雅黑" panose="020B0503020204020204" pitchFamily="34" charset="-122"/>
                <a:cs typeface="微软雅黑" panose="020B0503020204020204" pitchFamily="34" charset="-122"/>
              </a:rPr>
              <a:t>类表示日期，Java.util.Calendar类表示日历</a:t>
            </a:r>
            <a:endParaRPr 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917" name="Rectangle 4"/>
          <p:cNvSpPr/>
          <p:nvPr/>
        </p:nvSpPr>
        <p:spPr>
          <a:xfrm>
            <a:off x="0" y="27543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918" name="Rectangle 5"/>
          <p:cNvSpPr/>
          <p:nvPr/>
        </p:nvSpPr>
        <p:spPr>
          <a:xfrm>
            <a:off x="0" y="264477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13665" y="1812290"/>
            <a:ext cx="9069070" cy="377761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8917" name="Rectangle 4"/>
          <p:cNvSpPr/>
          <p:nvPr/>
        </p:nvSpPr>
        <p:spPr>
          <a:xfrm>
            <a:off x="0" y="27543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918" name="Rectangle 5"/>
          <p:cNvSpPr/>
          <p:nvPr/>
        </p:nvSpPr>
        <p:spPr>
          <a:xfrm>
            <a:off x="0" y="264477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 name="文本框 3"/>
          <p:cNvSpPr txBox="1"/>
          <p:nvPr/>
        </p:nvSpPr>
        <p:spPr>
          <a:xfrm>
            <a:off x="655955" y="3952240"/>
            <a:ext cx="7237730" cy="1565910"/>
          </a:xfrm>
          <a:prstGeom prst="rect">
            <a:avLst/>
          </a:prstGeom>
          <a:noFill/>
        </p:spPr>
        <p:txBody>
          <a:bodyPr wrap="square" rtlCol="0" anchor="t">
            <a:spAutoFit/>
          </a:bodyPr>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calendar.add(Calendar.YEAR, 1);</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int year = calendar.get(Calendar.YEAR);</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int month = calendar.get(Calendar.MONTH) + 1;</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int day = calendar.get(Calendar.DAY_OF_MONTH);</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System.out.println("一年后的今天：" + year + "年" + month + "月" + day + "日");</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pic>
        <p:nvPicPr>
          <p:cNvPr id="5" name="内容占位符 4"/>
          <p:cNvPicPr>
            <a:picLocks noChangeAspect="1"/>
          </p:cNvPicPr>
          <p:nvPr>
            <p:ph idx="1"/>
          </p:nvPr>
        </p:nvPicPr>
        <p:blipFill>
          <a:blip r:embed="rId1"/>
          <a:stretch>
            <a:fillRect/>
          </a:stretch>
        </p:blipFill>
        <p:spPr>
          <a:xfrm>
            <a:off x="468630" y="1135380"/>
            <a:ext cx="8154035" cy="212598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46083" name="Rectangle 2"/>
          <p:cNvSpPr>
            <a:spLocks noGrp="1"/>
          </p:cNvSpPr>
          <p:nvPr>
            <p:ph type="title"/>
          </p:nvPr>
        </p:nvSpPr>
        <p:spPr>
          <a:xfrm>
            <a:off x="153035" y="0"/>
            <a:ext cx="7772400" cy="664210"/>
          </a:xfrm>
        </p:spPr>
        <p:txBody>
          <a:bodyPr vert="horz" wrap="square" lIns="92075" tIns="46038" rIns="92075" bIns="46038" anchor="ctr"/>
          <a:p>
            <a:r>
              <a:rPr lang="en-US" altLang="zh-CN" sz="4000" b="0" u="none" dirty="0">
                <a:latin typeface="Arial" panose="020B0604020202020204" pitchFamily="34" charset="0"/>
                <a:ea typeface="微软雅黑" panose="020B0503020204020204" pitchFamily="34" charset="-122"/>
              </a:rPr>
              <a:t>Java </a:t>
            </a:r>
            <a:r>
              <a:rPr lang="zh-CN" altLang="en-US" sz="4000" b="0" u="none" dirty="0">
                <a:latin typeface="Arial" panose="020B0604020202020204" pitchFamily="34" charset="0"/>
                <a:ea typeface="微软雅黑" panose="020B0503020204020204" pitchFamily="34" charset="-122"/>
              </a:rPr>
              <a:t>包</a:t>
            </a:r>
            <a:endParaRPr lang="zh-CN" altLang="en-US" sz="4000" b="0" u="none" dirty="0">
              <a:latin typeface="Arial" panose="020B0604020202020204" pitchFamily="34" charset="0"/>
              <a:ea typeface="微软雅黑" panose="020B0503020204020204" pitchFamily="34" charset="-122"/>
            </a:endParaRPr>
          </a:p>
        </p:txBody>
      </p:sp>
      <p:sp>
        <p:nvSpPr>
          <p:cNvPr id="46084" name="Rectangle 3"/>
          <p:cNvSpPr>
            <a:spLocks noGrp="1"/>
          </p:cNvSpPr>
          <p:nvPr>
            <p:ph idx="1"/>
            <p:custDataLst>
              <p:tags r:id="rId1"/>
            </p:custDataLst>
          </p:nvPr>
        </p:nvSpPr>
        <p:spPr>
          <a:xfrm>
            <a:off x="468630" y="904240"/>
            <a:ext cx="8155305" cy="5463540"/>
          </a:xfrm>
        </p:spPr>
        <p:txBody>
          <a:bodyPr vert="horz" wrap="square" lIns="92075" tIns="46038" rIns="92075" bIns="46038" anchor="t">
            <a:noAutofit/>
          </a:bodyPr>
          <a:p>
            <a:pPr indent="0" fontAlgn="auto">
              <a:lnSpc>
                <a:spcPct val="150000"/>
              </a:lnSpc>
              <a:spcBef>
                <a:spcPts val="0"/>
              </a:spcBef>
              <a:buClr>
                <a:srgbClr val="7030A0"/>
              </a:buClr>
              <a:buFont typeface="Wingdings" panose="05000000000000000000" charset="0"/>
              <a:buChar char="n"/>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中使用包组织类</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buClr>
                <a:srgbClr val="7030A0"/>
              </a:buClr>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把功能相似或相关的类或接口组织在同一个包中，方便类的查找和使用。</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buClr>
                <a:srgbClr val="7030A0"/>
              </a:buClr>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如同文件夹一样，包也采用了树形目录的存储方式。同一个包中的类名字是不同的，不同的包中的类的名字是可以相同的，当同时调用两个不同包中相同类名的类时，应该加上包名加以区别。因此，包可以避免名字冲突。</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buClr>
                <a:srgbClr val="7030A0"/>
              </a:buClr>
              <a:buFont typeface="Wingdings" panose="05000000000000000000" charset="0"/>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包也限定了访问权限，拥有包访问权限的类才能访问某个包中的类。</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0" indent="0" fontAlgn="auto">
              <a:lnSpc>
                <a:spcPct val="150000"/>
              </a:lnSpc>
              <a:spcBef>
                <a:spcPts val="0"/>
              </a:spcBef>
              <a:buClr>
                <a:srgbClr val="7030A0"/>
              </a:buClr>
              <a:buFont typeface="Wingdings" panose="05000000000000000000" charset="0"/>
              <a:buChar char="n"/>
            </a:pPr>
            <a:r>
              <a:rPr lang="zh-CN" altLang="en-US" sz="2025" dirty="0">
                <a:latin typeface="微软雅黑" panose="020B0503020204020204" pitchFamily="34" charset="-122"/>
                <a:ea typeface="微软雅黑" panose="020B0503020204020204" pitchFamily="34" charset="-122"/>
                <a:cs typeface="微软雅黑" panose="020B0503020204020204" pitchFamily="34" charset="-122"/>
              </a:rPr>
              <a:t>为了尽量使包名保持唯一性，包名通常采用小写、按倒写互联网址的形式进行定义。</a:t>
            </a:r>
            <a:endParaRPr lang="zh-CN" altLang="en-US" sz="2025" dirty="0">
              <a:latin typeface="微软雅黑" panose="020B0503020204020204" pitchFamily="34" charset="-122"/>
              <a:ea typeface="微软雅黑" panose="020B0503020204020204" pitchFamily="34" charset="-122"/>
              <a:cs typeface="微软雅黑" panose="020B0503020204020204" pitchFamily="34" charset="-122"/>
            </a:endParaRPr>
          </a:p>
          <a:p>
            <a:pPr lvl="0" indent="0" fontAlgn="auto">
              <a:lnSpc>
                <a:spcPct val="150000"/>
              </a:lnSpc>
              <a:spcBef>
                <a:spcPts val="0"/>
              </a:spcBef>
              <a:buClr>
                <a:srgbClr val="7030A0"/>
              </a:buClr>
              <a:buFont typeface="Wingdings" panose="05000000000000000000" charset="0"/>
              <a:buNone/>
            </a:pPr>
            <a:r>
              <a:rPr lang="zh-CN" altLang="en-US" sz="2025" dirty="0">
                <a:latin typeface="微软雅黑" panose="020B0503020204020204" pitchFamily="34" charset="-122"/>
                <a:ea typeface="微软雅黑" panose="020B0503020204020204" pitchFamily="34" charset="-122"/>
                <a:cs typeface="微软雅黑" panose="020B0503020204020204" pitchFamily="34" charset="-122"/>
              </a:rPr>
              <a:t>  package com.hank.www;</a:t>
            </a:r>
            <a:endParaRPr lang="zh-CN" altLang="en-US" sz="2025" dirty="0">
              <a:latin typeface="微软雅黑" panose="020B0503020204020204" pitchFamily="34" charset="-122"/>
              <a:ea typeface="微软雅黑" panose="020B0503020204020204" pitchFamily="34" charset="-122"/>
              <a:cs typeface="微软雅黑" panose="020B0503020204020204" pitchFamily="34" charset="-122"/>
            </a:endParaRPr>
          </a:p>
          <a:p>
            <a:pPr lvl="0" indent="0" fontAlgn="auto">
              <a:lnSpc>
                <a:spcPct val="150000"/>
              </a:lnSpc>
              <a:spcBef>
                <a:spcPts val="0"/>
              </a:spcBef>
              <a:buClr>
                <a:srgbClr val="7030A0"/>
              </a:buClr>
              <a:buFont typeface="Wingdings" panose="05000000000000000000" charset="0"/>
              <a:buNone/>
            </a:pPr>
            <a:r>
              <a:rPr lang="zh-CN" altLang="en-US" sz="2025" dirty="0">
                <a:latin typeface="微软雅黑" panose="020B0503020204020204" pitchFamily="34" charset="-122"/>
                <a:ea typeface="微软雅黑" panose="020B0503020204020204" pitchFamily="34" charset="-122"/>
                <a:cs typeface="微软雅黑" panose="020B0503020204020204" pitchFamily="34" charset="-122"/>
              </a:rPr>
              <a:t>  com.hank.www表示包文件放置的文件路径为com/hank/www</a:t>
            </a:r>
            <a:endParaRPr lang="zh-CN" altLang="en-US" sz="2025"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spcBef>
                <a:spcPct val="100000"/>
              </a:spcBef>
              <a:buClr>
                <a:srgbClr val="7030A0"/>
              </a:buClr>
              <a:buFont typeface="Wingdings" panose="05000000000000000000" charset="0"/>
              <a:buChar char="n"/>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8915" name="Rectangle 2"/>
          <p:cNvSpPr>
            <a:spLocks noGrp="1"/>
          </p:cNvSpPr>
          <p:nvPr>
            <p:ph type="title"/>
          </p:nvPr>
        </p:nvSpPr>
        <p:spPr>
          <a:xfrm>
            <a:off x="152400" y="90170"/>
            <a:ext cx="8686800" cy="5334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Random</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类</a:t>
            </a:r>
            <a:endPar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916" name="Rectangle 3"/>
          <p:cNvSpPr>
            <a:spLocks noGrp="1"/>
          </p:cNvSpPr>
          <p:nvPr>
            <p:ph idx="1"/>
          </p:nvPr>
        </p:nvSpPr>
        <p:spPr>
          <a:xfrm>
            <a:off x="152400" y="1066800"/>
            <a:ext cx="8536305" cy="1748155"/>
          </a:xfrm>
        </p:spPr>
        <p:txBody>
          <a:bodyPr vert="horz" wrap="square" lIns="92075" tIns="46038" rIns="92075" bIns="46038" anchor="t"/>
          <a:p>
            <a:pPr marL="0" indent="0" defTabSz="914400">
              <a:buNone/>
              <a:tabLst>
                <a:tab pos="0" algn="l"/>
              </a:tab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Math.random()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来获得一个值在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之间（不含</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）的随机双精度值。</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java.util.Random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类包含一个更有用的随机数生成器</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38917" name="Rectangle 4"/>
          <p:cNvSpPr/>
          <p:nvPr/>
        </p:nvSpPr>
        <p:spPr>
          <a:xfrm>
            <a:off x="0" y="27543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918" name="Rectangle 5"/>
          <p:cNvSpPr/>
          <p:nvPr/>
        </p:nvSpPr>
        <p:spPr>
          <a:xfrm>
            <a:off x="0" y="264477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38919" name="Object 6"/>
          <p:cNvGraphicFramePr>
            <a:graphicFrameLocks noChangeAspect="1"/>
          </p:cNvGraphicFramePr>
          <p:nvPr/>
        </p:nvGraphicFramePr>
        <p:xfrm>
          <a:off x="289560" y="2359025"/>
          <a:ext cx="8281035" cy="3360420"/>
        </p:xfrm>
        <a:graphic>
          <a:graphicData uri="http://schemas.openxmlformats.org/presentationml/2006/ole">
            <mc:AlternateContent xmlns:mc="http://schemas.openxmlformats.org/markup-compatibility/2006">
              <mc:Choice xmlns:v="urn:schemas-microsoft-com:vml" Requires="v">
                <p:oleObj spid="_x0000_s3077" name="" r:id="rId1" imgW="4006850" imgH="1570990" progId="Word.Picture.8">
                  <p:embed/>
                </p:oleObj>
              </mc:Choice>
              <mc:Fallback>
                <p:oleObj name="" r:id="rId1" imgW="4006850" imgH="1570990" progId="Word.Picture.8">
                  <p:embed/>
                  <p:pic>
                    <p:nvPicPr>
                      <p:cNvPr id="0" name="图片 3076"/>
                      <p:cNvPicPr/>
                      <p:nvPr/>
                    </p:nvPicPr>
                    <p:blipFill>
                      <a:blip r:embed="rId2"/>
                      <a:stretch>
                        <a:fillRect/>
                      </a:stretch>
                    </p:blipFill>
                    <p:spPr>
                      <a:xfrm>
                        <a:off x="289560" y="2359025"/>
                        <a:ext cx="8281035" cy="33604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9939" name="Rectangle 2"/>
          <p:cNvSpPr>
            <a:spLocks noGrp="1"/>
          </p:cNvSpPr>
          <p:nvPr>
            <p:ph type="title"/>
          </p:nvPr>
        </p:nvSpPr>
        <p:spPr>
          <a:xfrm>
            <a:off x="337185" y="245110"/>
            <a:ext cx="8686800" cy="533400"/>
          </a:xfrm>
        </p:spPr>
        <p:txBody>
          <a:bodyPr vert="horz" wrap="square" lIns="92075" tIns="46038" rIns="92075" bIns="46038" anchor="ctr"/>
          <a:p>
            <a:r>
              <a:rPr lang="en-US" altLang="zh-CN" sz="4000" b="0" u="none" dirty="0">
                <a:latin typeface="Arial" panose="020B0604020202020204" pitchFamily="34" charset="0"/>
                <a:ea typeface="微软雅黑" panose="020B0503020204020204" pitchFamily="34" charset="-122"/>
              </a:rPr>
              <a:t>Random </a:t>
            </a:r>
            <a:r>
              <a:rPr lang="zh-CN" altLang="en-US" sz="4000" b="0" u="none" dirty="0">
                <a:latin typeface="Arial" panose="020B0604020202020204" pitchFamily="34" charset="0"/>
                <a:ea typeface="微软雅黑" panose="020B0503020204020204" pitchFamily="34" charset="-122"/>
              </a:rPr>
              <a:t>类举例</a:t>
            </a:r>
            <a:endParaRPr lang="zh-CN" altLang="en-US" sz="4000" b="0" u="none" dirty="0">
              <a:solidFill>
                <a:schemeClr val="tx1"/>
              </a:solidFill>
              <a:latin typeface="Arial" panose="020B0604020202020204" pitchFamily="34" charset="0"/>
              <a:ea typeface="微软雅黑" panose="020B0503020204020204" pitchFamily="34" charset="-122"/>
            </a:endParaRPr>
          </a:p>
        </p:txBody>
      </p:sp>
      <p:sp>
        <p:nvSpPr>
          <p:cNvPr id="39940" name="Rectangle 3"/>
          <p:cNvSpPr>
            <a:spLocks noGrp="1"/>
          </p:cNvSpPr>
          <p:nvPr>
            <p:ph idx="1"/>
          </p:nvPr>
        </p:nvSpPr>
        <p:spPr>
          <a:xfrm>
            <a:off x="462280" y="1085850"/>
            <a:ext cx="8681720" cy="1558925"/>
          </a:xfrm>
        </p:spPr>
        <p:txBody>
          <a:bodyPr vert="horz" wrap="square" lIns="92075" tIns="46038" rIns="92075" bIns="46038" anchor="t">
            <a:noAutofit/>
          </a:bodyPr>
          <a:p>
            <a:pPr marL="0" indent="0" defTabSz="914400">
              <a:lnSpc>
                <a:spcPct val="120000"/>
              </a:lnSpc>
              <a:buNone/>
              <a:tabLst>
                <a:tab pos="0" algn="l"/>
              </a:tabLs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如果两个</a:t>
            </a:r>
            <a:r>
              <a:rPr lang="en-US" altLang="zh-CN" sz="2400" u="sng" dirty="0">
                <a:latin typeface="微软雅黑" panose="020B0503020204020204" pitchFamily="34" charset="-122"/>
                <a:ea typeface="微软雅黑" panose="020B0503020204020204" pitchFamily="34" charset="-122"/>
                <a:cs typeface="微软雅黑" panose="020B0503020204020204" pitchFamily="34" charset="-122"/>
              </a:rPr>
              <a:t>Random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对象有相同的种子，那它们将生成两个相同的数字序列。例如：下面的代码用相同的种子3生成了两个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Random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对象。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941" name="Rectangle 4"/>
          <p:cNvSpPr/>
          <p:nvPr/>
        </p:nvSpPr>
        <p:spPr>
          <a:xfrm>
            <a:off x="0" y="27543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9942" name="Rectangle 5"/>
          <p:cNvSpPr/>
          <p:nvPr/>
        </p:nvSpPr>
        <p:spPr>
          <a:xfrm>
            <a:off x="0" y="264477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9943" name="Rectangle 6"/>
          <p:cNvSpPr/>
          <p:nvPr/>
        </p:nvSpPr>
        <p:spPr>
          <a:xfrm>
            <a:off x="615950" y="2814638"/>
            <a:ext cx="7069138" cy="2725737"/>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defTabSz="914400">
              <a:buNone/>
              <a:tabLst>
                <a:tab pos="0" algn="l"/>
              </a:tabLst>
            </a:pPr>
            <a:r>
              <a:rPr lang="en-US" altLang="zh-CN" sz="1800" dirty="0">
                <a:latin typeface="Courier New" panose="02070309020205020404" charset="0"/>
                <a:ea typeface="宋体" panose="02010600030101010101" pitchFamily="2" charset="-122"/>
              </a:rPr>
              <a:t>Random random1 = new Random(3);</a:t>
            </a:r>
            <a:endParaRPr lang="en-US" altLang="zh-CN" sz="1800" dirty="0">
              <a:latin typeface="Courier New" panose="02070309020205020404" charset="0"/>
              <a:ea typeface="宋体" panose="02010600030101010101" pitchFamily="2" charset="-122"/>
            </a:endParaRPr>
          </a:p>
          <a:p>
            <a:pPr marL="0" lvl="0" indent="0" defTabSz="914400">
              <a:buNone/>
              <a:tabLst>
                <a:tab pos="0" algn="l"/>
              </a:tabLst>
            </a:pPr>
            <a:r>
              <a:rPr lang="en-US" altLang="zh-CN" sz="1800" dirty="0">
                <a:latin typeface="Courier New" panose="02070309020205020404" charset="0"/>
                <a:ea typeface="宋体" panose="02010600030101010101" pitchFamily="2" charset="-122"/>
              </a:rPr>
              <a:t>System.out.print("From random1: ");</a:t>
            </a:r>
            <a:endParaRPr lang="en-US" altLang="zh-CN" sz="1800" dirty="0">
              <a:latin typeface="Courier New" panose="02070309020205020404" charset="0"/>
              <a:ea typeface="宋体" panose="02010600030101010101" pitchFamily="2" charset="-122"/>
            </a:endParaRPr>
          </a:p>
          <a:p>
            <a:pPr marL="0" lvl="0" indent="0" defTabSz="914400">
              <a:buNone/>
              <a:tabLst>
                <a:tab pos="0" algn="l"/>
              </a:tabLst>
            </a:pPr>
            <a:r>
              <a:rPr lang="en-US" altLang="zh-CN" sz="1800" dirty="0">
                <a:latin typeface="Courier New" panose="02070309020205020404" charset="0"/>
                <a:ea typeface="宋体" panose="02010600030101010101" pitchFamily="2" charset="-122"/>
              </a:rPr>
              <a:t>for (int i = 0; i &lt; 10; i++)</a:t>
            </a:r>
            <a:endParaRPr lang="en-US" altLang="zh-CN" sz="1800" dirty="0">
              <a:latin typeface="Courier New" panose="02070309020205020404" charset="0"/>
              <a:ea typeface="宋体" panose="02010600030101010101" pitchFamily="2" charset="-122"/>
            </a:endParaRPr>
          </a:p>
          <a:p>
            <a:pPr marL="0" lvl="0" indent="0" defTabSz="914400">
              <a:buNone/>
              <a:tabLst>
                <a:tab pos="0" algn="l"/>
              </a:tabLst>
            </a:pPr>
            <a:r>
              <a:rPr lang="en-US" altLang="zh-CN" sz="1800" dirty="0">
                <a:latin typeface="Courier New" panose="02070309020205020404" charset="0"/>
                <a:ea typeface="宋体" panose="02010600030101010101" pitchFamily="2" charset="-122"/>
              </a:rPr>
              <a:t>  System.out.print(random1.nextInt(1000) + " ");</a:t>
            </a:r>
            <a:endParaRPr lang="en-US" altLang="zh-CN" sz="1800" dirty="0">
              <a:latin typeface="Courier New" panose="02070309020205020404" charset="0"/>
              <a:ea typeface="宋体" panose="02010600030101010101" pitchFamily="2" charset="-122"/>
            </a:endParaRPr>
          </a:p>
          <a:p>
            <a:pPr marL="0" lvl="0" indent="0" defTabSz="914400">
              <a:buNone/>
              <a:tabLst>
                <a:tab pos="0" algn="l"/>
              </a:tabLst>
            </a:pPr>
            <a:r>
              <a:rPr lang="en-US" altLang="zh-CN" sz="1800" dirty="0">
                <a:latin typeface="Courier New" panose="02070309020205020404" charset="0"/>
                <a:ea typeface="宋体" panose="02010600030101010101" pitchFamily="2" charset="-122"/>
              </a:rPr>
              <a:t>Random random2 = new Random(3);</a:t>
            </a:r>
            <a:endParaRPr lang="en-US" altLang="zh-CN" sz="1800" dirty="0">
              <a:latin typeface="Courier New" panose="02070309020205020404" charset="0"/>
              <a:ea typeface="宋体" panose="02010600030101010101" pitchFamily="2" charset="-122"/>
            </a:endParaRPr>
          </a:p>
          <a:p>
            <a:pPr marL="0" lvl="0" indent="0" defTabSz="914400">
              <a:buNone/>
              <a:tabLst>
                <a:tab pos="0" algn="l"/>
              </a:tabLst>
            </a:pPr>
            <a:r>
              <a:rPr lang="en-US" altLang="zh-CN" sz="1800" dirty="0">
                <a:latin typeface="Courier New" panose="02070309020205020404" charset="0"/>
                <a:ea typeface="宋体" panose="02010600030101010101" pitchFamily="2" charset="-122"/>
              </a:rPr>
              <a:t>System.out.print("\nFrom random2: ");</a:t>
            </a:r>
            <a:endParaRPr lang="en-US" altLang="zh-CN" sz="1800" dirty="0">
              <a:latin typeface="Courier New" panose="02070309020205020404" charset="0"/>
              <a:ea typeface="宋体" panose="02010600030101010101" pitchFamily="2" charset="-122"/>
            </a:endParaRPr>
          </a:p>
          <a:p>
            <a:pPr marL="0" lvl="0" indent="0" defTabSz="914400">
              <a:buNone/>
              <a:tabLst>
                <a:tab pos="0" algn="l"/>
              </a:tabLst>
            </a:pPr>
            <a:r>
              <a:rPr lang="en-US" altLang="zh-CN" sz="1800" dirty="0">
                <a:latin typeface="Courier New" panose="02070309020205020404" charset="0"/>
                <a:ea typeface="宋体" panose="02010600030101010101" pitchFamily="2" charset="-122"/>
              </a:rPr>
              <a:t>for (int i = 0; i &lt; 10; i++)</a:t>
            </a:r>
            <a:endParaRPr lang="en-US" altLang="zh-CN" sz="1800" dirty="0">
              <a:latin typeface="Courier New" panose="02070309020205020404" charset="0"/>
              <a:ea typeface="宋体" panose="02010600030101010101" pitchFamily="2" charset="-122"/>
            </a:endParaRPr>
          </a:p>
          <a:p>
            <a:pPr marL="0" lvl="0" indent="0" defTabSz="914400">
              <a:buNone/>
              <a:tabLst>
                <a:tab pos="0" algn="l"/>
              </a:tabLst>
            </a:pPr>
            <a:r>
              <a:rPr lang="en-US" altLang="zh-CN" sz="1800" dirty="0">
                <a:latin typeface="Courier New" panose="02070309020205020404" charset="0"/>
                <a:ea typeface="宋体" panose="02010600030101010101" pitchFamily="2" charset="-122"/>
              </a:rPr>
              <a:t>  System.out.print(random2.nextInt(1000) + " ");</a:t>
            </a:r>
            <a:endParaRPr lang="en-US" altLang="zh-CN" sz="1800" dirty="0">
              <a:latin typeface="Courier New" panose="02070309020205020404" charset="0"/>
              <a:ea typeface="宋体" panose="02010600030101010101" pitchFamily="2" charset="-122"/>
            </a:endParaRPr>
          </a:p>
        </p:txBody>
      </p:sp>
      <p:sp>
        <p:nvSpPr>
          <p:cNvPr id="39944" name="Rectangle 7"/>
          <p:cNvSpPr/>
          <p:nvPr/>
        </p:nvSpPr>
        <p:spPr>
          <a:xfrm>
            <a:off x="1768475" y="5618163"/>
            <a:ext cx="7069138" cy="768350"/>
          </a:xfrm>
          <a:prstGeom prst="rect">
            <a:avLst/>
          </a:prstGeom>
          <a:solidFill>
            <a:schemeClr val="tx1"/>
          </a:solid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defTabSz="914400">
              <a:buNone/>
              <a:tabLst>
                <a:tab pos="0" algn="l"/>
              </a:tabLst>
            </a:pPr>
            <a:r>
              <a:rPr lang="en-US" altLang="zh-CN" sz="2000" dirty="0">
                <a:solidFill>
                  <a:schemeClr val="bg2"/>
                </a:solidFill>
                <a:ea typeface="宋体" panose="02010600030101010101" pitchFamily="2" charset="-122"/>
              </a:rPr>
              <a:t>From random1: 734 660 210 581 128 202 549 564 459 961 </a:t>
            </a:r>
            <a:endParaRPr lang="en-US" altLang="zh-CN" sz="2000" dirty="0">
              <a:solidFill>
                <a:schemeClr val="bg2"/>
              </a:solidFill>
              <a:ea typeface="宋体" panose="02010600030101010101" pitchFamily="2" charset="-122"/>
            </a:endParaRPr>
          </a:p>
          <a:p>
            <a:pPr marL="0" lvl="0" indent="0" defTabSz="914400">
              <a:buNone/>
              <a:tabLst>
                <a:tab pos="0" algn="l"/>
              </a:tabLst>
            </a:pPr>
            <a:r>
              <a:rPr lang="en-US" altLang="zh-CN" sz="2000" dirty="0">
                <a:solidFill>
                  <a:schemeClr val="bg2"/>
                </a:solidFill>
                <a:ea typeface="宋体" panose="02010600030101010101" pitchFamily="2" charset="-122"/>
              </a:rPr>
              <a:t>From random2: 734 660 210 581 128 202 549 564 459 961</a:t>
            </a:r>
            <a:endParaRPr lang="en-US" altLang="zh-CN" sz="2000" dirty="0">
              <a:solidFill>
                <a:schemeClr val="bg2"/>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41987" name="Rectangle 2"/>
          <p:cNvSpPr>
            <a:spLocks noGrp="1"/>
          </p:cNvSpPr>
          <p:nvPr>
            <p:ph type="title"/>
          </p:nvPr>
        </p:nvSpPr>
        <p:spPr>
          <a:xfrm>
            <a:off x="186373" y="-197485"/>
            <a:ext cx="7772400" cy="118745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静态变量、常量和方法</a:t>
            </a:r>
            <a:endParaRPr lang="zh-CN" altLang="en-US" sz="4000" b="0" u="none" dirty="0">
              <a:latin typeface="Arial" panose="020B0604020202020204" pitchFamily="34" charset="0"/>
              <a:ea typeface="微软雅黑" panose="020B0503020204020204" pitchFamily="34" charset="-122"/>
            </a:endParaRPr>
          </a:p>
        </p:txBody>
      </p:sp>
      <p:sp>
        <p:nvSpPr>
          <p:cNvPr id="41988" name="Text Box 3"/>
          <p:cNvSpPr txBox="1"/>
          <p:nvPr/>
        </p:nvSpPr>
        <p:spPr>
          <a:xfrm>
            <a:off x="252095" y="989965"/>
            <a:ext cx="8382000" cy="470789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50000"/>
              </a:spcBef>
              <a:buClrTx/>
              <a:buSzTx/>
              <a:buFontTx/>
              <a:buNone/>
            </a:pPr>
            <a:endParaRPr lang="zh-CN" altLang="en-US" sz="3000" dirty="0">
              <a:ea typeface="宋体" panose="02010600030101010101" pitchFamily="2" charset="-122"/>
            </a:endParaRPr>
          </a:p>
          <a:p>
            <a:pPr lvl="0">
              <a:spcBef>
                <a:spcPct val="50000"/>
              </a:spcBef>
              <a:buSzTx/>
              <a:buFont typeface="Wingdings" panose="05000000000000000000" charset="0"/>
              <a:buChar char="n"/>
            </a:pPr>
            <a:r>
              <a:rPr lang="zh-CN" altLang="en-US" sz="3000" dirty="0">
                <a:latin typeface="微软雅黑" panose="020B0503020204020204" pitchFamily="34" charset="-122"/>
                <a:ea typeface="微软雅黑" panose="020B0503020204020204" pitchFamily="34" charset="-122"/>
                <a:cs typeface="微软雅黑" panose="020B0503020204020204" pitchFamily="34" charset="-122"/>
                <a:sym typeface="+mn-ea"/>
              </a:rPr>
              <a:t>实例变量是绑定到类中的某个特定实例的，不能被同一个类的不同对象所共享。</a:t>
            </a:r>
            <a:endParaRPr lang="zh-CN" altLang="en-US" sz="3000" dirty="0">
              <a:latin typeface="微软雅黑" panose="020B0503020204020204" pitchFamily="34" charset="-122"/>
              <a:ea typeface="微软雅黑" panose="020B0503020204020204" pitchFamily="34" charset="-122"/>
              <a:cs typeface="微软雅黑" panose="020B0503020204020204" pitchFamily="34" charset="-122"/>
            </a:endParaRPr>
          </a:p>
          <a:p>
            <a:pPr lvl="0">
              <a:spcBef>
                <a:spcPct val="50000"/>
              </a:spcBef>
              <a:buSzTx/>
              <a:buFont typeface="Wingdings" panose="05000000000000000000" charset="0"/>
              <a:buChar char="n"/>
            </a:pPr>
            <a:r>
              <a:rPr lang="zh-CN" altLang="en-US" sz="3000" dirty="0">
                <a:latin typeface="微软雅黑" panose="020B0503020204020204" pitchFamily="34" charset="-122"/>
                <a:ea typeface="微软雅黑" panose="020B0503020204020204" pitchFamily="34" charset="-122"/>
                <a:cs typeface="微软雅黑" panose="020B0503020204020204" pitchFamily="34" charset="-122"/>
              </a:rPr>
              <a:t>静态变量（类变量）被类的所有实例共享，变量值存储在一个公共的内存地址。静态方法并不绑定到某个特定的对象。</a:t>
            </a:r>
            <a:endParaRPr lang="zh-CN" altLang="en-US" sz="3000" dirty="0">
              <a:latin typeface="微软雅黑" panose="020B0503020204020204" pitchFamily="34" charset="-122"/>
              <a:ea typeface="微软雅黑" panose="020B0503020204020204" pitchFamily="34" charset="-122"/>
              <a:cs typeface="微软雅黑" panose="020B0503020204020204" pitchFamily="34" charset="-122"/>
            </a:endParaRPr>
          </a:p>
          <a:p>
            <a:pPr lvl="0">
              <a:spcBef>
                <a:spcPct val="50000"/>
              </a:spcBef>
              <a:buSzTx/>
              <a:buFont typeface="Wingdings" panose="05000000000000000000" charset="0"/>
              <a:buChar char="n"/>
            </a:pPr>
            <a:r>
              <a:rPr lang="zh-CN" altLang="en-US" sz="3000" dirty="0">
                <a:latin typeface="微软雅黑" panose="020B0503020204020204" pitchFamily="34" charset="-122"/>
                <a:ea typeface="微软雅黑" panose="020B0503020204020204" pitchFamily="34" charset="-122"/>
                <a:cs typeface="微软雅黑" panose="020B0503020204020204" pitchFamily="34" charset="-122"/>
              </a:rPr>
              <a:t>静态常量使用</a:t>
            </a:r>
            <a:r>
              <a:rPr lang="en-US" altLang="zh-CN" sz="3000" dirty="0">
                <a:latin typeface="微软雅黑" panose="020B0503020204020204" pitchFamily="34" charset="-122"/>
                <a:ea typeface="微软雅黑" panose="020B0503020204020204" pitchFamily="34" charset="-122"/>
                <a:cs typeface="微软雅黑" panose="020B0503020204020204" pitchFamily="34" charset="-122"/>
              </a:rPr>
              <a:t>final</a:t>
            </a:r>
            <a:r>
              <a:rPr lang="zh-CN" altLang="en-US" sz="3000" dirty="0">
                <a:latin typeface="微软雅黑" panose="020B0503020204020204" pitchFamily="34" charset="-122"/>
                <a:ea typeface="微软雅黑" panose="020B0503020204020204" pitchFamily="34" charset="-122"/>
                <a:cs typeface="微软雅黑" panose="020B0503020204020204" pitchFamily="34" charset="-122"/>
              </a:rPr>
              <a:t>关键字 </a:t>
            </a:r>
            <a:endParaRPr lang="zh-CN" altLang="en-US" sz="30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spcBef>
                <a:spcPct val="50000"/>
              </a:spcBef>
              <a:buSzTx/>
              <a:buFont typeface="Wingdings" panose="05000000000000000000" charset="0"/>
              <a:buNone/>
            </a:pPr>
            <a:r>
              <a:rPr lang="en-US" altLang="zh-CN" sz="3000" dirty="0">
                <a:latin typeface="微软雅黑" panose="020B0503020204020204" pitchFamily="34" charset="-122"/>
                <a:ea typeface="微软雅黑" panose="020B0503020204020204" pitchFamily="34" charset="-122"/>
                <a:cs typeface="微软雅黑" panose="020B0503020204020204" pitchFamily="34" charset="-122"/>
              </a:rPr>
              <a:t>	final static double PI=3.1415926535</a:t>
            </a:r>
            <a:endParaRPr lang="en-US" altLang="zh-CN" sz="3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44036" name="Rectangle 3"/>
          <p:cNvSpPr/>
          <p:nvPr/>
        </p:nvSpPr>
        <p:spPr>
          <a:xfrm>
            <a:off x="2000250" y="222885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4037" name="Rectangle 4"/>
          <p:cNvSpPr/>
          <p:nvPr/>
        </p:nvSpPr>
        <p:spPr>
          <a:xfrm>
            <a:off x="2000250" y="22860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4038" name="Rectangle 5"/>
          <p:cNvSpPr/>
          <p:nvPr/>
        </p:nvSpPr>
        <p:spPr>
          <a:xfrm>
            <a:off x="0" y="240030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4039" name="Rectangle 6"/>
          <p:cNvSpPr/>
          <p:nvPr/>
        </p:nvSpPr>
        <p:spPr>
          <a:xfrm>
            <a:off x="0" y="240030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4040" name="Rectangle 7"/>
          <p:cNvSpPr/>
          <p:nvPr/>
        </p:nvSpPr>
        <p:spPr>
          <a:xfrm>
            <a:off x="0" y="247650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44041" name="Object 8"/>
          <p:cNvGraphicFramePr>
            <a:graphicFrameLocks noChangeAspect="1"/>
          </p:cNvGraphicFramePr>
          <p:nvPr/>
        </p:nvGraphicFramePr>
        <p:xfrm>
          <a:off x="3810" y="1694180"/>
          <a:ext cx="8863965" cy="3133725"/>
        </p:xfrm>
        <a:graphic>
          <a:graphicData uri="http://schemas.openxmlformats.org/presentationml/2006/ole">
            <mc:AlternateContent xmlns:mc="http://schemas.openxmlformats.org/markup-compatibility/2006">
              <mc:Choice xmlns:v="urn:schemas-microsoft-com:vml" Requires="v">
                <p:oleObj spid="_x0000_s3090" name="" r:id="rId1" imgW="5576570" imgH="1918970" progId="Word.Picture.8">
                  <p:embed/>
                </p:oleObj>
              </mc:Choice>
              <mc:Fallback>
                <p:oleObj name="" r:id="rId1" imgW="5576570" imgH="1918970" progId="Word.Picture.8">
                  <p:embed/>
                  <p:pic>
                    <p:nvPicPr>
                      <p:cNvPr id="0" name="图片 3089"/>
                      <p:cNvPicPr/>
                      <p:nvPr/>
                    </p:nvPicPr>
                    <p:blipFill>
                      <a:blip r:embed="rId2"/>
                      <a:stretch>
                        <a:fillRect/>
                      </a:stretch>
                    </p:blipFill>
                    <p:spPr>
                      <a:xfrm>
                        <a:off x="3810" y="1694180"/>
                        <a:ext cx="8863965" cy="3133725"/>
                      </a:xfrm>
                      <a:prstGeom prst="rect">
                        <a:avLst/>
                      </a:prstGeom>
                      <a:noFill/>
                      <a:ln w="38100">
                        <a:noFill/>
                        <a:miter/>
                      </a:ln>
                    </p:spPr>
                  </p:pic>
                </p:oleObj>
              </mc:Fallback>
            </mc:AlternateContent>
          </a:graphicData>
        </a:graphic>
      </p:graphicFrame>
      <p:sp>
        <p:nvSpPr>
          <p:cNvPr id="2" name="标题 1"/>
          <p:cNvSpPr/>
          <p:nvPr>
            <p:ph type="title"/>
          </p:nvPr>
        </p:nvSpPr>
        <p:spPr/>
        <p:txBody>
          <a:bodyPr/>
          <a:p>
            <a:r>
              <a:rPr lang="en-US" altLang="zh-CN"/>
              <a:t>··</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8155" y="188595"/>
            <a:ext cx="8196580" cy="349250"/>
          </a:xfrm>
        </p:spPr>
        <p:txBody>
          <a:bodyPr/>
          <a:p>
            <a:r>
              <a:rPr lang="zh-CN" altLang="en-US" sz="2800" b="0"/>
              <a:t>如何判断一个变量和方法应该是实例的还是静态的</a:t>
            </a:r>
            <a:endParaRPr lang="zh-CN" altLang="en-US" sz="2800" b="0"/>
          </a:p>
        </p:txBody>
      </p:sp>
      <p:sp>
        <p:nvSpPr>
          <p:cNvPr id="3" name="内容占位符 2"/>
          <p:cNvSpPr>
            <a:spLocks noGrp="1"/>
          </p:cNvSpPr>
          <p:nvPr>
            <p:ph sz="quarter" idx="12"/>
          </p:nvPr>
        </p:nvSpPr>
        <p:spPr/>
        <p:txBody>
          <a:bodyPr/>
          <a:p>
            <a:r>
              <a:rPr lang="zh-CN" altLang="en-US"/>
              <a:t>如果一个变量或方法依赖于某个类的某个具体实例，那就应该定义为实例变量或实例方法</a:t>
            </a:r>
            <a:endParaRPr lang="zh-CN" altLang="en-US"/>
          </a:p>
          <a:p>
            <a:r>
              <a:rPr lang="zh-CN" altLang="en-US">
                <a:sym typeface="+mn-ea"/>
              </a:rPr>
              <a:t>如果一个变量或方法不依赖于某个类的某个具体实例，那就应该定义为静态变量或静态方法</a:t>
            </a:r>
            <a:endParaRPr lang="zh-CN" altLang="en-US"/>
          </a:p>
          <a:p>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pic>
        <p:nvPicPr>
          <p:cNvPr id="5" name="图片 4"/>
          <p:cNvPicPr>
            <a:picLocks noChangeAspect="1"/>
          </p:cNvPicPr>
          <p:nvPr/>
        </p:nvPicPr>
        <p:blipFill>
          <a:blip r:embed="rId1"/>
          <a:stretch>
            <a:fillRect/>
          </a:stretch>
        </p:blipFill>
        <p:spPr>
          <a:xfrm>
            <a:off x="35560" y="3717290"/>
            <a:ext cx="8869045" cy="201993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46083" name="Rectangle 2"/>
          <p:cNvSpPr>
            <a:spLocks noGrp="1"/>
          </p:cNvSpPr>
          <p:nvPr>
            <p:ph type="title"/>
          </p:nvPr>
        </p:nvSpPr>
        <p:spPr>
          <a:xfrm>
            <a:off x="153035" y="0"/>
            <a:ext cx="7772400" cy="66421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可见性修饰符</a:t>
            </a:r>
            <a:endParaRPr lang="zh-CN" altLang="en-US" sz="4000" b="0" u="none" dirty="0">
              <a:latin typeface="Arial" panose="020B0604020202020204" pitchFamily="34" charset="0"/>
              <a:ea typeface="微软雅黑" panose="020B0503020204020204" pitchFamily="34" charset="-122"/>
            </a:endParaRPr>
          </a:p>
        </p:txBody>
      </p:sp>
      <p:sp>
        <p:nvSpPr>
          <p:cNvPr id="46084" name="Rectangle 3"/>
          <p:cNvSpPr>
            <a:spLocks noGrp="1"/>
          </p:cNvSpPr>
          <p:nvPr>
            <p:ph idx="1"/>
          </p:nvPr>
        </p:nvSpPr>
        <p:spPr>
          <a:xfrm>
            <a:off x="251460" y="1384935"/>
            <a:ext cx="8256905" cy="3446145"/>
          </a:xfrm>
        </p:spPr>
        <p:txBody>
          <a:bodyPr vert="horz" wrap="square" lIns="92075" tIns="46038" rIns="92075" bIns="46038" anchor="t">
            <a:noAutofit/>
          </a:bodyPr>
          <a:p>
            <a:pPr>
              <a:lnSpc>
                <a:spcPct val="120000"/>
              </a:lnSpc>
              <a:spcBef>
                <a:spcPct val="100000"/>
              </a:spcBef>
              <a:buClr>
                <a:srgbClr val="7030A0"/>
              </a:buClr>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默认情况下，类、变量或方法能被同一个包内的任何一个类访问。</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20000"/>
              </a:lnSpc>
              <a:spcBef>
                <a:spcPct val="50000"/>
              </a:spcBef>
              <a:buClr>
                <a:srgbClr val="7030A0"/>
              </a:buClr>
              <a:buFont typeface="Wingdings" panose="05000000000000000000" charset="0"/>
              <a:buChar char="n"/>
            </a:pPr>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700" dirty="0">
                <a:latin typeface="微软雅黑" panose="020B0503020204020204" pitchFamily="34" charset="-122"/>
                <a:ea typeface="微软雅黑" panose="020B0503020204020204" pitchFamily="34" charset="-122"/>
                <a:cs typeface="微软雅黑" panose="020B0503020204020204" pitchFamily="34" charset="-122"/>
                <a:sym typeface="+mn-ea"/>
              </a:rPr>
              <a:t>public</a:t>
            </a:r>
            <a:endParaRPr lang="en-US" altLang="zh-CN" sz="27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lnSpc>
                <a:spcPct val="120000"/>
              </a:lnSpc>
              <a:buClr>
                <a:srgbClr val="7030A0"/>
              </a:buClr>
              <a:buFont typeface="Wingdings" panose="05000000000000000000" charset="0"/>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类、数据或方法对在任何包中的任何类都是可见的</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nSpc>
                <a:spcPct val="120000"/>
              </a:lnSpc>
              <a:spcBef>
                <a:spcPct val="50000"/>
              </a:spcBef>
              <a:buClr>
                <a:srgbClr val="7030A0"/>
              </a:buClr>
              <a:buFont typeface="Wingdings" panose="05000000000000000000" charset="0"/>
              <a:buChar char="n"/>
            </a:pPr>
            <a:r>
              <a:rPr lang="en-US" altLang="zh-CN" sz="2700" dirty="0">
                <a:latin typeface="微软雅黑" panose="020B0503020204020204" pitchFamily="34" charset="-122"/>
                <a:ea typeface="微软雅黑" panose="020B0503020204020204" pitchFamily="34" charset="-122"/>
                <a:cs typeface="微软雅黑" panose="020B0503020204020204" pitchFamily="34" charset="-122"/>
                <a:sym typeface="+mn-ea"/>
              </a:rPr>
              <a:t>private </a:t>
            </a:r>
            <a:endParaRPr lang="en-US" altLang="zh-CN" sz="27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lnSpc>
                <a:spcPct val="120000"/>
              </a:lnSpc>
              <a:buClr>
                <a:srgbClr val="7030A0"/>
              </a:buClr>
              <a:buFont typeface="Wingdings" panose="05000000000000000000" charset="0"/>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数据或方法可以被声明它的类访问。</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47107" name="Rectangle 2"/>
          <p:cNvSpPr/>
          <p:nvPr/>
        </p:nvSpPr>
        <p:spPr>
          <a:xfrm>
            <a:off x="2286000" y="2084388"/>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7108" name="Rectangle 3"/>
          <p:cNvSpPr/>
          <p:nvPr/>
        </p:nvSpPr>
        <p:spPr>
          <a:xfrm>
            <a:off x="1971675" y="2486025"/>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7109" name="Text Box 4"/>
          <p:cNvSpPr txBox="1"/>
          <p:nvPr/>
        </p:nvSpPr>
        <p:spPr>
          <a:xfrm>
            <a:off x="153988" y="5213033"/>
            <a:ext cx="8796337" cy="1406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nSpc>
                <a:spcPct val="120000"/>
              </a:lnSpc>
              <a:spcBef>
                <a:spcPct val="50000"/>
              </a:spcBef>
              <a:buClrTx/>
              <a:buSzTx/>
              <a:buFontTx/>
              <a:buNone/>
            </a:pPr>
            <a:r>
              <a:rPr lang="en-US" altLang="zh-CN" sz="2400" dirty="0">
                <a:ea typeface="宋体" panose="02010600030101010101" pitchFamily="2" charset="-122"/>
              </a:rPr>
              <a:t>private </a:t>
            </a:r>
            <a:r>
              <a:rPr lang="zh-CN" altLang="en-US" sz="2400" dirty="0">
                <a:ea typeface="宋体" panose="02010600030101010101" pitchFamily="2" charset="-122"/>
              </a:rPr>
              <a:t>修饰符限定方法和数据域只能在它自己的类中被访问 ，缺省修饰符限制在一个包内访问，而</a:t>
            </a:r>
            <a:r>
              <a:rPr lang="en-US" altLang="zh-CN" sz="2400" dirty="0">
                <a:ea typeface="宋体" panose="02010600030101010101" pitchFamily="2" charset="-122"/>
              </a:rPr>
              <a:t>public </a:t>
            </a:r>
            <a:r>
              <a:rPr lang="zh-CN" altLang="en-US" sz="2400" dirty="0">
                <a:ea typeface="宋体" panose="02010600030101010101" pitchFamily="2" charset="-122"/>
              </a:rPr>
              <a:t>修饰符不受任何访问限制。</a:t>
            </a:r>
            <a:endParaRPr lang="zh-CN" altLang="en-US" sz="2400" dirty="0">
              <a:ea typeface="宋体" panose="02010600030101010101" pitchFamily="2" charset="-122"/>
            </a:endParaRPr>
          </a:p>
        </p:txBody>
      </p:sp>
      <p:sp>
        <p:nvSpPr>
          <p:cNvPr id="47110" name="Rectangle 5"/>
          <p:cNvSpPr/>
          <p:nvPr/>
        </p:nvSpPr>
        <p:spPr>
          <a:xfrm>
            <a:off x="0" y="248602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47111" name="Object 6"/>
          <p:cNvGraphicFramePr>
            <a:graphicFrameLocks noChangeAspect="1"/>
          </p:cNvGraphicFramePr>
          <p:nvPr/>
        </p:nvGraphicFramePr>
        <p:xfrm>
          <a:off x="153988" y="227013"/>
          <a:ext cx="8834437" cy="3173412"/>
        </p:xfrm>
        <a:graphic>
          <a:graphicData uri="http://schemas.openxmlformats.org/presentationml/2006/ole">
            <mc:AlternateContent xmlns:mc="http://schemas.openxmlformats.org/markup-compatibility/2006">
              <mc:Choice xmlns:v="urn:schemas-microsoft-com:vml" Requires="v">
                <p:oleObj spid="_x0000_s3091" name="" r:id="rId1" imgW="5271770" imgH="1896745" progId="Word.Picture.8">
                  <p:embed/>
                </p:oleObj>
              </mc:Choice>
              <mc:Fallback>
                <p:oleObj name="" r:id="rId1" imgW="5271770" imgH="1896745" progId="Word.Picture.8">
                  <p:embed/>
                  <p:pic>
                    <p:nvPicPr>
                      <p:cNvPr id="0" name="图片 3090"/>
                      <p:cNvPicPr/>
                      <p:nvPr/>
                    </p:nvPicPr>
                    <p:blipFill>
                      <a:blip r:embed="rId2"/>
                      <a:stretch>
                        <a:fillRect/>
                      </a:stretch>
                    </p:blipFill>
                    <p:spPr>
                      <a:xfrm>
                        <a:off x="153988" y="227013"/>
                        <a:ext cx="8834437" cy="3173412"/>
                      </a:xfrm>
                      <a:prstGeom prst="rect">
                        <a:avLst/>
                      </a:prstGeom>
                      <a:noFill/>
                      <a:ln w="38100">
                        <a:noFill/>
                        <a:miter/>
                      </a:ln>
                    </p:spPr>
                  </p:pic>
                </p:oleObj>
              </mc:Fallback>
            </mc:AlternateContent>
          </a:graphicData>
        </a:graphic>
      </p:graphicFrame>
      <p:sp>
        <p:nvSpPr>
          <p:cNvPr id="47112" name="Rectangle 7"/>
          <p:cNvSpPr/>
          <p:nvPr/>
        </p:nvSpPr>
        <p:spPr>
          <a:xfrm>
            <a:off x="0" y="302895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47113" name="Object 8"/>
          <p:cNvGraphicFramePr>
            <a:graphicFrameLocks noChangeAspect="1"/>
          </p:cNvGraphicFramePr>
          <p:nvPr/>
        </p:nvGraphicFramePr>
        <p:xfrm>
          <a:off x="193675" y="3505200"/>
          <a:ext cx="8832850" cy="1649413"/>
        </p:xfrm>
        <a:graphic>
          <a:graphicData uri="http://schemas.openxmlformats.org/presentationml/2006/ole">
            <mc:AlternateContent xmlns:mc="http://schemas.openxmlformats.org/markup-compatibility/2006">
              <mc:Choice xmlns:v="urn:schemas-microsoft-com:vml" Requires="v">
                <p:oleObj spid="_x0000_s3092" name="" r:id="rId3" imgW="4288790" imgH="800100" progId="Word.Picture.8">
                  <p:embed/>
                </p:oleObj>
              </mc:Choice>
              <mc:Fallback>
                <p:oleObj name="" r:id="rId3" imgW="4288790" imgH="800100" progId="Word.Picture.8">
                  <p:embed/>
                  <p:pic>
                    <p:nvPicPr>
                      <p:cNvPr id="0" name="图片 3091"/>
                      <p:cNvPicPr/>
                      <p:nvPr/>
                    </p:nvPicPr>
                    <p:blipFill>
                      <a:blip r:embed="rId4"/>
                      <a:stretch>
                        <a:fillRect/>
                      </a:stretch>
                    </p:blipFill>
                    <p:spPr>
                      <a:xfrm>
                        <a:off x="193675" y="3505200"/>
                        <a:ext cx="8832850" cy="16494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48132" name="Rectangle 3"/>
          <p:cNvSpPr/>
          <p:nvPr/>
        </p:nvSpPr>
        <p:spPr>
          <a:xfrm>
            <a:off x="309563" y="893763"/>
            <a:ext cx="8337550" cy="23622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nSpc>
                <a:spcPct val="120000"/>
              </a:lnSpc>
              <a:spcBef>
                <a:spcPct val="0"/>
              </a:spcBef>
              <a:buClrTx/>
              <a:buSzTx/>
              <a:buFontTx/>
              <a:buNone/>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一个对象是不能访问它的私有成员的，如图（</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）所示。 但如果对象是在其自己的类中定义的则不然，如图（</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）所示。</a:t>
            </a:r>
            <a:endParaRPr lang="zh-CN" altLang="en-US" sz="2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133" name="Rectangle 4"/>
          <p:cNvSpPr/>
          <p:nvPr/>
        </p:nvSpPr>
        <p:spPr>
          <a:xfrm>
            <a:off x="0" y="25003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48134" name="Object 5"/>
          <p:cNvGraphicFramePr>
            <a:graphicFrameLocks noChangeAspect="1"/>
          </p:cNvGraphicFramePr>
          <p:nvPr/>
        </p:nvGraphicFramePr>
        <p:xfrm>
          <a:off x="-136525" y="2905919"/>
          <a:ext cx="9499600" cy="3146425"/>
        </p:xfrm>
        <a:graphic>
          <a:graphicData uri="http://schemas.openxmlformats.org/presentationml/2006/ole">
            <mc:AlternateContent xmlns:mc="http://schemas.openxmlformats.org/markup-compatibility/2006">
              <mc:Choice xmlns:v="urn:schemas-microsoft-com:vml" Requires="v">
                <p:oleObj spid="_x0000_s3093" name="" r:id="rId1" imgW="5676900" imgH="1838325" progId="Word.Picture.8">
                  <p:embed/>
                </p:oleObj>
              </mc:Choice>
              <mc:Fallback>
                <p:oleObj name="" r:id="rId1" imgW="5676900" imgH="1838325" progId="Word.Picture.8">
                  <p:embed/>
                  <p:pic>
                    <p:nvPicPr>
                      <p:cNvPr id="0" name="图片 3092"/>
                      <p:cNvPicPr/>
                      <p:nvPr/>
                    </p:nvPicPr>
                    <p:blipFill>
                      <a:blip r:embed="rId2"/>
                      <a:stretch>
                        <a:fillRect/>
                      </a:stretch>
                    </p:blipFill>
                    <p:spPr>
                      <a:xfrm>
                        <a:off x="-136525" y="2905919"/>
                        <a:ext cx="9499600" cy="31464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5921.2503937007878,&quot;width&quot;:6871.8740157480315}"/>
</p:tagLst>
</file>

<file path=ppt/tags/tag2.xml><?xml version="1.0" encoding="utf-8"?>
<p:tagLst xmlns:p="http://schemas.openxmlformats.org/presentationml/2006/main">
  <p:tag name="KSO_WM_UNIT_PLACING_PICTURE_USER_VIEWPORT" val="{&quot;height&quot;:2308,&quot;width&quot;:9327}"/>
</p:tagLst>
</file>

<file path=ppt/tags/tag3.xml><?xml version="1.0" encoding="utf-8"?>
<p:tagLst xmlns:p="http://schemas.openxmlformats.org/presentationml/2006/main">
  <p:tag name="KSO_WM_UNIT_PLACING_PICTURE_USER_VIEWPORT" val="{&quot;height&quot;:2700,&quot;width&quot;:4770}"/>
</p:tagLst>
</file>

<file path=ppt/tags/tag4.xml><?xml version="1.0" encoding="utf-8"?>
<p:tagLst xmlns:p="http://schemas.openxmlformats.org/presentationml/2006/main">
  <p:tag name="KSO_WM_UNIT_MEDIACOVER_STYLEID" val="1"/>
  <p:tag name="KSO_WM_UNIT_MEDIACOVER_TEXTSTATE" val="0"/>
  <p:tag name="KSO_WM_UNIT_MEDIACOVER_BTN_STATE" val="1"/>
  <p:tag name="KSO_WM_UNIT_MEDIACOVER_BTN_POS" val="c"/>
  <p:tag name="KSO_WM_UNIT_MEDIACOVER_BTN_STYLE" val="ee0bc779c1f3d7f3e90c96344320e69a"/>
  <p:tag name="KSO_WM_UNIT_MEDIACOVER_RGB" val="000000"/>
  <p:tag name="KSO_WM_UNIT_MEDIACOVER_TRANSPARENCY" val="0.5"/>
</p:tagLst>
</file>

<file path=ppt/tags/tag5.xml><?xml version="1.0" encoding="utf-8"?>
<p:tagLst xmlns:p="http://schemas.openxmlformats.org/presentationml/2006/main">
  <p:tag name="KSO_WM_UNIT_MEDIACOVER_STYLEID" val="1"/>
  <p:tag name="KSO_WM_UNIT_MEDIACOVER_TEXTSTATE" val="0"/>
  <p:tag name="KSO_WM_UNIT_MEDIACOVER_BTN_STATE" val="1"/>
  <p:tag name="KSO_WM_UNIT_MEDIACOVER_BTN_POS" val="c"/>
  <p:tag name="KSO_WM_UNIT_MEDIACOVER_BTN_STYLE" val="ee0bc779c1f3d7f3e90c96344320e69a"/>
  <p:tag name="KSO_WM_UNIT_MEDIACOVER_RGB" val="000000"/>
  <p:tag name="KSO_WM_UNIT_MEDIACOVER_TRANSPARENCY" val="0.5"/>
</p:tagLst>
</file>

<file path=ppt/tags/tag6.xml><?xml version="1.0" encoding="utf-8"?>
<p:tagLst xmlns:p="http://schemas.openxmlformats.org/presentationml/2006/main">
  <p:tag name="KSO_WM_UNIT_MEDIACOVER_STYLEID" val="1"/>
  <p:tag name="KSO_WM_UNIT_MEDIACOVER_TEXTSTATE" val="0"/>
  <p:tag name="KSO_WM_UNIT_MEDIACOVER_BTN_STATE" val="1"/>
  <p:tag name="KSO_WM_UNIT_MEDIACOVER_BTN_POS" val="c"/>
  <p:tag name="KSO_WM_UNIT_MEDIACOVER_BTN_STYLE" val="ee0bc779c1f3d7f3e90c96344320e69a"/>
  <p:tag name="KSO_WM_UNIT_MEDIACOVER_RGB" val="000000"/>
  <p:tag name="KSO_WM_UNIT_MEDIACOVER_TRANSPARENCY" val="0.5"/>
</p:tagLst>
</file>

<file path=ppt/tags/tag7.xml><?xml version="1.0" encoding="utf-8"?>
<p:tagLst xmlns:p="http://schemas.openxmlformats.org/presentationml/2006/main">
  <p:tag name="COMMONDATA" val="eyJoZGlkIjoiMDQ5MTU2ZTc1NWM5MmVmN2NjNGZiZmE3NjI4MWI4NjAifQ=="/>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w="9525">
          <a:noFill/>
        </a:ln>
      </a:spPr>
      <a:bodyPr lIns="92075" tIns="46038" rIns="92075" bIns="46038"/>
      <a:lstStyle>
        <a:defPPr marL="0" lvl="0" indent="0">
          <a:buNone/>
          <a:defRPr lang="en-US" altLang="zh-CN" sz="1600" dirty="0">
            <a:solidFill>
              <a:schemeClr val="bg2"/>
            </a:solidFill>
            <a:latin typeface="Courier New" panose="02070309020205020404" charset="0"/>
            <a:ea typeface="宋体" panose="02010600030101010101" pitchFamily="2" charset="-122"/>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6851</Words>
  <Application>WPS 演示</Application>
  <PresentationFormat>全屏显示(4:3)</PresentationFormat>
  <Paragraphs>366</Paragraphs>
  <Slides>40</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10</vt:i4>
      </vt:variant>
      <vt:variant>
        <vt:lpstr>幻灯片标题</vt:lpstr>
      </vt:variant>
      <vt:variant>
        <vt:i4>40</vt:i4>
      </vt:variant>
    </vt:vector>
  </HeadingPairs>
  <TitlesOfParts>
    <vt:vector size="64" baseType="lpstr">
      <vt:lpstr>Arial</vt:lpstr>
      <vt:lpstr>宋体</vt:lpstr>
      <vt:lpstr>Wingdings</vt:lpstr>
      <vt:lpstr>Courier New</vt:lpstr>
      <vt:lpstr>微软雅黑</vt:lpstr>
      <vt:lpstr>黑体</vt:lpstr>
      <vt:lpstr>Times New Roman</vt:lpstr>
      <vt:lpstr>Calibri</vt:lpstr>
      <vt:lpstr>Wingdings</vt:lpstr>
      <vt:lpstr>Arial Unicode MS</vt:lpstr>
      <vt:lpstr>Monotype Sorts</vt:lpstr>
      <vt:lpstr>Book Antiqua</vt:lpstr>
      <vt:lpstr>Courier</vt:lpstr>
      <vt:lpstr>由Nordri®（www.nordridesign.com ） 设计提供</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面向对象程序设计</vt:lpstr>
      <vt:lpstr>对象</vt:lpstr>
      <vt:lpstr>PowerPoint 演示文稿</vt:lpstr>
      <vt:lpstr>类</vt:lpstr>
      <vt:lpstr>PowerPoint 演示文稿</vt:lpstr>
      <vt:lpstr>PowerPoint 演示文稿</vt:lpstr>
      <vt:lpstr>封装</vt:lpstr>
      <vt:lpstr>PowerPoint 演示文稿</vt:lpstr>
      <vt:lpstr>继承</vt:lpstr>
      <vt:lpstr>消息 </vt:lpstr>
      <vt:lpstr>PowerPoint 演示文稿</vt:lpstr>
      <vt:lpstr>结构与连接 </vt:lpstr>
      <vt:lpstr>多态性 </vt:lpstr>
      <vt:lpstr>面向对象与结构化方法的对比</vt:lpstr>
      <vt:lpstr>Java类</vt:lpstr>
      <vt:lpstr>类和对象的UML表示</vt:lpstr>
      <vt:lpstr>构造方法</vt:lpstr>
      <vt:lpstr>默认构造方法 </vt:lpstr>
      <vt:lpstr>声明对象引用变量</vt:lpstr>
      <vt:lpstr>访问对象</vt:lpstr>
      <vt:lpstr>注意</vt:lpstr>
      <vt:lpstr>引用数据域和null值</vt:lpstr>
      <vt:lpstr>数据域的默认值</vt:lpstr>
      <vt:lpstr>注意</vt:lpstr>
      <vt:lpstr>基本类型变量和引用类型变量的区别 </vt:lpstr>
      <vt:lpstr>复制基本类型变量和对象类型变量</vt:lpstr>
      <vt:lpstr>垃圾回收 </vt:lpstr>
      <vt:lpstr> Date 类</vt:lpstr>
      <vt:lpstr> 补充:SimpleDateFormat 类</vt:lpstr>
      <vt:lpstr> Calendar类</vt:lpstr>
      <vt:lpstr>PowerPoint 演示文稿</vt:lpstr>
      <vt:lpstr>Java 包</vt:lpstr>
      <vt:lpstr> Random类</vt:lpstr>
      <vt:lpstr>Random 类举例</vt:lpstr>
      <vt:lpstr>静态变量、常量和方法</vt:lpstr>
      <vt:lpstr>··</vt:lpstr>
      <vt:lpstr>如何判断一个变量和方法应该是实例的还是静态的</vt:lpstr>
      <vt:lpstr>可见性修饰符</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Java程序设计</dc:title>
  <dc:creator>yangrl</dc:creator>
  <dc:description>Nordri® 
专注于有效的信息传递设计
www.nordridesign.com</dc:description>
  <dc:subject>PPT模板/图示</dc:subject>
  <cp:lastModifiedBy>大灰很</cp:lastModifiedBy>
  <cp:revision>521</cp:revision>
  <dcterms:created xsi:type="dcterms:W3CDTF">2017-02-24T02:44:00Z</dcterms:created>
  <dcterms:modified xsi:type="dcterms:W3CDTF">2026-04-20T15:45:16Z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2052-12.1.0.25865</vt:lpwstr>
  </property>
  <property fmtid="{D5CDD505-2E9C-101B-9397-08002B2CF9AE}" pid="6" name="ICV">
    <vt:lpwstr>AF2DA91CC6BD47B491517E5C5F27BEF4</vt:lpwstr>
  </property>
</Properties>
</file>